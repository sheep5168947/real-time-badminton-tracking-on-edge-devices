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Lst>
  <p:sldSz cy="5143500" cx="9144000"/>
  <p:notesSz cx="6858000" cy="9144000"/>
  <p:embeddedFontLst>
    <p:embeddedFont>
      <p:font typeface="Inter SemiBold"/>
      <p:regular r:id="rId128"/>
      <p:bold r:id="rId129"/>
      <p:italic r:id="rId130"/>
      <p:boldItalic r:id="rId131"/>
    </p:embeddedFont>
    <p:embeddedFont>
      <p:font typeface="Inter"/>
      <p:bold r:id="rId132"/>
      <p:boldItalic r:id="rId133"/>
    </p:embeddedFont>
    <p:embeddedFont>
      <p:font typeface="Inter ExtraBold"/>
      <p:bold r:id="rId134"/>
      <p:boldItalic r:id="rId135"/>
    </p:embeddedFont>
    <p:embeddedFont>
      <p:font typeface="Oswald"/>
      <p:bold r:id="rId136"/>
    </p:embeddedFont>
    <p:embeddedFont>
      <p:font typeface="Inter Medium"/>
      <p:regular r:id="rId137"/>
      <p:bold r:id="rId138"/>
      <p:italic r:id="rId139"/>
      <p:boldItalic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1371B8-0F67-4F3D-9DD3-952783FBF680}">
  <a:tblStyle styleId="{711371B8-0F67-4F3D-9DD3-952783FBF6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font" Target="fonts/InterSemiBold-bold.fntdata"/><Relationship Id="rId128" Type="http://schemas.openxmlformats.org/officeDocument/2006/relationships/font" Target="fonts/InterSemiBold-regular.fntdata"/><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0" Type="http://schemas.openxmlformats.org/officeDocument/2006/relationships/font" Target="fonts/Inter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InterMedium-italic.fntdata"/><Relationship Id="rId138" Type="http://schemas.openxmlformats.org/officeDocument/2006/relationships/font" Target="fonts/InterMedium-bold.fntdata"/><Relationship Id="rId137" Type="http://schemas.openxmlformats.org/officeDocument/2006/relationships/font" Target="fonts/InterMedium-regular.fntdata"/><Relationship Id="rId132" Type="http://schemas.openxmlformats.org/officeDocument/2006/relationships/font" Target="fonts/Inter-bold.fntdata"/><Relationship Id="rId131" Type="http://schemas.openxmlformats.org/officeDocument/2006/relationships/font" Target="fonts/InterSemiBold-boldItalic.fntdata"/><Relationship Id="rId130" Type="http://schemas.openxmlformats.org/officeDocument/2006/relationships/font" Target="fonts/InterSemiBold-italic.fntdata"/><Relationship Id="rId136" Type="http://schemas.openxmlformats.org/officeDocument/2006/relationships/font" Target="fonts/Oswald-bold.fntdata"/><Relationship Id="rId135" Type="http://schemas.openxmlformats.org/officeDocument/2006/relationships/font" Target="fonts/InterExtraBold-boldItalic.fntdata"/><Relationship Id="rId134" Type="http://schemas.openxmlformats.org/officeDocument/2006/relationships/font" Target="fonts/InterExtraBold-bold.fntdata"/><Relationship Id="rId133" Type="http://schemas.openxmlformats.org/officeDocument/2006/relationships/font" Target="fonts/Inter-boldItalic.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69939adde493070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69939adde493070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69939adde493070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69939adde493070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不用從頭念過一次，簡單描述就好</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69939adde493070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69939adde493070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69939adde4930700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69939adde4930700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69939adde4930700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69939adde4930700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鋪陳太長~可以簡短鋪陳</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69939adde4930700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69939adde4930700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69939adde4930700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69939adde4930700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4331c15ff45aad2b_1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h4331c15ff45aad2b_1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這裡就要先講 ROI大小框框選用的問題</a:t>
            </a:r>
            <a:br>
              <a:rPr lang="zh-TW"/>
            </a:br>
            <a:r>
              <a:rPr lang="zh-TW"/>
              <a:t>一樣鋪陳太長，baseline不用過多鋪陳</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4331c15ff45aad2b_12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h4331c15ff45aad2b_12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4331c15ff45aad2b_12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4331c15ff45aad2b_12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4331c15ff45aad2b_12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4331c15ff45aad2b_12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4331c15ff45aad2b_12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h4331c15ff45aad2b_12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h33bb2f766dffd12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h33bb2f766dffd12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直接畫一張圖 流程圖 去劃分要講的地方</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4331c15ff45aad2b_12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h4331c15ff45aad2b_12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15c4355e37037ff6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15c4355e37037ff6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這裡可以帶到ROI的框框取用大小問題</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4331c15ff45aad2b_12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4331c15ff45aad2b_12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22620c8698228303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22620c8698228303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22620c869822830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h22620c869822830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22620c8698228303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h22620c8698228303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h4331c15ff45aad2b_12_1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h4331c15ff45aad2b_12_1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22620c8698228303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h22620c8698228303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直接實例相減灰階值圖片去講解比較清楚</a:t>
            </a:r>
            <a:endParaRPr/>
          </a:p>
          <a:p>
            <a:pPr indent="0" lvl="0" marL="0" rtl="0" algn="l">
              <a:spcBef>
                <a:spcPts val="0"/>
              </a:spcBef>
              <a:spcAft>
                <a:spcPts val="0"/>
              </a:spcAft>
              <a:buNone/>
            </a:pPr>
            <a:r>
              <a:rPr lang="zh-TW"/>
              <a:t>然後我是怎麼去使用這個mask的例子</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h22620c8698228303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h22620c8698228303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直接實例相減灰階值圖片去講解比較清楚</a:t>
            </a:r>
            <a:endParaRPr/>
          </a:p>
          <a:p>
            <a:pPr indent="0" lvl="0" marL="0" rtl="0" algn="l">
              <a:spcBef>
                <a:spcPts val="0"/>
              </a:spcBef>
              <a:spcAft>
                <a:spcPts val="0"/>
              </a:spcAft>
              <a:buNone/>
            </a:pPr>
            <a:r>
              <a:rPr lang="zh-TW"/>
              <a:t>然後我是怎麼去使用這個mask的例子</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4331c15ff45aad2b_12_1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h4331c15ff45aad2b_12_1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4331c15ff45aad2b_12_1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h4331c15ff45aad2b_12_1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這裡不用放</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4331c15ff45aad2b_12_1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4331c15ff45aad2b_12_1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h4331c15ff45aad2b_12_1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h4331c15ff45aad2b_12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4331c15ff45aad2b_12_2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h4331c15ff45aad2b_12_2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4331c15ff45aad2b_12_2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h4331c15ff45aad2b_12_2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h22620c869822830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h22620c869822830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4331c15ff45aad2b_12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h4331c15ff45aad2b_12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直接畫一張圖 流程圖 去劃分要講的地方</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h22620c8698228303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h22620c8698228303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直接實例相減灰階值圖片去講解比較清楚</a:t>
            </a:r>
            <a:endParaRPr/>
          </a:p>
          <a:p>
            <a:pPr indent="0" lvl="0" marL="0" rtl="0" algn="l">
              <a:spcBef>
                <a:spcPts val="0"/>
              </a:spcBef>
              <a:spcAft>
                <a:spcPts val="0"/>
              </a:spcAft>
              <a:buNone/>
            </a:pPr>
            <a:r>
              <a:rPr lang="zh-TW"/>
              <a:t>然後我是怎麼去使用這個mask的例子</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h69939adde49307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h69939adde49307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6adbf16e1d997b7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h6adbf16e1d997b7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6adbf16e1d997b7c_0_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h6adbf16e1d997b7c_0_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6adbf16e1d997b7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h6adbf16e1d997b7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h6adbf16e1d997b7c_0_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h6adbf16e1d997b7c_0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h6adbf16e1d997b7c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h6adbf16e1d997b7c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h6adbf16e1d997b7c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h6adbf16e1d997b7c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h6adbf16e1d997b7c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h6adbf16e1d997b7c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6adbf16e1d997b7c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h6adbf16e1d997b7c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h6adbf16e1d997b7c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h6adbf16e1d997b7c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看這一小段影片，可以島到下一頁，表示出jetson nano的算力不足以支撐Tracknetv4</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h6adbf16e1d997b7c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h6adbf16e1d997b7c_0_1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h6adbf16e1d997b7c_0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h6adbf16e1d997b7c_0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h6adbf16e1d997b7c_0_1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h6adbf16e1d997b7c_0_1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h6adbf16e1d997b7c_0_2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h6adbf16e1d997b7c_0_2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h6adbf16e1d997b7c_0_2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h6adbf16e1d997b7c_0_2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h6adbf16e1d997b7c_0_2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h6adbf16e1d997b7c_0_2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h6adbf16e1d997b7c_0_2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h6adbf16e1d997b7c_0_2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h6adbf16e1d997b7c_0_2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h6adbf16e1d997b7c_0_2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這裡就應該要提到全域跟局部切換會導致的效能問題</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h6adbf16e1d997b7c_0_2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h6adbf16e1d997b7c_0_2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這裡就應該要提到全域跟局部切換會導致的效能問題</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h6adbf16e1d997b7c_0_2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h6adbf16e1d997b7c_0_2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h6adbf16e1d997b7c_0_2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h6adbf16e1d997b7c_0_2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h6adbf16e1d997b7c_0_2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h6adbf16e1d997b7c_0_2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h6adbf16e1d997b7c_0_2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h6adbf16e1d997b7c_0_2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h6adbf16e1d997b7c_0_2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h6adbf16e1d997b7c_0_2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6adbf16e1d997b7c_0_2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h6adbf16e1d997b7c_0_2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h6adbf16e1d997b7c_0_2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h6adbf16e1d997b7c_0_2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h6adbf16e1d997b7c_0_2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h6adbf16e1d997b7c_0_2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h6adbf16e1d997b7c_0_2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h6adbf16e1d997b7c_0_2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h6adbf16e1d997b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h6adbf16e1d997b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72e8cc601_2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3f72e8cc601_2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h1a4abf5e4f208a6e_0_2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h1a4abf5e4f208a6e_0_2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改成訓練需求，去導入動機，需要low cost。</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f5f7e596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3f5f7e596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應該改用訓練角度來切入，而非使用鷹眼系統。</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72e8cc601_2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3f72e8cc601_2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5f7e5964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f5f7e5964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94926b6a8_0_3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3f94926b6a8_0_3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看這一小段影片，可以島到下一頁，表示出jetson nano的算力不足以支撐Tracknetv4</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f5f7e59645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3f5f7e59645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f5f7e59645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f5f7e59645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72e8cc60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3f72e8cc60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這裡要說明，雖然達到即時30FPS，但可以看到畫面有出框跟被雜訊綁架的情況，接續到下一頁，列出問題點。</a:t>
            </a:r>
            <a:endParaRPr/>
          </a:p>
          <a:p>
            <a:pPr indent="0" lvl="0" marL="0" rtl="0" algn="l">
              <a:spcBef>
                <a:spcPts val="0"/>
              </a:spcBef>
              <a:spcAft>
                <a:spcPts val="0"/>
              </a:spcAft>
              <a:buNone/>
            </a:pPr>
            <a:r>
              <a:rPr lang="zh-TW"/>
              <a:t>把有出現過的問題都截圖下來，或是直接放影片，去解釋</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3f5f7e59645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3f5f7e59645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f72e8cc601_2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3f72e8cc601_2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f72e8cc60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f72e8cc60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先來探討視野狹隘導致之出框的實際發生原因，延伸到下一頁，我們必須要一個全域獲取機制，來重新追蹤羽球</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f651f0e5a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3f651f0e5a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f651f0e5ac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f651f0e5ac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這裡就應該要提到全域跟局部切換會導致的效能問題</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h1a4abf5e4f208a6e_0_2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h1a4abf5e4f208a6e_0_2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h1a4abf5e4f208a6e_0_1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h1a4abf5e4f208a6e_0_1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f651f0e5ac_1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3f651f0e5ac_1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3f72e8cc601_2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3f72e8cc601_2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f72e8cc601_5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3f72e8cc601_5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f651f0e5ac_1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3f651f0e5ac_1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f72e8cc601_5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3f72e8cc601_5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h1a4abf5e4f208a6e_0_2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h1a4abf5e4f208a6e_0_2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fb830b492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3fb830b492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g3fb830b4920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8" name="Google Shape;1478;g3fb830b4920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h1a4abf5e4f208a6e_0_2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h1a4abf5e4f208a6e_0_2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40a0e36979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g40a0e36979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40a0e36979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40a0e36979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fb830b49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3fb830b49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3fb830b4920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3fb830b4920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3fb830b492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3fb830b492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g3fba6f4239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g3fba6f4239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3fba6f423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4" name="Google Shape;1564;g3fba6f423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3f72e8cc6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3f72e8cc6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f94926b6a8_0_1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f94926b6a8_0_1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3f5f7e59645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2" name="Google Shape;1592;g3f5f7e59645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f94926b6a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3f94926b6a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g3f94926b6a8_0_3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9" name="Google Shape;1629;g3f94926b6a8_0_3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3f94926b6a8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3f94926b6a8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f94926b6a8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3f94926b6a8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g3f94926b6a8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3" name="Google Shape;1673;g3f94926b6a8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3f94926b6a8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0" name="Google Shape;1690;g3f94926b6a8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3f94926b6a8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6" name="Google Shape;1706;g3f94926b6a8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0" name="Shape 1720"/>
        <p:cNvGrpSpPr/>
        <p:nvPr/>
      </p:nvGrpSpPr>
      <p:grpSpPr>
        <a:xfrm>
          <a:off x="0" y="0"/>
          <a:ext cx="0" cy="0"/>
          <a:chOff x="0" y="0"/>
          <a:chExt cx="0" cy="0"/>
        </a:xfrm>
      </p:grpSpPr>
      <p:sp>
        <p:nvSpPr>
          <p:cNvPr id="1721" name="Google Shape;1721;g3f94926b6a8_0_1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2" name="Google Shape;1722;g3f94926b6a8_0_1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g3f94926b6a8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3" name="Google Shape;1733;g3f94926b6a8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g3f94926b6a8_0_1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g3f94926b6a8_0_1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g3f94926b6a8_0_1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4" name="Google Shape;1774;g3f94926b6a8_0_1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f94926b6a8_0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3f94926b6a8_0_2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3f94926b6a8_0_2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g3f94926b6a8_0_2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f94926b6a8_0_3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2" name="Google Shape;1812;g3f94926b6a8_0_3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3f94926b6a8_0_2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3f94926b6a8_0_2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3f94926b6a8_0_2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g3f94926b6a8_0_2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g3f94926b6a8_0_2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g3f94926b6a8_0_2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3f94926b6a8_0_2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9" name="Google Shape;1869;g3f94926b6a8_0_2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6" name="Shape 1886"/>
        <p:cNvGrpSpPr/>
        <p:nvPr/>
      </p:nvGrpSpPr>
      <p:grpSpPr>
        <a:xfrm>
          <a:off x="0" y="0"/>
          <a:ext cx="0" cy="0"/>
          <a:chOff x="0" y="0"/>
          <a:chExt cx="0" cy="0"/>
        </a:xfrm>
      </p:grpSpPr>
      <p:sp>
        <p:nvSpPr>
          <p:cNvPr id="1887" name="Google Shape;1887;g3f94926b6a8_0_2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8" name="Google Shape;1888;g3f94926b6a8_0_2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g3f94926b6a8_0_3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2" name="Google Shape;1902;g3f94926b6a8_0_3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g3f94926b6a8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6" name="Google Shape;1916;g3f94926b6a8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前一頁提到全域機制，帶到這一頁，全域機制跟ROI效能差別</a:t>
            </a:r>
            <a:br>
              <a:rPr lang="zh-TW"/>
            </a:br>
            <a:r>
              <a:rPr lang="zh-TW"/>
              <a:t>全域機制會導致效能變差，會影響羽球追蹤，因此要想個辦法盡量鎖定在ROI使用，減少全域機制的使用</a:t>
            </a:r>
            <a:br>
              <a:rPr lang="zh-TW"/>
            </a:br>
            <a:r>
              <a:rPr lang="zh-TW"/>
              <a:t>帶到下一頁的卡爾曼濾波器</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3fab26148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3fab26148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這一頁可以不用，可以直接</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8" name="Shape 1948"/>
        <p:cNvGrpSpPr/>
        <p:nvPr/>
      </p:nvGrpSpPr>
      <p:grpSpPr>
        <a:xfrm>
          <a:off x="0" y="0"/>
          <a:ext cx="0" cy="0"/>
          <a:chOff x="0" y="0"/>
          <a:chExt cx="0" cy="0"/>
        </a:xfrm>
      </p:grpSpPr>
      <p:sp>
        <p:nvSpPr>
          <p:cNvPr id="1949" name="Google Shape;1949;g3f94926b6a8_0_2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0" name="Google Shape;1950;g3f94926b6a8_0_2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3f94926b6a8_0_2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0" name="Google Shape;1970;g3f94926b6a8_0_2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g3f94926b6a8_0_3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0" name="Google Shape;1990;g3f94926b6a8_0_3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4331c15ff45aad2b_29_0)">
  <p:cSld name="Generated (h4331c15ff45aad2b_29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gif"/><Relationship Id="rId4" Type="http://schemas.openxmlformats.org/officeDocument/2006/relationships/image" Target="../media/image1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4.gif"/><Relationship Id="rId4" Type="http://schemas.openxmlformats.org/officeDocument/2006/relationships/image" Target="../media/image30.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drive.google.com/file/d/1ezbVFz2VdclTYCkNfExwkJCKDfGbt2yx/view" TargetMode="External"/><Relationship Id="rId4" Type="http://schemas.openxmlformats.org/officeDocument/2006/relationships/image" Target="../media/image3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drive.google.com/file/d/19_mC55V1NnoFiWa8ojjqBJDoy3ByvN32/view" TargetMode="External"/><Relationship Id="rId4" Type="http://schemas.openxmlformats.org/officeDocument/2006/relationships/image" Target="../media/image32.jpg"/><Relationship Id="rId5" Type="http://schemas.openxmlformats.org/officeDocument/2006/relationships/image" Target="../media/image34.png"/><Relationship Id="rId6"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5.png"/><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drive.google.com/file/d/1jOtJPRcnCydye-Atl9IOXUl1Cez5ORsS/view" TargetMode="External"/><Relationship Id="rId4" Type="http://schemas.openxmlformats.org/officeDocument/2006/relationships/image" Target="../media/image4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drive.google.com/file/d/1ZmwCiTn6mBW_rSGmsPP3twQpym3zYAjI/view" TargetMode="External"/><Relationship Id="rId4" Type="http://schemas.openxmlformats.org/officeDocument/2006/relationships/image" Target="../media/image4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1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png"/><Relationship Id="rId4" Type="http://schemas.openxmlformats.org/officeDocument/2006/relationships/image" Target="../media/image46.png"/><Relationship Id="rId5"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9.png"/><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drive.google.com/file/d/1ezbVFz2VdclTYCkNfExwkJCKDfGbt2yx/view" TargetMode="External"/><Relationship Id="rId4" Type="http://schemas.openxmlformats.org/officeDocument/2006/relationships/image" Target="../media/image33.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4.png"/><Relationship Id="rId4" Type="http://schemas.openxmlformats.org/officeDocument/2006/relationships/image" Target="../media/image3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png"/><Relationship Id="rId4" Type="http://schemas.openxmlformats.org/officeDocument/2006/relationships/image" Target="../media/image50.png"/><Relationship Id="rId5" Type="http://schemas.openxmlformats.org/officeDocument/2006/relationships/image" Target="../media/image5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45.png"/><Relationship Id="rId4" Type="http://schemas.openxmlformats.org/officeDocument/2006/relationships/image" Target="../media/image3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hyperlink" Target="http://drive.google.com/file/d/19_mC55V1NnoFiWa8ojjqBJDoy3ByvN32/view" TargetMode="External"/><Relationship Id="rId4" Type="http://schemas.openxmlformats.org/officeDocument/2006/relationships/image" Target="../media/image32.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2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hyperlink" Target="http://drive.google.com/file/d/19M2NzDiZqYYhd5b4nPQ8mm8ZKVTvDxVb/view" TargetMode="External"/><Relationship Id="rId4" Type="http://schemas.openxmlformats.org/officeDocument/2006/relationships/image" Target="../media/image65.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hyperlink" Target="http://drive.google.com/file/d/1ZmwCiTn6mBW_rSGmsPP3twQpym3zYAjI/view" TargetMode="External"/><Relationship Id="rId4" Type="http://schemas.openxmlformats.org/officeDocument/2006/relationships/image" Target="../media/image47.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hyperlink" Target="http://drive.google.com/file/d/1jOtJPRcnCydye-Atl9IOXUl1Cez5ORsS/view" TargetMode="External"/><Relationship Id="rId4" Type="http://schemas.openxmlformats.org/officeDocument/2006/relationships/image" Target="../media/image43.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5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5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5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6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60.png"/><Relationship Id="rId4" Type="http://schemas.openxmlformats.org/officeDocument/2006/relationships/image" Target="../media/image6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hyperlink" Target="http://drive.google.com/file/d/17Kab4Jtzaq2_gJ48bTfruTyFimKDh4WY/view" TargetMode="External"/><Relationship Id="rId4" Type="http://schemas.openxmlformats.org/officeDocument/2006/relationships/image" Target="../media/image66.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hyperlink" Target="http://drive.google.com/file/d/15Xom24hxuI8WF2GzHJICvLRVlVvJzSRQ/view" TargetMode="External"/><Relationship Id="rId4" Type="http://schemas.openxmlformats.org/officeDocument/2006/relationships/image" Target="../media/image62.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hyperlink" Target="http://drive.google.com/file/d/1cPcsPJ1BthaDr2MoiPwE5sSN3064UBAQ/view" TargetMode="External"/><Relationship Id="rId4" Type="http://schemas.openxmlformats.org/officeDocument/2006/relationships/image" Target="../media/image6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476250" y="-857250"/>
            <a:ext cx="10477500" cy="6381750"/>
            <a:chOff x="-476250" y="-857250"/>
            <a:chExt cx="10477500" cy="6381750"/>
          </a:xfrm>
        </p:grpSpPr>
        <p:pic>
          <p:nvPicPr>
            <p:cNvPr id="56" name="Google Shape;56;p14"/>
            <p:cNvPicPr preferRelativeResize="0"/>
            <p:nvPr/>
          </p:nvPicPr>
          <p:blipFill rotWithShape="1">
            <a:blip r:embed="rId4">
              <a:alphaModFix/>
            </a:blip>
            <a:srcRect b="0" l="0" r="0" t="0"/>
            <a:stretch/>
          </p:blipFill>
          <p:spPr>
            <a:xfrm>
              <a:off x="0" y="0"/>
              <a:ext cx="9144000" cy="1428900"/>
            </a:xfrm>
            <a:prstGeom prst="rect">
              <a:avLst/>
            </a:prstGeom>
            <a:noFill/>
            <a:ln>
              <a:noFill/>
            </a:ln>
          </p:spPr>
        </p:pic>
        <p:sp>
          <p:nvSpPr>
            <p:cNvPr id="57" name="Google Shape;57;p14"/>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9" name="Google Shape;59;p14"/>
          <p:cNvGrpSpPr/>
          <p:nvPr/>
        </p:nvGrpSpPr>
        <p:grpSpPr>
          <a:xfrm>
            <a:off x="4333875" y="571500"/>
            <a:ext cx="476400" cy="511452"/>
            <a:chOff x="4333875" y="571500"/>
            <a:chExt cx="476400" cy="511452"/>
          </a:xfrm>
        </p:grpSpPr>
        <p:sp>
          <p:nvSpPr>
            <p:cNvPr id="60" name="Google Shape;60;p14"/>
            <p:cNvSpPr/>
            <p:nvPr/>
          </p:nvSpPr>
          <p:spPr>
            <a:xfrm>
              <a:off x="4333875" y="571500"/>
              <a:ext cx="476400" cy="476400"/>
            </a:xfrm>
            <a:prstGeom prst="roundRect">
              <a:avLst>
                <a:gd fmla="val 2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txBox="1"/>
            <p:nvPr/>
          </p:nvSpPr>
          <p:spPr>
            <a:xfrm>
              <a:off x="4333875" y="606552"/>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600">
                  <a:solidFill>
                    <a:srgbClr val="FFFFFF"/>
                  </a:solidFill>
                  <a:latin typeface="Material Icons"/>
                  <a:ea typeface="Material Icons"/>
                  <a:cs typeface="Material Icons"/>
                  <a:sym typeface="Material Icons"/>
                </a:rPr>
                <a:t>shuttlecock</a:t>
              </a:r>
              <a:endParaRPr sz="600">
                <a:solidFill>
                  <a:srgbClr val="FFFFFF"/>
                </a:solidFill>
                <a:latin typeface="Material Icons"/>
                <a:ea typeface="Material Icons"/>
                <a:cs typeface="Material Icons"/>
                <a:sym typeface="Material Icons"/>
              </a:endParaRPr>
            </a:p>
          </p:txBody>
        </p:sp>
      </p:grpSp>
      <p:sp>
        <p:nvSpPr>
          <p:cNvPr id="62" name="Google Shape;62;p14"/>
          <p:cNvSpPr txBox="1"/>
          <p:nvPr>
            <p:ph type="ctrTitle"/>
          </p:nvPr>
        </p:nvSpPr>
        <p:spPr>
          <a:xfrm>
            <a:off x="571500" y="1333500"/>
            <a:ext cx="8001000" cy="17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zh-TW" sz="3570">
                <a:solidFill>
                  <a:srgbClr val="1E293B"/>
                </a:solidFill>
                <a:latin typeface="Oswald"/>
                <a:ea typeface="Oswald"/>
                <a:cs typeface="Oswald"/>
                <a:sym typeface="Oswald"/>
              </a:rPr>
              <a:t>Real-Time Badminton Tracking on Edge Devices</a:t>
            </a:r>
            <a:endParaRPr b="1" i="0" sz="3570">
              <a:solidFill>
                <a:srgbClr val="1E293B"/>
              </a:solidFill>
              <a:latin typeface="Oswald"/>
              <a:ea typeface="Oswald"/>
              <a:cs typeface="Oswald"/>
              <a:sym typeface="Oswald"/>
            </a:endParaRPr>
          </a:p>
          <a:p>
            <a:pPr indent="0" lvl="0" marL="0" rtl="0" algn="ctr">
              <a:spcBef>
                <a:spcPts val="750"/>
              </a:spcBef>
              <a:spcAft>
                <a:spcPts val="0"/>
              </a:spcAft>
              <a:buNone/>
            </a:pPr>
            <a:r>
              <a:rPr b="0" i="0" lang="zh-TW" sz="2720">
                <a:solidFill>
                  <a:srgbClr val="3B82F6"/>
                </a:solidFill>
                <a:latin typeface="Oswald"/>
                <a:ea typeface="Oswald"/>
                <a:cs typeface="Oswald"/>
                <a:sym typeface="Oswald"/>
              </a:rPr>
              <a:t>A Lightweight ROI-based Architecture</a:t>
            </a:r>
            <a:endParaRPr b="0" i="0" sz="2720">
              <a:solidFill>
                <a:srgbClr val="3B82F6"/>
              </a:solidFill>
              <a:latin typeface="Oswald"/>
              <a:ea typeface="Oswald"/>
              <a:cs typeface="Oswald"/>
              <a:sym typeface="Oswald"/>
            </a:endParaRPr>
          </a:p>
        </p:txBody>
      </p:sp>
      <p:sp>
        <p:nvSpPr>
          <p:cNvPr id="63" name="Google Shape;63;p14"/>
          <p:cNvSpPr/>
          <p:nvPr/>
        </p:nvSpPr>
        <p:spPr>
          <a:xfrm>
            <a:off x="3143250" y="3238500"/>
            <a:ext cx="2857500" cy="38100"/>
          </a:xfrm>
          <a:prstGeom prst="roundRect">
            <a:avLst>
              <a:gd fmla="val 50000" name="adj"/>
            </a:avLst>
          </a:prstGeom>
          <a:solidFill>
            <a:srgbClr val="3B82F6">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14"/>
          <p:cNvSpPr txBox="1"/>
          <p:nvPr>
            <p:ph idx="1" type="subTitle"/>
          </p:nvPr>
        </p:nvSpPr>
        <p:spPr>
          <a:xfrm>
            <a:off x="762000" y="3524250"/>
            <a:ext cx="7620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ctr">
              <a:spcBef>
                <a:spcPts val="0"/>
              </a:spcBef>
              <a:spcAft>
                <a:spcPts val="0"/>
              </a:spcAft>
              <a:buNone/>
            </a:pPr>
            <a:r>
              <a:rPr b="0" i="0" lang="zh-TW" sz="1800">
                <a:solidFill>
                  <a:srgbClr val="64748B"/>
                </a:solidFill>
                <a:latin typeface="Inter Medium"/>
                <a:ea typeface="Inter Medium"/>
                <a:cs typeface="Inter Medium"/>
                <a:sym typeface="Inter Medium"/>
              </a:rPr>
              <a:t>Overcoming Compute Limitations of TrackNet on </a:t>
            </a:r>
            <a:r>
              <a:rPr b="1" i="0" lang="zh-TW" sz="1800">
                <a:solidFill>
                  <a:srgbClr val="334155"/>
                </a:solidFill>
                <a:latin typeface="Inter"/>
                <a:ea typeface="Inter"/>
                <a:cs typeface="Inter"/>
                <a:sym typeface="Inter"/>
              </a:rPr>
              <a:t>Jetson Nano</a:t>
            </a:r>
            <a:endParaRPr b="0" i="0" sz="1800">
              <a:solidFill>
                <a:srgbClr val="64748B"/>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grpSp>
        <p:nvGrpSpPr>
          <p:cNvPr id="69" name="Google Shape;69;p15"/>
          <p:cNvGrpSpPr/>
          <p:nvPr/>
        </p:nvGrpSpPr>
        <p:grpSpPr>
          <a:xfrm>
            <a:off x="-476250" y="-857250"/>
            <a:ext cx="10477500" cy="6381750"/>
            <a:chOff x="-476250" y="-857250"/>
            <a:chExt cx="10477500" cy="6381750"/>
          </a:xfrm>
        </p:grpSpPr>
        <p:sp>
          <p:nvSpPr>
            <p:cNvPr id="70" name="Google Shape;70;p1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3" name="Google Shape;73;p15"/>
          <p:cNvSpPr txBox="1"/>
          <p:nvPr/>
        </p:nvSpPr>
        <p:spPr>
          <a:xfrm>
            <a:off x="571500" y="428625"/>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3200">
                <a:solidFill>
                  <a:srgbClr val="1E293B"/>
                </a:solidFill>
                <a:latin typeface="Oswald"/>
                <a:ea typeface="Oswald"/>
                <a:cs typeface="Oswald"/>
                <a:sym typeface="Oswald"/>
              </a:rPr>
              <a:t>OUTLINE </a:t>
            </a:r>
            <a:r>
              <a:rPr b="0" lang="zh-TW" sz="1800">
                <a:solidFill>
                  <a:srgbClr val="3B82F6"/>
                </a:solidFill>
                <a:latin typeface="Inter Medium"/>
                <a:ea typeface="Inter Medium"/>
                <a:cs typeface="Inter Medium"/>
                <a:sym typeface="Inter Medium"/>
              </a:rPr>
              <a:t>/ Presentation Overview</a:t>
            </a:r>
            <a:endParaRPr b="1" sz="3200">
              <a:solidFill>
                <a:srgbClr val="1E293B"/>
              </a:solidFill>
              <a:latin typeface="Oswald"/>
              <a:ea typeface="Oswald"/>
              <a:cs typeface="Oswald"/>
              <a:sym typeface="Oswald"/>
            </a:endParaRPr>
          </a:p>
        </p:txBody>
      </p:sp>
      <p:grpSp>
        <p:nvGrpSpPr>
          <p:cNvPr id="74" name="Google Shape;74;p15"/>
          <p:cNvGrpSpPr/>
          <p:nvPr/>
        </p:nvGrpSpPr>
        <p:grpSpPr>
          <a:xfrm>
            <a:off x="571500" y="1190625"/>
            <a:ext cx="8001000" cy="571500"/>
            <a:chOff x="0" y="0"/>
            <a:chExt cx="8001000" cy="571500"/>
          </a:xfrm>
        </p:grpSpPr>
        <p:sp>
          <p:nvSpPr>
            <p:cNvPr id="75" name="Google Shape;75;p15"/>
            <p:cNvSpPr/>
            <p:nvPr/>
          </p:nvSpPr>
          <p:spPr>
            <a:xfrm>
              <a:off x="0" y="0"/>
              <a:ext cx="8001000" cy="571500"/>
            </a:xfrm>
            <a:prstGeom prst="roundRect">
              <a:avLst>
                <a:gd fmla="val 1666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5"/>
            <p:cNvSpPr/>
            <p:nvPr/>
          </p:nvSpPr>
          <p:spPr>
            <a:xfrm>
              <a:off x="0" y="0"/>
              <a:ext cx="571500" cy="5715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5"/>
            <p:cNvSpPr txBox="1"/>
            <p:nvPr/>
          </p:nvSpPr>
          <p:spPr>
            <a:xfrm>
              <a:off x="0" y="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800">
                  <a:solidFill>
                    <a:srgbClr val="FFFFFF"/>
                  </a:solidFill>
                  <a:latin typeface="Oswald"/>
                  <a:ea typeface="Oswald"/>
                  <a:cs typeface="Oswald"/>
                  <a:sym typeface="Oswald"/>
                </a:rPr>
                <a:t>01</a:t>
              </a:r>
              <a:endParaRPr b="1" sz="1800">
                <a:solidFill>
                  <a:srgbClr val="FFFFFF"/>
                </a:solidFill>
                <a:latin typeface="Oswald"/>
                <a:ea typeface="Oswald"/>
                <a:cs typeface="Oswald"/>
                <a:sym typeface="Oswald"/>
              </a:endParaRPr>
            </a:p>
          </p:txBody>
        </p:sp>
        <p:sp>
          <p:nvSpPr>
            <p:cNvPr id="78" name="Google Shape;78;p15"/>
            <p:cNvSpPr txBox="1"/>
            <p:nvPr/>
          </p:nvSpPr>
          <p:spPr>
            <a:xfrm>
              <a:off x="762000" y="0"/>
              <a:ext cx="704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800">
                  <a:solidFill>
                    <a:srgbClr val="1E293B"/>
                  </a:solidFill>
                  <a:latin typeface="Inter SemiBold"/>
                  <a:ea typeface="Inter SemiBold"/>
                  <a:cs typeface="Inter SemiBold"/>
                  <a:sym typeface="Inter SemiBold"/>
                </a:rPr>
                <a:t>Introduction</a:t>
              </a:r>
              <a:endParaRPr b="0" sz="1800">
                <a:solidFill>
                  <a:srgbClr val="1E293B"/>
                </a:solidFill>
                <a:latin typeface="Inter SemiBold"/>
                <a:ea typeface="Inter SemiBold"/>
                <a:cs typeface="Inter SemiBold"/>
                <a:sym typeface="Inter SemiBold"/>
              </a:endParaRPr>
            </a:p>
          </p:txBody>
        </p:sp>
      </p:grpSp>
      <p:grpSp>
        <p:nvGrpSpPr>
          <p:cNvPr id="79" name="Google Shape;79;p15"/>
          <p:cNvGrpSpPr/>
          <p:nvPr/>
        </p:nvGrpSpPr>
        <p:grpSpPr>
          <a:xfrm>
            <a:off x="571500" y="1876425"/>
            <a:ext cx="8001000" cy="571500"/>
            <a:chOff x="0" y="0"/>
            <a:chExt cx="8001000" cy="571500"/>
          </a:xfrm>
        </p:grpSpPr>
        <p:sp>
          <p:nvSpPr>
            <p:cNvPr id="80" name="Google Shape;80;p15"/>
            <p:cNvSpPr/>
            <p:nvPr/>
          </p:nvSpPr>
          <p:spPr>
            <a:xfrm>
              <a:off x="0" y="0"/>
              <a:ext cx="8001000" cy="571500"/>
            </a:xfrm>
            <a:prstGeom prst="roundRect">
              <a:avLst>
                <a:gd fmla="val 1666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p:nvPr/>
          </p:nvSpPr>
          <p:spPr>
            <a:xfrm>
              <a:off x="0" y="0"/>
              <a:ext cx="571500" cy="5715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txBox="1"/>
            <p:nvPr/>
          </p:nvSpPr>
          <p:spPr>
            <a:xfrm>
              <a:off x="0" y="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800">
                  <a:solidFill>
                    <a:srgbClr val="FFFFFF"/>
                  </a:solidFill>
                  <a:latin typeface="Oswald"/>
                  <a:ea typeface="Oswald"/>
                  <a:cs typeface="Oswald"/>
                  <a:sym typeface="Oswald"/>
                </a:rPr>
                <a:t>02</a:t>
              </a:r>
              <a:endParaRPr b="1" sz="1800">
                <a:solidFill>
                  <a:srgbClr val="FFFFFF"/>
                </a:solidFill>
                <a:latin typeface="Oswald"/>
                <a:ea typeface="Oswald"/>
                <a:cs typeface="Oswald"/>
                <a:sym typeface="Oswald"/>
              </a:endParaRPr>
            </a:p>
          </p:txBody>
        </p:sp>
        <p:sp>
          <p:nvSpPr>
            <p:cNvPr id="83" name="Google Shape;83;p15"/>
            <p:cNvSpPr txBox="1"/>
            <p:nvPr/>
          </p:nvSpPr>
          <p:spPr>
            <a:xfrm>
              <a:off x="762000" y="0"/>
              <a:ext cx="704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800">
                  <a:solidFill>
                    <a:srgbClr val="1E293B"/>
                  </a:solidFill>
                  <a:latin typeface="Inter SemiBold"/>
                  <a:ea typeface="Inter SemiBold"/>
                  <a:cs typeface="Inter SemiBold"/>
                  <a:sym typeface="Inter SemiBold"/>
                </a:rPr>
                <a:t>Badminton Tracking Technology</a:t>
              </a:r>
              <a:endParaRPr b="0" sz="1800">
                <a:solidFill>
                  <a:srgbClr val="1E293B"/>
                </a:solidFill>
                <a:latin typeface="Inter SemiBold"/>
                <a:ea typeface="Inter SemiBold"/>
                <a:cs typeface="Inter SemiBold"/>
                <a:sym typeface="Inter SemiBold"/>
              </a:endParaRPr>
            </a:p>
          </p:txBody>
        </p:sp>
      </p:grpSp>
      <p:grpSp>
        <p:nvGrpSpPr>
          <p:cNvPr id="84" name="Google Shape;84;p15"/>
          <p:cNvGrpSpPr/>
          <p:nvPr/>
        </p:nvGrpSpPr>
        <p:grpSpPr>
          <a:xfrm>
            <a:off x="571500" y="2562225"/>
            <a:ext cx="8001000" cy="571500"/>
            <a:chOff x="0" y="0"/>
            <a:chExt cx="8001000" cy="571500"/>
          </a:xfrm>
        </p:grpSpPr>
        <p:sp>
          <p:nvSpPr>
            <p:cNvPr id="85" name="Google Shape;85;p15"/>
            <p:cNvSpPr/>
            <p:nvPr/>
          </p:nvSpPr>
          <p:spPr>
            <a:xfrm>
              <a:off x="0" y="0"/>
              <a:ext cx="8001000" cy="571500"/>
            </a:xfrm>
            <a:prstGeom prst="roundRect">
              <a:avLst>
                <a:gd fmla="val 1666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p:nvPr/>
          </p:nvSpPr>
          <p:spPr>
            <a:xfrm>
              <a:off x="0" y="0"/>
              <a:ext cx="571500" cy="5715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txBox="1"/>
            <p:nvPr/>
          </p:nvSpPr>
          <p:spPr>
            <a:xfrm>
              <a:off x="0" y="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800">
                  <a:solidFill>
                    <a:srgbClr val="FFFFFF"/>
                  </a:solidFill>
                  <a:latin typeface="Oswald"/>
                  <a:ea typeface="Oswald"/>
                  <a:cs typeface="Oswald"/>
                  <a:sym typeface="Oswald"/>
                </a:rPr>
                <a:t>03</a:t>
              </a:r>
              <a:endParaRPr b="1" sz="1800">
                <a:solidFill>
                  <a:srgbClr val="FFFFFF"/>
                </a:solidFill>
                <a:latin typeface="Oswald"/>
                <a:ea typeface="Oswald"/>
                <a:cs typeface="Oswald"/>
                <a:sym typeface="Oswald"/>
              </a:endParaRPr>
            </a:p>
          </p:txBody>
        </p:sp>
        <p:sp>
          <p:nvSpPr>
            <p:cNvPr id="88" name="Google Shape;88;p15"/>
            <p:cNvSpPr txBox="1"/>
            <p:nvPr/>
          </p:nvSpPr>
          <p:spPr>
            <a:xfrm>
              <a:off x="762000" y="0"/>
              <a:ext cx="704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800">
                  <a:solidFill>
                    <a:srgbClr val="1E293B"/>
                  </a:solidFill>
                  <a:latin typeface="Inter SemiBold"/>
                  <a:ea typeface="Inter SemiBold"/>
                  <a:cs typeface="Inter SemiBold"/>
                  <a:sym typeface="Inter SemiBold"/>
                </a:rPr>
                <a:t>Challenges</a:t>
              </a:r>
              <a:endParaRPr b="0" sz="1800">
                <a:solidFill>
                  <a:srgbClr val="1E293B"/>
                </a:solidFill>
                <a:latin typeface="Inter SemiBold"/>
                <a:ea typeface="Inter SemiBold"/>
                <a:cs typeface="Inter SemiBold"/>
                <a:sym typeface="Inter SemiBold"/>
              </a:endParaRPr>
            </a:p>
          </p:txBody>
        </p:sp>
      </p:grpSp>
      <p:grpSp>
        <p:nvGrpSpPr>
          <p:cNvPr id="89" name="Google Shape;89;p15"/>
          <p:cNvGrpSpPr/>
          <p:nvPr/>
        </p:nvGrpSpPr>
        <p:grpSpPr>
          <a:xfrm>
            <a:off x="571500" y="3248025"/>
            <a:ext cx="8001000" cy="571500"/>
            <a:chOff x="0" y="0"/>
            <a:chExt cx="8001000" cy="571500"/>
          </a:xfrm>
        </p:grpSpPr>
        <p:sp>
          <p:nvSpPr>
            <p:cNvPr id="90" name="Google Shape;90;p15"/>
            <p:cNvSpPr/>
            <p:nvPr/>
          </p:nvSpPr>
          <p:spPr>
            <a:xfrm>
              <a:off x="0" y="0"/>
              <a:ext cx="8001000" cy="571500"/>
            </a:xfrm>
            <a:prstGeom prst="roundRect">
              <a:avLst>
                <a:gd fmla="val 1666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5"/>
            <p:cNvSpPr/>
            <p:nvPr/>
          </p:nvSpPr>
          <p:spPr>
            <a:xfrm>
              <a:off x="0" y="0"/>
              <a:ext cx="571500" cy="5715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txBox="1"/>
            <p:nvPr/>
          </p:nvSpPr>
          <p:spPr>
            <a:xfrm>
              <a:off x="0" y="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800">
                  <a:solidFill>
                    <a:srgbClr val="FFFFFF"/>
                  </a:solidFill>
                  <a:latin typeface="Oswald"/>
                  <a:ea typeface="Oswald"/>
                  <a:cs typeface="Oswald"/>
                  <a:sym typeface="Oswald"/>
                </a:rPr>
                <a:t>04</a:t>
              </a:r>
              <a:endParaRPr b="1" sz="1800">
                <a:solidFill>
                  <a:srgbClr val="FFFFFF"/>
                </a:solidFill>
                <a:latin typeface="Oswald"/>
                <a:ea typeface="Oswald"/>
                <a:cs typeface="Oswald"/>
                <a:sym typeface="Oswald"/>
              </a:endParaRPr>
            </a:p>
          </p:txBody>
        </p:sp>
        <p:sp>
          <p:nvSpPr>
            <p:cNvPr id="93" name="Google Shape;93;p15"/>
            <p:cNvSpPr txBox="1"/>
            <p:nvPr/>
          </p:nvSpPr>
          <p:spPr>
            <a:xfrm>
              <a:off x="762000" y="0"/>
              <a:ext cx="704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800">
                  <a:solidFill>
                    <a:srgbClr val="1E293B"/>
                  </a:solidFill>
                  <a:latin typeface="Inter SemiBold"/>
                  <a:ea typeface="Inter SemiBold"/>
                  <a:cs typeface="Inter SemiBold"/>
                  <a:sym typeface="Inter SemiBold"/>
                </a:rPr>
                <a:t>Methodology</a:t>
              </a:r>
              <a:endParaRPr b="0" sz="1800">
                <a:solidFill>
                  <a:srgbClr val="1E293B"/>
                </a:solidFill>
                <a:latin typeface="Inter SemiBold"/>
                <a:ea typeface="Inter SemiBold"/>
                <a:cs typeface="Inter SemiBold"/>
                <a:sym typeface="Inter SemiBold"/>
              </a:endParaRPr>
            </a:p>
          </p:txBody>
        </p:sp>
      </p:grpSp>
      <p:grpSp>
        <p:nvGrpSpPr>
          <p:cNvPr id="94" name="Google Shape;94;p15"/>
          <p:cNvGrpSpPr/>
          <p:nvPr/>
        </p:nvGrpSpPr>
        <p:grpSpPr>
          <a:xfrm>
            <a:off x="571500" y="3933825"/>
            <a:ext cx="8001000" cy="571500"/>
            <a:chOff x="0" y="0"/>
            <a:chExt cx="8001000" cy="571500"/>
          </a:xfrm>
        </p:grpSpPr>
        <p:sp>
          <p:nvSpPr>
            <p:cNvPr id="95" name="Google Shape;95;p15"/>
            <p:cNvSpPr/>
            <p:nvPr/>
          </p:nvSpPr>
          <p:spPr>
            <a:xfrm>
              <a:off x="0" y="0"/>
              <a:ext cx="8001000" cy="571500"/>
            </a:xfrm>
            <a:prstGeom prst="roundRect">
              <a:avLst>
                <a:gd fmla="val 1666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0" y="0"/>
              <a:ext cx="571500" cy="5715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0" y="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800">
                  <a:solidFill>
                    <a:srgbClr val="FFFFFF"/>
                  </a:solidFill>
                  <a:latin typeface="Oswald"/>
                  <a:ea typeface="Oswald"/>
                  <a:cs typeface="Oswald"/>
                  <a:sym typeface="Oswald"/>
                </a:rPr>
                <a:t>05</a:t>
              </a:r>
              <a:endParaRPr b="1" sz="1800">
                <a:solidFill>
                  <a:srgbClr val="FFFFFF"/>
                </a:solidFill>
                <a:latin typeface="Oswald"/>
                <a:ea typeface="Oswald"/>
                <a:cs typeface="Oswald"/>
                <a:sym typeface="Oswald"/>
              </a:endParaRPr>
            </a:p>
          </p:txBody>
        </p:sp>
        <p:sp>
          <p:nvSpPr>
            <p:cNvPr id="98" name="Google Shape;98;p15"/>
            <p:cNvSpPr txBox="1"/>
            <p:nvPr/>
          </p:nvSpPr>
          <p:spPr>
            <a:xfrm>
              <a:off x="762000" y="0"/>
              <a:ext cx="704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TW" sz="1800">
                  <a:solidFill>
                    <a:srgbClr val="1E293B"/>
                  </a:solidFill>
                  <a:latin typeface="Inter SemiBold"/>
                  <a:ea typeface="Inter SemiBold"/>
                  <a:cs typeface="Inter SemiBold"/>
                  <a:sym typeface="Inter SemiBold"/>
                </a:rPr>
                <a:t>Conclusion</a:t>
              </a:r>
              <a:endParaRPr b="0" sz="1800">
                <a:solidFill>
                  <a:srgbClr val="1E293B"/>
                </a:solidFill>
                <a:latin typeface="Inter SemiBold"/>
                <a:ea typeface="Inter SemiBold"/>
                <a:cs typeface="Inter SemiBold"/>
                <a:sym typeface="Inter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grpSp>
        <p:nvGrpSpPr>
          <p:cNvPr id="103" name="Google Shape;103;p16"/>
          <p:cNvGrpSpPr/>
          <p:nvPr/>
        </p:nvGrpSpPr>
        <p:grpSpPr>
          <a:xfrm>
            <a:off x="-476250" y="-857250"/>
            <a:ext cx="10477500" cy="6381750"/>
            <a:chOff x="-476250" y="-857250"/>
            <a:chExt cx="10477500" cy="6381750"/>
          </a:xfrm>
        </p:grpSpPr>
        <p:sp>
          <p:nvSpPr>
            <p:cNvPr id="104" name="Google Shape;104;p1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7" name="Google Shape;107;p16"/>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Introduction</a:t>
            </a:r>
            <a:endParaRPr b="1" sz="4400">
              <a:solidFill>
                <a:srgbClr val="1E293B"/>
              </a:solidFill>
              <a:latin typeface="Oswald"/>
              <a:ea typeface="Oswald"/>
              <a:cs typeface="Oswald"/>
              <a:sym typeface="Oswald"/>
            </a:endParaRPr>
          </a:p>
        </p:txBody>
      </p:sp>
      <p:sp>
        <p:nvSpPr>
          <p:cNvPr id="108" name="Google Shape;108;p16"/>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grpSp>
        <p:nvGrpSpPr>
          <p:cNvPr id="113" name="Google Shape;113;p17"/>
          <p:cNvGrpSpPr/>
          <p:nvPr/>
        </p:nvGrpSpPr>
        <p:grpSpPr>
          <a:xfrm>
            <a:off x="-476250" y="-857250"/>
            <a:ext cx="10477500" cy="6381750"/>
            <a:chOff x="-476250" y="-857250"/>
            <a:chExt cx="10477500" cy="6381750"/>
          </a:xfrm>
        </p:grpSpPr>
        <p:sp>
          <p:nvSpPr>
            <p:cNvPr id="114" name="Google Shape;114;p1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7" name="Google Shape;117;p17"/>
          <p:cNvSpPr txBox="1"/>
          <p:nvPr/>
        </p:nvSpPr>
        <p:spPr>
          <a:xfrm>
            <a:off x="476250" y="333375"/>
            <a:ext cx="81915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zh-TW" sz="2800">
                <a:solidFill>
                  <a:srgbClr val="1E293B"/>
                </a:solidFill>
                <a:latin typeface="Oswald"/>
                <a:ea typeface="Oswald"/>
                <a:cs typeface="Oswald"/>
                <a:sym typeface="Oswald"/>
              </a:rPr>
              <a:t>INTRODUCTION </a:t>
            </a:r>
            <a:r>
              <a:rPr b="0" i="0" lang="zh-TW" sz="1600">
                <a:solidFill>
                  <a:srgbClr val="3B82F6"/>
                </a:solidFill>
                <a:latin typeface="Inter Medium"/>
                <a:ea typeface="Inter Medium"/>
                <a:cs typeface="Inter Medium"/>
                <a:sym typeface="Inter Medium"/>
              </a:rPr>
              <a:t>/ Overview &amp; Development of Badminton</a:t>
            </a:r>
            <a:endParaRPr b="1" i="0" sz="2800">
              <a:solidFill>
                <a:srgbClr val="1E293B"/>
              </a:solidFill>
              <a:latin typeface="Oswald"/>
              <a:ea typeface="Oswald"/>
              <a:cs typeface="Oswald"/>
              <a:sym typeface="Oswald"/>
            </a:endParaRPr>
          </a:p>
        </p:txBody>
      </p:sp>
      <p:grpSp>
        <p:nvGrpSpPr>
          <p:cNvPr id="118" name="Google Shape;118;p17"/>
          <p:cNvGrpSpPr/>
          <p:nvPr/>
        </p:nvGrpSpPr>
        <p:grpSpPr>
          <a:xfrm>
            <a:off x="571500" y="935525"/>
            <a:ext cx="7872984" cy="3762300"/>
            <a:chOff x="0" y="0"/>
            <a:chExt cx="4000500" cy="3762300"/>
          </a:xfrm>
        </p:grpSpPr>
        <p:sp>
          <p:nvSpPr>
            <p:cNvPr id="119" name="Google Shape;119;p17"/>
            <p:cNvSpPr/>
            <p:nvPr/>
          </p:nvSpPr>
          <p:spPr>
            <a:xfrm>
              <a:off x="0" y="0"/>
              <a:ext cx="4000500" cy="3762300"/>
            </a:xfrm>
            <a:prstGeom prst="roundRect">
              <a:avLst>
                <a:gd fmla="val 253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p:nvPr/>
          </p:nvSpPr>
          <p:spPr>
            <a:xfrm>
              <a:off x="152400" y="152400"/>
              <a:ext cx="342900" cy="3429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7"/>
            <p:cNvSpPr txBox="1"/>
            <p:nvPr/>
          </p:nvSpPr>
          <p:spPr>
            <a:xfrm>
              <a:off x="152400" y="1524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400">
                  <a:solidFill>
                    <a:srgbClr val="FFFFFF"/>
                  </a:solidFill>
                  <a:latin typeface="Oswald"/>
                  <a:ea typeface="Oswald"/>
                  <a:cs typeface="Oswald"/>
                  <a:sym typeface="Oswald"/>
                </a:rPr>
                <a:t>0</a:t>
              </a:r>
              <a:r>
                <a:rPr b="1" lang="zh-TW">
                  <a:solidFill>
                    <a:srgbClr val="FFFFFF"/>
                  </a:solidFill>
                  <a:latin typeface="Oswald"/>
                  <a:ea typeface="Oswald"/>
                  <a:cs typeface="Oswald"/>
                  <a:sym typeface="Oswald"/>
                </a:rPr>
                <a:t>1</a:t>
              </a:r>
              <a:endParaRPr b="1">
                <a:solidFill>
                  <a:srgbClr val="FFFFFF"/>
                </a:solidFill>
                <a:latin typeface="Oswald"/>
                <a:ea typeface="Oswald"/>
                <a:cs typeface="Oswald"/>
                <a:sym typeface="Oswald"/>
              </a:endParaRPr>
            </a:p>
          </p:txBody>
        </p:sp>
        <p:sp>
          <p:nvSpPr>
            <p:cNvPr id="122" name="Google Shape;122;p17"/>
            <p:cNvSpPr txBox="1"/>
            <p:nvPr/>
          </p:nvSpPr>
          <p:spPr>
            <a:xfrm>
              <a:off x="590550" y="152400"/>
              <a:ext cx="3257700" cy="342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zh-TW" sz="1500">
                  <a:solidFill>
                    <a:srgbClr val="1E293B"/>
                  </a:solidFill>
                  <a:latin typeface="Inter"/>
                  <a:ea typeface="Inter"/>
                  <a:cs typeface="Inter"/>
                  <a:sym typeface="Inter"/>
                </a:rPr>
                <a:t>Badminton Popularity in Taiwan</a:t>
              </a:r>
              <a:endParaRPr b="1" i="0" sz="1500">
                <a:solidFill>
                  <a:srgbClr val="1E293B"/>
                </a:solidFill>
                <a:latin typeface="Inter"/>
                <a:ea typeface="Inter"/>
                <a:cs typeface="Inter"/>
                <a:sym typeface="Inter"/>
              </a:endParaRPr>
            </a:p>
          </p:txBody>
        </p:sp>
        <p:sp>
          <p:nvSpPr>
            <p:cNvPr id="123" name="Google Shape;123;p17"/>
            <p:cNvSpPr/>
            <p:nvPr/>
          </p:nvSpPr>
          <p:spPr>
            <a:xfrm>
              <a:off x="152400" y="590550"/>
              <a:ext cx="1771800" cy="619200"/>
            </a:xfrm>
            <a:prstGeom prst="roundRect">
              <a:avLst>
                <a:gd fmla="val 1230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7"/>
            <p:cNvSpPr txBox="1"/>
            <p:nvPr/>
          </p:nvSpPr>
          <p:spPr>
            <a:xfrm>
              <a:off x="228600" y="628650"/>
              <a:ext cx="1619100" cy="5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zh-TW" sz="900">
                  <a:solidFill>
                    <a:srgbClr val="64748B"/>
                  </a:solidFill>
                  <a:latin typeface="Inter"/>
                  <a:ea typeface="Inter"/>
                  <a:cs typeface="Inter"/>
                  <a:sym typeface="Inter"/>
                </a:rPr>
                <a:t>Player Base</a:t>
              </a:r>
              <a:endParaRPr b="0" i="0" sz="900">
                <a:solidFill>
                  <a:srgbClr val="64748B"/>
                </a:solidFill>
                <a:latin typeface="Inter"/>
                <a:ea typeface="Inter"/>
                <a:cs typeface="Inter"/>
                <a:sym typeface="Inter"/>
              </a:endParaRPr>
            </a:p>
            <a:p>
              <a:pPr indent="0" lvl="0" marL="0" rtl="0" algn="ctr">
                <a:spcBef>
                  <a:spcPts val="0"/>
                </a:spcBef>
                <a:spcAft>
                  <a:spcPts val="0"/>
                </a:spcAft>
                <a:buNone/>
              </a:pPr>
              <a:r>
                <a:rPr b="1" i="0" lang="zh-TW" sz="1600">
                  <a:solidFill>
                    <a:srgbClr val="2563EB"/>
                  </a:solidFill>
                  <a:latin typeface="Oswald"/>
                  <a:ea typeface="Oswald"/>
                  <a:cs typeface="Oswald"/>
                  <a:sym typeface="Oswald"/>
                </a:rPr>
                <a:t>&gt; 3 Million</a:t>
              </a:r>
              <a:endParaRPr b="0" i="0" sz="900">
                <a:solidFill>
                  <a:srgbClr val="64748B"/>
                </a:solidFill>
                <a:latin typeface="Inter"/>
                <a:ea typeface="Inter"/>
                <a:cs typeface="Inter"/>
                <a:sym typeface="Inter"/>
              </a:endParaRPr>
            </a:p>
          </p:txBody>
        </p:sp>
        <p:sp>
          <p:nvSpPr>
            <p:cNvPr id="125" name="Google Shape;125;p17"/>
            <p:cNvSpPr/>
            <p:nvPr/>
          </p:nvSpPr>
          <p:spPr>
            <a:xfrm>
              <a:off x="2076450" y="590550"/>
              <a:ext cx="1771800" cy="619200"/>
            </a:xfrm>
            <a:prstGeom prst="roundRect">
              <a:avLst>
                <a:gd fmla="val 1230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7"/>
            <p:cNvSpPr txBox="1"/>
            <p:nvPr/>
          </p:nvSpPr>
          <p:spPr>
            <a:xfrm>
              <a:off x="2152650" y="628650"/>
              <a:ext cx="1619100" cy="5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zh-TW" sz="900">
                  <a:solidFill>
                    <a:srgbClr val="64748B"/>
                  </a:solidFill>
                  <a:latin typeface="Inter"/>
                  <a:ea typeface="Inter"/>
                  <a:cs typeface="Inter"/>
                  <a:sym typeface="Inter"/>
                </a:rPr>
                <a:t>Population Share</a:t>
              </a:r>
              <a:endParaRPr b="0" i="0" sz="900">
                <a:solidFill>
                  <a:srgbClr val="64748B"/>
                </a:solidFill>
                <a:latin typeface="Inter"/>
                <a:ea typeface="Inter"/>
                <a:cs typeface="Inter"/>
                <a:sym typeface="Inter"/>
              </a:endParaRPr>
            </a:p>
            <a:p>
              <a:pPr indent="0" lvl="0" marL="0" rtl="0" algn="ctr">
                <a:spcBef>
                  <a:spcPts val="0"/>
                </a:spcBef>
                <a:spcAft>
                  <a:spcPts val="0"/>
                </a:spcAft>
                <a:buNone/>
              </a:pPr>
              <a:r>
                <a:rPr b="1" i="0" lang="zh-TW" sz="1600">
                  <a:solidFill>
                    <a:srgbClr val="2563EB"/>
                  </a:solidFill>
                  <a:latin typeface="Oswald"/>
                  <a:ea typeface="Oswald"/>
                  <a:cs typeface="Oswald"/>
                  <a:sym typeface="Oswald"/>
                </a:rPr>
                <a:t>9.4%</a:t>
              </a:r>
              <a:endParaRPr b="0" i="0" sz="900">
                <a:solidFill>
                  <a:srgbClr val="64748B"/>
                </a:solidFill>
                <a:latin typeface="Inter"/>
                <a:ea typeface="Inter"/>
                <a:cs typeface="Inter"/>
                <a:sym typeface="Inter"/>
              </a:endParaRPr>
            </a:p>
          </p:txBody>
        </p:sp>
        <p:sp>
          <p:nvSpPr>
            <p:cNvPr id="127" name="Google Shape;127;p17"/>
            <p:cNvSpPr txBox="1"/>
            <p:nvPr/>
          </p:nvSpPr>
          <p:spPr>
            <a:xfrm>
              <a:off x="152400" y="1333500"/>
              <a:ext cx="36957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1000">
                  <a:solidFill>
                    <a:srgbClr val="334155"/>
                  </a:solidFill>
                  <a:latin typeface="Inter"/>
                  <a:ea typeface="Inter"/>
                  <a:cs typeface="Inter"/>
                  <a:sym typeface="Inter"/>
                </a:rPr>
                <a:t>Popular Ball Sports Participation (in Millions)</a:t>
              </a:r>
              <a:endParaRPr b="1" i="0" sz="1000">
                <a:solidFill>
                  <a:srgbClr val="334155"/>
                </a:solidFill>
                <a:latin typeface="Inter"/>
                <a:ea typeface="Inter"/>
                <a:cs typeface="Inter"/>
                <a:sym typeface="Inter"/>
              </a:endParaRPr>
            </a:p>
          </p:txBody>
        </p:sp>
        <p:sp>
          <p:nvSpPr>
            <p:cNvPr id="128" name="Google Shape;128;p17"/>
            <p:cNvSpPr/>
            <p:nvPr/>
          </p:nvSpPr>
          <p:spPr>
            <a:xfrm>
              <a:off x="762000" y="1714500"/>
              <a:ext cx="2381400" cy="171600"/>
            </a:xfrm>
            <a:prstGeom prst="roundRect">
              <a:avLst>
                <a:gd fmla="val 22222"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7"/>
            <p:cNvSpPr/>
            <p:nvPr/>
          </p:nvSpPr>
          <p:spPr>
            <a:xfrm>
              <a:off x="762000" y="2143125"/>
              <a:ext cx="1714500" cy="171600"/>
            </a:xfrm>
            <a:prstGeom prst="roundRect">
              <a:avLst>
                <a:gd fmla="val 22222" name="adj"/>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7"/>
            <p:cNvSpPr/>
            <p:nvPr/>
          </p:nvSpPr>
          <p:spPr>
            <a:xfrm>
              <a:off x="762000" y="2571750"/>
              <a:ext cx="1428900" cy="171600"/>
            </a:xfrm>
            <a:prstGeom prst="roundRect">
              <a:avLst>
                <a:gd fmla="val 22222" name="adj"/>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7"/>
            <p:cNvSpPr/>
            <p:nvPr/>
          </p:nvSpPr>
          <p:spPr>
            <a:xfrm>
              <a:off x="762000" y="3000375"/>
              <a:ext cx="1047900" cy="171600"/>
            </a:xfrm>
            <a:prstGeom prst="roundRect">
              <a:avLst>
                <a:gd fmla="val 22222" name="adj"/>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txBox="1"/>
            <p:nvPr/>
          </p:nvSpPr>
          <p:spPr>
            <a:xfrm>
              <a:off x="95250" y="1685925"/>
              <a:ext cx="6096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i="0" lang="zh-TW" sz="900">
                  <a:solidFill>
                    <a:srgbClr val="1E293B"/>
                  </a:solidFill>
                  <a:latin typeface="Inter"/>
                  <a:ea typeface="Inter"/>
                  <a:cs typeface="Inter"/>
                  <a:sym typeface="Inter"/>
                </a:rPr>
                <a:t>Badminton</a:t>
              </a:r>
              <a:endParaRPr b="1" i="0" sz="900">
                <a:solidFill>
                  <a:srgbClr val="1E293B"/>
                </a:solidFill>
                <a:latin typeface="Inter"/>
                <a:ea typeface="Inter"/>
                <a:cs typeface="Inter"/>
                <a:sym typeface="Inter"/>
              </a:endParaRPr>
            </a:p>
          </p:txBody>
        </p:sp>
        <p:sp>
          <p:nvSpPr>
            <p:cNvPr id="133" name="Google Shape;133;p17"/>
            <p:cNvSpPr txBox="1"/>
            <p:nvPr/>
          </p:nvSpPr>
          <p:spPr>
            <a:xfrm>
              <a:off x="3200400" y="1685925"/>
              <a:ext cx="5715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1000">
                  <a:solidFill>
                    <a:srgbClr val="2563EB"/>
                  </a:solidFill>
                  <a:latin typeface="Oswald"/>
                  <a:ea typeface="Oswald"/>
                  <a:cs typeface="Oswald"/>
                  <a:sym typeface="Oswald"/>
                </a:rPr>
                <a:t>3M+</a:t>
              </a:r>
              <a:endParaRPr b="1" i="0" sz="1000">
                <a:solidFill>
                  <a:srgbClr val="2563EB"/>
                </a:solidFill>
                <a:latin typeface="Oswald"/>
                <a:ea typeface="Oswald"/>
                <a:cs typeface="Oswald"/>
                <a:sym typeface="Oswald"/>
              </a:endParaRPr>
            </a:p>
          </p:txBody>
        </p:sp>
        <p:sp>
          <p:nvSpPr>
            <p:cNvPr id="134" name="Google Shape;134;p17"/>
            <p:cNvSpPr txBox="1"/>
            <p:nvPr/>
          </p:nvSpPr>
          <p:spPr>
            <a:xfrm>
              <a:off x="95250" y="2114550"/>
              <a:ext cx="6096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0" i="0" lang="zh-TW" sz="900">
                  <a:solidFill>
                    <a:srgbClr val="64748B"/>
                  </a:solidFill>
                  <a:latin typeface="Inter"/>
                  <a:ea typeface="Inter"/>
                  <a:cs typeface="Inter"/>
                  <a:sym typeface="Inter"/>
                </a:rPr>
                <a:t>Basketball</a:t>
              </a:r>
              <a:endParaRPr b="0" i="0" sz="900">
                <a:solidFill>
                  <a:srgbClr val="64748B"/>
                </a:solidFill>
                <a:latin typeface="Inter"/>
                <a:ea typeface="Inter"/>
                <a:cs typeface="Inter"/>
                <a:sym typeface="Inter"/>
              </a:endParaRPr>
            </a:p>
          </p:txBody>
        </p:sp>
        <p:sp>
          <p:nvSpPr>
            <p:cNvPr id="135" name="Google Shape;135;p17"/>
            <p:cNvSpPr txBox="1"/>
            <p:nvPr/>
          </p:nvSpPr>
          <p:spPr>
            <a:xfrm>
              <a:off x="2533650" y="2114550"/>
              <a:ext cx="5715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zh-TW" sz="1000">
                  <a:solidFill>
                    <a:srgbClr val="64748B"/>
                  </a:solidFill>
                  <a:latin typeface="Oswald"/>
                  <a:ea typeface="Oswald"/>
                  <a:cs typeface="Oswald"/>
                  <a:sym typeface="Oswald"/>
                </a:rPr>
                <a:t>2.1M</a:t>
              </a:r>
              <a:endParaRPr b="0" i="0" sz="1000">
                <a:solidFill>
                  <a:srgbClr val="64748B"/>
                </a:solidFill>
                <a:latin typeface="Oswald"/>
                <a:ea typeface="Oswald"/>
                <a:cs typeface="Oswald"/>
                <a:sym typeface="Oswald"/>
              </a:endParaRPr>
            </a:p>
          </p:txBody>
        </p:sp>
        <p:sp>
          <p:nvSpPr>
            <p:cNvPr id="136" name="Google Shape;136;p17"/>
            <p:cNvSpPr txBox="1"/>
            <p:nvPr/>
          </p:nvSpPr>
          <p:spPr>
            <a:xfrm>
              <a:off x="19050" y="2543175"/>
              <a:ext cx="6858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0" i="0" lang="zh-TW" sz="850">
                  <a:solidFill>
                    <a:srgbClr val="64748B"/>
                  </a:solidFill>
                  <a:latin typeface="Inter"/>
                  <a:ea typeface="Inter"/>
                  <a:cs typeface="Inter"/>
                  <a:sym typeface="Inter"/>
                </a:rPr>
                <a:t>Table Tennis</a:t>
              </a:r>
              <a:endParaRPr b="0" i="0" sz="850">
                <a:solidFill>
                  <a:srgbClr val="64748B"/>
                </a:solidFill>
                <a:latin typeface="Inter"/>
                <a:ea typeface="Inter"/>
                <a:cs typeface="Inter"/>
                <a:sym typeface="Inter"/>
              </a:endParaRPr>
            </a:p>
          </p:txBody>
        </p:sp>
        <p:sp>
          <p:nvSpPr>
            <p:cNvPr id="137" name="Google Shape;137;p17"/>
            <p:cNvSpPr txBox="1"/>
            <p:nvPr/>
          </p:nvSpPr>
          <p:spPr>
            <a:xfrm>
              <a:off x="2247900" y="2543175"/>
              <a:ext cx="5715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zh-TW" sz="1000">
                  <a:solidFill>
                    <a:srgbClr val="64748B"/>
                  </a:solidFill>
                  <a:latin typeface="Oswald"/>
                  <a:ea typeface="Oswald"/>
                  <a:cs typeface="Oswald"/>
                  <a:sym typeface="Oswald"/>
                </a:rPr>
                <a:t>1.7M</a:t>
              </a:r>
              <a:endParaRPr b="0" i="0" sz="1000">
                <a:solidFill>
                  <a:srgbClr val="64748B"/>
                </a:solidFill>
                <a:latin typeface="Oswald"/>
                <a:ea typeface="Oswald"/>
                <a:cs typeface="Oswald"/>
                <a:sym typeface="Oswald"/>
              </a:endParaRPr>
            </a:p>
          </p:txBody>
        </p:sp>
        <p:sp>
          <p:nvSpPr>
            <p:cNvPr id="138" name="Google Shape;138;p17"/>
            <p:cNvSpPr txBox="1"/>
            <p:nvPr/>
          </p:nvSpPr>
          <p:spPr>
            <a:xfrm>
              <a:off x="95250" y="2971800"/>
              <a:ext cx="6096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0" i="0" lang="zh-TW" sz="900">
                  <a:solidFill>
                    <a:srgbClr val="64748B"/>
                  </a:solidFill>
                  <a:latin typeface="Inter"/>
                  <a:ea typeface="Inter"/>
                  <a:cs typeface="Inter"/>
                  <a:sym typeface="Inter"/>
                </a:rPr>
                <a:t>Volleyball</a:t>
              </a:r>
              <a:endParaRPr b="0" i="0" sz="900">
                <a:solidFill>
                  <a:srgbClr val="64748B"/>
                </a:solidFill>
                <a:latin typeface="Inter"/>
                <a:ea typeface="Inter"/>
                <a:cs typeface="Inter"/>
                <a:sym typeface="Inter"/>
              </a:endParaRPr>
            </a:p>
          </p:txBody>
        </p:sp>
        <p:sp>
          <p:nvSpPr>
            <p:cNvPr id="139" name="Google Shape;139;p17"/>
            <p:cNvSpPr txBox="1"/>
            <p:nvPr/>
          </p:nvSpPr>
          <p:spPr>
            <a:xfrm>
              <a:off x="1866900" y="2971800"/>
              <a:ext cx="5715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zh-TW" sz="1000">
                  <a:solidFill>
                    <a:srgbClr val="64748B"/>
                  </a:solidFill>
                  <a:latin typeface="Oswald"/>
                  <a:ea typeface="Oswald"/>
                  <a:cs typeface="Oswald"/>
                  <a:sym typeface="Oswald"/>
                </a:rPr>
                <a:t>1.2M</a:t>
              </a:r>
              <a:endParaRPr b="0" i="0" sz="1000">
                <a:solidFill>
                  <a:srgbClr val="64748B"/>
                </a:solidFill>
                <a:latin typeface="Oswald"/>
                <a:ea typeface="Oswald"/>
                <a:cs typeface="Oswald"/>
                <a:sym typeface="Oswald"/>
              </a:endParaRPr>
            </a:p>
          </p:txBody>
        </p:sp>
        <p:sp>
          <p:nvSpPr>
            <p:cNvPr id="140" name="Google Shape;140;p17"/>
            <p:cNvSpPr txBox="1"/>
            <p:nvPr/>
          </p:nvSpPr>
          <p:spPr>
            <a:xfrm>
              <a:off x="152400" y="3381375"/>
              <a:ext cx="3695700" cy="238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zh-TW" sz="850">
                  <a:solidFill>
                    <a:srgbClr val="64748B"/>
                  </a:solidFill>
                  <a:latin typeface="Inter"/>
                  <a:ea typeface="Inter"/>
                  <a:cs typeface="Inter"/>
                  <a:sym typeface="Inter"/>
                </a:rPr>
                <a:t>Badminton has become one of the most widely played sports in Taiwan</a:t>
              </a:r>
              <a:endParaRPr b="0" i="0" sz="850">
                <a:solidFill>
                  <a:srgbClr val="64748B"/>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grpSp>
        <p:nvGrpSpPr>
          <p:cNvPr id="145" name="Google Shape;145;p18"/>
          <p:cNvGrpSpPr/>
          <p:nvPr/>
        </p:nvGrpSpPr>
        <p:grpSpPr>
          <a:xfrm>
            <a:off x="-476250" y="-857250"/>
            <a:ext cx="10477500" cy="6381750"/>
            <a:chOff x="-476250" y="-857250"/>
            <a:chExt cx="10477500" cy="6381750"/>
          </a:xfrm>
        </p:grpSpPr>
        <p:sp>
          <p:nvSpPr>
            <p:cNvPr id="146" name="Google Shape;146;p1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9" name="Google Shape;149;p18"/>
          <p:cNvSpPr txBox="1"/>
          <p:nvPr/>
        </p:nvSpPr>
        <p:spPr>
          <a:xfrm>
            <a:off x="476250" y="333375"/>
            <a:ext cx="8191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2600">
                <a:solidFill>
                  <a:srgbClr val="1E293B"/>
                </a:solidFill>
                <a:latin typeface="Oswald"/>
                <a:ea typeface="Oswald"/>
                <a:cs typeface="Oswald"/>
                <a:sym typeface="Oswald"/>
              </a:rPr>
              <a:t>INTRODUCTION </a:t>
            </a:r>
            <a:r>
              <a:rPr b="0" lang="zh-TW" sz="1600">
                <a:solidFill>
                  <a:srgbClr val="3B82F6"/>
                </a:solidFill>
                <a:latin typeface="Inter Medium"/>
                <a:ea typeface="Inter Medium"/>
                <a:cs typeface="Inter Medium"/>
                <a:sym typeface="Inter Medium"/>
              </a:rPr>
              <a:t>/ Motivation &amp; Cost Analysis</a:t>
            </a:r>
            <a:endParaRPr b="1" sz="2600">
              <a:solidFill>
                <a:srgbClr val="1E293B"/>
              </a:solidFill>
              <a:latin typeface="Oswald"/>
              <a:ea typeface="Oswald"/>
              <a:cs typeface="Oswald"/>
              <a:sym typeface="Oswald"/>
            </a:endParaRPr>
          </a:p>
        </p:txBody>
      </p:sp>
      <p:grpSp>
        <p:nvGrpSpPr>
          <p:cNvPr id="150" name="Google Shape;150;p18"/>
          <p:cNvGrpSpPr/>
          <p:nvPr/>
        </p:nvGrpSpPr>
        <p:grpSpPr>
          <a:xfrm>
            <a:off x="476250" y="952500"/>
            <a:ext cx="3905400" cy="3762300"/>
            <a:chOff x="0" y="0"/>
            <a:chExt cx="3905400" cy="3762300"/>
          </a:xfrm>
        </p:grpSpPr>
        <p:sp>
          <p:nvSpPr>
            <p:cNvPr id="151" name="Google Shape;151;p18"/>
            <p:cNvSpPr/>
            <p:nvPr/>
          </p:nvSpPr>
          <p:spPr>
            <a:xfrm>
              <a:off x="0" y="0"/>
              <a:ext cx="3905400" cy="3762300"/>
            </a:xfrm>
            <a:prstGeom prst="roundRect">
              <a:avLst>
                <a:gd fmla="val 253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8"/>
            <p:cNvSpPr/>
            <p:nvPr/>
          </p:nvSpPr>
          <p:spPr>
            <a:xfrm>
              <a:off x="190500" y="190500"/>
              <a:ext cx="342900" cy="342900"/>
            </a:xfrm>
            <a:prstGeom prst="roundRect">
              <a:avLst>
                <a:gd fmla="val 1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txBox="1"/>
            <p:nvPr/>
          </p:nvSpPr>
          <p:spPr>
            <a:xfrm>
              <a:off x="190500" y="1905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400">
                  <a:solidFill>
                    <a:srgbClr val="FFFFFF"/>
                  </a:solidFill>
                  <a:latin typeface="Oswald"/>
                  <a:ea typeface="Oswald"/>
                  <a:cs typeface="Oswald"/>
                  <a:sym typeface="Oswald"/>
                </a:rPr>
                <a:t>01</a:t>
              </a:r>
              <a:endParaRPr b="1" sz="1400">
                <a:solidFill>
                  <a:srgbClr val="FFFFFF"/>
                </a:solidFill>
                <a:latin typeface="Oswald"/>
                <a:ea typeface="Oswald"/>
                <a:cs typeface="Oswald"/>
                <a:sym typeface="Oswald"/>
              </a:endParaRPr>
            </a:p>
          </p:txBody>
        </p:sp>
        <p:sp>
          <p:nvSpPr>
            <p:cNvPr id="154" name="Google Shape;154;p18"/>
            <p:cNvSpPr txBox="1"/>
            <p:nvPr/>
          </p:nvSpPr>
          <p:spPr>
            <a:xfrm>
              <a:off x="647700" y="190500"/>
              <a:ext cx="30480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1388">
                  <a:solidFill>
                    <a:srgbClr val="1E293B"/>
                  </a:solidFill>
                  <a:latin typeface="Inter"/>
                  <a:ea typeface="Inter"/>
                  <a:cs typeface="Inter"/>
                  <a:sym typeface="Inter"/>
                </a:rPr>
                <a:t>Why Track Shuttlecock Trajectory?</a:t>
              </a:r>
              <a:endParaRPr b="1" sz="1388">
                <a:solidFill>
                  <a:srgbClr val="1E293B"/>
                </a:solidFill>
                <a:latin typeface="Inter"/>
                <a:ea typeface="Inter"/>
                <a:cs typeface="Inter"/>
                <a:sym typeface="Inter"/>
              </a:endParaRPr>
            </a:p>
          </p:txBody>
        </p:sp>
        <p:sp>
          <p:nvSpPr>
            <p:cNvPr id="155" name="Google Shape;155;p18"/>
            <p:cNvSpPr txBox="1"/>
            <p:nvPr/>
          </p:nvSpPr>
          <p:spPr>
            <a:xfrm>
              <a:off x="190500" y="666750"/>
              <a:ext cx="3524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Identify Weak Spots:</a:t>
              </a:r>
              <a:r>
                <a:rPr b="0" lang="zh-TW" sz="1100">
                  <a:solidFill>
                    <a:srgbClr val="475569"/>
                  </a:solidFill>
                  <a:latin typeface="Inter"/>
                  <a:ea typeface="Inter"/>
                  <a:cs typeface="Inter"/>
                  <a:sym typeface="Inter"/>
                </a:rPr>
                <a:t> Pinpoint exact court locations where points are frequently lost.</a:t>
              </a:r>
              <a:endParaRPr b="0" sz="1100">
                <a:solidFill>
                  <a:srgbClr val="475569"/>
                </a:solidFill>
                <a:latin typeface="Inter"/>
                <a:ea typeface="Inter"/>
                <a:cs typeface="Inter"/>
                <a:sym typeface="Inter"/>
              </a:endParaRPr>
            </a:p>
            <a:p>
              <a:pPr indent="0" lvl="0" marL="0" rtl="0" algn="l">
                <a:spcBef>
                  <a:spcPts val="600"/>
                </a:spcBef>
                <a:spcAft>
                  <a:spcPts val="0"/>
                </a:spcAft>
                <a:buNone/>
              </a:pPr>
              <a:r>
                <a:rPr b="0" lang="zh-TW" sz="1100">
                  <a:solidFill>
                    <a:srgbClr val="1E293B"/>
                  </a:solidFill>
                  <a:latin typeface="Inter SemiBold"/>
                  <a:ea typeface="Inter SemiBold"/>
                  <a:cs typeface="Inter SemiBold"/>
                  <a:sym typeface="Inter SemiBold"/>
                </a:rPr>
                <a:t>Analyze Opponent Patterns:</a:t>
              </a:r>
              <a:r>
                <a:rPr b="0" lang="zh-TW" sz="1100">
                  <a:solidFill>
                    <a:srgbClr val="475569"/>
                  </a:solidFill>
                  <a:latin typeface="Inter"/>
                  <a:ea typeface="Inter"/>
                  <a:cs typeface="Inter"/>
                  <a:sym typeface="Inter"/>
                </a:rPr>
                <a:t> Map opponent shot distributions from specific positions.</a:t>
              </a:r>
              <a:endParaRPr b="0" sz="1100">
                <a:solidFill>
                  <a:srgbClr val="475569"/>
                </a:solidFill>
                <a:latin typeface="Inter"/>
                <a:ea typeface="Inter"/>
                <a:cs typeface="Inter"/>
                <a:sym typeface="Inter"/>
              </a:endParaRPr>
            </a:p>
            <a:p>
              <a:pPr indent="0" lvl="0" marL="0" rtl="0" algn="l">
                <a:spcBef>
                  <a:spcPts val="600"/>
                </a:spcBef>
                <a:spcAft>
                  <a:spcPts val="0"/>
                </a:spcAft>
                <a:buNone/>
              </a:pPr>
              <a:r>
                <a:rPr b="0" lang="zh-TW" sz="1100">
                  <a:solidFill>
                    <a:srgbClr val="1E293B"/>
                  </a:solidFill>
                  <a:latin typeface="Inter SemiBold"/>
                  <a:ea typeface="Inter SemiBold"/>
                  <a:cs typeface="Inter SemiBold"/>
                  <a:sym typeface="Inter SemiBold"/>
                </a:rPr>
                <a:t>Objective Adjustment:</a:t>
              </a:r>
              <a:r>
                <a:rPr b="0" lang="zh-TW" sz="1100">
                  <a:solidFill>
                    <a:srgbClr val="475569"/>
                  </a:solidFill>
                  <a:latin typeface="Inter"/>
                  <a:ea typeface="Inter"/>
                  <a:cs typeface="Inter"/>
                  <a:sym typeface="Inter"/>
                </a:rPr>
                <a:t> Use data-driven insights to refine tactical training and game strategies.</a:t>
              </a:r>
              <a:endParaRPr b="0" sz="1100">
                <a:solidFill>
                  <a:srgbClr val="475569"/>
                </a:solidFill>
                <a:latin typeface="Inter"/>
                <a:ea typeface="Inter"/>
                <a:cs typeface="Inter"/>
                <a:sym typeface="Inter"/>
              </a:endParaRPr>
            </a:p>
          </p:txBody>
        </p:sp>
      </p:grpSp>
      <p:pic>
        <p:nvPicPr>
          <p:cNvPr id="156" name="Google Shape;156;p18"/>
          <p:cNvPicPr preferRelativeResize="0"/>
          <p:nvPr/>
        </p:nvPicPr>
        <p:blipFill rotWithShape="1">
          <a:blip r:embed="rId4">
            <a:alphaModFix/>
          </a:blip>
          <a:srcRect b="17969" l="0" r="0" t="17969"/>
          <a:stretch/>
        </p:blipFill>
        <p:spPr>
          <a:xfrm>
            <a:off x="666750" y="3048000"/>
            <a:ext cx="3524400" cy="1476300"/>
          </a:xfrm>
          <a:prstGeom prst="rect">
            <a:avLst/>
          </a:prstGeom>
          <a:noFill/>
          <a:ln>
            <a:noFill/>
          </a:ln>
        </p:spPr>
      </p:pic>
      <p:grpSp>
        <p:nvGrpSpPr>
          <p:cNvPr id="157" name="Google Shape;157;p18"/>
          <p:cNvGrpSpPr/>
          <p:nvPr/>
        </p:nvGrpSpPr>
        <p:grpSpPr>
          <a:xfrm>
            <a:off x="4572000" y="952500"/>
            <a:ext cx="4095900" cy="3762300"/>
            <a:chOff x="0" y="0"/>
            <a:chExt cx="4095900" cy="3762300"/>
          </a:xfrm>
        </p:grpSpPr>
        <p:sp>
          <p:nvSpPr>
            <p:cNvPr id="158" name="Google Shape;158;p18"/>
            <p:cNvSpPr/>
            <p:nvPr/>
          </p:nvSpPr>
          <p:spPr>
            <a:xfrm>
              <a:off x="0" y="0"/>
              <a:ext cx="4095900" cy="3762300"/>
            </a:xfrm>
            <a:prstGeom prst="roundRect">
              <a:avLst>
                <a:gd fmla="val 253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8"/>
            <p:cNvSpPr/>
            <p:nvPr/>
          </p:nvSpPr>
          <p:spPr>
            <a:xfrm>
              <a:off x="190500" y="190500"/>
              <a:ext cx="342900" cy="342900"/>
            </a:xfrm>
            <a:prstGeom prst="roundRect">
              <a:avLst>
                <a:gd fmla="val 16666"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8"/>
            <p:cNvSpPr txBox="1"/>
            <p:nvPr/>
          </p:nvSpPr>
          <p:spPr>
            <a:xfrm>
              <a:off x="190500" y="1905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400">
                  <a:solidFill>
                    <a:srgbClr val="FFFFFF"/>
                  </a:solidFill>
                  <a:latin typeface="Oswald"/>
                  <a:ea typeface="Oswald"/>
                  <a:cs typeface="Oswald"/>
                  <a:sym typeface="Oswald"/>
                </a:rPr>
                <a:t>02</a:t>
              </a:r>
              <a:endParaRPr b="1" sz="1400">
                <a:solidFill>
                  <a:srgbClr val="FFFFFF"/>
                </a:solidFill>
                <a:latin typeface="Oswald"/>
                <a:ea typeface="Oswald"/>
                <a:cs typeface="Oswald"/>
                <a:sym typeface="Oswald"/>
              </a:endParaRPr>
            </a:p>
          </p:txBody>
        </p:sp>
        <p:sp>
          <p:nvSpPr>
            <p:cNvPr id="161" name="Google Shape;161;p18"/>
            <p:cNvSpPr txBox="1"/>
            <p:nvPr/>
          </p:nvSpPr>
          <p:spPr>
            <a:xfrm>
              <a:off x="647700" y="190500"/>
              <a:ext cx="32385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1500">
                  <a:solidFill>
                    <a:srgbClr val="1E293B"/>
                  </a:solidFill>
                  <a:latin typeface="Inter"/>
                  <a:ea typeface="Inter"/>
                  <a:cs typeface="Inter"/>
                  <a:sym typeface="Inter"/>
                </a:rPr>
                <a:t>Hawk-Eye System &amp; High Cost</a:t>
              </a:r>
              <a:endParaRPr b="1" sz="1500">
                <a:solidFill>
                  <a:srgbClr val="1E293B"/>
                </a:solidFill>
                <a:latin typeface="Inter"/>
                <a:ea typeface="Inter"/>
                <a:cs typeface="Inter"/>
                <a:sym typeface="Inter"/>
              </a:endParaRPr>
            </a:p>
          </p:txBody>
        </p:sp>
        <p:sp>
          <p:nvSpPr>
            <p:cNvPr id="162" name="Google Shape;162;p18"/>
            <p:cNvSpPr txBox="1"/>
            <p:nvPr/>
          </p:nvSpPr>
          <p:spPr>
            <a:xfrm>
              <a:off x="190500" y="666750"/>
              <a:ext cx="2095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zh-TW" sz="971">
                  <a:solidFill>
                    <a:srgbClr val="1E293B"/>
                  </a:solidFill>
                  <a:latin typeface="Inter SemiBold"/>
                  <a:ea typeface="Inter SemiBold"/>
                  <a:cs typeface="Inter SemiBold"/>
                  <a:sym typeface="Inter SemiBold"/>
                </a:rPr>
                <a:t>High Accuracy:</a:t>
              </a:r>
              <a:r>
                <a:rPr b="0" lang="zh-TW" sz="971">
                  <a:solidFill>
                    <a:srgbClr val="475569"/>
                  </a:solidFill>
                  <a:latin typeface="Inter"/>
                  <a:ea typeface="Inter"/>
                  <a:cs typeface="Inter"/>
                  <a:sym typeface="Inter"/>
                </a:rPr>
                <a:t> Industry standard for top elite tournaments.</a:t>
              </a:r>
              <a:endParaRPr b="0" sz="971">
                <a:solidFill>
                  <a:srgbClr val="475569"/>
                </a:solidFill>
                <a:latin typeface="Inter"/>
                <a:ea typeface="Inter"/>
                <a:cs typeface="Inter"/>
                <a:sym typeface="Inter"/>
              </a:endParaRPr>
            </a:p>
            <a:p>
              <a:pPr indent="0" lvl="0" marL="0" rtl="0" algn="l">
                <a:spcBef>
                  <a:spcPts val="450"/>
                </a:spcBef>
                <a:spcAft>
                  <a:spcPts val="0"/>
                </a:spcAft>
                <a:buNone/>
              </a:pPr>
              <a:r>
                <a:rPr b="0" lang="zh-TW" sz="971">
                  <a:solidFill>
                    <a:srgbClr val="1E293B"/>
                  </a:solidFill>
                  <a:latin typeface="Inter SemiBold"/>
                  <a:ea typeface="Inter SemiBold"/>
                  <a:cs typeface="Inter SemiBold"/>
                  <a:sym typeface="Inter SemiBold"/>
                </a:rPr>
                <a:t>Complex Hardware Setup:</a:t>
              </a:r>
              <a:endParaRPr b="0" sz="971">
                <a:solidFill>
                  <a:srgbClr val="1E293B"/>
                </a:solidFill>
                <a:latin typeface="Inter SemiBold"/>
                <a:ea typeface="Inter SemiBold"/>
                <a:cs typeface="Inter SemiBold"/>
                <a:sym typeface="Inter SemiBold"/>
              </a:endParaRPr>
            </a:p>
            <a:p>
              <a:pPr indent="-290274" lvl="0" marL="457200" rtl="0" algn="l">
                <a:spcBef>
                  <a:spcPts val="300"/>
                </a:spcBef>
                <a:spcAft>
                  <a:spcPts val="0"/>
                </a:spcAft>
                <a:buClr>
                  <a:srgbClr val="475569"/>
                </a:buClr>
                <a:buSzPts val="971"/>
                <a:buFont typeface="Inter"/>
                <a:buChar char="●"/>
              </a:pPr>
              <a:r>
                <a:rPr b="0" lang="zh-TW" sz="971">
                  <a:solidFill>
                    <a:srgbClr val="475569"/>
                  </a:solidFill>
                  <a:latin typeface="Inter"/>
                  <a:ea typeface="Inter"/>
                  <a:cs typeface="Inter"/>
                  <a:sym typeface="Inter"/>
                </a:rPr>
                <a:t>Multiple High-Speed Cameras</a:t>
              </a:r>
              <a:endParaRPr b="0" sz="971">
                <a:solidFill>
                  <a:srgbClr val="475569"/>
                </a:solidFill>
                <a:latin typeface="Inter"/>
                <a:ea typeface="Inter"/>
                <a:cs typeface="Inter"/>
                <a:sym typeface="Inter"/>
              </a:endParaRPr>
            </a:p>
            <a:p>
              <a:pPr indent="-290274" lvl="0" marL="457200" rtl="0" algn="l">
                <a:spcBef>
                  <a:spcPts val="225"/>
                </a:spcBef>
                <a:spcAft>
                  <a:spcPts val="0"/>
                </a:spcAft>
                <a:buClr>
                  <a:srgbClr val="475569"/>
                </a:buClr>
                <a:buSzPts val="971"/>
                <a:buFont typeface="Inter"/>
                <a:buChar char="●"/>
              </a:pPr>
              <a:r>
                <a:rPr b="0" lang="zh-TW" sz="971">
                  <a:solidFill>
                    <a:srgbClr val="475569"/>
                  </a:solidFill>
                  <a:latin typeface="Inter"/>
                  <a:ea typeface="Inter"/>
                  <a:cs typeface="Inter"/>
                  <a:sym typeface="Inter"/>
                </a:rPr>
                <a:t>Dedicated Optical Fiber Infrastructure</a:t>
              </a:r>
              <a:endParaRPr b="0" sz="971">
                <a:solidFill>
                  <a:srgbClr val="475569"/>
                </a:solidFill>
                <a:latin typeface="Inter"/>
                <a:ea typeface="Inter"/>
                <a:cs typeface="Inter"/>
                <a:sym typeface="Inter"/>
              </a:endParaRPr>
            </a:p>
            <a:p>
              <a:pPr indent="-290274" lvl="0" marL="457200" rtl="0" algn="l">
                <a:spcBef>
                  <a:spcPts val="225"/>
                </a:spcBef>
                <a:spcAft>
                  <a:spcPts val="225"/>
                </a:spcAft>
                <a:buClr>
                  <a:srgbClr val="475569"/>
                </a:buClr>
                <a:buSzPts val="971"/>
                <a:buFont typeface="Inter"/>
                <a:buChar char="●"/>
              </a:pPr>
              <a:r>
                <a:rPr b="0" lang="zh-TW" sz="971">
                  <a:solidFill>
                    <a:srgbClr val="475569"/>
                  </a:solidFill>
                  <a:latin typeface="Inter"/>
                  <a:ea typeface="Inter"/>
                  <a:cs typeface="Inter"/>
                  <a:sym typeface="Inter"/>
                </a:rPr>
                <a:t>High-End Server Array</a:t>
              </a:r>
              <a:endParaRPr b="0" sz="971">
                <a:solidFill>
                  <a:srgbClr val="475569"/>
                </a:solidFill>
                <a:latin typeface="Inter"/>
                <a:ea typeface="Inter"/>
                <a:cs typeface="Inter"/>
                <a:sym typeface="Inter"/>
              </a:endParaRPr>
            </a:p>
          </p:txBody>
        </p:sp>
        <p:sp>
          <p:nvSpPr>
            <p:cNvPr id="163" name="Google Shape;163;p18"/>
            <p:cNvSpPr/>
            <p:nvPr/>
          </p:nvSpPr>
          <p:spPr>
            <a:xfrm>
              <a:off x="190500" y="2190750"/>
              <a:ext cx="3714900" cy="523800"/>
            </a:xfrm>
            <a:prstGeom prst="roundRect">
              <a:avLst>
                <a:gd fmla="val 14545"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8"/>
            <p:cNvSpPr txBox="1"/>
            <p:nvPr/>
          </p:nvSpPr>
          <p:spPr>
            <a:xfrm>
              <a:off x="285750" y="2238375"/>
              <a:ext cx="35244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000">
                  <a:solidFill>
                    <a:srgbClr val="991B1B"/>
                  </a:solidFill>
                  <a:latin typeface="Inter"/>
                  <a:ea typeface="Inter"/>
                  <a:cs typeface="Inter"/>
                  <a:sym typeface="Inter"/>
                </a:rPr>
                <a:t>PROHIBITIVE EQUIPMENT COST</a:t>
              </a:r>
              <a:endParaRPr b="1" sz="1000">
                <a:solidFill>
                  <a:srgbClr val="991B1B"/>
                </a:solidFill>
                <a:latin typeface="Inter"/>
                <a:ea typeface="Inter"/>
                <a:cs typeface="Inter"/>
                <a:sym typeface="Inter"/>
              </a:endParaRPr>
            </a:p>
            <a:p>
              <a:pPr indent="0" lvl="0" marL="0" rtl="0" algn="l">
                <a:spcBef>
                  <a:spcPts val="150"/>
                </a:spcBef>
                <a:spcAft>
                  <a:spcPts val="0"/>
                </a:spcAft>
                <a:buNone/>
              </a:pPr>
              <a:r>
                <a:rPr b="0" lang="zh-TW" sz="1100">
                  <a:solidFill>
                    <a:srgbClr val="DC2626"/>
                  </a:solidFill>
                  <a:latin typeface="Inter ExtraBold"/>
                  <a:ea typeface="Inter ExtraBold"/>
                  <a:cs typeface="Inter ExtraBold"/>
                  <a:sym typeface="Inter ExtraBold"/>
                </a:rPr>
                <a:t>&gt; NT$ 1,000,000+ </a:t>
              </a:r>
              <a:r>
                <a:rPr b="0" lang="zh-TW" sz="900">
                  <a:solidFill>
                    <a:srgbClr val="7F1D1D"/>
                  </a:solidFill>
                  <a:latin typeface="Inter"/>
                  <a:ea typeface="Inter"/>
                  <a:cs typeface="Inter"/>
                  <a:sym typeface="Inter"/>
                </a:rPr>
                <a:t>( ~$30,000+ USD per setup )</a:t>
              </a:r>
              <a:endParaRPr b="0" sz="1100">
                <a:solidFill>
                  <a:srgbClr val="DC2626"/>
                </a:solidFill>
                <a:latin typeface="Inter ExtraBold"/>
                <a:ea typeface="Inter ExtraBold"/>
                <a:cs typeface="Inter ExtraBold"/>
                <a:sym typeface="Inter ExtraBold"/>
              </a:endParaRPr>
            </a:p>
          </p:txBody>
        </p:sp>
        <p:sp>
          <p:nvSpPr>
            <p:cNvPr id="165" name="Google Shape;165;p18"/>
            <p:cNvSpPr/>
            <p:nvPr/>
          </p:nvSpPr>
          <p:spPr>
            <a:xfrm>
              <a:off x="190500" y="2838450"/>
              <a:ext cx="3714900" cy="762000"/>
            </a:xfrm>
            <a:prstGeom prst="roundRect">
              <a:avLst>
                <a:gd fmla="val 10000"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8"/>
            <p:cNvSpPr txBox="1"/>
            <p:nvPr/>
          </p:nvSpPr>
          <p:spPr>
            <a:xfrm>
              <a:off x="333375" y="2914650"/>
              <a:ext cx="34290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050">
                  <a:solidFill>
                    <a:srgbClr val="1E293B"/>
                  </a:solidFill>
                  <a:latin typeface="Inter"/>
                  <a:ea typeface="Inter"/>
                  <a:cs typeface="Inter"/>
                  <a:sym typeface="Inter"/>
                </a:rPr>
                <a:t>The Accessibility Gap:</a:t>
              </a:r>
              <a:endParaRPr b="1" sz="1050">
                <a:solidFill>
                  <a:srgbClr val="1E293B"/>
                </a:solidFill>
                <a:latin typeface="Inter"/>
                <a:ea typeface="Inter"/>
                <a:cs typeface="Inter"/>
                <a:sym typeface="Inter"/>
              </a:endParaRPr>
            </a:p>
            <a:p>
              <a:pPr indent="0" lvl="0" marL="0" rtl="0" algn="l">
                <a:spcBef>
                  <a:spcPts val="300"/>
                </a:spcBef>
                <a:spcAft>
                  <a:spcPts val="0"/>
                </a:spcAft>
                <a:buNone/>
              </a:pPr>
              <a:r>
                <a:rPr lang="zh-TW" sz="1050">
                  <a:solidFill>
                    <a:srgbClr val="475569"/>
                  </a:solidFill>
                  <a:latin typeface="Inter"/>
                  <a:ea typeface="Inter"/>
                  <a:cs typeface="Inter"/>
                  <a:sym typeface="Inter"/>
                </a:rPr>
                <a:t>Extremely high barriers prevent adoption in general badminton venues, training centers, and local clubs.</a:t>
              </a:r>
              <a:endParaRPr sz="1050">
                <a:solidFill>
                  <a:srgbClr val="475569"/>
                </a:solidFill>
                <a:latin typeface="Inter"/>
                <a:ea typeface="Inter"/>
                <a:cs typeface="Inter"/>
                <a:sym typeface="Inter"/>
              </a:endParaRPr>
            </a:p>
          </p:txBody>
        </p:sp>
      </p:grpSp>
      <p:pic>
        <p:nvPicPr>
          <p:cNvPr id="167" name="Google Shape;167;p18"/>
          <p:cNvPicPr preferRelativeResize="0"/>
          <p:nvPr/>
        </p:nvPicPr>
        <p:blipFill rotWithShape="1">
          <a:blip r:embed="rId5">
            <a:alphaModFix/>
          </a:blip>
          <a:srcRect b="0" l="13272" r="13279" t="0"/>
          <a:stretch/>
        </p:blipFill>
        <p:spPr>
          <a:xfrm>
            <a:off x="6953250" y="1619250"/>
            <a:ext cx="1524000" cy="1238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grpSp>
        <p:nvGrpSpPr>
          <p:cNvPr id="172" name="Google Shape;172;p19"/>
          <p:cNvGrpSpPr/>
          <p:nvPr/>
        </p:nvGrpSpPr>
        <p:grpSpPr>
          <a:xfrm>
            <a:off x="-476250" y="-857250"/>
            <a:ext cx="10477500" cy="6381750"/>
            <a:chOff x="-476250" y="-857250"/>
            <a:chExt cx="10477500" cy="6381750"/>
          </a:xfrm>
        </p:grpSpPr>
        <p:sp>
          <p:nvSpPr>
            <p:cNvPr id="173" name="Google Shape;173;p1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9"/>
            <p:cNvSpPr/>
            <p:nvPr/>
          </p:nvSpPr>
          <p:spPr>
            <a:xfrm>
              <a:off x="571500" y="8763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7" name="Google Shape;177;p19"/>
          <p:cNvSpPr txBox="1"/>
          <p:nvPr/>
        </p:nvSpPr>
        <p:spPr>
          <a:xfrm>
            <a:off x="476250" y="333375"/>
            <a:ext cx="8191500" cy="42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2400">
                <a:solidFill>
                  <a:srgbClr val="1E293B"/>
                </a:solidFill>
                <a:latin typeface="Oswald"/>
                <a:ea typeface="Oswald"/>
                <a:cs typeface="Oswald"/>
                <a:sym typeface="Oswald"/>
              </a:rPr>
              <a:t>DEVICE SELECTION </a:t>
            </a:r>
            <a:r>
              <a:rPr b="0" lang="zh-TW" sz="1500">
                <a:solidFill>
                  <a:srgbClr val="3B82F6"/>
                </a:solidFill>
                <a:latin typeface="Inter Medium"/>
                <a:ea typeface="Inter Medium"/>
                <a:cs typeface="Inter Medium"/>
                <a:sym typeface="Inter Medium"/>
              </a:rPr>
              <a:t>/ Hardware &amp; Software Environment</a:t>
            </a:r>
            <a:endParaRPr b="1" sz="2400">
              <a:solidFill>
                <a:srgbClr val="1E293B"/>
              </a:solidFill>
              <a:latin typeface="Oswald"/>
              <a:ea typeface="Oswald"/>
              <a:cs typeface="Oswald"/>
              <a:sym typeface="Oswald"/>
            </a:endParaRPr>
          </a:p>
        </p:txBody>
      </p:sp>
      <p:grpSp>
        <p:nvGrpSpPr>
          <p:cNvPr id="178" name="Google Shape;178;p19"/>
          <p:cNvGrpSpPr/>
          <p:nvPr/>
        </p:nvGrpSpPr>
        <p:grpSpPr>
          <a:xfrm>
            <a:off x="476250" y="809625"/>
            <a:ext cx="8191500" cy="438300"/>
            <a:chOff x="0" y="0"/>
            <a:chExt cx="8191500" cy="438300"/>
          </a:xfrm>
        </p:grpSpPr>
        <p:sp>
          <p:nvSpPr>
            <p:cNvPr id="179" name="Google Shape;179;p19"/>
            <p:cNvSpPr/>
            <p:nvPr/>
          </p:nvSpPr>
          <p:spPr>
            <a:xfrm>
              <a:off x="0" y="0"/>
              <a:ext cx="8191500" cy="438300"/>
            </a:xfrm>
            <a:prstGeom prst="roundRect">
              <a:avLst>
                <a:gd fmla="val 17391"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txBox="1"/>
            <p:nvPr/>
          </p:nvSpPr>
          <p:spPr>
            <a:xfrm>
              <a:off x="0" y="0"/>
              <a:ext cx="81915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200">
                  <a:solidFill>
                    <a:srgbClr val="FFFFFF"/>
                  </a:solidFill>
                  <a:latin typeface="Inter"/>
                  <a:ea typeface="Inter"/>
                  <a:cs typeface="Inter"/>
                  <a:sym typeface="Inter"/>
                </a:rPr>
                <a:t>SYSTEM ARCHITECTURE: NVIDIA JETSON NANO + 1080P 30FPS WEBCAM</a:t>
              </a:r>
              <a:endParaRPr b="1" sz="1200">
                <a:solidFill>
                  <a:srgbClr val="FFFFFF"/>
                </a:solidFill>
                <a:latin typeface="Inter"/>
                <a:ea typeface="Inter"/>
                <a:cs typeface="Inter"/>
                <a:sym typeface="Inter"/>
              </a:endParaRPr>
            </a:p>
          </p:txBody>
        </p:sp>
      </p:grpSp>
      <p:grpSp>
        <p:nvGrpSpPr>
          <p:cNvPr id="181" name="Google Shape;181;p19"/>
          <p:cNvGrpSpPr/>
          <p:nvPr/>
        </p:nvGrpSpPr>
        <p:grpSpPr>
          <a:xfrm>
            <a:off x="476250" y="1381125"/>
            <a:ext cx="4667400" cy="3333900"/>
            <a:chOff x="0" y="0"/>
            <a:chExt cx="4667400" cy="3333900"/>
          </a:xfrm>
        </p:grpSpPr>
        <p:sp>
          <p:nvSpPr>
            <p:cNvPr id="182" name="Google Shape;182;p19"/>
            <p:cNvSpPr/>
            <p:nvPr/>
          </p:nvSpPr>
          <p:spPr>
            <a:xfrm>
              <a:off x="0" y="0"/>
              <a:ext cx="4667400" cy="3333900"/>
            </a:xfrm>
            <a:prstGeom prst="roundRect">
              <a:avLst>
                <a:gd fmla="val 34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9"/>
            <p:cNvSpPr/>
            <p:nvPr/>
          </p:nvSpPr>
          <p:spPr>
            <a:xfrm>
              <a:off x="190500" y="190500"/>
              <a:ext cx="342900" cy="342900"/>
            </a:xfrm>
            <a:prstGeom prst="roundRect">
              <a:avLst>
                <a:gd fmla="val 16666"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9"/>
            <p:cNvSpPr txBox="1"/>
            <p:nvPr/>
          </p:nvSpPr>
          <p:spPr>
            <a:xfrm>
              <a:off x="190500" y="1905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400">
                  <a:solidFill>
                    <a:srgbClr val="FFFFFF"/>
                  </a:solidFill>
                  <a:latin typeface="Oswald"/>
                  <a:ea typeface="Oswald"/>
                  <a:cs typeface="Oswald"/>
                  <a:sym typeface="Oswald"/>
                </a:rPr>
                <a:t>01</a:t>
              </a:r>
              <a:endParaRPr b="1" sz="1400">
                <a:solidFill>
                  <a:srgbClr val="FFFFFF"/>
                </a:solidFill>
                <a:latin typeface="Oswald"/>
                <a:ea typeface="Oswald"/>
                <a:cs typeface="Oswald"/>
                <a:sym typeface="Oswald"/>
              </a:endParaRPr>
            </a:p>
          </p:txBody>
        </p:sp>
        <p:sp>
          <p:nvSpPr>
            <p:cNvPr id="185" name="Google Shape;185;p19"/>
            <p:cNvSpPr txBox="1"/>
            <p:nvPr/>
          </p:nvSpPr>
          <p:spPr>
            <a:xfrm>
              <a:off x="647700" y="190500"/>
              <a:ext cx="38100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1500">
                  <a:solidFill>
                    <a:srgbClr val="1E293B"/>
                  </a:solidFill>
                  <a:latin typeface="Inter"/>
                  <a:ea typeface="Inter"/>
                  <a:cs typeface="Inter"/>
                  <a:sym typeface="Inter"/>
                </a:rPr>
                <a:t>Hardware Specifications</a:t>
              </a:r>
              <a:endParaRPr b="1" sz="1500">
                <a:solidFill>
                  <a:srgbClr val="1E293B"/>
                </a:solidFill>
                <a:latin typeface="Inter"/>
                <a:ea typeface="Inter"/>
                <a:cs typeface="Inter"/>
                <a:sym typeface="Inter"/>
              </a:endParaRPr>
            </a:p>
          </p:txBody>
        </p:sp>
        <p:grpSp>
          <p:nvGrpSpPr>
            <p:cNvPr id="186" name="Google Shape;186;p19"/>
            <p:cNvGrpSpPr/>
            <p:nvPr/>
          </p:nvGrpSpPr>
          <p:grpSpPr>
            <a:xfrm>
              <a:off x="190500" y="685800"/>
              <a:ext cx="4286400" cy="743100"/>
              <a:chOff x="0" y="0"/>
              <a:chExt cx="4286400" cy="743100"/>
            </a:xfrm>
          </p:grpSpPr>
          <p:sp>
            <p:nvSpPr>
              <p:cNvPr id="187" name="Google Shape;187;p19"/>
              <p:cNvSpPr/>
              <p:nvPr/>
            </p:nvSpPr>
            <p:spPr>
              <a:xfrm>
                <a:off x="0" y="0"/>
                <a:ext cx="4286400" cy="743100"/>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9"/>
              <p:cNvSpPr txBox="1"/>
              <p:nvPr/>
            </p:nvSpPr>
            <p:spPr>
              <a:xfrm>
                <a:off x="152400" y="114300"/>
                <a:ext cx="3981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900">
                    <a:solidFill>
                      <a:srgbClr val="2563EB"/>
                    </a:solidFill>
                    <a:latin typeface="Inter"/>
                    <a:ea typeface="Inter"/>
                    <a:cs typeface="Inter"/>
                    <a:sym typeface="Inter"/>
                  </a:rPr>
                  <a:t>CPU PROCESSOR</a:t>
                </a:r>
                <a:endParaRPr b="1" sz="900">
                  <a:solidFill>
                    <a:srgbClr val="2563EB"/>
                  </a:solidFill>
                  <a:latin typeface="Inter"/>
                  <a:ea typeface="Inter"/>
                  <a:cs typeface="Inter"/>
                  <a:sym typeface="Inter"/>
                </a:endParaRPr>
              </a:p>
              <a:p>
                <a:pPr indent="0" lvl="0" marL="0" rtl="0" algn="l">
                  <a:spcBef>
                    <a:spcPts val="225"/>
                  </a:spcBef>
                  <a:spcAft>
                    <a:spcPts val="0"/>
                  </a:spcAft>
                  <a:buNone/>
                </a:pPr>
                <a:r>
                  <a:rPr b="1" lang="zh-TW" sz="1200">
                    <a:solidFill>
                      <a:srgbClr val="0F172A"/>
                    </a:solidFill>
                    <a:latin typeface="Inter"/>
                    <a:ea typeface="Inter"/>
                    <a:cs typeface="Inter"/>
                    <a:sym typeface="Inter"/>
                  </a:rPr>
                  <a:t>Quad-Core ARM Cortex-A57 MPCore</a:t>
                </a:r>
                <a:endParaRPr b="1" sz="1200">
                  <a:solidFill>
                    <a:srgbClr val="0F172A"/>
                  </a:solidFill>
                  <a:latin typeface="Inter"/>
                  <a:ea typeface="Inter"/>
                  <a:cs typeface="Inter"/>
                  <a:sym typeface="Inter"/>
                </a:endParaRPr>
              </a:p>
            </p:txBody>
          </p:sp>
        </p:grpSp>
        <p:grpSp>
          <p:nvGrpSpPr>
            <p:cNvPr id="189" name="Google Shape;189;p19"/>
            <p:cNvGrpSpPr/>
            <p:nvPr/>
          </p:nvGrpSpPr>
          <p:grpSpPr>
            <a:xfrm>
              <a:off x="190500" y="1543050"/>
              <a:ext cx="4286400" cy="743100"/>
              <a:chOff x="0" y="0"/>
              <a:chExt cx="4286400" cy="743100"/>
            </a:xfrm>
          </p:grpSpPr>
          <p:sp>
            <p:nvSpPr>
              <p:cNvPr id="190" name="Google Shape;190;p19"/>
              <p:cNvSpPr/>
              <p:nvPr/>
            </p:nvSpPr>
            <p:spPr>
              <a:xfrm>
                <a:off x="0" y="0"/>
                <a:ext cx="4286400" cy="743100"/>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9"/>
              <p:cNvSpPr txBox="1"/>
              <p:nvPr/>
            </p:nvSpPr>
            <p:spPr>
              <a:xfrm>
                <a:off x="152400" y="114300"/>
                <a:ext cx="3981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900">
                    <a:solidFill>
                      <a:srgbClr val="2563EB"/>
                    </a:solidFill>
                    <a:latin typeface="Inter"/>
                    <a:ea typeface="Inter"/>
                    <a:cs typeface="Inter"/>
                    <a:sym typeface="Inter"/>
                  </a:rPr>
                  <a:t>GPU ARCHITECTURE</a:t>
                </a:r>
                <a:endParaRPr b="1" sz="900">
                  <a:solidFill>
                    <a:srgbClr val="2563EB"/>
                  </a:solidFill>
                  <a:latin typeface="Inter"/>
                  <a:ea typeface="Inter"/>
                  <a:cs typeface="Inter"/>
                  <a:sym typeface="Inter"/>
                </a:endParaRPr>
              </a:p>
              <a:p>
                <a:pPr indent="0" lvl="0" marL="0" rtl="0" algn="l">
                  <a:spcBef>
                    <a:spcPts val="225"/>
                  </a:spcBef>
                  <a:spcAft>
                    <a:spcPts val="0"/>
                  </a:spcAft>
                  <a:buNone/>
                </a:pPr>
                <a:r>
                  <a:rPr b="1" lang="zh-TW" sz="1200">
                    <a:solidFill>
                      <a:srgbClr val="0F172A"/>
                    </a:solidFill>
                    <a:latin typeface="Inter"/>
                    <a:ea typeface="Inter"/>
                    <a:cs typeface="Inter"/>
                    <a:sym typeface="Inter"/>
                  </a:rPr>
                  <a:t>NVIDIA Maxwell (128 CUDA Cores)</a:t>
                </a:r>
                <a:endParaRPr b="1" sz="1200">
                  <a:solidFill>
                    <a:srgbClr val="0F172A"/>
                  </a:solidFill>
                  <a:latin typeface="Inter"/>
                  <a:ea typeface="Inter"/>
                  <a:cs typeface="Inter"/>
                  <a:sym typeface="Inter"/>
                </a:endParaRPr>
              </a:p>
            </p:txBody>
          </p:sp>
        </p:grpSp>
        <p:grpSp>
          <p:nvGrpSpPr>
            <p:cNvPr id="192" name="Google Shape;192;p19"/>
            <p:cNvGrpSpPr/>
            <p:nvPr/>
          </p:nvGrpSpPr>
          <p:grpSpPr>
            <a:xfrm>
              <a:off x="190500" y="2400300"/>
              <a:ext cx="4286400" cy="743100"/>
              <a:chOff x="0" y="0"/>
              <a:chExt cx="4286400" cy="743100"/>
            </a:xfrm>
          </p:grpSpPr>
          <p:sp>
            <p:nvSpPr>
              <p:cNvPr id="193" name="Google Shape;193;p19"/>
              <p:cNvSpPr/>
              <p:nvPr/>
            </p:nvSpPr>
            <p:spPr>
              <a:xfrm>
                <a:off x="0" y="0"/>
                <a:ext cx="4286400" cy="743100"/>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9"/>
              <p:cNvSpPr txBox="1"/>
              <p:nvPr/>
            </p:nvSpPr>
            <p:spPr>
              <a:xfrm>
                <a:off x="152400" y="114300"/>
                <a:ext cx="3981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900">
                    <a:solidFill>
                      <a:srgbClr val="2563EB"/>
                    </a:solidFill>
                    <a:latin typeface="Inter"/>
                    <a:ea typeface="Inter"/>
                    <a:cs typeface="Inter"/>
                    <a:sym typeface="Inter"/>
                  </a:rPr>
                  <a:t>SYSTEM MEMORY</a:t>
                </a:r>
                <a:endParaRPr b="1" sz="900">
                  <a:solidFill>
                    <a:srgbClr val="2563EB"/>
                  </a:solidFill>
                  <a:latin typeface="Inter"/>
                  <a:ea typeface="Inter"/>
                  <a:cs typeface="Inter"/>
                  <a:sym typeface="Inter"/>
                </a:endParaRPr>
              </a:p>
              <a:p>
                <a:pPr indent="0" lvl="0" marL="0" rtl="0" algn="l">
                  <a:spcBef>
                    <a:spcPts val="225"/>
                  </a:spcBef>
                  <a:spcAft>
                    <a:spcPts val="0"/>
                  </a:spcAft>
                  <a:buNone/>
                </a:pPr>
                <a:r>
                  <a:rPr b="1" lang="zh-TW" sz="1200">
                    <a:solidFill>
                      <a:srgbClr val="0F172A"/>
                    </a:solidFill>
                    <a:latin typeface="Inter"/>
                    <a:ea typeface="Inter"/>
                    <a:cs typeface="Inter"/>
                    <a:sym typeface="Inter"/>
                  </a:rPr>
                  <a:t>4GB 64-bit LPDDR4</a:t>
                </a:r>
                <a:endParaRPr b="1" sz="1200">
                  <a:solidFill>
                    <a:srgbClr val="0F172A"/>
                  </a:solidFill>
                  <a:latin typeface="Inter"/>
                  <a:ea typeface="Inter"/>
                  <a:cs typeface="Inter"/>
                  <a:sym typeface="Inter"/>
                </a:endParaRPr>
              </a:p>
            </p:txBody>
          </p:sp>
        </p:grpSp>
      </p:grpSp>
      <p:grpSp>
        <p:nvGrpSpPr>
          <p:cNvPr id="195" name="Google Shape;195;p19"/>
          <p:cNvGrpSpPr/>
          <p:nvPr/>
        </p:nvGrpSpPr>
        <p:grpSpPr>
          <a:xfrm>
            <a:off x="5334000" y="1381125"/>
            <a:ext cx="3333900" cy="3333900"/>
            <a:chOff x="0" y="0"/>
            <a:chExt cx="3333900" cy="3333900"/>
          </a:xfrm>
        </p:grpSpPr>
        <p:sp>
          <p:nvSpPr>
            <p:cNvPr id="196" name="Google Shape;196;p19"/>
            <p:cNvSpPr/>
            <p:nvPr/>
          </p:nvSpPr>
          <p:spPr>
            <a:xfrm>
              <a:off x="0" y="0"/>
              <a:ext cx="3333900" cy="3333900"/>
            </a:xfrm>
            <a:prstGeom prst="roundRect">
              <a:avLst>
                <a:gd fmla="val 34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9"/>
            <p:cNvSpPr/>
            <p:nvPr/>
          </p:nvSpPr>
          <p:spPr>
            <a:xfrm>
              <a:off x="190500" y="190500"/>
              <a:ext cx="342900" cy="342900"/>
            </a:xfrm>
            <a:prstGeom prst="roundRect">
              <a:avLst>
                <a:gd fmla="val 16666"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9"/>
            <p:cNvSpPr txBox="1"/>
            <p:nvPr/>
          </p:nvSpPr>
          <p:spPr>
            <a:xfrm>
              <a:off x="190500" y="1905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400">
                  <a:solidFill>
                    <a:srgbClr val="FFFFFF"/>
                  </a:solidFill>
                  <a:latin typeface="Oswald"/>
                  <a:ea typeface="Oswald"/>
                  <a:cs typeface="Oswald"/>
                  <a:sym typeface="Oswald"/>
                </a:rPr>
                <a:t>02</a:t>
              </a:r>
              <a:endParaRPr b="1" sz="1400">
                <a:solidFill>
                  <a:srgbClr val="FFFFFF"/>
                </a:solidFill>
                <a:latin typeface="Oswald"/>
                <a:ea typeface="Oswald"/>
                <a:cs typeface="Oswald"/>
                <a:sym typeface="Oswald"/>
              </a:endParaRPr>
            </a:p>
          </p:txBody>
        </p:sp>
        <p:sp>
          <p:nvSpPr>
            <p:cNvPr id="199" name="Google Shape;199;p19"/>
            <p:cNvSpPr txBox="1"/>
            <p:nvPr/>
          </p:nvSpPr>
          <p:spPr>
            <a:xfrm>
              <a:off x="647700" y="190500"/>
              <a:ext cx="24765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1500">
                  <a:solidFill>
                    <a:srgbClr val="1E293B"/>
                  </a:solidFill>
                  <a:latin typeface="Inter"/>
                  <a:ea typeface="Inter"/>
                  <a:cs typeface="Inter"/>
                  <a:sym typeface="Inter"/>
                </a:rPr>
                <a:t>Environment</a:t>
              </a:r>
              <a:endParaRPr b="1" sz="1500">
                <a:solidFill>
                  <a:srgbClr val="1E293B"/>
                </a:solidFill>
                <a:latin typeface="Inter"/>
                <a:ea typeface="Inter"/>
                <a:cs typeface="Inter"/>
                <a:sym typeface="Inter"/>
              </a:endParaRPr>
            </a:p>
          </p:txBody>
        </p:sp>
        <p:grpSp>
          <p:nvGrpSpPr>
            <p:cNvPr id="200" name="Google Shape;200;p19"/>
            <p:cNvGrpSpPr/>
            <p:nvPr/>
          </p:nvGrpSpPr>
          <p:grpSpPr>
            <a:xfrm>
              <a:off x="190500" y="685800"/>
              <a:ext cx="2952900" cy="743100"/>
              <a:chOff x="0" y="0"/>
              <a:chExt cx="2952900" cy="743100"/>
            </a:xfrm>
          </p:grpSpPr>
          <p:sp>
            <p:nvSpPr>
              <p:cNvPr id="201" name="Google Shape;201;p19"/>
              <p:cNvSpPr/>
              <p:nvPr/>
            </p:nvSpPr>
            <p:spPr>
              <a:xfrm>
                <a:off x="0" y="0"/>
                <a:ext cx="2952900" cy="743100"/>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9"/>
              <p:cNvSpPr txBox="1"/>
              <p:nvPr/>
            </p:nvSpPr>
            <p:spPr>
              <a:xfrm>
                <a:off x="152400" y="114300"/>
                <a:ext cx="26481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900">
                    <a:solidFill>
                      <a:srgbClr val="2563EB"/>
                    </a:solidFill>
                    <a:latin typeface="Inter"/>
                    <a:ea typeface="Inter"/>
                    <a:cs typeface="Inter"/>
                    <a:sym typeface="Inter"/>
                  </a:rPr>
                  <a:t>VIDEO INPUT DEVICE</a:t>
                </a:r>
                <a:endParaRPr b="1" sz="900">
                  <a:solidFill>
                    <a:srgbClr val="2563EB"/>
                  </a:solidFill>
                  <a:latin typeface="Inter"/>
                  <a:ea typeface="Inter"/>
                  <a:cs typeface="Inter"/>
                  <a:sym typeface="Inter"/>
                </a:endParaRPr>
              </a:p>
              <a:p>
                <a:pPr indent="0" lvl="0" marL="0" rtl="0" algn="l">
                  <a:spcBef>
                    <a:spcPts val="225"/>
                  </a:spcBef>
                  <a:spcAft>
                    <a:spcPts val="0"/>
                  </a:spcAft>
                  <a:buNone/>
                </a:pPr>
                <a:r>
                  <a:rPr b="1" lang="zh-TW" sz="1200">
                    <a:solidFill>
                      <a:srgbClr val="0F172A"/>
                    </a:solidFill>
                    <a:latin typeface="Inter"/>
                    <a:ea typeface="Inter"/>
                    <a:cs typeface="Inter"/>
                    <a:sym typeface="Inter"/>
                  </a:rPr>
                  <a:t>1080P @ 30 FPS WebCam</a:t>
                </a:r>
                <a:endParaRPr b="1" sz="1200">
                  <a:solidFill>
                    <a:srgbClr val="0F172A"/>
                  </a:solidFill>
                  <a:latin typeface="Inter"/>
                  <a:ea typeface="Inter"/>
                  <a:cs typeface="Inter"/>
                  <a:sym typeface="Inter"/>
                </a:endParaRPr>
              </a:p>
            </p:txBody>
          </p:sp>
        </p:grpSp>
        <p:pic>
          <p:nvPicPr>
            <p:cNvPr descr="A high quality studio photograph of an NVIDIA Jetson Nano developer kit board connected with a USB webcam, clean technology hardware aesthetic on a subtle dark background." id="203" name="Google Shape;203;p19"/>
            <p:cNvPicPr preferRelativeResize="0"/>
            <p:nvPr/>
          </p:nvPicPr>
          <p:blipFill rotWithShape="1">
            <a:blip r:embed="rId3">
              <a:alphaModFix/>
            </a:blip>
            <a:srcRect b="1248" l="0" r="0" t="1258"/>
            <a:stretch/>
          </p:blipFill>
          <p:spPr>
            <a:xfrm>
              <a:off x="190500" y="1524000"/>
              <a:ext cx="2952900" cy="1619100"/>
            </a:xfrm>
            <a:prstGeom prst="roundRect">
              <a:avLst>
                <a:gd fmla="val 4705" name="adj"/>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grpSp>
        <p:nvGrpSpPr>
          <p:cNvPr id="208" name="Google Shape;208;p20"/>
          <p:cNvGrpSpPr/>
          <p:nvPr/>
        </p:nvGrpSpPr>
        <p:grpSpPr>
          <a:xfrm>
            <a:off x="-476250" y="-857250"/>
            <a:ext cx="10477500" cy="6381750"/>
            <a:chOff x="-476250" y="-857250"/>
            <a:chExt cx="10477500" cy="6381750"/>
          </a:xfrm>
        </p:grpSpPr>
        <p:sp>
          <p:nvSpPr>
            <p:cNvPr id="209" name="Google Shape;209;p2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2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2" name="Google Shape;212;p20"/>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Badminton Tracking Technology</a:t>
            </a:r>
            <a:endParaRPr b="1" sz="4400">
              <a:solidFill>
                <a:srgbClr val="1E293B"/>
              </a:solidFill>
              <a:latin typeface="Oswald"/>
              <a:ea typeface="Oswald"/>
              <a:cs typeface="Oswald"/>
              <a:sym typeface="Oswald"/>
            </a:endParaRPr>
          </a:p>
        </p:txBody>
      </p:sp>
      <p:sp>
        <p:nvSpPr>
          <p:cNvPr id="213" name="Google Shape;213;p20"/>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2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1"/>
          <p:cNvSpPr/>
          <p:nvPr/>
        </p:nvSpPr>
        <p:spPr>
          <a:xfrm>
            <a:off x="571500" y="7810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21"/>
          <p:cNvSpPr txBox="1"/>
          <p:nvPr/>
        </p:nvSpPr>
        <p:spPr>
          <a:xfrm>
            <a:off x="571500" y="285750"/>
            <a:ext cx="8001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Introduction: Background &amp; Trends </a:t>
            </a:r>
            <a:r>
              <a:rPr b="0" lang="zh-TW" sz="1800">
                <a:solidFill>
                  <a:srgbClr val="3B82F6"/>
                </a:solidFill>
                <a:latin typeface="Inter"/>
                <a:ea typeface="Inter"/>
                <a:cs typeface="Inter"/>
                <a:sym typeface="Inter"/>
              </a:rPr>
              <a:t>(Optimization Strategies)</a:t>
            </a:r>
            <a:endParaRPr b="1" sz="2400">
              <a:solidFill>
                <a:srgbClr val="1E293B"/>
              </a:solidFill>
              <a:latin typeface="Inter"/>
              <a:ea typeface="Inter"/>
              <a:cs typeface="Inter"/>
              <a:sym typeface="Inter"/>
            </a:endParaRPr>
          </a:p>
        </p:txBody>
      </p:sp>
      <p:grpSp>
        <p:nvGrpSpPr>
          <p:cNvPr id="223" name="Google Shape;223;p21"/>
          <p:cNvGrpSpPr/>
          <p:nvPr/>
        </p:nvGrpSpPr>
        <p:grpSpPr>
          <a:xfrm>
            <a:off x="571500" y="809625"/>
            <a:ext cx="8001000" cy="457200"/>
            <a:chOff x="0" y="-95250"/>
            <a:chExt cx="8001000" cy="457200"/>
          </a:xfrm>
        </p:grpSpPr>
        <p:sp>
          <p:nvSpPr>
            <p:cNvPr id="224" name="Google Shape;224;p21"/>
            <p:cNvSpPr/>
            <p:nvPr/>
          </p:nvSpPr>
          <p:spPr>
            <a:xfrm>
              <a:off x="0" y="-95250"/>
              <a:ext cx="8001000" cy="457200"/>
            </a:xfrm>
            <a:prstGeom prst="roundRect">
              <a:avLst>
                <a:gd fmla="val 1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1"/>
            <p:cNvSpPr/>
            <p:nvPr/>
          </p:nvSpPr>
          <p:spPr>
            <a:xfrm>
              <a:off x="0" y="-95250"/>
              <a:ext cx="47700" cy="4572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1"/>
            <p:cNvSpPr txBox="1"/>
            <p:nvPr/>
          </p:nvSpPr>
          <p:spPr>
            <a:xfrm>
              <a:off x="152400" y="-76200"/>
              <a:ext cx="76962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zh-TW" sz="850">
                  <a:solidFill>
                    <a:srgbClr val="334155"/>
                  </a:solidFill>
                  <a:latin typeface="Inter"/>
                  <a:ea typeface="Inter"/>
                  <a:cs typeface="Inter"/>
                  <a:sym typeface="Inter"/>
                </a:rPr>
                <a:t>Hardware benchmarks show deploying TrackNetV4 on Jetson Nano requires 1100 ms per frame (&lt; 1 FPS), failing real-time tracking.</a:t>
              </a:r>
              <a:endParaRPr b="0" sz="850">
                <a:solidFill>
                  <a:srgbClr val="334155"/>
                </a:solidFill>
                <a:latin typeface="Inter"/>
                <a:ea typeface="Inter"/>
                <a:cs typeface="Inter"/>
                <a:sym typeface="Inter"/>
              </a:endParaRPr>
            </a:p>
            <a:p>
              <a:pPr indent="0" lvl="0" marL="0" rtl="0" algn="l">
                <a:spcBef>
                  <a:spcPts val="200"/>
                </a:spcBef>
                <a:spcAft>
                  <a:spcPts val="0"/>
                </a:spcAft>
                <a:buNone/>
              </a:pPr>
              <a:r>
                <a:rPr b="0" lang="zh-TW" sz="850">
                  <a:solidFill>
                    <a:srgbClr val="0F172A"/>
                  </a:solidFill>
                  <a:latin typeface="Inter SemiBold"/>
                  <a:ea typeface="Inter SemiBold"/>
                  <a:cs typeface="Inter SemiBold"/>
                  <a:sym typeface="Inter SemiBold"/>
                </a:rPr>
                <a:t>To solve edge compute bottlenecks, what optimization mechanisms are standard in academia and industry?</a:t>
              </a:r>
              <a:endParaRPr b="0" sz="850">
                <a:solidFill>
                  <a:srgbClr val="334155"/>
                </a:solidFill>
                <a:latin typeface="Inter"/>
                <a:ea typeface="Inter"/>
                <a:cs typeface="Inter"/>
                <a:sym typeface="Inter"/>
              </a:endParaRPr>
            </a:p>
          </p:txBody>
        </p:sp>
      </p:grpSp>
      <p:grpSp>
        <p:nvGrpSpPr>
          <p:cNvPr id="227" name="Google Shape;227;p21"/>
          <p:cNvGrpSpPr/>
          <p:nvPr/>
        </p:nvGrpSpPr>
        <p:grpSpPr>
          <a:xfrm>
            <a:off x="4619622" y="1333504"/>
            <a:ext cx="4048200" cy="1571700"/>
            <a:chOff x="-237315" y="-3385271"/>
            <a:chExt cx="4048200" cy="1571700"/>
          </a:xfrm>
        </p:grpSpPr>
        <p:sp>
          <p:nvSpPr>
            <p:cNvPr id="228" name="Google Shape;228;p21"/>
            <p:cNvSpPr/>
            <p:nvPr/>
          </p:nvSpPr>
          <p:spPr>
            <a:xfrm>
              <a:off x="-237315" y="-3385271"/>
              <a:ext cx="4048200" cy="1571700"/>
            </a:xfrm>
            <a:prstGeom prst="roundRect">
              <a:avLst>
                <a:gd fmla="val 727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1"/>
            <p:cNvSpPr/>
            <p:nvPr/>
          </p:nvSpPr>
          <p:spPr>
            <a:xfrm>
              <a:off x="-237315" y="-3385271"/>
              <a:ext cx="47700" cy="15717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1"/>
            <p:cNvSpPr txBox="1"/>
            <p:nvPr/>
          </p:nvSpPr>
          <p:spPr>
            <a:xfrm>
              <a:off x="-94440" y="-3290021"/>
              <a:ext cx="3762300" cy="13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200">
                  <a:solidFill>
                    <a:srgbClr val="1E293B"/>
                  </a:solidFill>
                  <a:latin typeface="Inter"/>
                  <a:ea typeface="Inter"/>
                  <a:cs typeface="Inter"/>
                  <a:sym typeface="Inter"/>
                </a:rPr>
                <a:t>Knowledge Distillation </a:t>
              </a:r>
              <a:r>
                <a:rPr b="1" lang="zh-TW" sz="1000">
                  <a:solidFill>
                    <a:srgbClr val="2563EB"/>
                  </a:solidFill>
                  <a:latin typeface="Inter"/>
                  <a:ea typeface="Inter"/>
                  <a:cs typeface="Inter"/>
                  <a:sym typeface="Inter"/>
                </a:rPr>
                <a:t>(KD)</a:t>
              </a:r>
              <a:endParaRPr b="1" sz="1200">
                <a:solidFill>
                  <a:srgbClr val="1E293B"/>
                </a:solidFill>
                <a:latin typeface="Inter"/>
                <a:ea typeface="Inter"/>
                <a:cs typeface="Inter"/>
                <a:sym typeface="Inter"/>
              </a:endParaRPr>
            </a:p>
            <a:p>
              <a:pPr indent="0" lvl="0" marL="0" rtl="0" algn="l">
                <a:spcBef>
                  <a:spcPts val="200"/>
                </a:spcBef>
                <a:spcAft>
                  <a:spcPts val="0"/>
                </a:spcAft>
                <a:buNone/>
              </a:pPr>
              <a:r>
                <a:rPr b="1" lang="zh-TW" sz="850">
                  <a:solidFill>
                    <a:srgbClr val="2563EB"/>
                  </a:solidFill>
                  <a:latin typeface="Inter"/>
                  <a:ea typeface="Inter"/>
                  <a:cs typeface="Inter"/>
                  <a:sym typeface="Inter"/>
                </a:rPr>
                <a:t>💡 Shrink Model Size</a:t>
              </a:r>
              <a:endParaRPr b="1" sz="1200">
                <a:solidFill>
                  <a:srgbClr val="1E293B"/>
                </a:solidFill>
                <a:latin typeface="Inter"/>
                <a:ea typeface="Inter"/>
                <a:cs typeface="Inter"/>
                <a:sym typeface="Inter"/>
              </a:endParaRPr>
            </a:p>
            <a:p>
              <a:pPr indent="0" lvl="0" marL="0" rtl="0" algn="l">
                <a:spcBef>
                  <a:spcPts val="400"/>
                </a:spcBef>
                <a:spcAft>
                  <a:spcPts val="0"/>
                </a:spcAft>
                <a:buNone/>
              </a:pPr>
              <a:r>
                <a:rPr b="0" lang="zh-TW" sz="900">
                  <a:solidFill>
                    <a:srgbClr val="334155"/>
                  </a:solidFill>
                  <a:latin typeface="Inter"/>
                  <a:ea typeface="Inter"/>
                  <a:cs typeface="Inter"/>
                  <a:sym typeface="Inter"/>
                </a:rPr>
                <a:t>Train a compact Student Model using TrackNetV4 as Teacher to learn shuttlecock heatmaps. Removing attention mechanisms boosts FPS.</a:t>
              </a:r>
              <a:endParaRPr b="1" sz="1200">
                <a:solidFill>
                  <a:srgbClr val="1E293B"/>
                </a:solidFill>
                <a:latin typeface="Inter"/>
                <a:ea typeface="Inter"/>
                <a:cs typeface="Inter"/>
                <a:sym typeface="Inter"/>
              </a:endParaRPr>
            </a:p>
            <a:p>
              <a:pPr indent="0" lvl="0" marL="0" rtl="0" algn="l">
                <a:spcBef>
                  <a:spcPts val="400"/>
                </a:spcBef>
                <a:spcAft>
                  <a:spcPts val="0"/>
                </a:spcAft>
                <a:buNone/>
              </a:pPr>
              <a:r>
                <a:rPr b="1" lang="zh-TW" sz="900">
                  <a:solidFill>
                    <a:srgbClr val="EF4444"/>
                  </a:solidFill>
                  <a:latin typeface="Inter"/>
                  <a:ea typeface="Inter"/>
                  <a:cs typeface="Inter"/>
                  <a:sym typeface="Inter"/>
                </a:rPr>
                <a:t>Boosts performance from 0.9 FPS to 4.76 FPS.</a:t>
              </a:r>
              <a:endParaRPr b="1" sz="1200">
                <a:solidFill>
                  <a:srgbClr val="1E293B"/>
                </a:solidFill>
                <a:latin typeface="Inter"/>
                <a:ea typeface="Inter"/>
                <a:cs typeface="Inter"/>
                <a:sym typeface="Inter"/>
              </a:endParaRPr>
            </a:p>
            <a:p>
              <a:pPr indent="0" lvl="0" marL="0" rtl="0" algn="l">
                <a:spcBef>
                  <a:spcPts val="400"/>
                </a:spcBef>
                <a:spcAft>
                  <a:spcPts val="0"/>
                </a:spcAft>
                <a:buNone/>
              </a:pPr>
              <a:r>
                <a:rPr b="0" lang="zh-TW" sz="850">
                  <a:solidFill>
                    <a:srgbClr val="64748B"/>
                  </a:solidFill>
                  <a:latin typeface="Inter"/>
                  <a:ea typeface="Inter"/>
                  <a:cs typeface="Inter"/>
                  <a:sym typeface="Inter"/>
                </a:rPr>
                <a:t>However, model size reduction alone is insufficient when processing full high-resolution frames repeatedly.</a:t>
              </a:r>
              <a:endParaRPr b="1" sz="1200">
                <a:solidFill>
                  <a:srgbClr val="1E293B"/>
                </a:solidFill>
                <a:latin typeface="Inter"/>
                <a:ea typeface="Inter"/>
                <a:cs typeface="Inter"/>
                <a:sym typeface="Inter"/>
              </a:endParaRPr>
            </a:p>
          </p:txBody>
        </p:sp>
      </p:grpSp>
      <p:grpSp>
        <p:nvGrpSpPr>
          <p:cNvPr id="231" name="Google Shape;231;p21"/>
          <p:cNvGrpSpPr/>
          <p:nvPr/>
        </p:nvGrpSpPr>
        <p:grpSpPr>
          <a:xfrm>
            <a:off x="4619625" y="3000375"/>
            <a:ext cx="4048200" cy="1524000"/>
            <a:chOff x="-47625" y="1362075"/>
            <a:chExt cx="4048200" cy="1524000"/>
          </a:xfrm>
        </p:grpSpPr>
        <p:sp>
          <p:nvSpPr>
            <p:cNvPr id="232" name="Google Shape;232;p21"/>
            <p:cNvSpPr/>
            <p:nvPr/>
          </p:nvSpPr>
          <p:spPr>
            <a:xfrm>
              <a:off x="-47625" y="1362075"/>
              <a:ext cx="4048200" cy="1524000"/>
            </a:xfrm>
            <a:prstGeom prst="roundRect">
              <a:avLst>
                <a:gd fmla="val 75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1"/>
            <p:cNvSpPr/>
            <p:nvPr/>
          </p:nvSpPr>
          <p:spPr>
            <a:xfrm>
              <a:off x="-47625" y="1362075"/>
              <a:ext cx="47700" cy="15240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21"/>
            <p:cNvSpPr txBox="1"/>
            <p:nvPr/>
          </p:nvSpPr>
          <p:spPr>
            <a:xfrm>
              <a:off x="95250" y="1438275"/>
              <a:ext cx="2381400" cy="137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110">
                  <a:solidFill>
                    <a:srgbClr val="1E293B"/>
                  </a:solidFill>
                  <a:latin typeface="Inter"/>
                  <a:ea typeface="Inter"/>
                  <a:cs typeface="Inter"/>
                  <a:sym typeface="Inter"/>
                </a:rPr>
                <a:t>Region of Interest </a:t>
              </a:r>
              <a:r>
                <a:rPr b="1" lang="zh-TW" sz="925">
                  <a:solidFill>
                    <a:srgbClr val="0284C7"/>
                  </a:solidFill>
                  <a:latin typeface="Inter"/>
                  <a:ea typeface="Inter"/>
                  <a:cs typeface="Inter"/>
                  <a:sym typeface="Inter"/>
                </a:rPr>
                <a:t>(ROI Tracking)</a:t>
              </a:r>
              <a:endParaRPr b="1" sz="1110">
                <a:solidFill>
                  <a:srgbClr val="1E293B"/>
                </a:solidFill>
                <a:latin typeface="Inter"/>
                <a:ea typeface="Inter"/>
                <a:cs typeface="Inter"/>
                <a:sym typeface="Inter"/>
              </a:endParaRPr>
            </a:p>
            <a:p>
              <a:pPr indent="0" lvl="0" marL="0" rtl="0" algn="l">
                <a:spcBef>
                  <a:spcPts val="200"/>
                </a:spcBef>
                <a:spcAft>
                  <a:spcPts val="0"/>
                </a:spcAft>
                <a:buNone/>
              </a:pPr>
              <a:r>
                <a:rPr b="1" lang="zh-TW" sz="786">
                  <a:solidFill>
                    <a:srgbClr val="0284C7"/>
                  </a:solidFill>
                  <a:latin typeface="Inter"/>
                  <a:ea typeface="Inter"/>
                  <a:cs typeface="Inter"/>
                  <a:sym typeface="Inter"/>
                </a:rPr>
                <a:t>🎯 Process Less Visual Data</a:t>
              </a:r>
              <a:endParaRPr b="1" sz="1110">
                <a:solidFill>
                  <a:srgbClr val="1E293B"/>
                </a:solidFill>
                <a:latin typeface="Inter"/>
                <a:ea typeface="Inter"/>
                <a:cs typeface="Inter"/>
                <a:sym typeface="Inter"/>
              </a:endParaRPr>
            </a:p>
            <a:p>
              <a:pPr indent="0" lvl="0" marL="0" rtl="0" algn="l">
                <a:spcBef>
                  <a:spcPts val="400"/>
                </a:spcBef>
                <a:spcAft>
                  <a:spcPts val="0"/>
                </a:spcAft>
                <a:buNone/>
              </a:pPr>
              <a:r>
                <a:rPr b="0" lang="zh-TW" sz="833">
                  <a:solidFill>
                    <a:srgbClr val="334155"/>
                  </a:solidFill>
                  <a:latin typeface="Inter"/>
                  <a:ea typeface="Inter"/>
                  <a:cs typeface="Inter"/>
                  <a:sym typeface="Inter"/>
                </a:rPr>
                <a:t>Inspired by fencing tracking systems targeting small, fast-moving objects. Restricting tracking to active zones reduces processing overhead.</a:t>
              </a:r>
              <a:endParaRPr b="1" sz="1110">
                <a:solidFill>
                  <a:srgbClr val="1E293B"/>
                </a:solidFill>
                <a:latin typeface="Inter"/>
                <a:ea typeface="Inter"/>
                <a:cs typeface="Inter"/>
                <a:sym typeface="Inter"/>
              </a:endParaRPr>
            </a:p>
            <a:p>
              <a:pPr indent="0" lvl="0" marL="0" rtl="0" algn="l">
                <a:spcBef>
                  <a:spcPts val="400"/>
                </a:spcBef>
                <a:spcAft>
                  <a:spcPts val="0"/>
                </a:spcAft>
                <a:buNone/>
              </a:pPr>
              <a:r>
                <a:rPr b="0" lang="zh-TW" sz="833">
                  <a:solidFill>
                    <a:srgbClr val="334155"/>
                  </a:solidFill>
                  <a:latin typeface="Inter"/>
                  <a:ea typeface="Inter"/>
                  <a:cs typeface="Inter"/>
                  <a:sym typeface="Inter"/>
                </a:rPr>
                <a:t>Instead of analyzing full frames, crop a </a:t>
              </a:r>
              <a:r>
                <a:rPr b="1" lang="zh-TW" sz="833">
                  <a:solidFill>
                    <a:srgbClr val="0F172A"/>
                  </a:solidFill>
                  <a:latin typeface="Inter"/>
                  <a:ea typeface="Inter"/>
                  <a:cs typeface="Inter"/>
                  <a:sym typeface="Inter"/>
                </a:rPr>
                <a:t>128×128 MiniROI</a:t>
              </a:r>
              <a:r>
                <a:rPr b="0" lang="zh-TW" sz="833">
                  <a:solidFill>
                    <a:srgbClr val="334155"/>
                  </a:solidFill>
                  <a:latin typeface="Inter"/>
                  <a:ea typeface="Inter"/>
                  <a:cs typeface="Inter"/>
                  <a:sym typeface="Inter"/>
                </a:rPr>
                <a:t> based on prior frame positions to cut image workload in half.</a:t>
              </a:r>
              <a:endParaRPr b="1" sz="1110">
                <a:solidFill>
                  <a:srgbClr val="1E293B"/>
                </a:solidFill>
                <a:latin typeface="Inter"/>
                <a:ea typeface="Inter"/>
                <a:cs typeface="Inter"/>
                <a:sym typeface="Inter"/>
              </a:endParaRPr>
            </a:p>
          </p:txBody>
        </p:sp>
      </p:grpSp>
      <p:grpSp>
        <p:nvGrpSpPr>
          <p:cNvPr id="235" name="Google Shape;235;p21"/>
          <p:cNvGrpSpPr/>
          <p:nvPr/>
        </p:nvGrpSpPr>
        <p:grpSpPr>
          <a:xfrm>
            <a:off x="4619625" y="4600575"/>
            <a:ext cx="4048200" cy="400200"/>
            <a:chOff x="4048125" y="361950"/>
            <a:chExt cx="4048200" cy="400200"/>
          </a:xfrm>
        </p:grpSpPr>
        <p:sp>
          <p:nvSpPr>
            <p:cNvPr id="236" name="Google Shape;236;p21"/>
            <p:cNvSpPr/>
            <p:nvPr/>
          </p:nvSpPr>
          <p:spPr>
            <a:xfrm>
              <a:off x="4048125" y="361950"/>
              <a:ext cx="4048200" cy="400200"/>
            </a:xfrm>
            <a:prstGeom prst="roundRect">
              <a:avLst>
                <a:gd fmla="val 19047" name="adj"/>
              </a:avLst>
            </a:prstGeom>
            <a:solidFill>
              <a:srgbClr val="FEF2F2"/>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21"/>
            <p:cNvSpPr/>
            <p:nvPr/>
          </p:nvSpPr>
          <p:spPr>
            <a:xfrm>
              <a:off x="4048125" y="361950"/>
              <a:ext cx="47700" cy="4002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1"/>
            <p:cNvSpPr txBox="1"/>
            <p:nvPr/>
          </p:nvSpPr>
          <p:spPr>
            <a:xfrm>
              <a:off x="4191000" y="390525"/>
              <a:ext cx="3810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950">
                  <a:solidFill>
                    <a:srgbClr val="DC2626"/>
                  </a:solidFill>
                  <a:latin typeface="Inter"/>
                  <a:ea typeface="Inter"/>
                  <a:cs typeface="Inter"/>
                  <a:sym typeface="Inter"/>
                </a:rPr>
                <a:t>Speed successfully reached 30 FPS, but can it accurately track the shuttlecock?</a:t>
              </a:r>
              <a:endParaRPr b="1" sz="950">
                <a:solidFill>
                  <a:srgbClr val="DC2626"/>
                </a:solidFill>
                <a:latin typeface="Inter"/>
                <a:ea typeface="Inter"/>
                <a:cs typeface="Inter"/>
                <a:sym typeface="Inter"/>
              </a:endParaRPr>
            </a:p>
          </p:txBody>
        </p:sp>
      </p:grpSp>
      <p:pic>
        <p:nvPicPr>
          <p:cNvPr id="239" name="Google Shape;239;p21"/>
          <p:cNvPicPr preferRelativeResize="0"/>
          <p:nvPr/>
        </p:nvPicPr>
        <p:blipFill rotWithShape="1">
          <a:blip r:embed="rId3">
            <a:alphaModFix/>
          </a:blip>
          <a:srcRect b="0" l="18807" r="18814" t="0"/>
          <a:stretch/>
        </p:blipFill>
        <p:spPr>
          <a:xfrm>
            <a:off x="7143750" y="3143250"/>
            <a:ext cx="1428900" cy="1238400"/>
          </a:xfrm>
          <a:prstGeom prst="rect">
            <a:avLst/>
          </a:prstGeom>
          <a:noFill/>
          <a:ln>
            <a:noFill/>
          </a:ln>
        </p:spPr>
      </p:pic>
      <p:grpSp>
        <p:nvGrpSpPr>
          <p:cNvPr id="240" name="Google Shape;240;p21"/>
          <p:cNvGrpSpPr/>
          <p:nvPr/>
        </p:nvGrpSpPr>
        <p:grpSpPr>
          <a:xfrm>
            <a:off x="476251" y="1333500"/>
            <a:ext cx="3952800" cy="3667200"/>
            <a:chOff x="446551" y="-342900"/>
            <a:chExt cx="3952800" cy="3667200"/>
          </a:xfrm>
        </p:grpSpPr>
        <p:sp>
          <p:nvSpPr>
            <p:cNvPr id="241" name="Google Shape;241;p21"/>
            <p:cNvSpPr/>
            <p:nvPr/>
          </p:nvSpPr>
          <p:spPr>
            <a:xfrm>
              <a:off x="446551" y="-342900"/>
              <a:ext cx="3952800" cy="3667200"/>
            </a:xfrm>
            <a:prstGeom prst="roundRect">
              <a:avLst>
                <a:gd fmla="val 31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1"/>
            <p:cNvSpPr/>
            <p:nvPr/>
          </p:nvSpPr>
          <p:spPr>
            <a:xfrm>
              <a:off x="446551" y="-342900"/>
              <a:ext cx="57300" cy="3667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1"/>
            <p:cNvSpPr txBox="1"/>
            <p:nvPr/>
          </p:nvSpPr>
          <p:spPr>
            <a:xfrm>
              <a:off x="618001" y="-209550"/>
              <a:ext cx="3619500" cy="3429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900">
                  <a:solidFill>
                    <a:srgbClr val="3B82F6"/>
                  </a:solidFill>
                  <a:latin typeface="Inter"/>
                  <a:ea typeface="Inter"/>
                  <a:cs typeface="Inter"/>
                  <a:sym typeface="Inter"/>
                </a:rPr>
                <a:t>DEEP LEARNING MODEL</a:t>
              </a:r>
              <a:endParaRPr b="1" sz="900">
                <a:solidFill>
                  <a:srgbClr val="3B82F6"/>
                </a:solidFill>
                <a:latin typeface="Inter"/>
                <a:ea typeface="Inter"/>
                <a:cs typeface="Inter"/>
                <a:sym typeface="Inter"/>
              </a:endParaRPr>
            </a:p>
            <a:p>
              <a:pPr indent="0" lvl="0" marL="0" rtl="0" algn="l">
                <a:spcBef>
                  <a:spcPts val="200"/>
                </a:spcBef>
                <a:spcAft>
                  <a:spcPts val="0"/>
                </a:spcAft>
                <a:buNone/>
              </a:pPr>
              <a:r>
                <a:rPr b="1" lang="zh-TW" sz="1500">
                  <a:solidFill>
                    <a:srgbClr val="0F172A"/>
                  </a:solidFill>
                  <a:latin typeface="Inter"/>
                  <a:ea typeface="Inter"/>
                  <a:cs typeface="Inter"/>
                  <a:sym typeface="Inter"/>
                </a:rPr>
                <a:t>TrackNetV4 Architecture</a:t>
              </a:r>
              <a:endParaRPr b="1" sz="900">
                <a:solidFill>
                  <a:srgbClr val="3B82F6"/>
                </a:solidFill>
                <a:latin typeface="Inter"/>
                <a:ea typeface="Inter"/>
                <a:cs typeface="Inter"/>
                <a:sym typeface="Inter"/>
              </a:endParaRPr>
            </a:p>
            <a:p>
              <a:pPr indent="0" lvl="0" marL="0" rtl="0" algn="l">
                <a:spcBef>
                  <a:spcPts val="800"/>
                </a:spcBef>
                <a:spcAft>
                  <a:spcPts val="0"/>
                </a:spcAft>
                <a:buNone/>
              </a:pPr>
              <a:r>
                <a:rPr b="0" lang="zh-TW" sz="1000">
                  <a:solidFill>
                    <a:srgbClr val="334155"/>
                  </a:solidFill>
                  <a:latin typeface="Inter"/>
                  <a:ea typeface="Inter"/>
                  <a:cs typeface="Inter"/>
                  <a:sym typeface="Inter"/>
                </a:rPr>
                <a:t>A benchmark single-camera tracking approach that processes sequential video frames to generate pixel-level heatmap probabilities for shuttlecock localization.</a:t>
              </a:r>
              <a:endParaRPr b="1" sz="900">
                <a:solidFill>
                  <a:srgbClr val="3B82F6"/>
                </a:solidFill>
                <a:latin typeface="Inter"/>
                <a:ea typeface="Inter"/>
                <a:cs typeface="Inter"/>
                <a:sym typeface="Inter"/>
              </a:endParaRPr>
            </a:p>
            <a:p>
              <a:pPr indent="0" lvl="0" marL="0" rtl="0" algn="l">
                <a:spcBef>
                  <a:spcPts val="800"/>
                </a:spcBef>
                <a:spcAft>
                  <a:spcPts val="0"/>
                </a:spcAft>
                <a:buNone/>
              </a:pPr>
              <a:r>
                <a:rPr b="1" lang="zh-TW" sz="1000">
                  <a:solidFill>
                    <a:srgbClr val="0F172A"/>
                  </a:solidFill>
                  <a:latin typeface="Inter"/>
                  <a:ea typeface="Inter"/>
                  <a:cs typeface="Inter"/>
                  <a:sym typeface="Inter"/>
                </a:rPr>
                <a:t>Key Technical Highlights:</a:t>
              </a:r>
              <a:endParaRPr b="1" sz="900">
                <a:solidFill>
                  <a:srgbClr val="3B82F6"/>
                </a:solidFill>
                <a:latin typeface="Inter"/>
                <a:ea typeface="Inter"/>
                <a:cs typeface="Inter"/>
                <a:sym typeface="Inter"/>
              </a:endParaRPr>
            </a:p>
            <a:p>
              <a:pPr indent="-285750" lvl="0" marL="457200" rtl="0" algn="l">
                <a:spcBef>
                  <a:spcPts val="400"/>
                </a:spcBef>
                <a:spcAft>
                  <a:spcPts val="0"/>
                </a:spcAft>
                <a:buClr>
                  <a:srgbClr val="3B82F6"/>
                </a:buClr>
                <a:buSzPts val="900"/>
                <a:buFont typeface="Inter"/>
                <a:buChar char="●"/>
              </a:pPr>
              <a:r>
                <a:rPr b="1" lang="zh-TW" sz="950">
                  <a:solidFill>
                    <a:srgbClr val="0F172A"/>
                  </a:solidFill>
                  <a:latin typeface="Inter"/>
                  <a:ea typeface="Inter"/>
                  <a:cs typeface="Inter"/>
                  <a:sym typeface="Inter"/>
                </a:rPr>
                <a:t>Motion Attention Map: </a:t>
              </a:r>
              <a:r>
                <a:rPr b="0" lang="zh-TW" sz="950">
                  <a:solidFill>
                    <a:srgbClr val="334155"/>
                  </a:solidFill>
                  <a:latin typeface="Inter"/>
                  <a:ea typeface="Inter"/>
                  <a:cs typeface="Inter"/>
                  <a:sym typeface="Inter"/>
                </a:rPr>
                <a:t>Integrates temporal motion changes across consecutive frames to pinpoint fast-moving targets.</a:t>
              </a:r>
              <a:endParaRPr b="1" sz="900">
                <a:solidFill>
                  <a:srgbClr val="3B82F6"/>
                </a:solidFill>
                <a:latin typeface="Inter"/>
                <a:ea typeface="Inter"/>
                <a:cs typeface="Inter"/>
                <a:sym typeface="Inter"/>
              </a:endParaRPr>
            </a:p>
            <a:p>
              <a:pPr indent="-285750" lvl="0" marL="457200" rtl="0" algn="l">
                <a:spcBef>
                  <a:spcPts val="600"/>
                </a:spcBef>
                <a:spcAft>
                  <a:spcPts val="0"/>
                </a:spcAft>
                <a:buClr>
                  <a:srgbClr val="3B82F6"/>
                </a:buClr>
                <a:buSzPts val="900"/>
                <a:buFont typeface="Inter"/>
                <a:buChar char="●"/>
              </a:pPr>
              <a:r>
                <a:rPr b="1" lang="zh-TW" sz="950">
                  <a:solidFill>
                    <a:srgbClr val="0F172A"/>
                  </a:solidFill>
                  <a:latin typeface="Inter"/>
                  <a:ea typeface="Inter"/>
                  <a:cs typeface="Inter"/>
                  <a:sym typeface="Inter"/>
                </a:rPr>
                <a:t>Robust to Blur &amp; Occlusion: </a:t>
              </a:r>
              <a:r>
                <a:rPr b="0" lang="zh-TW" sz="950">
                  <a:solidFill>
                    <a:srgbClr val="334155"/>
                  </a:solidFill>
                  <a:latin typeface="Inter"/>
                  <a:ea typeface="Inter"/>
                  <a:cs typeface="Inter"/>
                  <a:sym typeface="Inter"/>
                </a:rPr>
                <a:t>Maintains trajectory tracking even when the shuttlecock is small, blurred, or temporarily hidden.</a:t>
              </a:r>
              <a:endParaRPr b="1" sz="900">
                <a:solidFill>
                  <a:srgbClr val="3B82F6"/>
                </a:solidFill>
                <a:latin typeface="Inter"/>
                <a:ea typeface="Inter"/>
                <a:cs typeface="Inter"/>
                <a:sym typeface="Inter"/>
              </a:endParaRPr>
            </a:p>
            <a:p>
              <a:pPr indent="0" lvl="0" marL="0" rtl="0" algn="l">
                <a:spcBef>
                  <a:spcPts val="800"/>
                </a:spcBef>
                <a:spcAft>
                  <a:spcPts val="0"/>
                </a:spcAft>
                <a:buNone/>
              </a:pPr>
              <a:r>
                <a:rPr b="1" lang="zh-TW" sz="850">
                  <a:solidFill>
                    <a:srgbClr val="64748B"/>
                  </a:solidFill>
                  <a:highlight>
                    <a:srgbClr val="F8FAFC"/>
                  </a:highlight>
                  <a:latin typeface="Inter"/>
                  <a:ea typeface="Inter"/>
                  <a:cs typeface="Inter"/>
                  <a:sym typeface="Inter"/>
                </a:rPr>
                <a:t>EVOLUTIONARY TRAJECTORY</a:t>
              </a:r>
              <a:endParaRPr b="1" sz="900">
                <a:solidFill>
                  <a:srgbClr val="3B82F6"/>
                </a:solidFill>
                <a:latin typeface="Inter"/>
                <a:ea typeface="Inter"/>
                <a:cs typeface="Inter"/>
                <a:sym typeface="Inter"/>
              </a:endParaRPr>
            </a:p>
            <a:p>
              <a:pPr indent="0" lvl="0" marL="0" rtl="0" algn="l">
                <a:spcBef>
                  <a:spcPts val="200"/>
                </a:spcBef>
                <a:spcAft>
                  <a:spcPts val="0"/>
                </a:spcAft>
                <a:buNone/>
              </a:pPr>
              <a:r>
                <a:rPr b="0" lang="zh-TW" sz="900">
                  <a:solidFill>
                    <a:srgbClr val="2563EB"/>
                  </a:solidFill>
                  <a:highlight>
                    <a:srgbClr val="F8FAFC"/>
                  </a:highlight>
                  <a:latin typeface="Inter SemiBold"/>
                  <a:ea typeface="Inter SemiBold"/>
                  <a:cs typeface="Inter SemiBold"/>
                  <a:sym typeface="Inter SemiBold"/>
                </a:rPr>
                <a:t>Detection → Search Efficiency → Occlusion Handling → Motion Dynamics</a:t>
              </a:r>
              <a:endParaRPr b="1" sz="900">
                <a:solidFill>
                  <a:srgbClr val="3B82F6"/>
                </a:solidFill>
                <a:latin typeface="Inter"/>
                <a:ea typeface="Inter"/>
                <a:cs typeface="Inter"/>
                <a:sym typeface="Inter"/>
              </a:endParaRPr>
            </a:p>
            <a:p>
              <a:pPr indent="0" lvl="0" marL="0" rtl="0" algn="l">
                <a:spcBef>
                  <a:spcPts val="1000"/>
                </a:spcBef>
                <a:spcAft>
                  <a:spcPts val="0"/>
                </a:spcAft>
                <a:buNone/>
              </a:pPr>
              <a:r>
                <a:rPr b="1" lang="zh-TW" sz="1000">
                  <a:solidFill>
                    <a:srgbClr val="0F172A"/>
                  </a:solidFill>
                  <a:latin typeface="Inter"/>
                  <a:ea typeface="Inter"/>
                  <a:cs typeface="Inter"/>
                  <a:sym typeface="Inter"/>
                </a:rPr>
                <a:t>Benchmark Accuracy: </a:t>
              </a:r>
              <a:r>
                <a:rPr b="0" lang="zh-TW" sz="1300">
                  <a:solidFill>
                    <a:srgbClr val="0284C7"/>
                  </a:solidFill>
                  <a:latin typeface="Inter ExtraBold"/>
                  <a:ea typeface="Inter ExtraBold"/>
                  <a:cs typeface="Inter ExtraBold"/>
                  <a:sym typeface="Inter ExtraBold"/>
                </a:rPr>
                <a:t>99%</a:t>
              </a:r>
              <a:endParaRPr b="1" sz="900">
                <a:solidFill>
                  <a:srgbClr val="3B82F6"/>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grpSp>
        <p:nvGrpSpPr>
          <p:cNvPr id="248" name="Google Shape;248;p22"/>
          <p:cNvGrpSpPr/>
          <p:nvPr/>
        </p:nvGrpSpPr>
        <p:grpSpPr>
          <a:xfrm>
            <a:off x="-476250" y="-857250"/>
            <a:ext cx="10477500" cy="6381750"/>
            <a:chOff x="-476250" y="-857250"/>
            <a:chExt cx="10477500" cy="6381750"/>
          </a:xfrm>
        </p:grpSpPr>
        <p:sp>
          <p:nvSpPr>
            <p:cNvPr id="249" name="Google Shape;249;p2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2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2"/>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3" name="Google Shape;253;p22"/>
          <p:cNvSpPr txBox="1"/>
          <p:nvPr/>
        </p:nvSpPr>
        <p:spPr>
          <a:xfrm>
            <a:off x="381000" y="333375"/>
            <a:ext cx="8382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 Native TrackNetV4 vs. KD + ROI</a:t>
            </a:r>
            <a:endParaRPr b="1" sz="2400">
              <a:solidFill>
                <a:srgbClr val="1E293B"/>
              </a:solidFill>
              <a:latin typeface="Inter"/>
              <a:ea typeface="Inter"/>
              <a:cs typeface="Inter"/>
              <a:sym typeface="Inter"/>
            </a:endParaRPr>
          </a:p>
          <a:p>
            <a:pPr indent="0" lvl="0" marL="0" rtl="0" algn="l">
              <a:spcBef>
                <a:spcPts val="200"/>
              </a:spcBef>
              <a:spcAft>
                <a:spcPts val="0"/>
              </a:spcAft>
              <a:buNone/>
            </a:pPr>
            <a:r>
              <a:rPr b="0" lang="zh-TW" sz="1100">
                <a:solidFill>
                  <a:srgbClr val="64748B"/>
                </a:solidFill>
                <a:latin typeface="Inter"/>
                <a:ea typeface="Inter"/>
                <a:cs typeface="Inter"/>
                <a:sym typeface="Inter"/>
              </a:rPr>
              <a:t>Edge Device Inference Performance &amp; Real-Time System Log Analysis</a:t>
            </a:r>
            <a:endParaRPr b="0" sz="1100">
              <a:solidFill>
                <a:srgbClr val="64748B"/>
              </a:solidFill>
              <a:latin typeface="Inter"/>
              <a:ea typeface="Inter"/>
              <a:cs typeface="Inter"/>
              <a:sym typeface="Inter"/>
            </a:endParaRPr>
          </a:p>
        </p:txBody>
      </p:sp>
      <p:grpSp>
        <p:nvGrpSpPr>
          <p:cNvPr id="254" name="Google Shape;254;p22"/>
          <p:cNvGrpSpPr/>
          <p:nvPr/>
        </p:nvGrpSpPr>
        <p:grpSpPr>
          <a:xfrm>
            <a:off x="381000" y="1143000"/>
            <a:ext cx="4048200" cy="2905200"/>
            <a:chOff x="381000" y="1143000"/>
            <a:chExt cx="4048200" cy="2905200"/>
          </a:xfrm>
        </p:grpSpPr>
        <p:sp>
          <p:nvSpPr>
            <p:cNvPr id="255" name="Google Shape;255;p22"/>
            <p:cNvSpPr/>
            <p:nvPr/>
          </p:nvSpPr>
          <p:spPr>
            <a:xfrm>
              <a:off x="381000" y="1143000"/>
              <a:ext cx="4048200" cy="2905200"/>
            </a:xfrm>
            <a:prstGeom prst="roundRect">
              <a:avLst>
                <a:gd fmla="val 393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2"/>
            <p:cNvSpPr/>
            <p:nvPr/>
          </p:nvSpPr>
          <p:spPr>
            <a:xfrm>
              <a:off x="381000" y="1143000"/>
              <a:ext cx="40482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2"/>
            <p:cNvSpPr txBox="1"/>
            <p:nvPr/>
          </p:nvSpPr>
          <p:spPr>
            <a:xfrm>
              <a:off x="533400" y="1238250"/>
              <a:ext cx="37434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Native TrackNetV4 </a:t>
              </a:r>
              <a:r>
                <a:rPr b="0" lang="zh-TW" sz="1000">
                  <a:solidFill>
                    <a:srgbClr val="2563EB"/>
                  </a:solidFill>
                  <a:latin typeface="Inter SemiBold"/>
                  <a:ea typeface="Inter SemiBold"/>
                  <a:cs typeface="Inter SemiBold"/>
                  <a:sym typeface="Inter SemiBold"/>
                </a:rPr>
                <a:t>(Teacher V4)</a:t>
              </a:r>
              <a:endParaRPr b="1" sz="13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64748B"/>
                  </a:solidFill>
                  <a:latin typeface="Inter"/>
                  <a:ea typeface="Inter"/>
                  <a:cs typeface="Inter"/>
                  <a:sym typeface="Inter"/>
                </a:rPr>
                <a:t>Full Frame TensorRT Inference</a:t>
              </a:r>
              <a:endParaRPr b="0" sz="900">
                <a:solidFill>
                  <a:srgbClr val="64748B"/>
                </a:solidFill>
                <a:latin typeface="Inter"/>
                <a:ea typeface="Inter"/>
                <a:cs typeface="Inter"/>
                <a:sym typeface="Inter"/>
              </a:endParaRPr>
            </a:p>
          </p:txBody>
        </p:sp>
      </p:grpSp>
      <p:grpSp>
        <p:nvGrpSpPr>
          <p:cNvPr id="258" name="Google Shape;258;p22"/>
          <p:cNvGrpSpPr/>
          <p:nvPr/>
        </p:nvGrpSpPr>
        <p:grpSpPr>
          <a:xfrm>
            <a:off x="4714875" y="1143000"/>
            <a:ext cx="4048200" cy="2905200"/>
            <a:chOff x="4714875" y="1143000"/>
            <a:chExt cx="4048200" cy="2905200"/>
          </a:xfrm>
        </p:grpSpPr>
        <p:sp>
          <p:nvSpPr>
            <p:cNvPr id="259" name="Google Shape;259;p22"/>
            <p:cNvSpPr/>
            <p:nvPr/>
          </p:nvSpPr>
          <p:spPr>
            <a:xfrm>
              <a:off x="4714875" y="1143000"/>
              <a:ext cx="4048200" cy="2905200"/>
            </a:xfrm>
            <a:prstGeom prst="roundRect">
              <a:avLst>
                <a:gd fmla="val 393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2"/>
            <p:cNvSpPr/>
            <p:nvPr/>
          </p:nvSpPr>
          <p:spPr>
            <a:xfrm>
              <a:off x="4714875" y="1143000"/>
              <a:ext cx="40482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2"/>
            <p:cNvSpPr txBox="1"/>
            <p:nvPr/>
          </p:nvSpPr>
          <p:spPr>
            <a:xfrm>
              <a:off x="4867275" y="1238250"/>
              <a:ext cx="37434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TrackNetV4 + KD + ROI </a:t>
              </a:r>
              <a:r>
                <a:rPr b="0" lang="zh-TW" sz="1000">
                  <a:solidFill>
                    <a:srgbClr val="0284C7"/>
                  </a:solidFill>
                  <a:latin typeface="Inter SemiBold"/>
                  <a:ea typeface="Inter SemiBold"/>
                  <a:cs typeface="Inter SemiBold"/>
                  <a:sym typeface="Inter SemiBold"/>
                </a:rPr>
                <a:t>(Student)</a:t>
              </a:r>
              <a:endParaRPr b="1" sz="13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64748B"/>
                  </a:solidFill>
                  <a:latin typeface="Inter"/>
                  <a:ea typeface="Inter"/>
                  <a:cs typeface="Inter"/>
                  <a:sym typeface="Inter"/>
                </a:rPr>
                <a:t>Pure ROI Search Window (~30 FPS Real-Time)</a:t>
              </a:r>
              <a:endParaRPr b="0" sz="900">
                <a:solidFill>
                  <a:srgbClr val="64748B"/>
                </a:solidFill>
                <a:latin typeface="Inter"/>
                <a:ea typeface="Inter"/>
                <a:cs typeface="Inter"/>
                <a:sym typeface="Inter"/>
              </a:endParaRPr>
            </a:p>
          </p:txBody>
        </p:sp>
      </p:grpSp>
      <p:pic>
        <p:nvPicPr>
          <p:cNvPr id="262" name="Google Shape;262;p22" title="teacher_realtime_nano.gif"/>
          <p:cNvPicPr preferRelativeResize="0"/>
          <p:nvPr/>
        </p:nvPicPr>
        <p:blipFill rotWithShape="1">
          <a:blip r:embed="rId3">
            <a:alphaModFix/>
          </a:blip>
          <a:srcRect b="90" l="0" r="0" t="90"/>
          <a:stretch/>
        </p:blipFill>
        <p:spPr>
          <a:xfrm>
            <a:off x="533400" y="1695450"/>
            <a:ext cx="3743400" cy="2105100"/>
          </a:xfrm>
          <a:prstGeom prst="roundRect">
            <a:avLst>
              <a:gd fmla="val 3619" name="adj"/>
            </a:avLst>
          </a:prstGeom>
          <a:noFill/>
          <a:ln>
            <a:noFill/>
          </a:ln>
        </p:spPr>
      </p:pic>
      <p:pic>
        <p:nvPicPr>
          <p:cNvPr id="263" name="Google Shape;263;p22" title="Stateless Noise Hijacking.gif"/>
          <p:cNvPicPr preferRelativeResize="0"/>
          <p:nvPr/>
        </p:nvPicPr>
        <p:blipFill rotWithShape="1">
          <a:blip r:embed="rId4">
            <a:alphaModFix/>
          </a:blip>
          <a:srcRect b="90" l="0" r="0" t="90"/>
          <a:stretch/>
        </p:blipFill>
        <p:spPr>
          <a:xfrm>
            <a:off x="4867275" y="1695450"/>
            <a:ext cx="3743400" cy="2105100"/>
          </a:xfrm>
          <a:prstGeom prst="roundRect">
            <a:avLst>
              <a:gd fmla="val 3619" name="adj"/>
            </a:avLst>
          </a:prstGeom>
          <a:noFill/>
          <a:ln>
            <a:noFill/>
          </a:ln>
        </p:spPr>
      </p:pic>
      <p:grpSp>
        <p:nvGrpSpPr>
          <p:cNvPr id="264" name="Google Shape;264;p22"/>
          <p:cNvGrpSpPr/>
          <p:nvPr/>
        </p:nvGrpSpPr>
        <p:grpSpPr>
          <a:xfrm>
            <a:off x="381000" y="4210050"/>
            <a:ext cx="8382000" cy="647700"/>
            <a:chOff x="0" y="0"/>
            <a:chExt cx="8382000" cy="647700"/>
          </a:xfrm>
        </p:grpSpPr>
        <p:sp>
          <p:nvSpPr>
            <p:cNvPr id="265" name="Google Shape;265;p22"/>
            <p:cNvSpPr/>
            <p:nvPr/>
          </p:nvSpPr>
          <p:spPr>
            <a:xfrm>
              <a:off x="0" y="0"/>
              <a:ext cx="8382000" cy="647700"/>
            </a:xfrm>
            <a:prstGeom prst="roundRect">
              <a:avLst>
                <a:gd fmla="val 14705" name="adj"/>
              </a:avLst>
            </a:prstGeom>
            <a:solidFill>
              <a:srgbClr val="FEF2F2"/>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2"/>
            <p:cNvSpPr/>
            <p:nvPr/>
          </p:nvSpPr>
          <p:spPr>
            <a:xfrm>
              <a:off x="0" y="0"/>
              <a:ext cx="57300" cy="647700"/>
            </a:xfrm>
            <a:prstGeom prst="roundRect">
              <a:avLst>
                <a:gd fmla="val 33333"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2"/>
            <p:cNvSpPr txBox="1"/>
            <p:nvPr/>
          </p:nvSpPr>
          <p:spPr>
            <a:xfrm>
              <a:off x="190500" y="0"/>
              <a:ext cx="80391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TW" sz="1000">
                  <a:solidFill>
                    <a:srgbClr val="7F1D1D"/>
                  </a:solidFill>
                  <a:latin typeface="Inter"/>
                  <a:ea typeface="Inter"/>
                  <a:cs typeface="Inter"/>
                  <a:sym typeface="Inter"/>
                </a:rPr>
                <a:t>Although inference performance reaches the 30 FPS real-time standard, "</a:t>
              </a:r>
              <a:r>
                <a:rPr b="1" lang="zh-TW" sz="1000">
                  <a:solidFill>
                    <a:srgbClr val="B91C1C"/>
                  </a:solidFill>
                  <a:latin typeface="Inter"/>
                  <a:ea typeface="Inter"/>
                  <a:cs typeface="Inter"/>
                  <a:sym typeface="Inter"/>
                </a:rPr>
                <a:t>shuttlecock out of frame</a:t>
              </a:r>
              <a:r>
                <a:rPr lang="zh-TW" sz="1000">
                  <a:solidFill>
                    <a:srgbClr val="7F1D1D"/>
                  </a:solidFill>
                  <a:latin typeface="Inter"/>
                  <a:ea typeface="Inter"/>
                  <a:cs typeface="Inter"/>
                  <a:sym typeface="Inter"/>
                </a:rPr>
                <a:t>" and "</a:t>
              </a:r>
              <a:r>
                <a:rPr b="1" lang="zh-TW" sz="1000">
                  <a:solidFill>
                    <a:srgbClr val="B91C1C"/>
                  </a:solidFill>
                  <a:latin typeface="Inter"/>
                  <a:ea typeface="Inter"/>
                  <a:cs typeface="Inter"/>
                  <a:sym typeface="Inter"/>
                </a:rPr>
                <a:t>noise interference</a:t>
              </a:r>
              <a:r>
                <a:rPr lang="zh-TW" sz="1000">
                  <a:solidFill>
                    <a:srgbClr val="7F1D1D"/>
                  </a:solidFill>
                  <a:latin typeface="Inter"/>
                  <a:ea typeface="Inter"/>
                  <a:cs typeface="Inter"/>
                  <a:sym typeface="Inter"/>
                </a:rPr>
                <a:t>" phenomena are observed in the video frame.</a:t>
              </a:r>
              <a:endParaRPr sz="1000">
                <a:solidFill>
                  <a:srgbClr val="7F1D1D"/>
                </a:solidFill>
                <a:latin typeface="Inter"/>
                <a:ea typeface="Inter"/>
                <a:cs typeface="Inter"/>
                <a:sym typeface="Inte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1" name="Shape 271"/>
        <p:cNvGrpSpPr/>
        <p:nvPr/>
      </p:nvGrpSpPr>
      <p:grpSpPr>
        <a:xfrm>
          <a:off x="0" y="0"/>
          <a:ext cx="0" cy="0"/>
          <a:chOff x="0" y="0"/>
          <a:chExt cx="0" cy="0"/>
        </a:xfrm>
      </p:grpSpPr>
      <p:grpSp>
        <p:nvGrpSpPr>
          <p:cNvPr id="272" name="Google Shape;272;p23"/>
          <p:cNvGrpSpPr/>
          <p:nvPr/>
        </p:nvGrpSpPr>
        <p:grpSpPr>
          <a:xfrm>
            <a:off x="-476250" y="-857250"/>
            <a:ext cx="10477500" cy="6381750"/>
            <a:chOff x="-476250" y="-857250"/>
            <a:chExt cx="10477500" cy="6381750"/>
          </a:xfrm>
        </p:grpSpPr>
        <p:sp>
          <p:nvSpPr>
            <p:cNvPr id="273" name="Google Shape;273;p2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2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6" name="Google Shape;276;p23"/>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Challenges</a:t>
            </a:r>
            <a:endParaRPr b="1" sz="4400">
              <a:solidFill>
                <a:srgbClr val="1E293B"/>
              </a:solidFill>
              <a:latin typeface="Oswald"/>
              <a:ea typeface="Oswald"/>
              <a:cs typeface="Oswald"/>
              <a:sym typeface="Oswald"/>
            </a:endParaRPr>
          </a:p>
        </p:txBody>
      </p:sp>
      <p:sp>
        <p:nvSpPr>
          <p:cNvPr id="277" name="Google Shape;277;p23"/>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pSp>
        <p:nvGrpSpPr>
          <p:cNvPr id="282" name="Google Shape;282;p24"/>
          <p:cNvGrpSpPr/>
          <p:nvPr/>
        </p:nvGrpSpPr>
        <p:grpSpPr>
          <a:xfrm>
            <a:off x="0" y="-857250"/>
            <a:ext cx="10001250" cy="2857500"/>
            <a:chOff x="0" y="-857250"/>
            <a:chExt cx="10001250" cy="2857500"/>
          </a:xfrm>
        </p:grpSpPr>
        <p:sp>
          <p:nvSpPr>
            <p:cNvPr id="283" name="Google Shape;283;p2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4"/>
            <p:cNvSpPr/>
            <p:nvPr/>
          </p:nvSpPr>
          <p:spPr>
            <a:xfrm>
              <a:off x="0" y="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4"/>
            <p:cNvSpPr/>
            <p:nvPr/>
          </p:nvSpPr>
          <p:spPr>
            <a:xfrm>
              <a:off x="571500" y="8382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86" name="Google Shape;286;p24"/>
          <p:cNvGrpSpPr/>
          <p:nvPr/>
        </p:nvGrpSpPr>
        <p:grpSpPr>
          <a:xfrm>
            <a:off x="571500" y="285750"/>
            <a:ext cx="8001000" cy="523800"/>
            <a:chOff x="0" y="0"/>
            <a:chExt cx="8001000" cy="523800"/>
          </a:xfrm>
        </p:grpSpPr>
        <p:sp>
          <p:nvSpPr>
            <p:cNvPr id="287" name="Google Shape;287;p24"/>
            <p:cNvSpPr/>
            <p:nvPr/>
          </p:nvSpPr>
          <p:spPr>
            <a:xfrm>
              <a:off x="0" y="0"/>
              <a:ext cx="8001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4"/>
            <p:cNvSpPr txBox="1"/>
            <p:nvPr/>
          </p:nvSpPr>
          <p:spPr>
            <a:xfrm>
              <a:off x="0" y="0"/>
              <a:ext cx="8001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Oswald"/>
                  <a:ea typeface="Oswald"/>
                  <a:cs typeface="Oswald"/>
                  <a:sym typeface="Oswald"/>
                </a:rPr>
                <a:t>Observed Problems &amp; Technical Challenges </a:t>
              </a:r>
              <a:r>
                <a:rPr b="0" lang="zh-TW" sz="1800">
                  <a:solidFill>
                    <a:srgbClr val="3B82F6"/>
                  </a:solidFill>
                  <a:latin typeface="Oswald"/>
                  <a:ea typeface="Oswald"/>
                  <a:cs typeface="Oswald"/>
                  <a:sym typeface="Oswald"/>
                </a:rPr>
                <a:t>(Key Challenges)</a:t>
              </a:r>
              <a:endParaRPr b="1" sz="2400">
                <a:solidFill>
                  <a:srgbClr val="1E293B"/>
                </a:solidFill>
                <a:latin typeface="Oswald"/>
                <a:ea typeface="Oswald"/>
                <a:cs typeface="Oswald"/>
                <a:sym typeface="Oswald"/>
              </a:endParaRPr>
            </a:p>
          </p:txBody>
        </p:sp>
      </p:grpSp>
      <p:grpSp>
        <p:nvGrpSpPr>
          <p:cNvPr id="289" name="Google Shape;289;p24"/>
          <p:cNvGrpSpPr/>
          <p:nvPr/>
        </p:nvGrpSpPr>
        <p:grpSpPr>
          <a:xfrm>
            <a:off x="571500" y="1095375"/>
            <a:ext cx="3905400" cy="3667200"/>
            <a:chOff x="0" y="0"/>
            <a:chExt cx="3905400" cy="3667200"/>
          </a:xfrm>
        </p:grpSpPr>
        <p:sp>
          <p:nvSpPr>
            <p:cNvPr id="290" name="Google Shape;290;p24"/>
            <p:cNvSpPr/>
            <p:nvPr/>
          </p:nvSpPr>
          <p:spPr>
            <a:xfrm>
              <a:off x="0" y="0"/>
              <a:ext cx="3905400" cy="3667200"/>
            </a:xfrm>
            <a:prstGeom prst="roundRect">
              <a:avLst>
                <a:gd fmla="val 31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4"/>
            <p:cNvSpPr/>
            <p:nvPr/>
          </p:nvSpPr>
          <p:spPr>
            <a:xfrm>
              <a:off x="0" y="0"/>
              <a:ext cx="39054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4"/>
            <p:cNvSpPr txBox="1"/>
            <p:nvPr/>
          </p:nvSpPr>
          <p:spPr>
            <a:xfrm>
              <a:off x="228600" y="228600"/>
              <a:ext cx="3448200" cy="32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500">
                  <a:solidFill>
                    <a:srgbClr val="1E293B"/>
                  </a:solidFill>
                  <a:latin typeface="Inter"/>
                  <a:ea typeface="Inter"/>
                  <a:cs typeface="Inter"/>
                  <a:sym typeface="Inter"/>
                </a:rPr>
                <a:t>1. Local FOV of ROI Inevitably Risks Out-of-Bounds</a:t>
              </a:r>
              <a:endParaRPr b="1" sz="1500">
                <a:solidFill>
                  <a:srgbClr val="1E293B"/>
                </a:solidFill>
                <a:latin typeface="Inter"/>
                <a:ea typeface="Inter"/>
                <a:cs typeface="Inter"/>
                <a:sym typeface="Inter"/>
              </a:endParaRPr>
            </a:p>
            <a:p>
              <a:pPr indent="0" lvl="0" marL="0" rtl="0" algn="l">
                <a:spcBef>
                  <a:spcPts val="900"/>
                </a:spcBef>
                <a:spcAft>
                  <a:spcPts val="0"/>
                </a:spcAft>
                <a:buNone/>
              </a:pPr>
              <a:r>
                <a:rPr b="0" lang="zh-TW" sz="1050">
                  <a:solidFill>
                    <a:srgbClr val="1D4ED8"/>
                  </a:solidFill>
                  <a:highlight>
                    <a:srgbClr val="EFF6FF"/>
                  </a:highlight>
                  <a:latin typeface="Inter SemiBold"/>
                  <a:ea typeface="Inter SemiBold"/>
                  <a:cs typeface="Inter SemiBold"/>
                  <a:sym typeface="Inter SemiBold"/>
                </a:rPr>
                <a:t>System requires a global search mechanism to recover target position.</a:t>
              </a:r>
              <a:endParaRPr b="0" sz="1050">
                <a:solidFill>
                  <a:srgbClr val="1D4ED8"/>
                </a:solidFill>
                <a:highlight>
                  <a:srgbClr val="EFF6FF"/>
                </a:highlight>
                <a:latin typeface="Inter SemiBold"/>
                <a:ea typeface="Inter SemiBold"/>
                <a:cs typeface="Inter SemiBold"/>
                <a:sym typeface="Inter SemiBold"/>
              </a:endParaRPr>
            </a:p>
            <a:p>
              <a:pPr indent="0" lvl="0" marL="0" rtl="0" algn="l">
                <a:spcBef>
                  <a:spcPts val="1200"/>
                </a:spcBef>
                <a:spcAft>
                  <a:spcPts val="0"/>
                </a:spcAft>
                <a:buNone/>
              </a:pPr>
              <a:r>
                <a:rPr b="1" lang="zh-TW" sz="1000">
                  <a:solidFill>
                    <a:srgbClr val="475569"/>
                  </a:solidFill>
                  <a:latin typeface="Inter"/>
                  <a:ea typeface="Inter"/>
                  <a:cs typeface="Inter"/>
                  <a:sym typeface="Inter"/>
                </a:rPr>
                <a:t>Key Technical Questions</a:t>
              </a:r>
              <a:endParaRPr b="1" sz="1000">
                <a:solidFill>
                  <a:srgbClr val="475569"/>
                </a:solidFill>
                <a:latin typeface="Inter"/>
                <a:ea typeface="Inter"/>
                <a:cs typeface="Inter"/>
                <a:sym typeface="Inter"/>
              </a:endParaRPr>
            </a:p>
            <a:p>
              <a:pPr indent="-298450" lvl="0" marL="457200" rtl="0" algn="l">
                <a:spcBef>
                  <a:spcPts val="600"/>
                </a:spcBef>
                <a:spcAft>
                  <a:spcPts val="0"/>
                </a:spcAft>
                <a:buClr>
                  <a:srgbClr val="334155"/>
                </a:buClr>
                <a:buSzPts val="1100"/>
                <a:buFont typeface="Inter"/>
                <a:buChar char="●"/>
              </a:pPr>
              <a:r>
                <a:rPr b="0" lang="zh-TW" sz="1100">
                  <a:solidFill>
                    <a:srgbClr val="0F172A"/>
                  </a:solidFill>
                  <a:latin typeface="Inter SemiBold"/>
                  <a:ea typeface="Inter SemiBold"/>
                  <a:cs typeface="Inter SemiBold"/>
                  <a:sym typeface="Inter SemiBold"/>
                </a:rPr>
                <a:t>Search Engine Source:</a:t>
              </a:r>
              <a:br>
                <a:rPr lang="zh-TW" sz="1100">
                  <a:solidFill>
                    <a:srgbClr val="334155"/>
                  </a:solidFill>
                  <a:latin typeface="Inter"/>
                  <a:ea typeface="Inter"/>
                  <a:cs typeface="Inter"/>
                  <a:sym typeface="Inter"/>
                </a:rPr>
              </a:br>
              <a:r>
                <a:rPr lang="zh-TW" sz="1100">
                  <a:solidFill>
                    <a:srgbClr val="64748B"/>
                  </a:solidFill>
                  <a:latin typeface="Inter"/>
                  <a:ea typeface="Inter"/>
                  <a:cs typeface="Inter"/>
                  <a:sym typeface="Inter"/>
                </a:rPr>
                <a:t>Where does the global search engine come from?</a:t>
              </a:r>
              <a:endParaRPr sz="1100">
                <a:solidFill>
                  <a:srgbClr val="334155"/>
                </a:solidFill>
                <a:latin typeface="Inter"/>
                <a:ea typeface="Inter"/>
                <a:cs typeface="Inter"/>
                <a:sym typeface="Inter"/>
              </a:endParaRPr>
            </a:p>
            <a:p>
              <a:pPr indent="-298450" lvl="0" marL="457200" rtl="0" algn="l">
                <a:spcBef>
                  <a:spcPts val="900"/>
                </a:spcBef>
                <a:spcAft>
                  <a:spcPts val="0"/>
                </a:spcAft>
                <a:buClr>
                  <a:srgbClr val="334155"/>
                </a:buClr>
                <a:buSzPts val="1100"/>
                <a:buFont typeface="Inter"/>
                <a:buChar char="●"/>
              </a:pPr>
              <a:r>
                <a:rPr b="0" lang="zh-TW" sz="1100">
                  <a:solidFill>
                    <a:srgbClr val="0F172A"/>
                  </a:solidFill>
                  <a:latin typeface="Inter SemiBold"/>
                  <a:ea typeface="Inter SemiBold"/>
                  <a:cs typeface="Inter SemiBold"/>
                  <a:sym typeface="Inter SemiBold"/>
                </a:rPr>
                <a:t>Mode Switching:</a:t>
              </a:r>
              <a:br>
                <a:rPr lang="zh-TW" sz="1100">
                  <a:solidFill>
                    <a:srgbClr val="334155"/>
                  </a:solidFill>
                  <a:latin typeface="Inter"/>
                  <a:ea typeface="Inter"/>
                  <a:cs typeface="Inter"/>
                  <a:sym typeface="Inter"/>
                </a:rPr>
              </a:br>
              <a:r>
                <a:rPr lang="zh-TW" sz="1100">
                  <a:solidFill>
                    <a:srgbClr val="64748B"/>
                  </a:solidFill>
                  <a:latin typeface="Inter"/>
                  <a:ea typeface="Inter"/>
                  <a:cs typeface="Inter"/>
                  <a:sym typeface="Inter"/>
                </a:rPr>
                <a:t>When to switch between global &amp; local search?</a:t>
              </a:r>
              <a:endParaRPr sz="1100">
                <a:solidFill>
                  <a:srgbClr val="334155"/>
                </a:solidFill>
                <a:latin typeface="Inter"/>
                <a:ea typeface="Inter"/>
                <a:cs typeface="Inter"/>
                <a:sym typeface="Inter"/>
              </a:endParaRPr>
            </a:p>
            <a:p>
              <a:pPr indent="-298450" lvl="0" marL="457200" rtl="0" algn="l">
                <a:spcBef>
                  <a:spcPts val="900"/>
                </a:spcBef>
                <a:spcAft>
                  <a:spcPts val="0"/>
                </a:spcAft>
                <a:buClr>
                  <a:srgbClr val="334155"/>
                </a:buClr>
                <a:buSzPts val="1100"/>
                <a:buFont typeface="Inter"/>
                <a:buChar char="●"/>
              </a:pPr>
              <a:r>
                <a:rPr b="0" lang="zh-TW" sz="1100">
                  <a:solidFill>
                    <a:srgbClr val="0F172A"/>
                  </a:solidFill>
                  <a:latin typeface="Inter SemiBold"/>
                  <a:ea typeface="Inter SemiBold"/>
                  <a:cs typeface="Inter SemiBold"/>
                  <a:sym typeface="Inter SemiBold"/>
                </a:rPr>
                <a:t>Computational Cost:</a:t>
              </a:r>
              <a:br>
                <a:rPr lang="zh-TW" sz="1100">
                  <a:solidFill>
                    <a:srgbClr val="334155"/>
                  </a:solidFill>
                  <a:latin typeface="Inter"/>
                  <a:ea typeface="Inter"/>
                  <a:cs typeface="Inter"/>
                  <a:sym typeface="Inter"/>
                </a:rPr>
              </a:br>
              <a:r>
                <a:rPr lang="zh-TW" sz="1100">
                  <a:solidFill>
                    <a:srgbClr val="64748B"/>
                  </a:solidFill>
                  <a:latin typeface="Inter"/>
                  <a:ea typeface="Inter"/>
                  <a:cs typeface="Inter"/>
                  <a:sym typeface="Inter"/>
                </a:rPr>
                <a:t>Global search is computationally expensive. How to reduce its trigger frequency?</a:t>
              </a:r>
              <a:endParaRPr sz="1100">
                <a:solidFill>
                  <a:srgbClr val="334155"/>
                </a:solidFill>
                <a:latin typeface="Inter"/>
                <a:ea typeface="Inter"/>
                <a:cs typeface="Inter"/>
                <a:sym typeface="Inter"/>
              </a:endParaRPr>
            </a:p>
          </p:txBody>
        </p:sp>
      </p:grpSp>
      <p:grpSp>
        <p:nvGrpSpPr>
          <p:cNvPr id="293" name="Google Shape;293;p24"/>
          <p:cNvGrpSpPr/>
          <p:nvPr/>
        </p:nvGrpSpPr>
        <p:grpSpPr>
          <a:xfrm>
            <a:off x="4667250" y="1095375"/>
            <a:ext cx="3905400" cy="3667200"/>
            <a:chOff x="0" y="0"/>
            <a:chExt cx="3905400" cy="3667200"/>
          </a:xfrm>
        </p:grpSpPr>
        <p:sp>
          <p:nvSpPr>
            <p:cNvPr id="294" name="Google Shape;294;p24"/>
            <p:cNvSpPr/>
            <p:nvPr/>
          </p:nvSpPr>
          <p:spPr>
            <a:xfrm>
              <a:off x="0" y="0"/>
              <a:ext cx="3905400" cy="3667200"/>
            </a:xfrm>
            <a:prstGeom prst="roundRect">
              <a:avLst>
                <a:gd fmla="val 31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4"/>
            <p:cNvSpPr/>
            <p:nvPr/>
          </p:nvSpPr>
          <p:spPr>
            <a:xfrm>
              <a:off x="0" y="0"/>
              <a:ext cx="3905400" cy="477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24"/>
            <p:cNvSpPr txBox="1"/>
            <p:nvPr/>
          </p:nvSpPr>
          <p:spPr>
            <a:xfrm>
              <a:off x="228600" y="228600"/>
              <a:ext cx="3448200" cy="32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500">
                  <a:solidFill>
                    <a:srgbClr val="1E293B"/>
                  </a:solidFill>
                  <a:latin typeface="Inter"/>
                  <a:ea typeface="Inter"/>
                  <a:cs typeface="Inter"/>
                  <a:sym typeface="Inter"/>
                </a:rPr>
                <a:t>2. Background Noise in Lightweight Models</a:t>
              </a:r>
              <a:endParaRPr b="1" sz="1500">
                <a:solidFill>
                  <a:srgbClr val="1E293B"/>
                </a:solidFill>
                <a:latin typeface="Inter"/>
                <a:ea typeface="Inter"/>
                <a:cs typeface="Inter"/>
                <a:sym typeface="Inter"/>
              </a:endParaRPr>
            </a:p>
            <a:p>
              <a:pPr indent="0" lvl="0" marL="0" rtl="0" algn="l">
                <a:spcBef>
                  <a:spcPts val="900"/>
                </a:spcBef>
                <a:spcAft>
                  <a:spcPts val="0"/>
                </a:spcAft>
                <a:buNone/>
              </a:pPr>
              <a:r>
                <a:rPr b="0" lang="zh-TW" sz="1050">
                  <a:solidFill>
                    <a:srgbClr val="0369A1"/>
                  </a:solidFill>
                  <a:highlight>
                    <a:srgbClr val="F0F9FF"/>
                  </a:highlight>
                  <a:latin typeface="Inter SemiBold"/>
                  <a:ea typeface="Inter SemiBold"/>
                  <a:cs typeface="Inter SemiBold"/>
                  <a:sym typeface="Inter SemiBold"/>
                </a:rPr>
                <a:t>Lack of attention mechanism fails to filter noise effectively.</a:t>
              </a:r>
              <a:endParaRPr b="0" sz="1050">
                <a:solidFill>
                  <a:srgbClr val="0369A1"/>
                </a:solidFill>
                <a:highlight>
                  <a:srgbClr val="F0F9FF"/>
                </a:highlight>
                <a:latin typeface="Inter SemiBold"/>
                <a:ea typeface="Inter SemiBold"/>
                <a:cs typeface="Inter SemiBold"/>
                <a:sym typeface="Inter SemiBold"/>
              </a:endParaRPr>
            </a:p>
            <a:p>
              <a:pPr indent="0" lvl="0" marL="0" rtl="0" algn="l">
                <a:spcBef>
                  <a:spcPts val="1200"/>
                </a:spcBef>
                <a:spcAft>
                  <a:spcPts val="0"/>
                </a:spcAft>
                <a:buNone/>
              </a:pPr>
              <a:r>
                <a:rPr b="1" lang="zh-TW" sz="1000">
                  <a:solidFill>
                    <a:srgbClr val="475569"/>
                  </a:solidFill>
                  <a:latin typeface="Inter"/>
                  <a:ea typeface="Inter"/>
                  <a:cs typeface="Inter"/>
                  <a:sym typeface="Inter"/>
                </a:rPr>
                <a:t>Common Noise Sources</a:t>
              </a:r>
              <a:endParaRPr b="1" sz="1000">
                <a:solidFill>
                  <a:srgbClr val="475569"/>
                </a:solidFill>
                <a:latin typeface="Inter"/>
                <a:ea typeface="Inter"/>
                <a:cs typeface="Inter"/>
                <a:sym typeface="Inter"/>
              </a:endParaRPr>
            </a:p>
            <a:p>
              <a:pPr indent="-298450" lvl="0" marL="457200" rtl="0" algn="l">
                <a:spcBef>
                  <a:spcPts val="600"/>
                </a:spcBef>
                <a:spcAft>
                  <a:spcPts val="0"/>
                </a:spcAft>
                <a:buClr>
                  <a:srgbClr val="334155"/>
                </a:buClr>
                <a:buSzPts val="1100"/>
                <a:buFont typeface="Inter"/>
                <a:buChar char="●"/>
              </a:pPr>
              <a:r>
                <a:rPr b="0" lang="zh-TW" sz="1100">
                  <a:solidFill>
                    <a:srgbClr val="0F172A"/>
                  </a:solidFill>
                  <a:latin typeface="Inter SemiBold"/>
                  <a:ea typeface="Inter SemiBold"/>
                  <a:cs typeface="Inter SemiBold"/>
                  <a:sym typeface="Inter SemiBold"/>
                </a:rPr>
                <a:t>Player Equipment:</a:t>
              </a:r>
              <a:br>
                <a:rPr lang="zh-TW" sz="1100">
                  <a:solidFill>
                    <a:srgbClr val="334155"/>
                  </a:solidFill>
                  <a:latin typeface="Inter"/>
                  <a:ea typeface="Inter"/>
                  <a:cs typeface="Inter"/>
                  <a:sym typeface="Inter"/>
                </a:rPr>
              </a:br>
              <a:r>
                <a:rPr lang="zh-TW" sz="1100">
                  <a:solidFill>
                    <a:srgbClr val="64748B"/>
                  </a:solidFill>
                  <a:latin typeface="Inter"/>
                  <a:ea typeface="Inter"/>
                  <a:cs typeface="Inter"/>
                  <a:sym typeface="Inter"/>
                </a:rPr>
                <a:t>White sneakers</a:t>
              </a:r>
              <a:endParaRPr sz="1100">
                <a:solidFill>
                  <a:srgbClr val="334155"/>
                </a:solidFill>
                <a:latin typeface="Inter"/>
                <a:ea typeface="Inter"/>
                <a:cs typeface="Inter"/>
                <a:sym typeface="Inter"/>
              </a:endParaRPr>
            </a:p>
            <a:p>
              <a:pPr indent="-298450" lvl="0" marL="457200" rtl="0" algn="l">
                <a:spcBef>
                  <a:spcPts val="900"/>
                </a:spcBef>
                <a:spcAft>
                  <a:spcPts val="0"/>
                </a:spcAft>
                <a:buClr>
                  <a:srgbClr val="334155"/>
                </a:buClr>
                <a:buSzPts val="1100"/>
                <a:buFont typeface="Inter"/>
                <a:buChar char="●"/>
              </a:pPr>
              <a:r>
                <a:rPr b="0" lang="zh-TW" sz="1100">
                  <a:solidFill>
                    <a:srgbClr val="0F172A"/>
                  </a:solidFill>
                  <a:latin typeface="Inter SemiBold"/>
                  <a:ea typeface="Inter SemiBold"/>
                  <a:cs typeface="Inter SemiBold"/>
                  <a:sym typeface="Inter SemiBold"/>
                </a:rPr>
                <a:t>Arena Signage:</a:t>
              </a:r>
              <a:br>
                <a:rPr lang="zh-TW" sz="1100">
                  <a:solidFill>
                    <a:srgbClr val="334155"/>
                  </a:solidFill>
                  <a:latin typeface="Inter"/>
                  <a:ea typeface="Inter"/>
                  <a:cs typeface="Inter"/>
                  <a:sym typeface="Inter"/>
                </a:rPr>
              </a:br>
              <a:r>
                <a:rPr lang="zh-TW" sz="1100">
                  <a:solidFill>
                    <a:srgbClr val="64748B"/>
                  </a:solidFill>
                  <a:latin typeface="Inter"/>
                  <a:ea typeface="Inter"/>
                  <a:cs typeface="Inter"/>
                  <a:sym typeface="Inter"/>
                </a:rPr>
                <a:t>Courtside ad banners</a:t>
              </a:r>
              <a:endParaRPr sz="1100">
                <a:solidFill>
                  <a:srgbClr val="334155"/>
                </a:solidFill>
                <a:latin typeface="Inter"/>
                <a:ea typeface="Inter"/>
                <a:cs typeface="Inter"/>
                <a:sym typeface="Inter"/>
              </a:endParaRPr>
            </a:p>
            <a:p>
              <a:pPr indent="-298450" lvl="0" marL="457200" rtl="0" algn="l">
                <a:spcBef>
                  <a:spcPts val="900"/>
                </a:spcBef>
                <a:spcAft>
                  <a:spcPts val="0"/>
                </a:spcAft>
                <a:buClr>
                  <a:srgbClr val="334155"/>
                </a:buClr>
                <a:buSzPts val="1100"/>
                <a:buFont typeface="Inter"/>
                <a:buChar char="●"/>
              </a:pPr>
              <a:r>
                <a:rPr b="0" lang="zh-TW" sz="1100">
                  <a:solidFill>
                    <a:srgbClr val="0F172A"/>
                  </a:solidFill>
                  <a:latin typeface="Inter SemiBold"/>
                  <a:ea typeface="Inter SemiBold"/>
                  <a:cs typeface="Inter SemiBold"/>
                  <a:sym typeface="Inter SemiBold"/>
                </a:rPr>
                <a:t>Court Markings:</a:t>
              </a:r>
              <a:br>
                <a:rPr lang="zh-TW" sz="1100">
                  <a:solidFill>
                    <a:srgbClr val="334155"/>
                  </a:solidFill>
                  <a:latin typeface="Inter"/>
                  <a:ea typeface="Inter"/>
                  <a:cs typeface="Inter"/>
                  <a:sym typeface="Inter"/>
                </a:rPr>
              </a:br>
              <a:r>
                <a:rPr lang="zh-TW" sz="1100">
                  <a:solidFill>
                    <a:srgbClr val="64748B"/>
                  </a:solidFill>
                  <a:latin typeface="Inter"/>
                  <a:ea typeface="Inter"/>
                  <a:cs typeface="Inter"/>
                  <a:sym typeface="Inter"/>
                </a:rPr>
                <a:t>Court floor white lines</a:t>
              </a:r>
              <a:endParaRPr sz="1100">
                <a:solidFill>
                  <a:srgbClr val="334155"/>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0" name="Shape 300"/>
        <p:cNvGrpSpPr/>
        <p:nvPr/>
      </p:nvGrpSpPr>
      <p:grpSpPr>
        <a:xfrm>
          <a:off x="0" y="0"/>
          <a:ext cx="0" cy="0"/>
          <a:chOff x="0" y="0"/>
          <a:chExt cx="0" cy="0"/>
        </a:xfrm>
      </p:grpSpPr>
      <p:grpSp>
        <p:nvGrpSpPr>
          <p:cNvPr id="301" name="Google Shape;301;p25"/>
          <p:cNvGrpSpPr/>
          <p:nvPr/>
        </p:nvGrpSpPr>
        <p:grpSpPr>
          <a:xfrm>
            <a:off x="-476250" y="-857250"/>
            <a:ext cx="10477500" cy="6381750"/>
            <a:chOff x="-476250" y="-857250"/>
            <a:chExt cx="10477500" cy="6381750"/>
          </a:xfrm>
        </p:grpSpPr>
        <p:sp>
          <p:nvSpPr>
            <p:cNvPr id="302" name="Google Shape;302;p2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2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5" name="Google Shape;305;p25"/>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Methodology</a:t>
            </a:r>
            <a:endParaRPr b="1" sz="4400">
              <a:solidFill>
                <a:srgbClr val="1E293B"/>
              </a:solidFill>
              <a:latin typeface="Oswald"/>
              <a:ea typeface="Oswald"/>
              <a:cs typeface="Oswald"/>
              <a:sym typeface="Oswald"/>
            </a:endParaRPr>
          </a:p>
        </p:txBody>
      </p:sp>
      <p:sp>
        <p:nvSpPr>
          <p:cNvPr id="306" name="Google Shape;306;p25"/>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0" name="Shape 310"/>
        <p:cNvGrpSpPr/>
        <p:nvPr/>
      </p:nvGrpSpPr>
      <p:grpSpPr>
        <a:xfrm>
          <a:off x="0" y="0"/>
          <a:ext cx="0" cy="0"/>
          <a:chOff x="0" y="0"/>
          <a:chExt cx="0" cy="0"/>
        </a:xfrm>
      </p:grpSpPr>
      <p:sp>
        <p:nvSpPr>
          <p:cNvPr id="311" name="Google Shape;311;p26"/>
          <p:cNvSpPr txBox="1"/>
          <p:nvPr>
            <p:ph type="title"/>
          </p:nvPr>
        </p:nvSpPr>
        <p:spPr>
          <a:xfrm>
            <a:off x="381000" y="209550"/>
            <a:ext cx="8382000" cy="5526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100">
                <a:solidFill>
                  <a:srgbClr val="0F172A"/>
                </a:solidFill>
                <a:latin typeface="Inter"/>
                <a:ea typeface="Inter"/>
                <a:cs typeface="Inter"/>
                <a:sym typeface="Inter"/>
              </a:rPr>
              <a:t>Proposed Approach &amp; Key Features </a:t>
            </a:r>
            <a:r>
              <a:rPr b="0" lang="zh-TW" sz="1450">
                <a:solidFill>
                  <a:srgbClr val="2563EB"/>
                </a:solidFill>
                <a:latin typeface="Inter Medium"/>
                <a:ea typeface="Inter Medium"/>
                <a:cs typeface="Inter Medium"/>
                <a:sym typeface="Inter Medium"/>
              </a:rPr>
              <a:t>(Proposed Approach)</a:t>
            </a:r>
            <a:endParaRPr b="1" sz="2100">
              <a:solidFill>
                <a:srgbClr val="0F172A"/>
              </a:solidFill>
              <a:latin typeface="Inter"/>
              <a:ea typeface="Inter"/>
              <a:cs typeface="Inter"/>
              <a:sym typeface="Inter"/>
            </a:endParaRPr>
          </a:p>
          <a:p>
            <a:pPr indent="0" lvl="0" marL="0" rtl="0" algn="l">
              <a:spcBef>
                <a:spcPts val="300"/>
              </a:spcBef>
              <a:spcAft>
                <a:spcPts val="0"/>
              </a:spcAft>
              <a:buNone/>
            </a:pPr>
            <a:r>
              <a:rPr b="0" lang="zh-TW" sz="1000">
                <a:solidFill>
                  <a:srgbClr val="64748B"/>
                </a:solidFill>
                <a:latin typeface="Inter"/>
                <a:ea typeface="Inter"/>
                <a:cs typeface="Inter"/>
                <a:sym typeface="Inter"/>
              </a:rPr>
              <a:t>Dual-Engine Hybrid Tracking: Balancing High-Speed Out-of-Bounds Prevention and Lightweight Anti-Noise Capability</a:t>
            </a:r>
            <a:endParaRPr b="0" sz="1000">
              <a:solidFill>
                <a:srgbClr val="64748B"/>
              </a:solidFill>
              <a:latin typeface="Inter"/>
              <a:ea typeface="Inter"/>
              <a:cs typeface="Inter"/>
              <a:sym typeface="Inter"/>
            </a:endParaRPr>
          </a:p>
        </p:txBody>
      </p:sp>
      <p:grpSp>
        <p:nvGrpSpPr>
          <p:cNvPr id="312" name="Google Shape;312;p26"/>
          <p:cNvGrpSpPr/>
          <p:nvPr/>
        </p:nvGrpSpPr>
        <p:grpSpPr>
          <a:xfrm>
            <a:off x="0" y="-857250"/>
            <a:ext cx="10001250" cy="2857500"/>
            <a:chOff x="0" y="-857250"/>
            <a:chExt cx="10001250" cy="2857500"/>
          </a:xfrm>
        </p:grpSpPr>
        <p:sp>
          <p:nvSpPr>
            <p:cNvPr id="313" name="Google Shape;313;p2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6"/>
            <p:cNvSpPr/>
            <p:nvPr/>
          </p:nvSpPr>
          <p:spPr>
            <a:xfrm>
              <a:off x="0" y="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6"/>
            <p:cNvSpPr/>
            <p:nvPr/>
          </p:nvSpPr>
          <p:spPr>
            <a:xfrm>
              <a:off x="381000" y="8096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316" name="Google Shape;316;p26"/>
          <p:cNvPicPr preferRelativeResize="0"/>
          <p:nvPr/>
        </p:nvPicPr>
        <p:blipFill>
          <a:blip r:embed="rId4">
            <a:alphaModFix/>
          </a:blip>
          <a:stretch>
            <a:fillRect/>
          </a:stretch>
        </p:blipFill>
        <p:spPr>
          <a:xfrm>
            <a:off x="816538" y="966525"/>
            <a:ext cx="7510926" cy="4041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grpSp>
        <p:nvGrpSpPr>
          <p:cNvPr id="321" name="Google Shape;321;p27"/>
          <p:cNvGrpSpPr/>
          <p:nvPr/>
        </p:nvGrpSpPr>
        <p:grpSpPr>
          <a:xfrm>
            <a:off x="-476250" y="-857250"/>
            <a:ext cx="10477500" cy="6381750"/>
            <a:chOff x="-476250" y="-857250"/>
            <a:chExt cx="10477500" cy="6381750"/>
          </a:xfrm>
        </p:grpSpPr>
        <p:sp>
          <p:nvSpPr>
            <p:cNvPr id="322" name="Google Shape;322;p2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5" name="Google Shape;325;p27"/>
          <p:cNvSpPr txBox="1"/>
          <p:nvPr>
            <p:ph type="title"/>
          </p:nvPr>
        </p:nvSpPr>
        <p:spPr>
          <a:xfrm>
            <a:off x="571500" y="1918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Dual Engines &amp; Dynamic Switching</a:t>
            </a:r>
            <a:endParaRPr b="1" sz="4400">
              <a:solidFill>
                <a:srgbClr val="1E293B"/>
              </a:solidFill>
              <a:latin typeface="Oswald"/>
              <a:ea typeface="Oswald"/>
              <a:cs typeface="Oswald"/>
              <a:sym typeface="Oswald"/>
            </a:endParaRPr>
          </a:p>
        </p:txBody>
      </p:sp>
      <p:pic>
        <p:nvPicPr>
          <p:cNvPr id="326" name="Google Shape;326;p27"/>
          <p:cNvPicPr preferRelativeResize="0"/>
          <p:nvPr/>
        </p:nvPicPr>
        <p:blipFill>
          <a:blip r:embed="rId4">
            <a:alphaModFix/>
          </a:blip>
          <a:stretch>
            <a:fillRect/>
          </a:stretch>
        </p:blipFill>
        <p:spPr>
          <a:xfrm>
            <a:off x="2304045" y="1668845"/>
            <a:ext cx="4535900" cy="286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0" name="Shape 330"/>
        <p:cNvGrpSpPr/>
        <p:nvPr/>
      </p:nvGrpSpPr>
      <p:grpSpPr>
        <a:xfrm>
          <a:off x="0" y="0"/>
          <a:ext cx="0" cy="0"/>
          <a:chOff x="0" y="0"/>
          <a:chExt cx="0" cy="0"/>
        </a:xfrm>
      </p:grpSpPr>
      <p:grpSp>
        <p:nvGrpSpPr>
          <p:cNvPr id="331" name="Google Shape;331;p28"/>
          <p:cNvGrpSpPr/>
          <p:nvPr/>
        </p:nvGrpSpPr>
        <p:grpSpPr>
          <a:xfrm>
            <a:off x="-762000" y="-952500"/>
            <a:ext cx="10382250" cy="6667500"/>
            <a:chOff x="-762000" y="-952500"/>
            <a:chExt cx="10382250" cy="6667500"/>
          </a:xfrm>
        </p:grpSpPr>
        <p:sp>
          <p:nvSpPr>
            <p:cNvPr id="332" name="Google Shape;332;p28"/>
            <p:cNvSpPr/>
            <p:nvPr/>
          </p:nvSpPr>
          <p:spPr>
            <a:xfrm>
              <a:off x="6572250" y="-952500"/>
              <a:ext cx="3048000" cy="3048000"/>
            </a:xfrm>
            <a:prstGeom prst="ellipse">
              <a:avLst/>
            </a:prstGeom>
            <a:solidFill>
              <a:srgbClr val="3B82F6">
                <a:alpha val="4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8"/>
            <p:cNvSpPr/>
            <p:nvPr/>
          </p:nvSpPr>
          <p:spPr>
            <a:xfrm>
              <a:off x="-762000" y="3429000"/>
              <a:ext cx="2286000" cy="2286000"/>
            </a:xfrm>
            <a:prstGeom prst="ellipse">
              <a:avLst/>
            </a:prstGeom>
            <a:solidFill>
              <a:srgbClr val="3B82F6">
                <a:alpha val="4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8"/>
            <p:cNvSpPr/>
            <p:nvPr/>
          </p:nvSpPr>
          <p:spPr>
            <a:xfrm>
              <a:off x="0" y="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8"/>
            <p:cNvSpPr/>
            <p:nvPr/>
          </p:nvSpPr>
          <p:spPr>
            <a:xfrm>
              <a:off x="381000" y="9048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6" name="Google Shape;336;p28"/>
          <p:cNvSpPr txBox="1"/>
          <p:nvPr/>
        </p:nvSpPr>
        <p:spPr>
          <a:xfrm>
            <a:off x="381000" y="190500"/>
            <a:ext cx="58104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2000">
                <a:solidFill>
                  <a:srgbClr val="0F172A"/>
                </a:solidFill>
                <a:latin typeface="Inter"/>
                <a:ea typeface="Inter"/>
                <a:cs typeface="Inter"/>
                <a:sym typeface="Inter"/>
              </a:rPr>
              <a:t>Single Weight Reuse</a:t>
            </a:r>
            <a:endParaRPr b="1" sz="2000">
              <a:solidFill>
                <a:srgbClr val="0F172A"/>
              </a:solidFill>
              <a:latin typeface="Inter"/>
              <a:ea typeface="Inter"/>
              <a:cs typeface="Inter"/>
              <a:sym typeface="Inter"/>
            </a:endParaRPr>
          </a:p>
          <a:p>
            <a:pPr indent="0" lvl="0" marL="0" rtl="0" algn="l">
              <a:spcBef>
                <a:spcPts val="150"/>
              </a:spcBef>
              <a:spcAft>
                <a:spcPts val="0"/>
              </a:spcAft>
              <a:buNone/>
            </a:pPr>
            <a:r>
              <a:rPr b="0" lang="zh-TW" sz="950">
                <a:solidFill>
                  <a:srgbClr val="64748B"/>
                </a:solidFill>
                <a:latin typeface="Inter"/>
                <a:ea typeface="Inter"/>
                <a:cs typeface="Inter"/>
                <a:sym typeface="Inter"/>
              </a:rPr>
              <a:t>Multi-Scale Tracking via U-Net Architecture &amp; Space-for-Time Strategy</a:t>
            </a:r>
            <a:endParaRPr b="0" sz="950">
              <a:solidFill>
                <a:srgbClr val="64748B"/>
              </a:solidFill>
              <a:latin typeface="Inter"/>
              <a:ea typeface="Inter"/>
              <a:cs typeface="Inter"/>
              <a:sym typeface="Inter"/>
            </a:endParaRPr>
          </a:p>
        </p:txBody>
      </p:sp>
      <p:sp>
        <p:nvSpPr>
          <p:cNvPr id="337" name="Google Shape;337;p28"/>
          <p:cNvSpPr txBox="1"/>
          <p:nvPr/>
        </p:nvSpPr>
        <p:spPr>
          <a:xfrm>
            <a:off x="381000" y="1028700"/>
            <a:ext cx="5810400" cy="362100"/>
          </a:xfrm>
          <a:prstGeom prst="rect">
            <a:avLst/>
          </a:prstGeom>
          <a:noFill/>
          <a:ln>
            <a:noFill/>
          </a:ln>
        </p:spPr>
        <p:txBody>
          <a:bodyPr anchorCtr="0" anchor="t" bIns="76200" lIns="133350" spcFirstLastPara="1" rIns="133350" wrap="square" tIns="76200">
            <a:noAutofit/>
          </a:bodyPr>
          <a:lstStyle/>
          <a:p>
            <a:pPr indent="0" lvl="0" marL="0" rtl="0" algn="l">
              <a:spcBef>
                <a:spcPts val="0"/>
              </a:spcBef>
              <a:spcAft>
                <a:spcPts val="0"/>
              </a:spcAft>
              <a:buNone/>
            </a:pPr>
            <a:r>
              <a:rPr b="1" lang="zh-TW" sz="1065">
                <a:solidFill>
                  <a:srgbClr val="991B1B"/>
                </a:solidFill>
                <a:latin typeface="Inter"/>
                <a:ea typeface="Inter"/>
                <a:cs typeface="Inter"/>
                <a:sym typeface="Inter"/>
              </a:rPr>
              <a:t>💡 </a:t>
            </a:r>
            <a:r>
              <a:rPr b="1" lang="zh-TW" sz="1065">
                <a:solidFill>
                  <a:srgbClr val="991B1B"/>
                </a:solidFill>
                <a:latin typeface="Inter"/>
                <a:ea typeface="Inter"/>
                <a:cs typeface="Inter"/>
                <a:sym typeface="Inter"/>
              </a:rPr>
              <a:t>Since we need a global search mechanism, we must first address how it is derived and how to integrate the weights across two different scales.</a:t>
            </a:r>
            <a:endParaRPr b="1" sz="1065">
              <a:solidFill>
                <a:srgbClr val="991B1B"/>
              </a:solidFill>
              <a:latin typeface="Inter"/>
              <a:ea typeface="Inter"/>
              <a:cs typeface="Inter"/>
              <a:sym typeface="Inter"/>
            </a:endParaRPr>
          </a:p>
        </p:txBody>
      </p:sp>
      <p:grpSp>
        <p:nvGrpSpPr>
          <p:cNvPr id="338" name="Google Shape;338;p28"/>
          <p:cNvGrpSpPr/>
          <p:nvPr/>
        </p:nvGrpSpPr>
        <p:grpSpPr>
          <a:xfrm>
            <a:off x="376238" y="1500188"/>
            <a:ext cx="5819700" cy="733500"/>
            <a:chOff x="-4762" y="-4762"/>
            <a:chExt cx="5819700" cy="733500"/>
          </a:xfrm>
        </p:grpSpPr>
        <p:pic>
          <p:nvPicPr>
            <p:cNvPr id="339" name="Google Shape;339;p28"/>
            <p:cNvPicPr preferRelativeResize="0"/>
            <p:nvPr/>
          </p:nvPicPr>
          <p:blipFill rotWithShape="1">
            <a:blip r:embed="rId3">
              <a:alphaModFix/>
            </a:blip>
            <a:srcRect b="0" l="0" r="0" t="0"/>
            <a:stretch/>
          </p:blipFill>
          <p:spPr>
            <a:xfrm>
              <a:off x="-4762" y="-4762"/>
              <a:ext cx="5819700" cy="733500"/>
            </a:xfrm>
            <a:prstGeom prst="rect">
              <a:avLst/>
            </a:prstGeom>
            <a:noFill/>
            <a:ln>
              <a:noFill/>
            </a:ln>
          </p:spPr>
        </p:pic>
        <p:sp>
          <p:nvSpPr>
            <p:cNvPr id="340" name="Google Shape;340;p28"/>
            <p:cNvSpPr/>
            <p:nvPr/>
          </p:nvSpPr>
          <p:spPr>
            <a:xfrm>
              <a:off x="0" y="0"/>
              <a:ext cx="47700" cy="7239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8"/>
            <p:cNvSpPr txBox="1"/>
            <p:nvPr/>
          </p:nvSpPr>
          <p:spPr>
            <a:xfrm>
              <a:off x="152400" y="95250"/>
              <a:ext cx="55245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600">
                  <a:solidFill>
                    <a:srgbClr val="2563EB"/>
                  </a:solidFill>
                  <a:latin typeface="Material Icons"/>
                  <a:ea typeface="Material Icons"/>
                  <a:cs typeface="Material Icons"/>
                  <a:sym typeface="Material Icons"/>
                </a:rPr>
                <a:t>layers</a:t>
              </a:r>
              <a:r>
                <a:rPr b="1" lang="zh-TW" sz="1200">
                  <a:solidFill>
                    <a:srgbClr val="1E3A8A"/>
                  </a:solidFill>
                  <a:latin typeface="Inter"/>
                  <a:ea typeface="Inter"/>
                  <a:cs typeface="Inter"/>
                  <a:sym typeface="Inter"/>
                </a:rPr>
                <a:t> U-Net / FCN &amp; Space-for-Time Strategy</a:t>
              </a:r>
              <a:endParaRPr b="1" sz="1200">
                <a:solidFill>
                  <a:srgbClr val="1E3A8A"/>
                </a:solidFill>
                <a:latin typeface="Inter"/>
                <a:ea typeface="Inter"/>
                <a:cs typeface="Inter"/>
                <a:sym typeface="Inter"/>
              </a:endParaRPr>
            </a:p>
            <a:p>
              <a:pPr indent="0" lvl="0" marL="0" rtl="0" algn="l">
                <a:spcBef>
                  <a:spcPts val="300"/>
                </a:spcBef>
                <a:spcAft>
                  <a:spcPts val="0"/>
                </a:spcAft>
                <a:buNone/>
              </a:pPr>
              <a:r>
                <a:rPr b="0" lang="zh-TW" sz="765">
                  <a:solidFill>
                    <a:srgbClr val="334155"/>
                  </a:solidFill>
                  <a:latin typeface="Inter"/>
                  <a:ea typeface="Inter"/>
                  <a:cs typeface="Inter"/>
                  <a:sym typeface="Inter"/>
                </a:rPr>
                <a:t>Built on </a:t>
              </a:r>
              <a:r>
                <a:rPr b="1" lang="zh-TW" sz="765">
                  <a:solidFill>
                    <a:srgbClr val="334155"/>
                  </a:solidFill>
                  <a:latin typeface="Inter"/>
                  <a:ea typeface="Inter"/>
                  <a:cs typeface="Inter"/>
                  <a:sym typeface="Inter"/>
                </a:rPr>
                <a:t>U-Net</a:t>
              </a:r>
              <a:r>
                <a:rPr b="0" lang="zh-TW" sz="765">
                  <a:solidFill>
                    <a:srgbClr val="334155"/>
                  </a:solidFill>
                  <a:latin typeface="Inter"/>
                  <a:ea typeface="Inter"/>
                  <a:cs typeface="Inter"/>
                  <a:sym typeface="Inter"/>
                </a:rPr>
                <a:t> (inherently an FCN architecture), leveraging resolution invariance to train a single model. A "space-for-time" engineering strategy eliminates edge deployment switching latency.</a:t>
              </a:r>
              <a:endParaRPr b="0" sz="765">
                <a:solidFill>
                  <a:srgbClr val="334155"/>
                </a:solidFill>
                <a:latin typeface="Inter"/>
                <a:ea typeface="Inter"/>
                <a:cs typeface="Inter"/>
                <a:sym typeface="Inter"/>
              </a:endParaRPr>
            </a:p>
          </p:txBody>
        </p:sp>
      </p:grpSp>
      <p:grpSp>
        <p:nvGrpSpPr>
          <p:cNvPr id="342" name="Google Shape;342;p28"/>
          <p:cNvGrpSpPr/>
          <p:nvPr/>
        </p:nvGrpSpPr>
        <p:grpSpPr>
          <a:xfrm>
            <a:off x="371475" y="2352675"/>
            <a:ext cx="2857500" cy="2324100"/>
            <a:chOff x="-9525" y="-9525"/>
            <a:chExt cx="2857500" cy="2324100"/>
          </a:xfrm>
        </p:grpSpPr>
        <p:pic>
          <p:nvPicPr>
            <p:cNvPr id="343" name="Google Shape;343;p28"/>
            <p:cNvPicPr preferRelativeResize="0"/>
            <p:nvPr/>
          </p:nvPicPr>
          <p:blipFill rotWithShape="1">
            <a:blip r:embed="rId4">
              <a:alphaModFix/>
            </a:blip>
            <a:srcRect b="0" l="0" r="0" t="0"/>
            <a:stretch/>
          </p:blipFill>
          <p:spPr>
            <a:xfrm>
              <a:off x="-9525" y="-9525"/>
              <a:ext cx="2857500" cy="2324100"/>
            </a:xfrm>
            <a:prstGeom prst="rect">
              <a:avLst/>
            </a:prstGeom>
            <a:noFill/>
            <a:ln>
              <a:noFill/>
            </a:ln>
          </p:spPr>
        </p:pic>
        <p:sp>
          <p:nvSpPr>
            <p:cNvPr id="344" name="Google Shape;344;p28"/>
            <p:cNvSpPr/>
            <p:nvPr/>
          </p:nvSpPr>
          <p:spPr>
            <a:xfrm>
              <a:off x="0" y="0"/>
              <a:ext cx="2838600" cy="477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8"/>
            <p:cNvSpPr txBox="1"/>
            <p:nvPr/>
          </p:nvSpPr>
          <p:spPr>
            <a:xfrm>
              <a:off x="152400" y="152400"/>
              <a:ext cx="25338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zh-TW" sz="1600">
                  <a:solidFill>
                    <a:srgbClr val="2563EB"/>
                  </a:solidFill>
                  <a:latin typeface="Material Icons"/>
                  <a:ea typeface="Material Icons"/>
                  <a:cs typeface="Material Icons"/>
                  <a:sym typeface="Material Icons"/>
                </a:rPr>
                <a:t>memory</a:t>
              </a:r>
              <a:endParaRPr sz="1600">
                <a:solidFill>
                  <a:srgbClr val="2563EB"/>
                </a:solidFill>
                <a:latin typeface="Material Icons"/>
                <a:ea typeface="Material Icons"/>
                <a:cs typeface="Material Icons"/>
                <a:sym typeface="Material Icons"/>
              </a:endParaRPr>
            </a:p>
            <a:p>
              <a:pPr indent="0" lvl="0" marL="0" rtl="0" algn="l">
                <a:spcBef>
                  <a:spcPts val="150"/>
                </a:spcBef>
                <a:spcAft>
                  <a:spcPts val="0"/>
                </a:spcAft>
                <a:buNone/>
              </a:pPr>
              <a:r>
                <a:rPr b="1" lang="zh-TW" sz="1300">
                  <a:solidFill>
                    <a:srgbClr val="0F172A"/>
                  </a:solidFill>
                  <a:latin typeface="Inter"/>
                  <a:ea typeface="Inter"/>
                  <a:cs typeface="Inter"/>
                  <a:sym typeface="Inter"/>
                </a:rPr>
                <a:t>Algorithm Side</a:t>
              </a:r>
              <a:endParaRPr b="1" sz="1300">
                <a:solidFill>
                  <a:srgbClr val="0F172A"/>
                </a:solidFill>
                <a:latin typeface="Inter"/>
                <a:ea typeface="Inter"/>
                <a:cs typeface="Inter"/>
                <a:sym typeface="Inter"/>
              </a:endParaRPr>
            </a:p>
            <a:p>
              <a:pPr indent="0" lvl="0" marL="0" rtl="0" algn="l">
                <a:spcBef>
                  <a:spcPts val="75"/>
                </a:spcBef>
                <a:spcAft>
                  <a:spcPts val="0"/>
                </a:spcAft>
                <a:buNone/>
              </a:pPr>
              <a:r>
                <a:rPr b="0" lang="zh-TW" sz="765">
                  <a:solidFill>
                    <a:srgbClr val="2563EB"/>
                  </a:solidFill>
                  <a:latin typeface="Inter SemiBold"/>
                  <a:ea typeface="Inter SemiBold"/>
                  <a:cs typeface="Inter SemiBold"/>
                  <a:sym typeface="Inter SemiBold"/>
                </a:rPr>
                <a:t>Single Weight Reuse</a:t>
              </a:r>
              <a:endParaRPr b="0" sz="765">
                <a:solidFill>
                  <a:srgbClr val="2563EB"/>
                </a:solidFill>
                <a:latin typeface="Inter SemiBold"/>
                <a:ea typeface="Inter SemiBold"/>
                <a:cs typeface="Inter SemiBold"/>
                <a:sym typeface="Inter SemiBold"/>
              </a:endParaRPr>
            </a:p>
            <a:p>
              <a:pPr indent="0" lvl="0" marL="0" rtl="0" algn="l">
                <a:spcBef>
                  <a:spcPts val="600"/>
                </a:spcBef>
                <a:spcAft>
                  <a:spcPts val="0"/>
                </a:spcAft>
                <a:buNone/>
              </a:pPr>
              <a:r>
                <a:rPr b="0" lang="zh-TW" sz="765">
                  <a:solidFill>
                    <a:srgbClr val="334155"/>
                  </a:solidFill>
                  <a:latin typeface="Inter"/>
                  <a:ea typeface="Inter"/>
                  <a:cs typeface="Inter"/>
                  <a:sym typeface="Inter"/>
                </a:rPr>
                <a:t>A single set of lightweight weights seamlessly adapts to both </a:t>
              </a:r>
              <a:r>
                <a:rPr b="1" lang="zh-TW" sz="765">
                  <a:solidFill>
                    <a:srgbClr val="334155"/>
                  </a:solidFill>
                  <a:latin typeface="Inter"/>
                  <a:ea typeface="Inter"/>
                  <a:cs typeface="Inter"/>
                  <a:sym typeface="Inter"/>
                </a:rPr>
                <a:t>128×128 Local Cruise</a:t>
              </a:r>
              <a:r>
                <a:rPr b="0" lang="zh-TW" sz="765">
                  <a:solidFill>
                    <a:srgbClr val="334155"/>
                  </a:solidFill>
                  <a:latin typeface="Inter"/>
                  <a:ea typeface="Inter"/>
                  <a:cs typeface="Inter"/>
                  <a:sym typeface="Inter"/>
                </a:rPr>
                <a:t> and </a:t>
              </a:r>
              <a:r>
                <a:rPr b="1" lang="zh-TW" sz="765">
                  <a:solidFill>
                    <a:srgbClr val="334155"/>
                  </a:solidFill>
                  <a:latin typeface="Inter"/>
                  <a:ea typeface="Inter"/>
                  <a:cs typeface="Inter"/>
                  <a:sym typeface="Inter"/>
                </a:rPr>
                <a:t>512×288 Global Search</a:t>
              </a:r>
              <a:r>
                <a:rPr b="0" lang="zh-TW" sz="765">
                  <a:solidFill>
                    <a:srgbClr val="334155"/>
                  </a:solidFill>
                  <a:latin typeface="Inter"/>
                  <a:ea typeface="Inter"/>
                  <a:cs typeface="Inter"/>
                  <a:sym typeface="Inter"/>
                </a:rPr>
                <a:t>.</a:t>
              </a:r>
              <a:endParaRPr b="0" sz="765">
                <a:solidFill>
                  <a:srgbClr val="334155"/>
                </a:solidFill>
                <a:latin typeface="Inter"/>
                <a:ea typeface="Inter"/>
                <a:cs typeface="Inter"/>
                <a:sym typeface="Inter"/>
              </a:endParaRPr>
            </a:p>
            <a:p>
              <a:pPr indent="0" lvl="0" marL="0" rtl="0" algn="l">
                <a:spcBef>
                  <a:spcPts val="0"/>
                </a:spcBef>
                <a:spcAft>
                  <a:spcPts val="0"/>
                </a:spcAft>
                <a:buNone/>
              </a:pPr>
              <a:r>
                <a:rPr b="0" lang="zh-TW" sz="850">
                  <a:solidFill>
                    <a:srgbClr val="1E40AF"/>
                  </a:solidFill>
                  <a:latin typeface="Inter SemiBold"/>
                  <a:ea typeface="Inter SemiBold"/>
                  <a:cs typeface="Inter SemiBold"/>
                  <a:sym typeface="Inter SemiBold"/>
                </a:rPr>
                <a:t>✨ Eliminates cost of designing &amp; training two separate networks.</a:t>
              </a:r>
              <a:endParaRPr b="0" sz="850">
                <a:solidFill>
                  <a:srgbClr val="1E40AF"/>
                </a:solidFill>
                <a:latin typeface="Inter SemiBold"/>
                <a:ea typeface="Inter SemiBold"/>
                <a:cs typeface="Inter SemiBold"/>
                <a:sym typeface="Inter SemiBold"/>
              </a:endParaRPr>
            </a:p>
          </p:txBody>
        </p:sp>
      </p:grpSp>
      <p:grpSp>
        <p:nvGrpSpPr>
          <p:cNvPr id="346" name="Google Shape;346;p28"/>
          <p:cNvGrpSpPr/>
          <p:nvPr/>
        </p:nvGrpSpPr>
        <p:grpSpPr>
          <a:xfrm>
            <a:off x="3343275" y="2352675"/>
            <a:ext cx="2857500" cy="2324100"/>
            <a:chOff x="-9525" y="-9525"/>
            <a:chExt cx="2857500" cy="2324100"/>
          </a:xfrm>
        </p:grpSpPr>
        <p:pic>
          <p:nvPicPr>
            <p:cNvPr id="347" name="Google Shape;347;p28"/>
            <p:cNvPicPr preferRelativeResize="0"/>
            <p:nvPr/>
          </p:nvPicPr>
          <p:blipFill rotWithShape="1">
            <a:blip r:embed="rId4">
              <a:alphaModFix/>
            </a:blip>
            <a:srcRect b="0" l="0" r="0" t="0"/>
            <a:stretch/>
          </p:blipFill>
          <p:spPr>
            <a:xfrm>
              <a:off x="-9525" y="-9525"/>
              <a:ext cx="2857500" cy="2324100"/>
            </a:xfrm>
            <a:prstGeom prst="rect">
              <a:avLst/>
            </a:prstGeom>
            <a:noFill/>
            <a:ln>
              <a:noFill/>
            </a:ln>
          </p:spPr>
        </p:pic>
        <p:sp>
          <p:nvSpPr>
            <p:cNvPr id="348" name="Google Shape;348;p28"/>
            <p:cNvSpPr/>
            <p:nvPr/>
          </p:nvSpPr>
          <p:spPr>
            <a:xfrm>
              <a:off x="0" y="0"/>
              <a:ext cx="2838600" cy="477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8"/>
            <p:cNvSpPr txBox="1"/>
            <p:nvPr/>
          </p:nvSpPr>
          <p:spPr>
            <a:xfrm>
              <a:off x="152400" y="152400"/>
              <a:ext cx="25338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zh-TW" sz="1600">
                  <a:solidFill>
                    <a:srgbClr val="0D9488"/>
                  </a:solidFill>
                  <a:latin typeface="Material Icons"/>
                  <a:ea typeface="Material Icons"/>
                  <a:cs typeface="Material Icons"/>
                  <a:sym typeface="Material Icons"/>
                </a:rPr>
                <a:t>developer_board</a:t>
              </a:r>
              <a:endParaRPr sz="1600">
                <a:solidFill>
                  <a:srgbClr val="0D9488"/>
                </a:solidFill>
                <a:latin typeface="Material Icons"/>
                <a:ea typeface="Material Icons"/>
                <a:cs typeface="Material Icons"/>
                <a:sym typeface="Material Icons"/>
              </a:endParaRPr>
            </a:p>
            <a:p>
              <a:pPr indent="0" lvl="0" marL="0" rtl="0" algn="l">
                <a:spcBef>
                  <a:spcPts val="150"/>
                </a:spcBef>
                <a:spcAft>
                  <a:spcPts val="0"/>
                </a:spcAft>
                <a:buNone/>
              </a:pPr>
              <a:r>
                <a:rPr b="1" lang="zh-TW" sz="1300">
                  <a:solidFill>
                    <a:srgbClr val="0F172A"/>
                  </a:solidFill>
                  <a:latin typeface="Inter"/>
                  <a:ea typeface="Inter"/>
                  <a:cs typeface="Inter"/>
                  <a:sym typeface="Inter"/>
                </a:rPr>
                <a:t>Hardware Side</a:t>
              </a:r>
              <a:endParaRPr b="1" sz="1300">
                <a:solidFill>
                  <a:srgbClr val="0F172A"/>
                </a:solidFill>
                <a:latin typeface="Inter"/>
                <a:ea typeface="Inter"/>
                <a:cs typeface="Inter"/>
                <a:sym typeface="Inter"/>
              </a:endParaRPr>
            </a:p>
            <a:p>
              <a:pPr indent="0" lvl="0" marL="0" rtl="0" algn="l">
                <a:spcBef>
                  <a:spcPts val="75"/>
                </a:spcBef>
                <a:spcAft>
                  <a:spcPts val="0"/>
                </a:spcAft>
                <a:buNone/>
              </a:pPr>
              <a:r>
                <a:rPr b="0" lang="zh-TW" sz="765">
                  <a:solidFill>
                    <a:srgbClr val="0D9488"/>
                  </a:solidFill>
                  <a:latin typeface="Inter SemiBold"/>
                  <a:ea typeface="Inter SemiBold"/>
                  <a:cs typeface="Inter SemiBold"/>
                  <a:sym typeface="Inter SemiBold"/>
                </a:rPr>
                <a:t>Dual Fixed Engine Deployment</a:t>
              </a:r>
              <a:endParaRPr b="0" sz="765">
                <a:solidFill>
                  <a:srgbClr val="0D9488"/>
                </a:solidFill>
                <a:latin typeface="Inter SemiBold"/>
                <a:ea typeface="Inter SemiBold"/>
                <a:cs typeface="Inter SemiBold"/>
                <a:sym typeface="Inter SemiBold"/>
              </a:endParaRPr>
            </a:p>
            <a:p>
              <a:pPr indent="0" lvl="0" marL="0" rtl="0" algn="l">
                <a:spcBef>
                  <a:spcPts val="600"/>
                </a:spcBef>
                <a:spcAft>
                  <a:spcPts val="0"/>
                </a:spcAft>
                <a:buNone/>
              </a:pPr>
              <a:r>
                <a:rPr b="0" lang="zh-TW" sz="765">
                  <a:solidFill>
                    <a:srgbClr val="334155"/>
                  </a:solidFill>
                  <a:latin typeface="Inter"/>
                  <a:ea typeface="Inter"/>
                  <a:cs typeface="Inter"/>
                  <a:sym typeface="Inter"/>
                </a:rPr>
                <a:t>Loads two fixed-size </a:t>
              </a:r>
              <a:r>
                <a:rPr b="1" lang="zh-TW" sz="765">
                  <a:solidFill>
                    <a:srgbClr val="334155"/>
                  </a:solidFill>
                  <a:latin typeface="Inter"/>
                  <a:ea typeface="Inter"/>
                  <a:cs typeface="Inter"/>
                  <a:sym typeface="Inter"/>
                </a:rPr>
                <a:t>TensorRT engines</a:t>
              </a:r>
              <a:r>
                <a:rPr b="0" lang="zh-TW" sz="765">
                  <a:solidFill>
                    <a:srgbClr val="334155"/>
                  </a:solidFill>
                  <a:latin typeface="Inter"/>
                  <a:ea typeface="Inter"/>
                  <a:cs typeface="Inter"/>
                  <a:sym typeface="Inter"/>
                </a:rPr>
                <a:t> on Jetson Nano (4GB), avoiding GPU reallocation latency.</a:t>
              </a:r>
              <a:endParaRPr b="0" sz="765">
                <a:solidFill>
                  <a:srgbClr val="334155"/>
                </a:solidFill>
                <a:latin typeface="Inter"/>
                <a:ea typeface="Inter"/>
                <a:cs typeface="Inter"/>
                <a:sym typeface="Inter"/>
              </a:endParaRPr>
            </a:p>
            <a:p>
              <a:pPr indent="0" lvl="0" marL="0" rtl="0" algn="l">
                <a:spcBef>
                  <a:spcPts val="0"/>
                </a:spcBef>
                <a:spcAft>
                  <a:spcPts val="0"/>
                </a:spcAft>
                <a:buNone/>
              </a:pPr>
              <a:r>
                <a:rPr b="0" lang="zh-TW" sz="850">
                  <a:solidFill>
                    <a:srgbClr val="0F766E"/>
                  </a:solidFill>
                  <a:latin typeface="Inter SemiBold"/>
                  <a:ea typeface="Inter SemiBold"/>
                  <a:cs typeface="Inter SemiBold"/>
                  <a:sym typeface="Inter SemiBold"/>
                </a:rPr>
                <a:t>⚡ End-to-end latency &lt; 33 ms (&gt; 30 FPS real-time inference).</a:t>
              </a:r>
              <a:endParaRPr b="0" sz="850">
                <a:solidFill>
                  <a:srgbClr val="0F766E"/>
                </a:solidFill>
                <a:latin typeface="Inter SemiBold"/>
                <a:ea typeface="Inter SemiBold"/>
                <a:cs typeface="Inter SemiBold"/>
                <a:sym typeface="Inter SemiBold"/>
              </a:endParaRPr>
            </a:p>
          </p:txBody>
        </p:sp>
      </p:grpSp>
      <p:pic>
        <p:nvPicPr>
          <p:cNvPr id="350" name="Google Shape;350;p28"/>
          <p:cNvPicPr preferRelativeResize="0"/>
          <p:nvPr/>
        </p:nvPicPr>
        <p:blipFill>
          <a:blip r:embed="rId5">
            <a:alphaModFix/>
          </a:blip>
          <a:stretch>
            <a:fillRect/>
          </a:stretch>
        </p:blipFill>
        <p:spPr>
          <a:xfrm>
            <a:off x="6414650" y="58325"/>
            <a:ext cx="2729351" cy="5021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29"/>
          <p:cNvGrpSpPr/>
          <p:nvPr/>
        </p:nvGrpSpPr>
        <p:grpSpPr>
          <a:xfrm>
            <a:off x="571500" y="809775"/>
            <a:ext cx="4286400" cy="661416"/>
            <a:chOff x="0" y="0"/>
            <a:chExt cx="4286400" cy="609600"/>
          </a:xfrm>
        </p:grpSpPr>
        <p:sp>
          <p:nvSpPr>
            <p:cNvPr id="356" name="Google Shape;356;p29"/>
            <p:cNvSpPr/>
            <p:nvPr/>
          </p:nvSpPr>
          <p:spPr>
            <a:xfrm>
              <a:off x="0" y="0"/>
              <a:ext cx="4286400" cy="609600"/>
            </a:xfrm>
            <a:prstGeom prst="roundRect">
              <a:avLst>
                <a:gd fmla="val 125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9"/>
            <p:cNvSpPr/>
            <p:nvPr/>
          </p:nvSpPr>
          <p:spPr>
            <a:xfrm>
              <a:off x="0" y="0"/>
              <a:ext cx="38100" cy="6096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9"/>
            <p:cNvSpPr txBox="1"/>
            <p:nvPr/>
          </p:nvSpPr>
          <p:spPr>
            <a:xfrm>
              <a:off x="133350" y="38100"/>
              <a:ext cx="4057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000">
                  <a:solidFill>
                    <a:srgbClr val="3B82F6"/>
                  </a:solidFill>
                  <a:latin typeface="Inter"/>
                  <a:ea typeface="Inter"/>
                  <a:cs typeface="Inter"/>
                  <a:sym typeface="Inter"/>
                </a:rPr>
                <a:t>00 </a:t>
              </a:r>
              <a:r>
                <a:rPr b="1" lang="zh-TW" sz="1000">
                  <a:solidFill>
                    <a:srgbClr val="1E293B"/>
                  </a:solidFill>
                  <a:latin typeface="Inter"/>
                  <a:ea typeface="Inter"/>
                  <a:cs typeface="Inter"/>
                  <a:sym typeface="Inter"/>
                </a:rPr>
                <a:t>Phase 0: Initial Point Acquisition</a:t>
              </a:r>
              <a:endParaRPr b="1" sz="1000">
                <a:solidFill>
                  <a:srgbClr val="3B82F6"/>
                </a:solidFill>
                <a:latin typeface="Inter"/>
                <a:ea typeface="Inter"/>
                <a:cs typeface="Inter"/>
                <a:sym typeface="Inter"/>
              </a:endParaRPr>
            </a:p>
            <a:p>
              <a:pPr indent="0" lvl="0" marL="0" rtl="0" algn="l">
                <a:spcBef>
                  <a:spcPts val="200"/>
                </a:spcBef>
                <a:spcAft>
                  <a:spcPts val="0"/>
                </a:spcAft>
                <a:buNone/>
              </a:pPr>
              <a:r>
                <a:rPr b="0" lang="zh-TW" sz="850">
                  <a:solidFill>
                    <a:srgbClr val="64748B"/>
                  </a:solidFill>
                  <a:latin typeface="Inter"/>
                  <a:ea typeface="Inter"/>
                  <a:cs typeface="Inter"/>
                  <a:sym typeface="Inter"/>
                </a:rPr>
                <a:t>When no shuttlecock coordinates exist initially, global search is used to acquire the first coordinate.</a:t>
              </a:r>
              <a:endParaRPr b="0" sz="850">
                <a:solidFill>
                  <a:srgbClr val="64748B"/>
                </a:solidFill>
                <a:latin typeface="Inter"/>
                <a:ea typeface="Inter"/>
                <a:cs typeface="Inter"/>
                <a:sym typeface="Inter"/>
              </a:endParaRPr>
            </a:p>
          </p:txBody>
        </p:sp>
      </p:grpSp>
      <p:grpSp>
        <p:nvGrpSpPr>
          <p:cNvPr id="359" name="Google Shape;359;p29"/>
          <p:cNvGrpSpPr/>
          <p:nvPr/>
        </p:nvGrpSpPr>
        <p:grpSpPr>
          <a:xfrm>
            <a:off x="571500" y="1587200"/>
            <a:ext cx="4286400" cy="609600"/>
            <a:chOff x="0" y="0"/>
            <a:chExt cx="4286400" cy="609600"/>
          </a:xfrm>
        </p:grpSpPr>
        <p:sp>
          <p:nvSpPr>
            <p:cNvPr id="360" name="Google Shape;360;p29"/>
            <p:cNvSpPr/>
            <p:nvPr/>
          </p:nvSpPr>
          <p:spPr>
            <a:xfrm>
              <a:off x="0" y="0"/>
              <a:ext cx="4286400" cy="609600"/>
            </a:xfrm>
            <a:prstGeom prst="roundRect">
              <a:avLst>
                <a:gd fmla="val 125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9"/>
            <p:cNvSpPr/>
            <p:nvPr/>
          </p:nvSpPr>
          <p:spPr>
            <a:xfrm>
              <a:off x="0" y="0"/>
              <a:ext cx="38100" cy="6096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9"/>
            <p:cNvSpPr txBox="1"/>
            <p:nvPr/>
          </p:nvSpPr>
          <p:spPr>
            <a:xfrm>
              <a:off x="133350" y="38100"/>
              <a:ext cx="4057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000">
                  <a:solidFill>
                    <a:srgbClr val="10B981"/>
                  </a:solidFill>
                  <a:latin typeface="Inter"/>
                  <a:ea typeface="Inter"/>
                  <a:cs typeface="Inter"/>
                  <a:sym typeface="Inter"/>
                </a:rPr>
                <a:t>01 </a:t>
              </a:r>
              <a:r>
                <a:rPr b="1" lang="zh-TW" sz="1000">
                  <a:solidFill>
                    <a:srgbClr val="1E293B"/>
                  </a:solidFill>
                  <a:latin typeface="Inter"/>
                  <a:ea typeface="Inter"/>
                  <a:cs typeface="Inter"/>
                  <a:sym typeface="Inter"/>
                </a:rPr>
                <a:t>Phase 1: Local Cruise &amp; Monitor</a:t>
              </a:r>
              <a:endParaRPr b="1" sz="1000">
                <a:solidFill>
                  <a:srgbClr val="10B981"/>
                </a:solidFill>
                <a:latin typeface="Inter"/>
                <a:ea typeface="Inter"/>
                <a:cs typeface="Inter"/>
                <a:sym typeface="Inter"/>
              </a:endParaRPr>
            </a:p>
            <a:p>
              <a:pPr indent="0" lvl="0" marL="0" rtl="0" algn="l">
                <a:spcBef>
                  <a:spcPts val="200"/>
                </a:spcBef>
                <a:spcAft>
                  <a:spcPts val="0"/>
                </a:spcAft>
                <a:buNone/>
              </a:pPr>
              <a:r>
                <a:rPr b="0" lang="zh-TW" sz="850">
                  <a:solidFill>
                    <a:srgbClr val="64748B"/>
                  </a:solidFill>
                  <a:latin typeface="Inter"/>
                  <a:ea typeface="Inter"/>
                  <a:cs typeface="Inter"/>
                  <a:sym typeface="Inter"/>
                </a:rPr>
                <a:t>Execute 128 × 128 local inference. If heatmap peak confidence ≥ preset Threshold, maintain local tracking.</a:t>
              </a:r>
              <a:endParaRPr b="0" sz="850">
                <a:solidFill>
                  <a:srgbClr val="64748B"/>
                </a:solidFill>
                <a:latin typeface="Inter"/>
                <a:ea typeface="Inter"/>
                <a:cs typeface="Inter"/>
                <a:sym typeface="Inter"/>
              </a:endParaRPr>
            </a:p>
          </p:txBody>
        </p:sp>
      </p:grpSp>
      <p:grpSp>
        <p:nvGrpSpPr>
          <p:cNvPr id="363" name="Google Shape;363;p29"/>
          <p:cNvGrpSpPr/>
          <p:nvPr/>
        </p:nvGrpSpPr>
        <p:grpSpPr>
          <a:xfrm>
            <a:off x="571500" y="2355700"/>
            <a:ext cx="4286400" cy="609600"/>
            <a:chOff x="0" y="0"/>
            <a:chExt cx="4286400" cy="609600"/>
          </a:xfrm>
        </p:grpSpPr>
        <p:sp>
          <p:nvSpPr>
            <p:cNvPr id="364" name="Google Shape;364;p29"/>
            <p:cNvSpPr/>
            <p:nvPr/>
          </p:nvSpPr>
          <p:spPr>
            <a:xfrm>
              <a:off x="0" y="0"/>
              <a:ext cx="4286400" cy="609600"/>
            </a:xfrm>
            <a:prstGeom prst="roundRect">
              <a:avLst>
                <a:gd fmla="val 125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9"/>
            <p:cNvSpPr/>
            <p:nvPr/>
          </p:nvSpPr>
          <p:spPr>
            <a:xfrm>
              <a:off x="0" y="0"/>
              <a:ext cx="38100" cy="6096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9"/>
            <p:cNvSpPr txBox="1"/>
            <p:nvPr/>
          </p:nvSpPr>
          <p:spPr>
            <a:xfrm>
              <a:off x="133350" y="38100"/>
              <a:ext cx="4057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000">
                  <a:solidFill>
                    <a:srgbClr val="EF4444"/>
                  </a:solidFill>
                  <a:latin typeface="Inter"/>
                  <a:ea typeface="Inter"/>
                  <a:cs typeface="Inter"/>
                  <a:sym typeface="Inter"/>
                </a:rPr>
                <a:t>02 </a:t>
              </a:r>
              <a:r>
                <a:rPr b="1" lang="zh-TW" sz="1000">
                  <a:solidFill>
                    <a:srgbClr val="1E293B"/>
                  </a:solidFill>
                  <a:latin typeface="Inter"/>
                  <a:ea typeface="Inter"/>
                  <a:cs typeface="Inter"/>
                  <a:sym typeface="Inter"/>
                </a:rPr>
                <a:t>Phase 2: Out-of-Frame &amp; Rescue</a:t>
              </a:r>
              <a:endParaRPr b="1" sz="1000">
                <a:solidFill>
                  <a:srgbClr val="EF4444"/>
                </a:solidFill>
                <a:latin typeface="Inter"/>
                <a:ea typeface="Inter"/>
                <a:cs typeface="Inter"/>
                <a:sym typeface="Inter"/>
              </a:endParaRPr>
            </a:p>
            <a:p>
              <a:pPr indent="0" lvl="0" marL="0" rtl="0" algn="l">
                <a:spcBef>
                  <a:spcPts val="200"/>
                </a:spcBef>
                <a:spcAft>
                  <a:spcPts val="0"/>
                </a:spcAft>
                <a:buNone/>
              </a:pPr>
              <a:r>
                <a:rPr b="0" lang="zh-TW" sz="850">
                  <a:solidFill>
                    <a:srgbClr val="64748B"/>
                  </a:solidFill>
                  <a:latin typeface="Inter"/>
                  <a:ea typeface="Inter"/>
                  <a:cs typeface="Inter"/>
                  <a:sym typeface="Inter"/>
                </a:rPr>
                <a:t>Accumulate lost frames when confidence &lt; Threshold. Reaching limit (Miss 3) triggers out-of-frame state and expands input to global search.</a:t>
              </a:r>
              <a:endParaRPr b="0" sz="850">
                <a:solidFill>
                  <a:srgbClr val="64748B"/>
                </a:solidFill>
                <a:latin typeface="Inter"/>
                <a:ea typeface="Inter"/>
                <a:cs typeface="Inter"/>
                <a:sym typeface="Inter"/>
              </a:endParaRPr>
            </a:p>
          </p:txBody>
        </p:sp>
      </p:grpSp>
      <p:grpSp>
        <p:nvGrpSpPr>
          <p:cNvPr id="367" name="Google Shape;367;p29"/>
          <p:cNvGrpSpPr/>
          <p:nvPr/>
        </p:nvGrpSpPr>
        <p:grpSpPr>
          <a:xfrm>
            <a:off x="571500" y="3124200"/>
            <a:ext cx="4286400" cy="609600"/>
            <a:chOff x="0" y="0"/>
            <a:chExt cx="4286400" cy="609600"/>
          </a:xfrm>
        </p:grpSpPr>
        <p:sp>
          <p:nvSpPr>
            <p:cNvPr id="368" name="Google Shape;368;p29"/>
            <p:cNvSpPr/>
            <p:nvPr/>
          </p:nvSpPr>
          <p:spPr>
            <a:xfrm>
              <a:off x="0" y="0"/>
              <a:ext cx="4286400" cy="609600"/>
            </a:xfrm>
            <a:prstGeom prst="roundRect">
              <a:avLst>
                <a:gd fmla="val 125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9"/>
            <p:cNvSpPr/>
            <p:nvPr/>
          </p:nvSpPr>
          <p:spPr>
            <a:xfrm>
              <a:off x="0" y="0"/>
              <a:ext cx="38100" cy="6096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9"/>
            <p:cNvSpPr txBox="1"/>
            <p:nvPr/>
          </p:nvSpPr>
          <p:spPr>
            <a:xfrm>
              <a:off x="133350" y="38100"/>
              <a:ext cx="4057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000">
                  <a:solidFill>
                    <a:srgbClr val="0D9488"/>
                  </a:solidFill>
                  <a:latin typeface="Inter"/>
                  <a:ea typeface="Inter"/>
                  <a:cs typeface="Inter"/>
                  <a:sym typeface="Inter"/>
                </a:rPr>
                <a:t>03 </a:t>
              </a:r>
              <a:r>
                <a:rPr b="1" lang="zh-TW" sz="1000">
                  <a:solidFill>
                    <a:srgbClr val="1E293B"/>
                  </a:solidFill>
                  <a:latin typeface="Inter"/>
                  <a:ea typeface="Inter"/>
                  <a:cs typeface="Inter"/>
                  <a:sym typeface="Inter"/>
                </a:rPr>
                <a:t>Phase 3: Re-acquisition &amp; Handover</a:t>
              </a:r>
              <a:endParaRPr b="1" sz="1000">
                <a:solidFill>
                  <a:srgbClr val="0D9488"/>
                </a:solidFill>
                <a:latin typeface="Inter"/>
                <a:ea typeface="Inter"/>
                <a:cs typeface="Inter"/>
                <a:sym typeface="Inter"/>
              </a:endParaRPr>
            </a:p>
            <a:p>
              <a:pPr indent="0" lvl="0" marL="0" rtl="0" algn="l">
                <a:spcBef>
                  <a:spcPts val="200"/>
                </a:spcBef>
                <a:spcAft>
                  <a:spcPts val="0"/>
                </a:spcAft>
                <a:buNone/>
              </a:pPr>
              <a:r>
                <a:rPr b="0" lang="zh-TW" sz="850">
                  <a:solidFill>
                    <a:srgbClr val="64748B"/>
                  </a:solidFill>
                  <a:latin typeface="Inter"/>
                  <a:ea typeface="Inter"/>
                  <a:cs typeface="Inter"/>
                  <a:sym typeface="Inter"/>
                </a:rPr>
                <a:t>Search full frame; when confidence recovers, precisely extract highest-probability pixel coordinates and switch back to local mode.</a:t>
              </a:r>
              <a:endParaRPr b="0" sz="850">
                <a:solidFill>
                  <a:srgbClr val="64748B"/>
                </a:solidFill>
                <a:latin typeface="Inter"/>
                <a:ea typeface="Inter"/>
                <a:cs typeface="Inter"/>
                <a:sym typeface="Inter"/>
              </a:endParaRPr>
            </a:p>
          </p:txBody>
        </p:sp>
      </p:grpSp>
      <p:grpSp>
        <p:nvGrpSpPr>
          <p:cNvPr id="371" name="Google Shape;371;p29"/>
          <p:cNvGrpSpPr/>
          <p:nvPr/>
        </p:nvGrpSpPr>
        <p:grpSpPr>
          <a:xfrm>
            <a:off x="-476250" y="-857250"/>
            <a:ext cx="10477500" cy="6381750"/>
            <a:chOff x="-476250" y="-857250"/>
            <a:chExt cx="10477500" cy="6381750"/>
          </a:xfrm>
        </p:grpSpPr>
        <p:sp>
          <p:nvSpPr>
            <p:cNvPr id="372" name="Google Shape;372;p2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9"/>
            <p:cNvSpPr/>
            <p:nvPr/>
          </p:nvSpPr>
          <p:spPr>
            <a:xfrm>
              <a:off x="605400" y="8097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76" name="Google Shape;376;p29"/>
          <p:cNvGrpSpPr/>
          <p:nvPr/>
        </p:nvGrpSpPr>
        <p:grpSpPr>
          <a:xfrm>
            <a:off x="571500" y="3826549"/>
            <a:ext cx="4286400" cy="993239"/>
            <a:chOff x="0" y="0"/>
            <a:chExt cx="4286400" cy="1009800"/>
          </a:xfrm>
        </p:grpSpPr>
        <p:sp>
          <p:nvSpPr>
            <p:cNvPr id="377" name="Google Shape;377;p29"/>
            <p:cNvSpPr/>
            <p:nvPr/>
          </p:nvSpPr>
          <p:spPr>
            <a:xfrm>
              <a:off x="0" y="0"/>
              <a:ext cx="4286400" cy="1009800"/>
            </a:xfrm>
            <a:prstGeom prst="roundRect">
              <a:avLst>
                <a:gd fmla="val 7547"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9"/>
            <p:cNvSpPr txBox="1"/>
            <p:nvPr/>
          </p:nvSpPr>
          <p:spPr>
            <a:xfrm>
              <a:off x="133350" y="57150"/>
              <a:ext cx="4019700" cy="895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950">
                  <a:solidFill>
                    <a:srgbClr val="DC2626"/>
                  </a:solidFill>
                  <a:latin typeface="Inter"/>
                  <a:ea typeface="Inter"/>
                  <a:cs typeface="Inter"/>
                  <a:sym typeface="Inter"/>
                </a:rPr>
                <a:t>⚠️ Switching Performance Impact</a:t>
              </a:r>
              <a:endParaRPr b="1" sz="950">
                <a:solidFill>
                  <a:srgbClr val="DC2626"/>
                </a:solidFill>
                <a:latin typeface="Inter"/>
                <a:ea typeface="Inter"/>
                <a:cs typeface="Inter"/>
                <a:sym typeface="Inter"/>
              </a:endParaRPr>
            </a:p>
            <a:p>
              <a:pPr indent="0" lvl="0" marL="0" rtl="0" algn="l">
                <a:spcBef>
                  <a:spcPts val="300"/>
                </a:spcBef>
                <a:spcAft>
                  <a:spcPts val="0"/>
                </a:spcAft>
                <a:buNone/>
              </a:pPr>
              <a:r>
                <a:rPr b="0" lang="zh-TW" sz="820">
                  <a:solidFill>
                    <a:srgbClr val="7F1D1D"/>
                  </a:solidFill>
                  <a:latin typeface="Inter"/>
                  <a:ea typeface="Inter"/>
                  <a:cs typeface="Inter"/>
                  <a:sym typeface="Inter"/>
                </a:rPr>
                <a:t>Global search causes compute area to surge (performance drops from </a:t>
              </a:r>
              <a:r>
                <a:rPr b="1" lang="zh-TW" sz="820">
                  <a:solidFill>
                    <a:srgbClr val="059669"/>
                  </a:solidFill>
                  <a:latin typeface="Inter"/>
                  <a:ea typeface="Inter"/>
                  <a:cs typeface="Inter"/>
                  <a:sym typeface="Inter"/>
                </a:rPr>
                <a:t>30.3 FPS</a:t>
              </a:r>
              <a:r>
                <a:rPr b="0" lang="zh-TW" sz="820">
                  <a:solidFill>
                    <a:srgbClr val="7F1D1D"/>
                  </a:solidFill>
                  <a:latin typeface="Inter"/>
                  <a:ea typeface="Inter"/>
                  <a:cs typeface="Inter"/>
                  <a:sym typeface="Inter"/>
                </a:rPr>
                <a:t> to </a:t>
              </a:r>
              <a:r>
                <a:rPr b="1" lang="zh-TW" sz="820">
                  <a:solidFill>
                    <a:srgbClr val="DC2626"/>
                  </a:solidFill>
                  <a:latin typeface="Inter"/>
                  <a:ea typeface="Inter"/>
                  <a:cs typeface="Inter"/>
                  <a:sym typeface="Inter"/>
                </a:rPr>
                <a:t>4.76 FPS</a:t>
              </a:r>
              <a:r>
                <a:rPr b="0" lang="zh-TW" sz="820">
                  <a:solidFill>
                    <a:srgbClr val="7F1D1D"/>
                  </a:solidFill>
                  <a:latin typeface="Inter"/>
                  <a:ea typeface="Inter"/>
                  <a:cs typeface="Inter"/>
                  <a:sym typeface="Inter"/>
                </a:rPr>
                <a:t>). Frequent switching leads to latency, requiring an extra mechanism to boost local tracking frequency.</a:t>
              </a:r>
              <a:endParaRPr b="0" sz="820">
                <a:solidFill>
                  <a:srgbClr val="7F1D1D"/>
                </a:solidFill>
                <a:latin typeface="Inter"/>
                <a:ea typeface="Inter"/>
                <a:cs typeface="Inter"/>
                <a:sym typeface="Inter"/>
              </a:endParaRPr>
            </a:p>
          </p:txBody>
        </p:sp>
      </p:grpSp>
      <p:sp>
        <p:nvSpPr>
          <p:cNvPr id="379" name="Google Shape;379;p29"/>
          <p:cNvSpPr txBox="1"/>
          <p:nvPr>
            <p:ph type="title"/>
          </p:nvPr>
        </p:nvSpPr>
        <p:spPr>
          <a:xfrm>
            <a:off x="571500" y="152400"/>
            <a:ext cx="8001000" cy="304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1860">
                <a:solidFill>
                  <a:srgbClr val="1E293B"/>
                </a:solidFill>
                <a:latin typeface="Inter"/>
                <a:ea typeface="Inter"/>
                <a:cs typeface="Inter"/>
                <a:sym typeface="Inter"/>
              </a:rPr>
              <a:t>Dual-Engine State Switching (FSM)</a:t>
            </a:r>
            <a:endParaRPr b="1" i="0" sz="1860">
              <a:solidFill>
                <a:srgbClr val="1E293B"/>
              </a:solidFill>
              <a:latin typeface="Inter"/>
              <a:ea typeface="Inter"/>
              <a:cs typeface="Inter"/>
              <a:sym typeface="Inter"/>
            </a:endParaRPr>
          </a:p>
        </p:txBody>
      </p:sp>
      <p:sp>
        <p:nvSpPr>
          <p:cNvPr id="380" name="Google Shape;380;p29"/>
          <p:cNvSpPr/>
          <p:nvPr/>
        </p:nvSpPr>
        <p:spPr>
          <a:xfrm>
            <a:off x="5029200" y="781050"/>
            <a:ext cx="3543300" cy="4038600"/>
          </a:xfrm>
          <a:prstGeom prst="roundRect">
            <a:avLst>
              <a:gd fmla="val 322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81" name="Google Shape;381;p29"/>
          <p:cNvPicPr preferRelativeResize="0"/>
          <p:nvPr/>
        </p:nvPicPr>
        <p:blipFill>
          <a:blip r:embed="rId3">
            <a:alphaModFix/>
          </a:blip>
          <a:stretch>
            <a:fillRect/>
          </a:stretch>
        </p:blipFill>
        <p:spPr>
          <a:xfrm>
            <a:off x="4892350" y="45350"/>
            <a:ext cx="4251649" cy="5008724"/>
          </a:xfrm>
          <a:prstGeom prst="rect">
            <a:avLst/>
          </a:prstGeom>
          <a:solidFill>
            <a:srgbClr val="FFFFFF"/>
          </a:solidFill>
          <a:ln cap="flat" cmpd="sng" w="9525">
            <a:solidFill>
              <a:srgbClr val="E2E8F0"/>
            </a:solidFill>
            <a:prstDash val="solid"/>
            <a:round/>
            <a:headEnd len="sm" w="sm" type="none"/>
            <a:tailEnd len="sm" w="sm" type="none"/>
          </a:ln>
        </p:spPr>
      </p:pic>
      <p:grpSp>
        <p:nvGrpSpPr>
          <p:cNvPr id="382" name="Google Shape;382;p29"/>
          <p:cNvGrpSpPr/>
          <p:nvPr/>
        </p:nvGrpSpPr>
        <p:grpSpPr>
          <a:xfrm>
            <a:off x="571500" y="476250"/>
            <a:ext cx="4286400" cy="304800"/>
            <a:chOff x="0" y="0"/>
            <a:chExt cx="4286400" cy="304800"/>
          </a:xfrm>
        </p:grpSpPr>
        <p:sp>
          <p:nvSpPr>
            <p:cNvPr id="383" name="Google Shape;383;p29"/>
            <p:cNvSpPr/>
            <p:nvPr/>
          </p:nvSpPr>
          <p:spPr>
            <a:xfrm>
              <a:off x="0" y="0"/>
              <a:ext cx="42864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9"/>
            <p:cNvSpPr txBox="1"/>
            <p:nvPr/>
          </p:nvSpPr>
          <p:spPr>
            <a:xfrm>
              <a:off x="0" y="0"/>
              <a:ext cx="428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950">
                  <a:solidFill>
                    <a:srgbClr val="991B1B"/>
                  </a:solidFill>
                  <a:latin typeface="Inter"/>
                  <a:ea typeface="Inter"/>
                  <a:cs typeface="Inter"/>
                  <a:sym typeface="Inter"/>
                </a:rPr>
                <a:t>💡 </a:t>
              </a:r>
              <a:r>
                <a:rPr b="1" i="0" lang="zh-TW" sz="1150">
                  <a:solidFill>
                    <a:srgbClr val="991B1B"/>
                  </a:solidFill>
                  <a:latin typeface="Inter"/>
                  <a:ea typeface="Inter"/>
                  <a:cs typeface="Inter"/>
                  <a:sym typeface="Inter"/>
                </a:rPr>
                <a:t>How do global search and local search mechanisms switch, and what is the timing for switching?</a:t>
              </a:r>
              <a:endParaRPr b="1" i="0" sz="1150">
                <a:solidFill>
                  <a:srgbClr val="991B1B"/>
                </a:solidFill>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8" name="Shape 388"/>
        <p:cNvGrpSpPr/>
        <p:nvPr/>
      </p:nvGrpSpPr>
      <p:grpSpPr>
        <a:xfrm>
          <a:off x="0" y="0"/>
          <a:ext cx="0" cy="0"/>
          <a:chOff x="0" y="0"/>
          <a:chExt cx="0" cy="0"/>
        </a:xfrm>
      </p:grpSpPr>
      <p:grpSp>
        <p:nvGrpSpPr>
          <p:cNvPr id="389" name="Google Shape;389;p30"/>
          <p:cNvGrpSpPr/>
          <p:nvPr/>
        </p:nvGrpSpPr>
        <p:grpSpPr>
          <a:xfrm>
            <a:off x="-476250" y="-857250"/>
            <a:ext cx="10477500" cy="6381750"/>
            <a:chOff x="-476250" y="-857250"/>
            <a:chExt cx="10477500" cy="6381750"/>
          </a:xfrm>
        </p:grpSpPr>
        <p:sp>
          <p:nvSpPr>
            <p:cNvPr id="390" name="Google Shape;390;p3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3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3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93" name="Google Shape;393;p30"/>
          <p:cNvSpPr txBox="1"/>
          <p:nvPr>
            <p:ph type="title"/>
          </p:nvPr>
        </p:nvSpPr>
        <p:spPr>
          <a:xfrm>
            <a:off x="571500" y="1918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Kalman Filter Rescue Module</a:t>
            </a:r>
            <a:endParaRPr b="1" sz="4400">
              <a:solidFill>
                <a:srgbClr val="1E293B"/>
              </a:solidFill>
              <a:latin typeface="Oswald"/>
              <a:ea typeface="Oswald"/>
              <a:cs typeface="Oswald"/>
              <a:sym typeface="Oswald"/>
            </a:endParaRPr>
          </a:p>
        </p:txBody>
      </p:sp>
      <p:pic>
        <p:nvPicPr>
          <p:cNvPr id="394" name="Google Shape;394;p30"/>
          <p:cNvPicPr preferRelativeResize="0"/>
          <p:nvPr/>
        </p:nvPicPr>
        <p:blipFill>
          <a:blip r:embed="rId4">
            <a:alphaModFix/>
          </a:blip>
          <a:stretch>
            <a:fillRect/>
          </a:stretch>
        </p:blipFill>
        <p:spPr>
          <a:xfrm>
            <a:off x="2905125" y="1472375"/>
            <a:ext cx="3714750" cy="3200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1"/>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3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3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3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31"/>
          <p:cNvSpPr/>
          <p:nvPr/>
        </p:nvSpPr>
        <p:spPr>
          <a:xfrm>
            <a:off x="571500" y="8382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31"/>
          <p:cNvSpPr txBox="1"/>
          <p:nvPr/>
        </p:nvSpPr>
        <p:spPr>
          <a:xfrm>
            <a:off x="571500" y="190500"/>
            <a:ext cx="80010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2200">
                <a:solidFill>
                  <a:srgbClr val="1E293B"/>
                </a:solidFill>
                <a:latin typeface="Inter"/>
                <a:ea typeface="Inter"/>
                <a:cs typeface="Inter"/>
                <a:sym typeface="Inter"/>
              </a:rPr>
              <a:t>Kalman Filter Mechanism </a:t>
            </a:r>
            <a:r>
              <a:rPr b="0" lang="zh-TW" sz="1400">
                <a:solidFill>
                  <a:srgbClr val="3B82F6"/>
                </a:solidFill>
                <a:latin typeface="Inter Medium"/>
                <a:ea typeface="Inter Medium"/>
                <a:cs typeface="Inter Medium"/>
                <a:sym typeface="Inter Medium"/>
              </a:rPr>
              <a:t>(Performance Oscillation &amp; Latency Mitigation)</a:t>
            </a:r>
            <a:endParaRPr/>
          </a:p>
        </p:txBody>
      </p:sp>
      <p:sp>
        <p:nvSpPr>
          <p:cNvPr id="405" name="Google Shape;405;p31"/>
          <p:cNvSpPr txBox="1"/>
          <p:nvPr/>
        </p:nvSpPr>
        <p:spPr>
          <a:xfrm>
            <a:off x="571500" y="495300"/>
            <a:ext cx="8001000" cy="3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zh-TW" sz="971">
                <a:solidFill>
                  <a:srgbClr val="DC2626"/>
                </a:solidFill>
                <a:latin typeface="Inter"/>
                <a:ea typeface="Inter"/>
                <a:cs typeface="Inter"/>
                <a:sym typeface="Inter"/>
              </a:rPr>
              <a:t>⚠️ When target out-of-frame triggers global rescue, input area expands 9×; frequent mode switching causes severe performance oscillation and latency spikes.</a:t>
            </a:r>
            <a:endParaRPr b="1" i="0" sz="971">
              <a:solidFill>
                <a:srgbClr val="DC2626"/>
              </a:solidFill>
              <a:latin typeface="Inter"/>
              <a:ea typeface="Inter"/>
              <a:cs typeface="Inter"/>
              <a:sym typeface="Inter"/>
            </a:endParaRPr>
          </a:p>
        </p:txBody>
      </p:sp>
      <p:grpSp>
        <p:nvGrpSpPr>
          <p:cNvPr id="406" name="Google Shape;406;p31"/>
          <p:cNvGrpSpPr/>
          <p:nvPr/>
        </p:nvGrpSpPr>
        <p:grpSpPr>
          <a:xfrm>
            <a:off x="571500" y="1000125"/>
            <a:ext cx="1942425" cy="3905400"/>
            <a:chOff x="0" y="0"/>
            <a:chExt cx="1942425" cy="3905400"/>
          </a:xfrm>
        </p:grpSpPr>
        <p:sp>
          <p:nvSpPr>
            <p:cNvPr id="407" name="Google Shape;407;p31"/>
            <p:cNvSpPr/>
            <p:nvPr/>
          </p:nvSpPr>
          <p:spPr>
            <a:xfrm>
              <a:off x="0" y="0"/>
              <a:ext cx="1905000" cy="39054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08" name="Google Shape;408;p31"/>
            <p:cNvPicPr preferRelativeResize="0"/>
            <p:nvPr/>
          </p:nvPicPr>
          <p:blipFill/>
          <p:spPr>
            <a:xfrm>
              <a:off x="47625" y="47625"/>
              <a:ext cx="1894800" cy="2571900"/>
            </a:xfrm>
            <a:prstGeom prst="roundRect">
              <a:avLst>
                <a:gd fmla="val 4210" name="adj"/>
              </a:avLst>
            </a:prstGeom>
            <a:noFill/>
            <a:ln>
              <a:noFill/>
            </a:ln>
          </p:spPr>
        </p:pic>
        <p:sp>
          <p:nvSpPr>
            <p:cNvPr id="409" name="Google Shape;409;p31"/>
            <p:cNvSpPr/>
            <p:nvPr/>
          </p:nvSpPr>
          <p:spPr>
            <a:xfrm>
              <a:off x="95250" y="142875"/>
              <a:ext cx="571500" cy="190500"/>
            </a:xfrm>
            <a:prstGeom prst="roundRect">
              <a:avLst>
                <a:gd fmla="val 2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31"/>
            <p:cNvSpPr txBox="1"/>
            <p:nvPr/>
          </p:nvSpPr>
          <p:spPr>
            <a:xfrm>
              <a:off x="95250" y="142875"/>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zh-TW" sz="750">
                  <a:solidFill>
                    <a:srgbClr val="FFFFFF"/>
                  </a:solidFill>
                  <a:latin typeface="Inter SemiBold"/>
                  <a:ea typeface="Inter SemiBold"/>
                  <a:cs typeface="Inter SemiBold"/>
                  <a:sym typeface="Inter SemiBold"/>
                </a:rPr>
                <a:t>STEP 01</a:t>
              </a:r>
              <a:endParaRPr/>
            </a:p>
          </p:txBody>
        </p:sp>
        <p:sp>
          <p:nvSpPr>
            <p:cNvPr id="411" name="Google Shape;411;p31"/>
            <p:cNvSpPr/>
            <p:nvPr/>
          </p:nvSpPr>
          <p:spPr>
            <a:xfrm>
              <a:off x="95250" y="2933700"/>
              <a:ext cx="1714500" cy="876300"/>
            </a:xfrm>
            <a:prstGeom prst="roundRect">
              <a:avLst>
                <a:gd fmla="val 8695" name="adj"/>
              </a:avLst>
            </a:prstGeom>
            <a:solidFill>
              <a:srgbClr val="F0F9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31"/>
            <p:cNvSpPr txBox="1"/>
            <p:nvPr/>
          </p:nvSpPr>
          <p:spPr>
            <a:xfrm>
              <a:off x="171450" y="2990850"/>
              <a:ext cx="15621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833">
                  <a:solidFill>
                    <a:srgbClr val="0284C7"/>
                  </a:solidFill>
                  <a:latin typeface="Inter"/>
                  <a:ea typeface="Inter"/>
                  <a:cs typeface="Inter"/>
                  <a:sym typeface="Inter"/>
                </a:rPr>
                <a:t>Phase 1: Stable Tracking</a:t>
              </a:r>
              <a:endParaRPr b="1" i="0" sz="833">
                <a:solidFill>
                  <a:srgbClr val="0284C7"/>
                </a:solidFill>
                <a:latin typeface="Inter"/>
                <a:ea typeface="Inter"/>
                <a:cs typeface="Inter"/>
                <a:sym typeface="Inter"/>
              </a:endParaRPr>
            </a:p>
            <a:p>
              <a:pPr indent="0" lvl="0" marL="0" rtl="0" algn="l">
                <a:spcBef>
                  <a:spcPts val="150"/>
                </a:spcBef>
                <a:spcAft>
                  <a:spcPts val="0"/>
                </a:spcAft>
                <a:buNone/>
              </a:pPr>
              <a:r>
                <a:rPr b="1" i="0" lang="zh-TW" sz="925">
                  <a:solidFill>
                    <a:srgbClr val="0F172A"/>
                  </a:solidFill>
                  <a:latin typeface="Inter"/>
                  <a:ea typeface="Inter"/>
                  <a:cs typeface="Inter"/>
                  <a:sym typeface="Inter"/>
                </a:rPr>
                <a:t>Local Cruise (Track 1)</a:t>
              </a:r>
              <a:endParaRPr b="1" i="0" sz="833">
                <a:solidFill>
                  <a:srgbClr val="0284C7"/>
                </a:solidFill>
                <a:latin typeface="Inter"/>
                <a:ea typeface="Inter"/>
                <a:cs typeface="Inter"/>
                <a:sym typeface="Inter"/>
              </a:endParaRPr>
            </a:p>
            <a:p>
              <a:pPr indent="0" lvl="0" marL="0" rtl="0" algn="l">
                <a:spcBef>
                  <a:spcPts val="300"/>
                </a:spcBef>
                <a:spcAft>
                  <a:spcPts val="0"/>
                </a:spcAft>
                <a:buNone/>
              </a:pPr>
              <a:r>
                <a:rPr b="0" i="0" lang="zh-TW" sz="700">
                  <a:solidFill>
                    <a:srgbClr val="475569"/>
                  </a:solidFill>
                  <a:latin typeface="Inter"/>
                  <a:ea typeface="Inter"/>
                  <a:cs typeface="Inter"/>
                  <a:sym typeface="Inter"/>
                </a:rPr>
                <a:t>Captures shuttlecock position while updating KF direction vector &amp; velocity (128×128 high-FPS).</a:t>
              </a:r>
              <a:endParaRPr b="1" i="0" sz="700">
                <a:solidFill>
                  <a:srgbClr val="0284C7"/>
                </a:solidFill>
                <a:latin typeface="Inter"/>
                <a:ea typeface="Inter"/>
                <a:cs typeface="Inter"/>
                <a:sym typeface="Inter"/>
              </a:endParaRPr>
            </a:p>
          </p:txBody>
        </p:sp>
      </p:grpSp>
      <p:grpSp>
        <p:nvGrpSpPr>
          <p:cNvPr id="413" name="Google Shape;413;p31"/>
          <p:cNvGrpSpPr/>
          <p:nvPr/>
        </p:nvGrpSpPr>
        <p:grpSpPr>
          <a:xfrm>
            <a:off x="2562225" y="1000125"/>
            <a:ext cx="1943100" cy="3905400"/>
            <a:chOff x="-38100" y="0"/>
            <a:chExt cx="1943100" cy="3905400"/>
          </a:xfrm>
        </p:grpSpPr>
        <p:sp>
          <p:nvSpPr>
            <p:cNvPr id="414" name="Google Shape;414;p31"/>
            <p:cNvSpPr/>
            <p:nvPr/>
          </p:nvSpPr>
          <p:spPr>
            <a:xfrm>
              <a:off x="0" y="0"/>
              <a:ext cx="1905000" cy="39054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15" name="Google Shape;415;p31"/>
            <p:cNvPicPr preferRelativeResize="0"/>
            <p:nvPr/>
          </p:nvPicPr>
          <p:blipFill/>
          <p:spPr>
            <a:xfrm>
              <a:off x="-38100" y="47625"/>
              <a:ext cx="1809600" cy="2571900"/>
            </a:xfrm>
            <a:prstGeom prst="roundRect">
              <a:avLst>
                <a:gd fmla="val 4210" name="adj"/>
              </a:avLst>
            </a:prstGeom>
            <a:noFill/>
            <a:ln>
              <a:noFill/>
            </a:ln>
          </p:spPr>
        </p:pic>
        <p:sp>
          <p:nvSpPr>
            <p:cNvPr id="416" name="Google Shape;416;p31"/>
            <p:cNvSpPr/>
            <p:nvPr/>
          </p:nvSpPr>
          <p:spPr>
            <a:xfrm>
              <a:off x="95250" y="142875"/>
              <a:ext cx="571500" cy="190500"/>
            </a:xfrm>
            <a:prstGeom prst="roundRect">
              <a:avLst>
                <a:gd fmla="val 2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31"/>
            <p:cNvSpPr txBox="1"/>
            <p:nvPr/>
          </p:nvSpPr>
          <p:spPr>
            <a:xfrm>
              <a:off x="95250" y="142875"/>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zh-TW" sz="750">
                  <a:solidFill>
                    <a:srgbClr val="FFFFFF"/>
                  </a:solidFill>
                  <a:latin typeface="Inter SemiBold"/>
                  <a:ea typeface="Inter SemiBold"/>
                  <a:cs typeface="Inter SemiBold"/>
                  <a:sym typeface="Inter SemiBold"/>
                </a:rPr>
                <a:t>STEP 02</a:t>
              </a:r>
              <a:endParaRPr/>
            </a:p>
          </p:txBody>
        </p:sp>
        <p:sp>
          <p:nvSpPr>
            <p:cNvPr id="418" name="Google Shape;418;p31"/>
            <p:cNvSpPr/>
            <p:nvPr/>
          </p:nvSpPr>
          <p:spPr>
            <a:xfrm>
              <a:off x="95250" y="2933700"/>
              <a:ext cx="1714500" cy="876300"/>
            </a:xfrm>
            <a:prstGeom prst="roundRect">
              <a:avLst>
                <a:gd fmla="val 8695" name="adj"/>
              </a:avLst>
            </a:prstGeom>
            <a:solidFill>
              <a:srgbClr val="F0F9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31"/>
            <p:cNvSpPr txBox="1"/>
            <p:nvPr/>
          </p:nvSpPr>
          <p:spPr>
            <a:xfrm>
              <a:off x="171450" y="2990850"/>
              <a:ext cx="15621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833">
                  <a:solidFill>
                    <a:srgbClr val="0284C7"/>
                  </a:solidFill>
                  <a:latin typeface="Inter"/>
                  <a:ea typeface="Inter"/>
                  <a:cs typeface="Inter"/>
                  <a:sym typeface="Inter"/>
                </a:rPr>
                <a:t>Phase 2: Continuous Lock</a:t>
              </a:r>
              <a:endParaRPr b="1" i="0" sz="833">
                <a:solidFill>
                  <a:srgbClr val="0284C7"/>
                </a:solidFill>
                <a:latin typeface="Inter"/>
                <a:ea typeface="Inter"/>
                <a:cs typeface="Inter"/>
                <a:sym typeface="Inter"/>
              </a:endParaRPr>
            </a:p>
            <a:p>
              <a:pPr indent="0" lvl="0" marL="0" rtl="0" algn="l">
                <a:spcBef>
                  <a:spcPts val="150"/>
                </a:spcBef>
                <a:spcAft>
                  <a:spcPts val="0"/>
                </a:spcAft>
                <a:buNone/>
              </a:pPr>
              <a:r>
                <a:rPr b="1" i="0" lang="zh-TW" sz="925">
                  <a:solidFill>
                    <a:srgbClr val="0F172A"/>
                  </a:solidFill>
                  <a:latin typeface="Inter"/>
                  <a:ea typeface="Inter"/>
                  <a:cs typeface="Inter"/>
                  <a:sym typeface="Inter"/>
                </a:rPr>
                <a:t>Local Cruise (Track 2)</a:t>
              </a:r>
              <a:endParaRPr b="1" i="0" sz="833">
                <a:solidFill>
                  <a:srgbClr val="0284C7"/>
                </a:solidFill>
                <a:latin typeface="Inter"/>
                <a:ea typeface="Inter"/>
                <a:cs typeface="Inter"/>
                <a:sym typeface="Inter"/>
              </a:endParaRPr>
            </a:p>
            <a:p>
              <a:pPr indent="0" lvl="0" marL="0" rtl="0" algn="l">
                <a:spcBef>
                  <a:spcPts val="300"/>
                </a:spcBef>
                <a:spcAft>
                  <a:spcPts val="0"/>
                </a:spcAft>
                <a:buNone/>
              </a:pPr>
              <a:r>
                <a:rPr b="0" i="0" lang="zh-TW" sz="700">
                  <a:solidFill>
                    <a:srgbClr val="475569"/>
                  </a:solidFill>
                  <a:latin typeface="Inter"/>
                  <a:ea typeface="Inter"/>
                  <a:cs typeface="Inter"/>
                  <a:sym typeface="Inter"/>
                </a:rPr>
                <a:t>High-confidence tracking; continuously updates KF velocity &amp; direction vector for trajectory prediction.</a:t>
              </a:r>
              <a:endParaRPr b="1" i="0" sz="700">
                <a:solidFill>
                  <a:srgbClr val="0284C7"/>
                </a:solidFill>
                <a:latin typeface="Inter"/>
                <a:ea typeface="Inter"/>
                <a:cs typeface="Inter"/>
                <a:sym typeface="Inter"/>
              </a:endParaRPr>
            </a:p>
          </p:txBody>
        </p:sp>
      </p:grpSp>
      <p:grpSp>
        <p:nvGrpSpPr>
          <p:cNvPr id="420" name="Google Shape;420;p31"/>
          <p:cNvGrpSpPr/>
          <p:nvPr/>
        </p:nvGrpSpPr>
        <p:grpSpPr>
          <a:xfrm>
            <a:off x="4600575" y="1000125"/>
            <a:ext cx="1933575" cy="3905400"/>
            <a:chOff x="-28575" y="0"/>
            <a:chExt cx="1933575" cy="3905400"/>
          </a:xfrm>
        </p:grpSpPr>
        <p:sp>
          <p:nvSpPr>
            <p:cNvPr id="421" name="Google Shape;421;p31"/>
            <p:cNvSpPr/>
            <p:nvPr/>
          </p:nvSpPr>
          <p:spPr>
            <a:xfrm>
              <a:off x="0" y="0"/>
              <a:ext cx="1905000" cy="3905400"/>
            </a:xfrm>
            <a:prstGeom prst="roundRect">
              <a:avLst>
                <a:gd fmla="val 6000" name="adj"/>
              </a:avLst>
            </a:prstGeom>
            <a:solidFill>
              <a:srgbClr val="FFFFFF"/>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22" name="Google Shape;422;p31"/>
            <p:cNvPicPr preferRelativeResize="0"/>
            <p:nvPr/>
          </p:nvPicPr>
          <p:blipFill/>
          <p:spPr>
            <a:xfrm>
              <a:off x="-28575" y="47625"/>
              <a:ext cx="1827600" cy="2571900"/>
            </a:xfrm>
            <a:prstGeom prst="roundRect">
              <a:avLst>
                <a:gd fmla="val 4210" name="adj"/>
              </a:avLst>
            </a:prstGeom>
            <a:noFill/>
            <a:ln>
              <a:noFill/>
            </a:ln>
          </p:spPr>
        </p:pic>
        <p:sp>
          <p:nvSpPr>
            <p:cNvPr id="423" name="Google Shape;423;p31"/>
            <p:cNvSpPr/>
            <p:nvPr/>
          </p:nvSpPr>
          <p:spPr>
            <a:xfrm>
              <a:off x="95250" y="142875"/>
              <a:ext cx="571500" cy="190500"/>
            </a:xfrm>
            <a:prstGeom prst="roundRect">
              <a:avLst>
                <a:gd fmla="val 2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31"/>
            <p:cNvSpPr txBox="1"/>
            <p:nvPr/>
          </p:nvSpPr>
          <p:spPr>
            <a:xfrm>
              <a:off x="95250" y="142875"/>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zh-TW" sz="750">
                  <a:solidFill>
                    <a:srgbClr val="FFFFFF"/>
                  </a:solidFill>
                  <a:latin typeface="Inter SemiBold"/>
                  <a:ea typeface="Inter SemiBold"/>
                  <a:cs typeface="Inter SemiBold"/>
                  <a:sym typeface="Inter SemiBold"/>
                </a:rPr>
                <a:t>STEP 03</a:t>
              </a:r>
              <a:endParaRPr/>
            </a:p>
          </p:txBody>
        </p:sp>
        <p:sp>
          <p:nvSpPr>
            <p:cNvPr id="425" name="Google Shape;425;p31"/>
            <p:cNvSpPr/>
            <p:nvPr/>
          </p:nvSpPr>
          <p:spPr>
            <a:xfrm>
              <a:off x="95250" y="2933700"/>
              <a:ext cx="1714500" cy="876300"/>
            </a:xfrm>
            <a:prstGeom prst="roundRect">
              <a:avLst>
                <a:gd fmla="val 8695"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31"/>
            <p:cNvSpPr txBox="1"/>
            <p:nvPr/>
          </p:nvSpPr>
          <p:spPr>
            <a:xfrm>
              <a:off x="171450" y="2990850"/>
              <a:ext cx="15621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765">
                  <a:solidFill>
                    <a:srgbClr val="DC2626"/>
                  </a:solidFill>
                  <a:latin typeface="Inter"/>
                  <a:ea typeface="Inter"/>
                  <a:cs typeface="Inter"/>
                  <a:sym typeface="Inter"/>
                </a:rPr>
                <a:t>Phase 3: Target Lost</a:t>
              </a:r>
              <a:endParaRPr b="1" i="0" sz="765">
                <a:solidFill>
                  <a:srgbClr val="DC2626"/>
                </a:solidFill>
                <a:latin typeface="Inter"/>
                <a:ea typeface="Inter"/>
                <a:cs typeface="Inter"/>
                <a:sym typeface="Inter"/>
              </a:endParaRPr>
            </a:p>
            <a:p>
              <a:pPr indent="0" lvl="0" marL="0" rtl="0" algn="l">
                <a:spcBef>
                  <a:spcPts val="150"/>
                </a:spcBef>
                <a:spcAft>
                  <a:spcPts val="0"/>
                </a:spcAft>
                <a:buNone/>
              </a:pPr>
              <a:r>
                <a:rPr b="1" i="0" lang="zh-TW" sz="850">
                  <a:solidFill>
                    <a:srgbClr val="0F172A"/>
                  </a:solidFill>
                  <a:latin typeface="Inter"/>
                  <a:ea typeface="Inter"/>
                  <a:cs typeface="Inter"/>
                  <a:sym typeface="Inter"/>
                </a:rPr>
                <a:t>Miss 1 (Detection Failure)</a:t>
              </a:r>
              <a:endParaRPr b="1" i="0" sz="765">
                <a:solidFill>
                  <a:srgbClr val="DC2626"/>
                </a:solidFill>
                <a:latin typeface="Inter"/>
                <a:ea typeface="Inter"/>
                <a:cs typeface="Inter"/>
                <a:sym typeface="Inter"/>
              </a:endParaRPr>
            </a:p>
            <a:p>
              <a:pPr indent="0" lvl="0" marL="0" rtl="0" algn="l">
                <a:spcBef>
                  <a:spcPts val="300"/>
                </a:spcBef>
                <a:spcAft>
                  <a:spcPts val="0"/>
                </a:spcAft>
                <a:buNone/>
              </a:pPr>
              <a:r>
                <a:rPr b="0" i="0" lang="zh-TW" sz="680">
                  <a:solidFill>
                    <a:srgbClr val="475569"/>
                  </a:solidFill>
                  <a:latin typeface="Inter"/>
                  <a:ea typeface="Inter"/>
                  <a:cs typeface="Inter"/>
                  <a:sym typeface="Inter"/>
                </a:rPr>
                <a:t>Shuttlecock blends into background causing confidence drop; triggers miss count without full-frame search (below Miss 3).</a:t>
              </a:r>
              <a:endParaRPr b="1" i="0" sz="680">
                <a:solidFill>
                  <a:srgbClr val="DC2626"/>
                </a:solidFill>
                <a:latin typeface="Inter"/>
                <a:ea typeface="Inter"/>
                <a:cs typeface="Inter"/>
                <a:sym typeface="Inter"/>
              </a:endParaRPr>
            </a:p>
          </p:txBody>
        </p:sp>
      </p:grpSp>
      <p:grpSp>
        <p:nvGrpSpPr>
          <p:cNvPr id="427" name="Google Shape;427;p31"/>
          <p:cNvGrpSpPr/>
          <p:nvPr/>
        </p:nvGrpSpPr>
        <p:grpSpPr>
          <a:xfrm>
            <a:off x="6553200" y="1000125"/>
            <a:ext cx="2009775" cy="3905400"/>
            <a:chOff x="-104775" y="0"/>
            <a:chExt cx="2009775" cy="3905400"/>
          </a:xfrm>
        </p:grpSpPr>
        <p:sp>
          <p:nvSpPr>
            <p:cNvPr id="428" name="Google Shape;428;p31"/>
            <p:cNvSpPr/>
            <p:nvPr/>
          </p:nvSpPr>
          <p:spPr>
            <a:xfrm>
              <a:off x="0" y="0"/>
              <a:ext cx="1905000" cy="3905400"/>
            </a:xfrm>
            <a:prstGeom prst="roundRect">
              <a:avLst>
                <a:gd fmla="val 6000" name="adj"/>
              </a:avLst>
            </a:prstGeom>
            <a:solidFill>
              <a:srgbClr val="FFFFFF"/>
            </a:solidFill>
            <a:ln cap="flat" cmpd="sng" w="9525">
              <a:solidFill>
                <a:srgbClr val="6EE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29" name="Google Shape;429;p31"/>
            <p:cNvPicPr preferRelativeResize="0"/>
            <p:nvPr/>
          </p:nvPicPr>
          <p:blipFill/>
          <p:spPr>
            <a:xfrm>
              <a:off x="-104775" y="47625"/>
              <a:ext cx="1773300" cy="2571900"/>
            </a:xfrm>
            <a:prstGeom prst="roundRect">
              <a:avLst>
                <a:gd fmla="val 4210" name="adj"/>
              </a:avLst>
            </a:prstGeom>
            <a:noFill/>
            <a:ln>
              <a:noFill/>
            </a:ln>
          </p:spPr>
        </p:pic>
        <p:sp>
          <p:nvSpPr>
            <p:cNvPr id="430" name="Google Shape;430;p31"/>
            <p:cNvSpPr/>
            <p:nvPr/>
          </p:nvSpPr>
          <p:spPr>
            <a:xfrm>
              <a:off x="95250" y="142875"/>
              <a:ext cx="571500" cy="190500"/>
            </a:xfrm>
            <a:prstGeom prst="roundRect">
              <a:avLst>
                <a:gd fmla="val 2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31"/>
            <p:cNvSpPr txBox="1"/>
            <p:nvPr/>
          </p:nvSpPr>
          <p:spPr>
            <a:xfrm>
              <a:off x="95250" y="142875"/>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zh-TW" sz="750">
                  <a:solidFill>
                    <a:srgbClr val="FFFFFF"/>
                  </a:solidFill>
                  <a:latin typeface="Inter SemiBold"/>
                  <a:ea typeface="Inter SemiBold"/>
                  <a:cs typeface="Inter SemiBold"/>
                  <a:sym typeface="Inter SemiBold"/>
                </a:rPr>
                <a:t>STEP 04</a:t>
              </a:r>
              <a:endParaRPr/>
            </a:p>
          </p:txBody>
        </p:sp>
        <p:sp>
          <p:nvSpPr>
            <p:cNvPr id="432" name="Google Shape;432;p31"/>
            <p:cNvSpPr/>
            <p:nvPr/>
          </p:nvSpPr>
          <p:spPr>
            <a:xfrm>
              <a:off x="95250" y="2933700"/>
              <a:ext cx="1714500" cy="876300"/>
            </a:xfrm>
            <a:prstGeom prst="roundRect">
              <a:avLst>
                <a:gd fmla="val 8695" name="adj"/>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31"/>
            <p:cNvSpPr txBox="1"/>
            <p:nvPr/>
          </p:nvSpPr>
          <p:spPr>
            <a:xfrm>
              <a:off x="171450" y="2990850"/>
              <a:ext cx="15621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765">
                  <a:solidFill>
                    <a:srgbClr val="059669"/>
                  </a:solidFill>
                  <a:latin typeface="Inter"/>
                  <a:ea typeface="Inter"/>
                  <a:cs typeface="Inter"/>
                  <a:sym typeface="Inter"/>
                </a:rPr>
                <a:t>Phase 4: KF Rescue</a:t>
              </a:r>
              <a:endParaRPr b="1" i="0" sz="765">
                <a:solidFill>
                  <a:srgbClr val="059669"/>
                </a:solidFill>
                <a:latin typeface="Inter"/>
                <a:ea typeface="Inter"/>
                <a:cs typeface="Inter"/>
                <a:sym typeface="Inter"/>
              </a:endParaRPr>
            </a:p>
            <a:p>
              <a:pPr indent="0" lvl="0" marL="0" rtl="0" algn="l">
                <a:spcBef>
                  <a:spcPts val="150"/>
                </a:spcBef>
                <a:spcAft>
                  <a:spcPts val="0"/>
                </a:spcAft>
                <a:buNone/>
              </a:pPr>
              <a:r>
                <a:rPr b="1" i="0" lang="zh-TW" sz="850">
                  <a:solidFill>
                    <a:srgbClr val="0F172A"/>
                  </a:solidFill>
                  <a:latin typeface="Inter"/>
                  <a:ea typeface="Inter"/>
                  <a:cs typeface="Inter"/>
                  <a:sym typeface="Inter"/>
                </a:rPr>
                <a:t>Trajectory Inference &amp; Takeover</a:t>
              </a:r>
              <a:endParaRPr b="1" i="0" sz="765">
                <a:solidFill>
                  <a:srgbClr val="059669"/>
                </a:solidFill>
                <a:latin typeface="Inter"/>
                <a:ea typeface="Inter"/>
                <a:cs typeface="Inter"/>
                <a:sym typeface="Inter"/>
              </a:endParaRPr>
            </a:p>
            <a:p>
              <a:pPr indent="0" lvl="0" marL="0" rtl="0" algn="l">
                <a:spcBef>
                  <a:spcPts val="300"/>
                </a:spcBef>
                <a:spcAft>
                  <a:spcPts val="0"/>
                </a:spcAft>
                <a:buNone/>
              </a:pPr>
              <a:r>
                <a:rPr b="0" i="0" lang="zh-TW" sz="680">
                  <a:solidFill>
                    <a:srgbClr val="475569"/>
                  </a:solidFill>
                  <a:latin typeface="Inter"/>
                  <a:ea typeface="Inter"/>
                  <a:cs typeface="Inter"/>
                  <a:sym typeface="Inter"/>
                </a:rPr>
                <a:t>Uses KF to predict landing direction and adjust Local window, avoiding full-frame search and saving tracking!</a:t>
              </a:r>
              <a:endParaRPr b="1" i="0" sz="680">
                <a:solidFill>
                  <a:srgbClr val="059669"/>
                </a:solidFill>
                <a:latin typeface="Inter"/>
                <a:ea typeface="Inter"/>
                <a:cs typeface="Inter"/>
                <a:sym typeface="Inte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2"/>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3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3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3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32"/>
          <p:cNvSpPr/>
          <p:nvPr/>
        </p:nvSpPr>
        <p:spPr>
          <a:xfrm>
            <a:off x="571500" y="8382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32"/>
          <p:cNvSpPr txBox="1"/>
          <p:nvPr/>
        </p:nvSpPr>
        <p:spPr>
          <a:xfrm>
            <a:off x="571500" y="190500"/>
            <a:ext cx="80010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zh-TW" sz="2200">
                <a:solidFill>
                  <a:srgbClr val="1E293B"/>
                </a:solidFill>
                <a:latin typeface="Inter"/>
                <a:ea typeface="Inter"/>
                <a:cs typeface="Inter"/>
                <a:sym typeface="Inter"/>
              </a:rPr>
              <a:t>Kalman Filter Mechanism </a:t>
            </a:r>
            <a:r>
              <a:rPr b="0" lang="zh-TW" sz="1400">
                <a:solidFill>
                  <a:srgbClr val="3B82F6"/>
                </a:solidFill>
                <a:latin typeface="Inter Medium"/>
                <a:ea typeface="Inter Medium"/>
                <a:cs typeface="Inter Medium"/>
                <a:sym typeface="Inter Medium"/>
              </a:rPr>
              <a:t>(Performance Oscillation &amp; Latency Mitigation)</a:t>
            </a:r>
            <a:endParaRPr/>
          </a:p>
        </p:txBody>
      </p:sp>
      <p:sp>
        <p:nvSpPr>
          <p:cNvPr id="444" name="Google Shape;444;p32"/>
          <p:cNvSpPr txBox="1"/>
          <p:nvPr/>
        </p:nvSpPr>
        <p:spPr>
          <a:xfrm>
            <a:off x="571500" y="495300"/>
            <a:ext cx="8001000" cy="3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zh-TW" sz="971">
                <a:solidFill>
                  <a:srgbClr val="DC2626"/>
                </a:solidFill>
                <a:latin typeface="Inter"/>
                <a:ea typeface="Inter"/>
                <a:cs typeface="Inter"/>
                <a:sym typeface="Inter"/>
              </a:rPr>
              <a:t>⚠️ When target out-of-frame triggers global rescue, input area expands 9×; frequent mode switching causes severe performance oscillation and latency spikes.</a:t>
            </a:r>
            <a:endParaRPr b="1" i="0" sz="971">
              <a:solidFill>
                <a:srgbClr val="DC2626"/>
              </a:solidFill>
              <a:latin typeface="Inter"/>
              <a:ea typeface="Inter"/>
              <a:cs typeface="Inter"/>
              <a:sym typeface="Inter"/>
            </a:endParaRPr>
          </a:p>
        </p:txBody>
      </p:sp>
      <p:pic>
        <p:nvPicPr>
          <p:cNvPr id="445" name="Google Shape;445;p32"/>
          <p:cNvPicPr preferRelativeResize="0"/>
          <p:nvPr/>
        </p:nvPicPr>
        <p:blipFill>
          <a:blip r:embed="rId3">
            <a:alphaModFix/>
          </a:blip>
          <a:stretch>
            <a:fillRect/>
          </a:stretch>
        </p:blipFill>
        <p:spPr>
          <a:xfrm>
            <a:off x="0" y="1024084"/>
            <a:ext cx="9144000" cy="3915383"/>
          </a:xfrm>
          <a:prstGeom prst="rect">
            <a:avLst/>
          </a:prstGeom>
          <a:solidFill>
            <a:srgbClr val="F8FAFC"/>
          </a:solid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9" name="Shape 449"/>
        <p:cNvGrpSpPr/>
        <p:nvPr/>
      </p:nvGrpSpPr>
      <p:grpSpPr>
        <a:xfrm>
          <a:off x="0" y="0"/>
          <a:ext cx="0" cy="0"/>
          <a:chOff x="0" y="0"/>
          <a:chExt cx="0" cy="0"/>
        </a:xfrm>
      </p:grpSpPr>
      <p:grpSp>
        <p:nvGrpSpPr>
          <p:cNvPr id="450" name="Google Shape;450;p33"/>
          <p:cNvGrpSpPr/>
          <p:nvPr/>
        </p:nvGrpSpPr>
        <p:grpSpPr>
          <a:xfrm>
            <a:off x="-476250" y="-857250"/>
            <a:ext cx="10477500" cy="6381750"/>
            <a:chOff x="-476250" y="-857250"/>
            <a:chExt cx="10477500" cy="6381750"/>
          </a:xfrm>
        </p:grpSpPr>
        <p:sp>
          <p:nvSpPr>
            <p:cNvPr id="451" name="Google Shape;451;p3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3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3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54" name="Google Shape;454;p33"/>
          <p:cNvSpPr txBox="1"/>
          <p:nvPr>
            <p:ph type="title"/>
          </p:nvPr>
        </p:nvSpPr>
        <p:spPr>
          <a:xfrm>
            <a:off x="571500" y="230675"/>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Spatiotemporal Dynamic Mask</a:t>
            </a:r>
            <a:endParaRPr b="1" sz="4400">
              <a:solidFill>
                <a:srgbClr val="1E293B"/>
              </a:solidFill>
              <a:latin typeface="Oswald"/>
              <a:ea typeface="Oswald"/>
              <a:cs typeface="Oswald"/>
              <a:sym typeface="Oswald"/>
            </a:endParaRPr>
          </a:p>
        </p:txBody>
      </p:sp>
      <p:pic>
        <p:nvPicPr>
          <p:cNvPr id="455" name="Google Shape;455;p33"/>
          <p:cNvPicPr preferRelativeResize="0"/>
          <p:nvPr/>
        </p:nvPicPr>
        <p:blipFill>
          <a:blip r:embed="rId4">
            <a:alphaModFix/>
          </a:blip>
          <a:stretch>
            <a:fillRect/>
          </a:stretch>
        </p:blipFill>
        <p:spPr>
          <a:xfrm>
            <a:off x="2671763" y="1440213"/>
            <a:ext cx="3800475" cy="3552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9" name="Shape 459"/>
        <p:cNvGrpSpPr/>
        <p:nvPr/>
      </p:nvGrpSpPr>
      <p:grpSpPr>
        <a:xfrm>
          <a:off x="0" y="0"/>
          <a:ext cx="0" cy="0"/>
          <a:chOff x="0" y="0"/>
          <a:chExt cx="0" cy="0"/>
        </a:xfrm>
      </p:grpSpPr>
      <p:grpSp>
        <p:nvGrpSpPr>
          <p:cNvPr id="460" name="Google Shape;460;p34"/>
          <p:cNvGrpSpPr/>
          <p:nvPr/>
        </p:nvGrpSpPr>
        <p:grpSpPr>
          <a:xfrm>
            <a:off x="-476250" y="-857250"/>
            <a:ext cx="10477500" cy="6381750"/>
            <a:chOff x="-476250" y="-857250"/>
            <a:chExt cx="10477500" cy="6381750"/>
          </a:xfrm>
        </p:grpSpPr>
        <p:sp>
          <p:nvSpPr>
            <p:cNvPr id="461" name="Google Shape;461;p3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3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3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64" name="Google Shape;464;p34"/>
          <p:cNvSpPr txBox="1"/>
          <p:nvPr/>
        </p:nvSpPr>
        <p:spPr>
          <a:xfrm>
            <a:off x="571500" y="381000"/>
            <a:ext cx="8001000" cy="55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2600" u="none" strike="noStrike">
                <a:solidFill>
                  <a:srgbClr val="1E293B"/>
                </a:solidFill>
                <a:latin typeface="Inter"/>
                <a:ea typeface="Inter"/>
                <a:cs typeface="Inter"/>
                <a:sym typeface="Inter"/>
              </a:rPr>
              <a:t>Noise Hijacking </a:t>
            </a:r>
            <a:r>
              <a:rPr b="0" i="0" lang="zh-TW" sz="1600" u="none" strike="noStrike">
                <a:solidFill>
                  <a:srgbClr val="3B82F6"/>
                </a:solidFill>
                <a:latin typeface="Inter"/>
                <a:ea typeface="Inter"/>
                <a:cs typeface="Inter"/>
                <a:sym typeface="Inter"/>
              </a:rPr>
              <a:t>(Spatiotemporal Masking Defense Mechanism)</a:t>
            </a:r>
            <a:endParaRPr b="1" i="0" sz="2600" u="none" strike="noStrike">
              <a:solidFill>
                <a:srgbClr val="1E293B"/>
              </a:solidFill>
              <a:latin typeface="Inter"/>
              <a:ea typeface="Inter"/>
              <a:cs typeface="Inter"/>
              <a:sym typeface="Inter"/>
            </a:endParaRPr>
          </a:p>
        </p:txBody>
      </p:sp>
      <p:sp>
        <p:nvSpPr>
          <p:cNvPr id="465" name="Google Shape;465;p34"/>
          <p:cNvSpPr txBox="1"/>
          <p:nvPr/>
        </p:nvSpPr>
        <p:spPr>
          <a:xfrm>
            <a:off x="571500" y="939600"/>
            <a:ext cx="80010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1100" u="none" strike="noStrike">
                <a:solidFill>
                  <a:srgbClr val="DC2626"/>
                </a:solidFill>
                <a:latin typeface="Inter"/>
                <a:ea typeface="Inter"/>
                <a:cs typeface="Inter"/>
                <a:sym typeface="Inter"/>
              </a:rPr>
              <a:t>Attention mechanisms cannot be deployed on Jetson Nano; </a:t>
            </a:r>
            <a:endParaRPr b="1" i="0" sz="1100" u="none" strike="noStrike">
              <a:solidFill>
                <a:srgbClr val="DC2626"/>
              </a:solidFill>
              <a:latin typeface="Inter"/>
              <a:ea typeface="Inter"/>
              <a:cs typeface="Inter"/>
              <a:sym typeface="Inter"/>
            </a:endParaRPr>
          </a:p>
          <a:p>
            <a:pPr indent="0" lvl="0" marL="0" rtl="0" algn="l">
              <a:spcBef>
                <a:spcPts val="0"/>
              </a:spcBef>
              <a:spcAft>
                <a:spcPts val="0"/>
              </a:spcAft>
              <a:buNone/>
            </a:pPr>
            <a:r>
              <a:rPr b="1" i="0" lang="zh-TW" sz="1100" u="none" strike="noStrike">
                <a:solidFill>
                  <a:srgbClr val="DC2626"/>
                </a:solidFill>
                <a:latin typeface="Inter"/>
                <a:ea typeface="Inter"/>
                <a:cs typeface="Inter"/>
                <a:sym typeface="Inter"/>
              </a:rPr>
              <a:t>traditional image processing must be leveraged to eliminate noise hijacking.</a:t>
            </a:r>
            <a:endParaRPr b="1" i="0" sz="1100" u="none" strike="noStrike">
              <a:solidFill>
                <a:srgbClr val="DC2626"/>
              </a:solidFill>
              <a:latin typeface="Inter"/>
              <a:ea typeface="Inter"/>
              <a:cs typeface="Inter"/>
              <a:sym typeface="Inter"/>
            </a:endParaRPr>
          </a:p>
        </p:txBody>
      </p:sp>
      <p:pic>
        <p:nvPicPr>
          <p:cNvPr id="466" name="Google Shape;466;p34"/>
          <p:cNvPicPr preferRelativeResize="0"/>
          <p:nvPr/>
        </p:nvPicPr>
        <p:blipFill>
          <a:blip r:embed="rId4">
            <a:alphaModFix/>
          </a:blip>
          <a:stretch>
            <a:fillRect/>
          </a:stretch>
        </p:blipFill>
        <p:spPr>
          <a:xfrm>
            <a:off x="1545775" y="1303275"/>
            <a:ext cx="6052449" cy="3806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0" name="Shape 470"/>
        <p:cNvGrpSpPr/>
        <p:nvPr/>
      </p:nvGrpSpPr>
      <p:grpSpPr>
        <a:xfrm>
          <a:off x="0" y="0"/>
          <a:ext cx="0" cy="0"/>
          <a:chOff x="0" y="0"/>
          <a:chExt cx="0" cy="0"/>
        </a:xfrm>
      </p:grpSpPr>
      <p:grpSp>
        <p:nvGrpSpPr>
          <p:cNvPr id="471" name="Google Shape;471;p35"/>
          <p:cNvGrpSpPr/>
          <p:nvPr/>
        </p:nvGrpSpPr>
        <p:grpSpPr>
          <a:xfrm>
            <a:off x="-476250" y="-857250"/>
            <a:ext cx="10477500" cy="6381750"/>
            <a:chOff x="-476250" y="-857250"/>
            <a:chExt cx="10477500" cy="6381750"/>
          </a:xfrm>
        </p:grpSpPr>
        <p:sp>
          <p:nvSpPr>
            <p:cNvPr id="472" name="Google Shape;472;p3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3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3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75" name="Google Shape;475;p35"/>
          <p:cNvSpPr txBox="1"/>
          <p:nvPr/>
        </p:nvSpPr>
        <p:spPr>
          <a:xfrm>
            <a:off x="571500" y="381000"/>
            <a:ext cx="8001000" cy="55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2600" u="none" strike="noStrike">
                <a:solidFill>
                  <a:srgbClr val="1E293B"/>
                </a:solidFill>
                <a:latin typeface="Inter"/>
                <a:ea typeface="Inter"/>
                <a:cs typeface="Inter"/>
                <a:sym typeface="Inter"/>
              </a:rPr>
              <a:t>Noise Hijacking </a:t>
            </a:r>
            <a:r>
              <a:rPr b="0" i="0" lang="zh-TW" sz="1600" u="none" strike="noStrike">
                <a:solidFill>
                  <a:srgbClr val="3B82F6"/>
                </a:solidFill>
                <a:latin typeface="Inter"/>
                <a:ea typeface="Inter"/>
                <a:cs typeface="Inter"/>
                <a:sym typeface="Inter"/>
              </a:rPr>
              <a:t>(Spatiotemporal Masking Defense Mechanism)</a:t>
            </a:r>
            <a:endParaRPr b="1" i="0" sz="2600" u="none" strike="noStrike">
              <a:solidFill>
                <a:srgbClr val="1E293B"/>
              </a:solidFill>
              <a:latin typeface="Inter"/>
              <a:ea typeface="Inter"/>
              <a:cs typeface="Inter"/>
              <a:sym typeface="Inter"/>
            </a:endParaRPr>
          </a:p>
        </p:txBody>
      </p:sp>
      <p:sp>
        <p:nvSpPr>
          <p:cNvPr id="476" name="Google Shape;476;p35"/>
          <p:cNvSpPr txBox="1"/>
          <p:nvPr/>
        </p:nvSpPr>
        <p:spPr>
          <a:xfrm>
            <a:off x="571500" y="939600"/>
            <a:ext cx="80010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1100" u="none" strike="noStrike">
                <a:solidFill>
                  <a:srgbClr val="DC2626"/>
                </a:solidFill>
                <a:latin typeface="Inter"/>
                <a:ea typeface="Inter"/>
                <a:cs typeface="Inter"/>
                <a:sym typeface="Inter"/>
              </a:rPr>
              <a:t>Attention mechanisms cannot be deployed on Jetson Nano; </a:t>
            </a:r>
            <a:endParaRPr b="1" i="0" sz="1100" u="none" strike="noStrike">
              <a:solidFill>
                <a:srgbClr val="DC2626"/>
              </a:solidFill>
              <a:latin typeface="Inter"/>
              <a:ea typeface="Inter"/>
              <a:cs typeface="Inter"/>
              <a:sym typeface="Inter"/>
            </a:endParaRPr>
          </a:p>
          <a:p>
            <a:pPr indent="0" lvl="0" marL="0" rtl="0" algn="l">
              <a:spcBef>
                <a:spcPts val="0"/>
              </a:spcBef>
              <a:spcAft>
                <a:spcPts val="0"/>
              </a:spcAft>
              <a:buNone/>
            </a:pPr>
            <a:r>
              <a:rPr b="1" i="0" lang="zh-TW" sz="1100" u="none" strike="noStrike">
                <a:solidFill>
                  <a:srgbClr val="DC2626"/>
                </a:solidFill>
                <a:latin typeface="Inter"/>
                <a:ea typeface="Inter"/>
                <a:cs typeface="Inter"/>
                <a:sym typeface="Inter"/>
              </a:rPr>
              <a:t>traditional image processing must be leveraged to eliminate noise hijacking.</a:t>
            </a:r>
            <a:endParaRPr b="1" i="0" sz="1100" u="none" strike="noStrike">
              <a:solidFill>
                <a:srgbClr val="DC2626"/>
              </a:solidFill>
              <a:latin typeface="Inter"/>
              <a:ea typeface="Inter"/>
              <a:cs typeface="Inter"/>
              <a:sym typeface="Inter"/>
            </a:endParaRPr>
          </a:p>
        </p:txBody>
      </p:sp>
      <p:pic>
        <p:nvPicPr>
          <p:cNvPr id="477" name="Google Shape;477;p35"/>
          <p:cNvPicPr preferRelativeResize="0"/>
          <p:nvPr/>
        </p:nvPicPr>
        <p:blipFill>
          <a:blip r:embed="rId4">
            <a:alphaModFix/>
          </a:blip>
          <a:stretch>
            <a:fillRect/>
          </a:stretch>
        </p:blipFill>
        <p:spPr>
          <a:xfrm>
            <a:off x="5134125" y="1339788"/>
            <a:ext cx="3438374" cy="3803700"/>
          </a:xfrm>
          <a:prstGeom prst="rect">
            <a:avLst/>
          </a:prstGeom>
          <a:noFill/>
          <a:ln>
            <a:noFill/>
          </a:ln>
        </p:spPr>
      </p:pic>
      <p:pic>
        <p:nvPicPr>
          <p:cNvPr id="478" name="Google Shape;478;p35"/>
          <p:cNvPicPr preferRelativeResize="0"/>
          <p:nvPr/>
        </p:nvPicPr>
        <p:blipFill>
          <a:blip r:embed="rId5">
            <a:alphaModFix/>
          </a:blip>
          <a:stretch>
            <a:fillRect/>
          </a:stretch>
        </p:blipFill>
        <p:spPr>
          <a:xfrm>
            <a:off x="571500" y="1339800"/>
            <a:ext cx="3438374" cy="380368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2" name="Shape 482"/>
        <p:cNvGrpSpPr/>
        <p:nvPr/>
      </p:nvGrpSpPr>
      <p:grpSpPr>
        <a:xfrm>
          <a:off x="0" y="0"/>
          <a:ext cx="0" cy="0"/>
          <a:chOff x="0" y="0"/>
          <a:chExt cx="0" cy="0"/>
        </a:xfrm>
      </p:grpSpPr>
      <p:grpSp>
        <p:nvGrpSpPr>
          <p:cNvPr id="483" name="Google Shape;483;p36"/>
          <p:cNvGrpSpPr/>
          <p:nvPr/>
        </p:nvGrpSpPr>
        <p:grpSpPr>
          <a:xfrm>
            <a:off x="-476250" y="-857250"/>
            <a:ext cx="10477500" cy="6381750"/>
            <a:chOff x="-476250" y="-857250"/>
            <a:chExt cx="10477500" cy="6381750"/>
          </a:xfrm>
        </p:grpSpPr>
        <p:sp>
          <p:nvSpPr>
            <p:cNvPr id="484" name="Google Shape;484;p3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3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3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87" name="Google Shape;487;p36"/>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Experiment: ROI Size Trade-Off </a:t>
            </a:r>
            <a:endParaRPr b="1" sz="4400">
              <a:solidFill>
                <a:srgbClr val="1E293B"/>
              </a:solidFill>
              <a:latin typeface="Oswald"/>
              <a:ea typeface="Oswald"/>
              <a:cs typeface="Oswald"/>
              <a:sym typeface="Oswald"/>
            </a:endParaRPr>
          </a:p>
        </p:txBody>
      </p:sp>
      <p:sp>
        <p:nvSpPr>
          <p:cNvPr id="488" name="Google Shape;488;p36"/>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grpSp>
        <p:nvGrpSpPr>
          <p:cNvPr id="493" name="Google Shape;493;p37"/>
          <p:cNvGrpSpPr/>
          <p:nvPr/>
        </p:nvGrpSpPr>
        <p:grpSpPr>
          <a:xfrm>
            <a:off x="-476250" y="-857250"/>
            <a:ext cx="10477500" cy="6381750"/>
            <a:chOff x="-476250" y="-857250"/>
            <a:chExt cx="10477500" cy="6381750"/>
          </a:xfrm>
        </p:grpSpPr>
        <p:sp>
          <p:nvSpPr>
            <p:cNvPr id="494" name="Google Shape;494;p3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3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3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37"/>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98" name="Google Shape;498;p37"/>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3330">
                <a:solidFill>
                  <a:srgbClr val="1E293B"/>
                </a:solidFill>
                <a:latin typeface="Inter"/>
                <a:ea typeface="Inter"/>
                <a:cs typeface="Inter"/>
                <a:sym typeface="Inter"/>
              </a:rPr>
              <a:t>Data Adjustment</a:t>
            </a:r>
            <a:endParaRPr b="1" i="0" sz="3330">
              <a:solidFill>
                <a:srgbClr val="1E293B"/>
              </a:solidFill>
              <a:latin typeface="Inter"/>
              <a:ea typeface="Inter"/>
              <a:cs typeface="Inter"/>
              <a:sym typeface="Inter"/>
            </a:endParaRPr>
          </a:p>
          <a:p>
            <a:pPr indent="0" lvl="0" marL="0" rtl="0" algn="l">
              <a:spcBef>
                <a:spcPts val="300"/>
              </a:spcBef>
              <a:spcAft>
                <a:spcPts val="0"/>
              </a:spcAft>
              <a:buNone/>
            </a:pPr>
            <a:r>
              <a:rPr b="0" i="0" lang="zh-TW" sz="1100">
                <a:solidFill>
                  <a:srgbClr val="64748B"/>
                </a:solidFill>
                <a:latin typeface="Inter"/>
                <a:ea typeface="Inter"/>
                <a:cs typeface="Inter"/>
                <a:sym typeface="Inter"/>
              </a:rPr>
              <a:t>Model Inference and Dynamic Mask Hyperparameter Experimental Setup</a:t>
            </a:r>
            <a:endParaRPr b="1" i="0" sz="1100">
              <a:solidFill>
                <a:srgbClr val="1E293B"/>
              </a:solidFill>
              <a:latin typeface="Inter"/>
              <a:ea typeface="Inter"/>
              <a:cs typeface="Inter"/>
              <a:sym typeface="Inter"/>
            </a:endParaRPr>
          </a:p>
        </p:txBody>
      </p:sp>
      <p:sp>
        <p:nvSpPr>
          <p:cNvPr id="499" name="Google Shape;499;p37"/>
          <p:cNvSpPr txBox="1"/>
          <p:nvPr>
            <p:ph idx="1" type="body"/>
          </p:nvPr>
        </p:nvSpPr>
        <p:spPr>
          <a:xfrm>
            <a:off x="571500" y="1381125"/>
            <a:ext cx="40005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66700" lIns="266700" spcFirstLastPara="1" rIns="266700" wrap="square" tIns="266700">
            <a:normAutofit lnSpcReduction="10000"/>
          </a:bodyPr>
          <a:lstStyle/>
          <a:p>
            <a:pPr indent="0" lvl="0" marL="0" rtl="0" algn="l">
              <a:spcBef>
                <a:spcPts val="0"/>
              </a:spcBef>
              <a:spcAft>
                <a:spcPts val="0"/>
              </a:spcAft>
              <a:buNone/>
            </a:pPr>
            <a:r>
              <a:rPr b="1" i="0" lang="zh-TW" sz="1500">
                <a:solidFill>
                  <a:srgbClr val="3B82F6"/>
                </a:solidFill>
                <a:latin typeface="Material Icons"/>
                <a:ea typeface="Material Icons"/>
                <a:cs typeface="Material Icons"/>
                <a:sym typeface="Material Icons"/>
              </a:rPr>
              <a:t>tune</a:t>
            </a:r>
            <a:r>
              <a:rPr b="1" i="0" lang="zh-TW" sz="1300">
                <a:solidFill>
                  <a:srgbClr val="1E293B"/>
                </a:solidFill>
                <a:highlight>
                  <a:srgbClr val="F8FAFC"/>
                </a:highlight>
                <a:latin typeface="Inter"/>
                <a:ea typeface="Inter"/>
                <a:cs typeface="Inter"/>
                <a:sym typeface="Inter"/>
              </a:rPr>
              <a:t> Mask Threshold</a:t>
            </a:r>
            <a:endParaRPr b="1" i="0" sz="1500">
              <a:solidFill>
                <a:srgbClr val="3B82F6"/>
              </a:solidFill>
              <a:latin typeface="Material Icons"/>
              <a:ea typeface="Material Icons"/>
              <a:cs typeface="Material Icons"/>
              <a:sym typeface="Material Icons"/>
            </a:endParaRPr>
          </a:p>
          <a:p>
            <a:pPr indent="0" lvl="0" marL="0" rtl="0" algn="l">
              <a:spcBef>
                <a:spcPts val="750"/>
              </a:spcBef>
              <a:spcAft>
                <a:spcPts val="0"/>
              </a:spcAft>
              <a:buNone/>
            </a:pPr>
            <a:r>
              <a:rPr b="1" i="0" lang="zh-TW" sz="1200">
                <a:solidFill>
                  <a:srgbClr val="2563EB"/>
                </a:solidFill>
                <a:latin typeface="Courier New"/>
                <a:ea typeface="Courier New"/>
                <a:cs typeface="Courier New"/>
                <a:sym typeface="Courier New"/>
              </a:rPr>
              <a:t>10, 15, 20</a:t>
            </a:r>
            <a:endParaRPr b="1" i="0" sz="1200">
              <a:solidFill>
                <a:srgbClr val="3B82F6"/>
              </a:solidFill>
              <a:latin typeface="Material Icons"/>
              <a:ea typeface="Material Icons"/>
              <a:cs typeface="Material Icons"/>
              <a:sym typeface="Material Icons"/>
            </a:endParaRPr>
          </a:p>
          <a:p>
            <a:pPr indent="0" lvl="0" marL="0" rtl="0" algn="l">
              <a:spcBef>
                <a:spcPts val="1500"/>
              </a:spcBef>
              <a:spcAft>
                <a:spcPts val="0"/>
              </a:spcAft>
              <a:buNone/>
            </a:pPr>
            <a:r>
              <a:rPr b="1" i="0" lang="zh-TW" sz="1500">
                <a:solidFill>
                  <a:srgbClr val="3B82F6"/>
                </a:solidFill>
                <a:latin typeface="Material Icons"/>
                <a:ea typeface="Material Icons"/>
                <a:cs typeface="Material Icons"/>
                <a:sym typeface="Material Icons"/>
              </a:rPr>
              <a:t>center_focus_weak</a:t>
            </a:r>
            <a:r>
              <a:rPr b="1" i="0" lang="zh-TW" sz="1300">
                <a:solidFill>
                  <a:srgbClr val="1E293B"/>
                </a:solidFill>
                <a:highlight>
                  <a:srgbClr val="F8FAFC"/>
                </a:highlight>
                <a:latin typeface="Inter"/>
                <a:ea typeface="Inter"/>
                <a:cs typeface="Inter"/>
                <a:sym typeface="Inter"/>
              </a:rPr>
              <a:t> Regional Inference Confidence</a:t>
            </a:r>
            <a:endParaRPr b="1" i="0" sz="1500">
              <a:solidFill>
                <a:srgbClr val="3B82F6"/>
              </a:solidFill>
              <a:latin typeface="Material Icons"/>
              <a:ea typeface="Material Icons"/>
              <a:cs typeface="Material Icons"/>
              <a:sym typeface="Material Icons"/>
            </a:endParaRPr>
          </a:p>
          <a:p>
            <a:pPr indent="0" lvl="0" marL="0" rtl="0" algn="l">
              <a:spcBef>
                <a:spcPts val="750"/>
              </a:spcBef>
              <a:spcAft>
                <a:spcPts val="0"/>
              </a:spcAft>
              <a:buNone/>
            </a:pPr>
            <a:r>
              <a:rPr b="1" i="0" lang="zh-TW" sz="1200">
                <a:solidFill>
                  <a:srgbClr val="2563EB"/>
                </a:solidFill>
                <a:latin typeface="Courier New"/>
                <a:ea typeface="Courier New"/>
                <a:cs typeface="Courier New"/>
                <a:sym typeface="Courier New"/>
              </a:rPr>
              <a:t>0.45, 0.55, 0.65</a:t>
            </a:r>
            <a:endParaRPr b="1" i="0" sz="1200">
              <a:solidFill>
                <a:srgbClr val="3B82F6"/>
              </a:solidFill>
              <a:latin typeface="Material Icons"/>
              <a:ea typeface="Material Icons"/>
              <a:cs typeface="Material Icons"/>
              <a:sym typeface="Material Icons"/>
            </a:endParaRPr>
          </a:p>
          <a:p>
            <a:pPr indent="0" lvl="0" marL="0" rtl="0" algn="l">
              <a:spcBef>
                <a:spcPts val="1500"/>
              </a:spcBef>
              <a:spcAft>
                <a:spcPts val="0"/>
              </a:spcAft>
              <a:buNone/>
            </a:pPr>
            <a:r>
              <a:rPr b="1" i="0" lang="zh-TW" sz="1500">
                <a:solidFill>
                  <a:srgbClr val="3B82F6"/>
                </a:solidFill>
                <a:latin typeface="Material Icons"/>
                <a:ea typeface="Material Icons"/>
                <a:cs typeface="Material Icons"/>
                <a:sym typeface="Material Icons"/>
              </a:rPr>
              <a:t>public</a:t>
            </a:r>
            <a:r>
              <a:rPr b="1" i="0" lang="zh-TW" sz="1300">
                <a:solidFill>
                  <a:srgbClr val="1E293B"/>
                </a:solidFill>
                <a:highlight>
                  <a:srgbClr val="F8FAFC"/>
                </a:highlight>
                <a:latin typeface="Inter"/>
                <a:ea typeface="Inter"/>
                <a:cs typeface="Inter"/>
                <a:sym typeface="Inter"/>
              </a:rPr>
              <a:t> Global Inference Confidence</a:t>
            </a:r>
            <a:endParaRPr b="1" i="0" sz="1500">
              <a:solidFill>
                <a:srgbClr val="3B82F6"/>
              </a:solidFill>
              <a:latin typeface="Material Icons"/>
              <a:ea typeface="Material Icons"/>
              <a:cs typeface="Material Icons"/>
              <a:sym typeface="Material Icons"/>
            </a:endParaRPr>
          </a:p>
          <a:p>
            <a:pPr indent="0" lvl="0" marL="0" rtl="0" algn="l">
              <a:spcBef>
                <a:spcPts val="750"/>
              </a:spcBef>
              <a:spcAft>
                <a:spcPts val="0"/>
              </a:spcAft>
              <a:buNone/>
            </a:pPr>
            <a:r>
              <a:rPr b="1" i="0" lang="zh-TW" sz="1200">
                <a:solidFill>
                  <a:srgbClr val="2563EB"/>
                </a:solidFill>
                <a:latin typeface="Courier New"/>
                <a:ea typeface="Courier New"/>
                <a:cs typeface="Courier New"/>
                <a:sym typeface="Courier New"/>
              </a:rPr>
              <a:t>0.55, 0.62, 0.70</a:t>
            </a:r>
            <a:endParaRPr b="1" i="0" sz="1200">
              <a:solidFill>
                <a:srgbClr val="3B82F6"/>
              </a:solidFill>
              <a:latin typeface="Material Icons"/>
              <a:ea typeface="Material Icons"/>
              <a:cs typeface="Material Icons"/>
              <a:sym typeface="Material Icons"/>
            </a:endParaRPr>
          </a:p>
          <a:p>
            <a:pPr indent="0" lvl="0" marL="0" rtl="0" algn="l">
              <a:spcBef>
                <a:spcPts val="1500"/>
              </a:spcBef>
              <a:spcAft>
                <a:spcPts val="0"/>
              </a:spcAft>
              <a:buNone/>
            </a:pPr>
            <a:r>
              <a:rPr b="1" i="0" lang="zh-TW" sz="1500">
                <a:solidFill>
                  <a:srgbClr val="3B82F6"/>
                </a:solidFill>
                <a:latin typeface="Material Icons"/>
                <a:ea typeface="Material Icons"/>
                <a:cs typeface="Material Icons"/>
                <a:sym typeface="Material Icons"/>
              </a:rPr>
              <a:t>trending_down</a:t>
            </a:r>
            <a:r>
              <a:rPr b="1" i="0" lang="zh-TW" sz="1300">
                <a:solidFill>
                  <a:srgbClr val="1E293B"/>
                </a:solidFill>
                <a:highlight>
                  <a:srgbClr val="F8FAFC"/>
                </a:highlight>
                <a:latin typeface="Inter"/>
                <a:ea typeface="Inter"/>
                <a:cs typeface="Inter"/>
                <a:sym typeface="Inter"/>
              </a:rPr>
              <a:t> Loss Derating</a:t>
            </a:r>
            <a:endParaRPr b="1" i="0" sz="1500">
              <a:solidFill>
                <a:srgbClr val="3B82F6"/>
              </a:solidFill>
              <a:latin typeface="Material Icons"/>
              <a:ea typeface="Material Icons"/>
              <a:cs typeface="Material Icons"/>
              <a:sym typeface="Material Icons"/>
            </a:endParaRPr>
          </a:p>
          <a:p>
            <a:pPr indent="0" lvl="0" marL="0" rtl="0" algn="l">
              <a:spcBef>
                <a:spcPts val="750"/>
              </a:spcBef>
              <a:spcAft>
                <a:spcPts val="1200"/>
              </a:spcAft>
              <a:buNone/>
            </a:pPr>
            <a:r>
              <a:rPr b="1" i="0" lang="zh-TW" sz="1200">
                <a:solidFill>
                  <a:srgbClr val="2563EB"/>
                </a:solidFill>
                <a:latin typeface="Courier New"/>
                <a:ea typeface="Courier New"/>
                <a:cs typeface="Courier New"/>
                <a:sym typeface="Courier New"/>
              </a:rPr>
              <a:t>1, 2, 3</a:t>
            </a:r>
            <a:endParaRPr b="1" i="0" sz="1200">
              <a:solidFill>
                <a:srgbClr val="3B82F6"/>
              </a:solidFill>
              <a:latin typeface="Material Icons"/>
              <a:ea typeface="Material Icons"/>
              <a:cs typeface="Material Icons"/>
              <a:sym typeface="Material Icons"/>
            </a:endParaRPr>
          </a:p>
        </p:txBody>
      </p:sp>
      <p:sp>
        <p:nvSpPr>
          <p:cNvPr id="500" name="Google Shape;500;p37"/>
          <p:cNvSpPr txBox="1"/>
          <p:nvPr>
            <p:ph idx="1" type="body"/>
          </p:nvPr>
        </p:nvSpPr>
        <p:spPr>
          <a:xfrm>
            <a:off x="4612624" y="1381125"/>
            <a:ext cx="40005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66700" lIns="266700" spcFirstLastPara="1" rIns="266700" wrap="square" tIns="266700">
            <a:normAutofit/>
          </a:bodyPr>
          <a:lstStyle/>
          <a:p>
            <a:pPr indent="0" lvl="0" marL="0" rtl="0" algn="l">
              <a:spcBef>
                <a:spcPts val="0"/>
              </a:spcBef>
              <a:spcAft>
                <a:spcPts val="0"/>
              </a:spcAft>
              <a:buNone/>
            </a:pPr>
            <a:r>
              <a:rPr b="1" i="0" lang="zh-TW" sz="1500">
                <a:solidFill>
                  <a:srgbClr val="3B82F6"/>
                </a:solidFill>
                <a:latin typeface="Material Icons"/>
                <a:ea typeface="Material Icons"/>
                <a:cs typeface="Material Icons"/>
                <a:sym typeface="Material Icons"/>
              </a:rPr>
              <a:t>tune</a:t>
            </a:r>
            <a:r>
              <a:rPr b="1" i="0" lang="zh-TW" sz="1300">
                <a:solidFill>
                  <a:srgbClr val="1E293B"/>
                </a:solidFill>
                <a:highlight>
                  <a:srgbClr val="F8FAFC"/>
                </a:highlight>
                <a:latin typeface="Inter"/>
                <a:ea typeface="Inter"/>
                <a:cs typeface="Inter"/>
                <a:sym typeface="Inter"/>
              </a:rPr>
              <a:t> 81 Test Configurations Total</a:t>
            </a:r>
            <a:endParaRPr b="1" i="0" sz="1500">
              <a:solidFill>
                <a:srgbClr val="3B82F6"/>
              </a:solidFill>
              <a:latin typeface="Material Icons"/>
              <a:ea typeface="Material Icons"/>
              <a:cs typeface="Material Icons"/>
              <a:sym typeface="Material Icons"/>
            </a:endParaRPr>
          </a:p>
          <a:p>
            <a:pPr indent="0" lvl="0" marL="0" rtl="0" algn="l">
              <a:spcBef>
                <a:spcPts val="1500"/>
              </a:spcBef>
              <a:spcAft>
                <a:spcPts val="750"/>
              </a:spcAft>
              <a:buNone/>
            </a:pPr>
            <a:r>
              <a:rPr b="1" i="0" lang="zh-TW" sz="1500">
                <a:solidFill>
                  <a:srgbClr val="3B82F6"/>
                </a:solidFill>
                <a:latin typeface="Material Icons"/>
                <a:ea typeface="Material Icons"/>
                <a:cs typeface="Material Icons"/>
                <a:sym typeface="Material Icons"/>
              </a:rPr>
              <a:t>center_focus_weak</a:t>
            </a:r>
            <a:r>
              <a:rPr b="1" i="0" lang="zh-TW" sz="1300">
                <a:solidFill>
                  <a:srgbClr val="1E293B"/>
                </a:solidFill>
                <a:highlight>
                  <a:srgbClr val="F8FAFC"/>
                </a:highlight>
                <a:latin typeface="Inter"/>
                <a:ea typeface="Inter"/>
                <a:cs typeface="Inter"/>
                <a:sym typeface="Inter"/>
              </a:rPr>
              <a:t> 23 Test Videos, 147 Video Clips Total</a:t>
            </a:r>
            <a:endParaRPr b="1" i="0" sz="1500">
              <a:solidFill>
                <a:srgbClr val="3B82F6"/>
              </a:solidFill>
              <a:latin typeface="Material Icons"/>
              <a:ea typeface="Material Icons"/>
              <a:cs typeface="Material Icons"/>
              <a:sym typeface="Material Ico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grpSp>
        <p:nvGrpSpPr>
          <p:cNvPr id="505" name="Google Shape;505;p38"/>
          <p:cNvGrpSpPr/>
          <p:nvPr/>
        </p:nvGrpSpPr>
        <p:grpSpPr>
          <a:xfrm>
            <a:off x="-476250" y="-857250"/>
            <a:ext cx="10477500" cy="6381750"/>
            <a:chOff x="-476250" y="-857250"/>
            <a:chExt cx="10477500" cy="6381750"/>
          </a:xfrm>
        </p:grpSpPr>
        <p:sp>
          <p:nvSpPr>
            <p:cNvPr id="506" name="Google Shape;506;p3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7" name="Google Shape;507;p3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3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38"/>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10" name="Google Shape;510;p38"/>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2800" u="none" strike="noStrike">
                <a:solidFill>
                  <a:srgbClr val="1E293B"/>
                </a:solidFill>
                <a:latin typeface="Inter"/>
                <a:ea typeface="Inter"/>
                <a:cs typeface="Inter"/>
                <a:sym typeface="Inter"/>
              </a:rPr>
              <a:t>Data Comparison</a:t>
            </a:r>
            <a:endParaRPr b="1" i="0" sz="2800" u="none" strike="noStrike">
              <a:solidFill>
                <a:srgbClr val="1E293B"/>
              </a:solidFill>
              <a:latin typeface="Inter"/>
              <a:ea typeface="Inter"/>
              <a:cs typeface="Inter"/>
              <a:sym typeface="Inter"/>
            </a:endParaRPr>
          </a:p>
          <a:p>
            <a:pPr indent="0" lvl="0" marL="0" rtl="0" algn="l">
              <a:spcBef>
                <a:spcPts val="300"/>
              </a:spcBef>
              <a:spcAft>
                <a:spcPts val="0"/>
              </a:spcAft>
              <a:buNone/>
            </a:pPr>
            <a:r>
              <a:rPr b="0" i="0" lang="zh-TW" sz="1100" u="none" strike="noStrike">
                <a:solidFill>
                  <a:srgbClr val="64748B"/>
                </a:solidFill>
                <a:latin typeface="Inter"/>
                <a:ea typeface="Inter"/>
                <a:cs typeface="Inter"/>
                <a:sym typeface="Inter"/>
              </a:rPr>
              <a:t>Comparison of 128x128 and 64x64 Model Performance and Improvements</a:t>
            </a:r>
            <a:endParaRPr b="1" i="0" sz="1100" u="none" strike="noStrike">
              <a:solidFill>
                <a:srgbClr val="1E293B"/>
              </a:solidFill>
              <a:latin typeface="Inter"/>
              <a:ea typeface="Inter"/>
              <a:cs typeface="Inter"/>
              <a:sym typeface="Inter"/>
            </a:endParaRPr>
          </a:p>
        </p:txBody>
      </p:sp>
      <p:graphicFrame>
        <p:nvGraphicFramePr>
          <p:cNvPr id="511" name="Google Shape;511;p38"/>
          <p:cNvGraphicFramePr/>
          <p:nvPr/>
        </p:nvGraphicFramePr>
        <p:xfrm>
          <a:off x="571500" y="1238250"/>
          <a:ext cx="3000000" cy="3000000"/>
        </p:xfrm>
        <a:graphic>
          <a:graphicData uri="http://schemas.openxmlformats.org/drawingml/2006/table">
            <a:tbl>
              <a:tblPr>
                <a:noFill/>
                <a:tableStyleId>{711371B8-0F67-4F3D-9DD3-952783FBF680}</a:tableStyleId>
              </a:tblPr>
              <a:tblGrid>
                <a:gridCol w="2000250"/>
                <a:gridCol w="2000250"/>
                <a:gridCol w="2000250"/>
                <a:gridCol w="2000250"/>
              </a:tblGrid>
              <a:tr h="503450">
                <a:tc>
                  <a:txBody>
                    <a:bodyPr/>
                    <a:lstStyle/>
                    <a:p>
                      <a:pPr indent="0" lvl="0" marL="0" rtl="0" algn="l">
                        <a:spcBef>
                          <a:spcPts val="0"/>
                        </a:spcBef>
                        <a:spcAft>
                          <a:spcPts val="0"/>
                        </a:spcAft>
                        <a:buNone/>
                      </a:pPr>
                      <a:r>
                        <a:rPr b="1" i="0" lang="zh-TW" sz="1100" u="none" strike="noStrike">
                          <a:solidFill>
                            <a:srgbClr val="475569"/>
                          </a:solidFill>
                          <a:latin typeface="Inter"/>
                          <a:ea typeface="Inter"/>
                          <a:cs typeface="Inter"/>
                          <a:sym typeface="Inter"/>
                        </a:rPr>
                        <a:t>Evaluation Metric</a:t>
                      </a:r>
                      <a:endParaRPr b="1"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0" lang="zh-TW" sz="1100" u="none" strike="noStrike">
                          <a:solidFill>
                            <a:srgbClr val="475569"/>
                          </a:solidFill>
                          <a:latin typeface="Inter"/>
                          <a:ea typeface="Inter"/>
                          <a:cs typeface="Inter"/>
                          <a:sym typeface="Inter"/>
                        </a:rPr>
                        <a:t>128x128 Best</a:t>
                      </a:r>
                      <a:endParaRPr b="1"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0" lang="zh-TW" sz="1100" u="none" strike="noStrike">
                          <a:solidFill>
                            <a:srgbClr val="475569"/>
                          </a:solidFill>
                          <a:latin typeface="Inter"/>
                          <a:ea typeface="Inter"/>
                          <a:cs typeface="Inter"/>
                          <a:sym typeface="Inter"/>
                        </a:rPr>
                        <a:t>64x64 Best</a:t>
                      </a:r>
                      <a:endParaRPr b="1"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0" lang="zh-TW" sz="1100" u="none" strike="noStrike">
                          <a:solidFill>
                            <a:srgbClr val="475569"/>
                          </a:solidFill>
                          <a:latin typeface="Inter"/>
                          <a:ea typeface="Inter"/>
                          <a:cs typeface="Inter"/>
                          <a:sym typeface="Inter"/>
                        </a:rPr>
                        <a:t>64x64 Improvement</a:t>
                      </a:r>
                      <a:endParaRPr b="1"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03475">
                <a:tc>
                  <a:txBody>
                    <a:bodyPr/>
                    <a:lstStyle/>
                    <a:p>
                      <a:pPr indent="0" lvl="0" marL="0" rtl="0" algn="l">
                        <a:spcBef>
                          <a:spcPts val="0"/>
                        </a:spcBef>
                        <a:spcAft>
                          <a:spcPts val="0"/>
                        </a:spcAft>
                        <a:buNone/>
                      </a:pPr>
                      <a:r>
                        <a:rPr b="0" i="0" lang="zh-TW" sz="1000" u="none" strike="noStrike">
                          <a:solidFill>
                            <a:srgbClr val="1E293B"/>
                          </a:solidFill>
                          <a:latin typeface="Inter SemiBold"/>
                          <a:ea typeface="Inter SemiBold"/>
                          <a:cs typeface="Inter SemiBold"/>
                          <a:sym typeface="Inter SemiBold"/>
                        </a:rPr>
                        <a:t>Hyperparameter Combo (Mask/Regional Conf/Global Conf/Loss Derating)</a:t>
                      </a:r>
                      <a:endParaRPr b="0" i="0" sz="1000" u="none" strike="noStrike">
                        <a:solidFill>
                          <a:srgbClr val="1E293B"/>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050" u="none" strike="noStrike">
                          <a:solidFill>
                            <a:srgbClr val="334155"/>
                          </a:solidFill>
                          <a:latin typeface="Arial"/>
                          <a:ea typeface="Arial"/>
                          <a:cs typeface="Arial"/>
                          <a:sym typeface="Arial"/>
                        </a:rPr>
                        <a:t>10 / 0.55 / 0.55 / 3</a:t>
                      </a:r>
                      <a:endParaRPr b="0" i="0" sz="1050" u="none" strike="noStrike">
                        <a:solidFill>
                          <a:srgbClr val="334155"/>
                        </a:solidFill>
                        <a:latin typeface="Arial"/>
                        <a:ea typeface="Arial"/>
                        <a:cs typeface="Arial"/>
                        <a:sym typeface="Arial"/>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050" u="none" strike="noStrike">
                          <a:solidFill>
                            <a:srgbClr val="334155"/>
                          </a:solidFill>
                          <a:latin typeface="Arial"/>
                          <a:ea typeface="Arial"/>
                          <a:cs typeface="Arial"/>
                          <a:sym typeface="Arial"/>
                        </a:rPr>
                        <a:t>10 / 0.55 / 0.55 / 3</a:t>
                      </a:r>
                      <a:endParaRPr b="0" i="0" sz="1050" u="none" strike="noStrike">
                        <a:solidFill>
                          <a:srgbClr val="334155"/>
                        </a:solidFill>
                        <a:latin typeface="Arial"/>
                        <a:ea typeface="Arial"/>
                        <a:cs typeface="Arial"/>
                        <a:sym typeface="Arial"/>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000" u="none" strike="noStrike">
                          <a:solidFill>
                            <a:srgbClr val="64748B"/>
                          </a:solidFill>
                          <a:latin typeface="Inter Medium"/>
                          <a:ea typeface="Inter Medium"/>
                          <a:cs typeface="Inter Medium"/>
                          <a:sym typeface="Inter Medium"/>
                        </a:rPr>
                        <a:t>Same</a:t>
                      </a:r>
                      <a:endParaRPr b="0" i="0" sz="1000" u="none" strike="noStrike">
                        <a:solidFill>
                          <a:srgbClr val="64748B"/>
                        </a:solidFill>
                        <a:latin typeface="Inter Medium"/>
                        <a:ea typeface="Inter Medium"/>
                        <a:cs typeface="Inter Medium"/>
                        <a:sym typeface="Inter Medium"/>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1F5F9"/>
                      </a:solidFill>
                      <a:prstDash val="solid"/>
                      <a:round/>
                      <a:headEnd len="sm" w="sm" type="none"/>
                      <a:tailEnd len="sm" w="sm" type="none"/>
                    </a:lnB>
                  </a:tcPr>
                </a:tc>
              </a:tr>
              <a:tr h="503450">
                <a:tc>
                  <a:txBody>
                    <a:bodyPr/>
                    <a:lstStyle/>
                    <a:p>
                      <a:pPr indent="0" lvl="0" marL="0" rtl="0" algn="l">
                        <a:spcBef>
                          <a:spcPts val="0"/>
                        </a:spcBef>
                        <a:spcAft>
                          <a:spcPts val="0"/>
                        </a:spcAft>
                        <a:buNone/>
                      </a:pPr>
                      <a:r>
                        <a:rPr b="1" i="0" lang="zh-TW" sz="1100" u="none" strike="noStrike">
                          <a:solidFill>
                            <a:srgbClr val="0F172A"/>
                          </a:solidFill>
                          <a:latin typeface="Inter"/>
                          <a:ea typeface="Inter"/>
                          <a:cs typeface="Inter"/>
                          <a:sym typeface="Inter"/>
                        </a:rPr>
                        <a:t>Average FPS</a:t>
                      </a:r>
                      <a:endParaRPr b="1" i="0" sz="1100" u="none" strike="noStrike">
                        <a:solidFill>
                          <a:srgbClr val="0F172A"/>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475569"/>
                          </a:solidFill>
                          <a:latin typeface="Inter"/>
                          <a:ea typeface="Inter"/>
                          <a:cs typeface="Inter"/>
                          <a:sym typeface="Inter"/>
                        </a:rPr>
                        <a:t>20.38</a:t>
                      </a:r>
                      <a:endParaRPr b="0"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i="0" lang="zh-TW" sz="1200" u="none" strike="noStrike">
                          <a:solidFill>
                            <a:srgbClr val="166534"/>
                          </a:solidFill>
                          <a:latin typeface="Inter"/>
                          <a:ea typeface="Inter"/>
                          <a:cs typeface="Inter"/>
                          <a:sym typeface="Inter"/>
                        </a:rPr>
                        <a:t>30.62</a:t>
                      </a:r>
                      <a:endParaRPr b="1" i="0" sz="1200" u="none" strike="noStrike">
                        <a:solidFill>
                          <a:srgbClr val="166534"/>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i="0" lang="zh-TW" sz="1050" u="none" strike="noStrike">
                          <a:solidFill>
                            <a:srgbClr val="15803D"/>
                          </a:solidFill>
                          <a:latin typeface="Inter"/>
                          <a:ea typeface="Inter"/>
                          <a:cs typeface="Inter"/>
                          <a:sym typeface="Inter"/>
                        </a:rPr>
                        <a:t>▲ +50.2%</a:t>
                      </a:r>
                      <a:endParaRPr b="1" i="0" sz="1050" u="none" strike="noStrike">
                        <a:solidFill>
                          <a:srgbClr val="15803D"/>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75">
                <a:tc>
                  <a:txBody>
                    <a:bodyPr/>
                    <a:lstStyle/>
                    <a:p>
                      <a:pPr indent="0" lvl="0" marL="0" rtl="0" algn="l">
                        <a:spcBef>
                          <a:spcPts val="0"/>
                        </a:spcBef>
                        <a:spcAft>
                          <a:spcPts val="0"/>
                        </a:spcAft>
                        <a:buNone/>
                      </a:pPr>
                      <a:r>
                        <a:rPr b="0" i="0" lang="zh-TW" sz="1100" u="none" strike="noStrike">
                          <a:solidFill>
                            <a:srgbClr val="1E293B"/>
                          </a:solidFill>
                          <a:latin typeface="Inter SemiBold"/>
                          <a:ea typeface="Inter SemiBold"/>
                          <a:cs typeface="Inter SemiBold"/>
                          <a:sym typeface="Inter SemiBold"/>
                        </a:rPr>
                        <a:t>Precision</a:t>
                      </a:r>
                      <a:endParaRPr b="0" i="0" sz="1100" u="none" strike="noStrike">
                        <a:solidFill>
                          <a:srgbClr val="1E293B"/>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475569"/>
                          </a:solidFill>
                          <a:latin typeface="Inter"/>
                          <a:ea typeface="Inter"/>
                          <a:cs typeface="Inter"/>
                          <a:sym typeface="Inter"/>
                        </a:rPr>
                        <a:t>87.02%</a:t>
                      </a:r>
                      <a:endParaRPr b="0"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i="0" lang="zh-TW" sz="1100" u="none" strike="noStrike">
                          <a:solidFill>
                            <a:srgbClr val="0F172A"/>
                          </a:solidFill>
                          <a:latin typeface="Inter"/>
                          <a:ea typeface="Inter"/>
                          <a:cs typeface="Inter"/>
                          <a:sym typeface="Inter"/>
                        </a:rPr>
                        <a:t>87.87%</a:t>
                      </a:r>
                      <a:endParaRPr b="1" i="0" sz="1100" u="none" strike="noStrike">
                        <a:solidFill>
                          <a:srgbClr val="0F172A"/>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000" u="none" strike="noStrike">
                          <a:solidFill>
                            <a:srgbClr val="16A34A"/>
                          </a:solidFill>
                          <a:latin typeface="Inter SemiBold"/>
                          <a:ea typeface="Inter SemiBold"/>
                          <a:cs typeface="Inter SemiBold"/>
                          <a:sym typeface="Inter SemiBold"/>
                        </a:rPr>
                        <a:t>Slightly Higher</a:t>
                      </a:r>
                      <a:endParaRPr b="0" i="0" sz="1000" u="none" strike="noStrike">
                        <a:solidFill>
                          <a:srgbClr val="16A34A"/>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50">
                <a:tc>
                  <a:txBody>
                    <a:bodyPr/>
                    <a:lstStyle/>
                    <a:p>
                      <a:pPr indent="0" lvl="0" marL="0" rtl="0" algn="l">
                        <a:spcBef>
                          <a:spcPts val="0"/>
                        </a:spcBef>
                        <a:spcAft>
                          <a:spcPts val="0"/>
                        </a:spcAft>
                        <a:buNone/>
                      </a:pPr>
                      <a:r>
                        <a:rPr b="0" i="0" lang="zh-TW" sz="1100" u="none" strike="noStrike">
                          <a:solidFill>
                            <a:srgbClr val="1E293B"/>
                          </a:solidFill>
                          <a:latin typeface="Inter SemiBold"/>
                          <a:ea typeface="Inter SemiBold"/>
                          <a:cs typeface="Inter SemiBold"/>
                          <a:sym typeface="Inter SemiBold"/>
                        </a:rPr>
                        <a:t>Recall</a:t>
                      </a:r>
                      <a:endParaRPr b="0" i="0" sz="1100" u="none" strike="noStrike">
                        <a:solidFill>
                          <a:srgbClr val="1E293B"/>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475569"/>
                          </a:solidFill>
                          <a:latin typeface="Inter"/>
                          <a:ea typeface="Inter"/>
                          <a:cs typeface="Inter"/>
                          <a:sym typeface="Inter"/>
                        </a:rPr>
                        <a:t>67.73%</a:t>
                      </a:r>
                      <a:endParaRPr b="0"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i="0" lang="zh-TW" sz="1100" u="none" strike="noStrike">
                          <a:solidFill>
                            <a:srgbClr val="0F172A"/>
                          </a:solidFill>
                          <a:latin typeface="Inter"/>
                          <a:ea typeface="Inter"/>
                          <a:cs typeface="Inter"/>
                          <a:sym typeface="Inter"/>
                        </a:rPr>
                        <a:t>67.91%</a:t>
                      </a:r>
                      <a:endParaRPr b="1" i="0" sz="1100" u="none" strike="noStrike">
                        <a:solidFill>
                          <a:srgbClr val="0F172A"/>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000" u="none" strike="noStrike">
                          <a:solidFill>
                            <a:srgbClr val="16A34A"/>
                          </a:solidFill>
                          <a:latin typeface="Inter SemiBold"/>
                          <a:ea typeface="Inter SemiBold"/>
                          <a:cs typeface="Inter SemiBold"/>
                          <a:sym typeface="Inter SemiBold"/>
                        </a:rPr>
                        <a:t>Slightly Higher</a:t>
                      </a:r>
                      <a:endParaRPr b="0" i="0" sz="1000" u="none" strike="noStrike">
                        <a:solidFill>
                          <a:srgbClr val="16A34A"/>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75">
                <a:tc>
                  <a:txBody>
                    <a:bodyPr/>
                    <a:lstStyle/>
                    <a:p>
                      <a:pPr indent="0" lvl="0" marL="0" rtl="0" algn="l">
                        <a:spcBef>
                          <a:spcPts val="0"/>
                        </a:spcBef>
                        <a:spcAft>
                          <a:spcPts val="0"/>
                        </a:spcAft>
                        <a:buNone/>
                      </a:pPr>
                      <a:r>
                        <a:rPr b="0" i="0" lang="zh-TW" sz="1100" u="none" strike="noStrike">
                          <a:solidFill>
                            <a:srgbClr val="1E293B"/>
                          </a:solidFill>
                          <a:latin typeface="Inter SemiBold"/>
                          <a:ea typeface="Inter SemiBold"/>
                          <a:cs typeface="Inter SemiBold"/>
                          <a:sym typeface="Inter SemiBold"/>
                        </a:rPr>
                        <a:t>Local Engine Ratio</a:t>
                      </a:r>
                      <a:endParaRPr b="0" i="0" sz="1100" u="none" strike="noStrike">
                        <a:solidFill>
                          <a:srgbClr val="1E293B"/>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475569"/>
                          </a:solidFill>
                          <a:latin typeface="Inter"/>
                          <a:ea typeface="Inter"/>
                          <a:cs typeface="Inter"/>
                          <a:sym typeface="Inter"/>
                        </a:rPr>
                        <a:t>64.2%</a:t>
                      </a:r>
                      <a:endParaRPr b="0"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334155"/>
                          </a:solidFill>
                          <a:latin typeface="Inter"/>
                          <a:ea typeface="Inter"/>
                          <a:cs typeface="Inter"/>
                          <a:sym typeface="Inter"/>
                        </a:rPr>
                        <a:t>63.2%</a:t>
                      </a:r>
                      <a:endParaRPr b="0" i="0" sz="1100" u="none" strike="noStrike">
                        <a:solidFill>
                          <a:srgbClr val="334155"/>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i="0" lang="zh-TW" sz="1000" u="none" strike="noStrike">
                          <a:solidFill>
                            <a:srgbClr val="64748B"/>
                          </a:solidFill>
                          <a:latin typeface="Inter"/>
                          <a:ea typeface="Inter"/>
                          <a:cs typeface="Inter"/>
                          <a:sym typeface="Inter"/>
                        </a:rPr>
                        <a:t>Comparable (-1.0%)</a:t>
                      </a:r>
                      <a:endParaRPr b="0" i="0" sz="1000" u="none" strike="noStrike">
                        <a:solidFill>
                          <a:srgbClr val="64748B"/>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75">
                <a:tc>
                  <a:txBody>
                    <a:bodyPr/>
                    <a:lstStyle/>
                    <a:p>
                      <a:pPr indent="0" lvl="0" marL="0" rtl="0" algn="l">
                        <a:spcBef>
                          <a:spcPts val="0"/>
                        </a:spcBef>
                        <a:spcAft>
                          <a:spcPts val="0"/>
                        </a:spcAft>
                        <a:buNone/>
                      </a:pPr>
                      <a:r>
                        <a:rPr b="0" i="0" lang="zh-TW" sz="1100" u="none" strike="noStrike">
                          <a:solidFill>
                            <a:srgbClr val="1E293B"/>
                          </a:solidFill>
                          <a:latin typeface="Inter SemiBold"/>
                          <a:ea typeface="Inter SemiBold"/>
                          <a:cs typeface="Inter SemiBold"/>
                          <a:sym typeface="Inter SemiBold"/>
                        </a:rPr>
                        <a:t>Global Rescue Ratio</a:t>
                      </a:r>
                      <a:endParaRPr b="0" i="0" sz="1100" u="none" strike="noStrike">
                        <a:solidFill>
                          <a:srgbClr val="1E293B"/>
                        </a:solidFill>
                        <a:latin typeface="Inter SemiBold"/>
                        <a:ea typeface="Inter SemiBold"/>
                        <a:cs typeface="Inter SemiBold"/>
                        <a:sym typeface="Inter SemiBold"/>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475569"/>
                          </a:solidFill>
                          <a:latin typeface="Inter"/>
                          <a:ea typeface="Inter"/>
                          <a:cs typeface="Inter"/>
                          <a:sym typeface="Inter"/>
                        </a:rPr>
                        <a:t>26.2%</a:t>
                      </a:r>
                      <a:endParaRPr b="0" i="0" sz="1100" u="none" strike="noStrike">
                        <a:solidFill>
                          <a:srgbClr val="475569"/>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0" i="0" lang="zh-TW" sz="1100" u="none" strike="noStrike">
                          <a:solidFill>
                            <a:srgbClr val="334155"/>
                          </a:solidFill>
                          <a:latin typeface="Inter"/>
                          <a:ea typeface="Inter"/>
                          <a:cs typeface="Inter"/>
                          <a:sym typeface="Inter"/>
                        </a:rPr>
                        <a:t>26.8%</a:t>
                      </a:r>
                      <a:endParaRPr b="0" i="0" sz="1100" u="none" strike="noStrike">
                        <a:solidFill>
                          <a:srgbClr val="334155"/>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0" i="0" lang="zh-TW" sz="1000" u="none" strike="noStrike">
                          <a:solidFill>
                            <a:srgbClr val="64748B"/>
                          </a:solidFill>
                          <a:latin typeface="Inter"/>
                          <a:ea typeface="Inter"/>
                          <a:cs typeface="Inter"/>
                          <a:sym typeface="Inter"/>
                        </a:rPr>
                        <a:t>Comparable (+0.6%)</a:t>
                      </a:r>
                      <a:endParaRPr b="0" i="0" sz="1000" u="none" strike="noStrike">
                        <a:solidFill>
                          <a:srgbClr val="64748B"/>
                        </a:solidFill>
                        <a:latin typeface="Inter"/>
                        <a:ea typeface="Inter"/>
                        <a:cs typeface="Inter"/>
                        <a:sym typeface="Inter"/>
                      </a:endParaRPr>
                    </a:p>
                  </a:txBody>
                  <a:tcPr marT="95250" marB="952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1F5F9"/>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grpSp>
        <p:nvGrpSpPr>
          <p:cNvPr id="516" name="Google Shape;516;p39"/>
          <p:cNvGrpSpPr/>
          <p:nvPr/>
        </p:nvGrpSpPr>
        <p:grpSpPr>
          <a:xfrm>
            <a:off x="-476250" y="-857250"/>
            <a:ext cx="10477500" cy="6381750"/>
            <a:chOff x="-476250" y="-857250"/>
            <a:chExt cx="10477500" cy="6381750"/>
          </a:xfrm>
        </p:grpSpPr>
        <p:sp>
          <p:nvSpPr>
            <p:cNvPr id="517" name="Google Shape;517;p3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8" name="Google Shape;518;p3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3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39"/>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21" name="Google Shape;521;p39"/>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2015">
                <a:solidFill>
                  <a:srgbClr val="1E293B"/>
                </a:solidFill>
                <a:latin typeface="Inter"/>
                <a:ea typeface="Inter"/>
                <a:cs typeface="Inter"/>
                <a:sym typeface="Inter"/>
              </a:rPr>
              <a:t>64×64 vs 128×128 Performance in Extreme Cases Under Optimal Data</a:t>
            </a:r>
            <a:endParaRPr b="1" i="0" sz="2015">
              <a:solidFill>
                <a:srgbClr val="1E293B"/>
              </a:solidFill>
              <a:latin typeface="Inter"/>
              <a:ea typeface="Inter"/>
              <a:cs typeface="Inter"/>
              <a:sym typeface="Inter"/>
            </a:endParaRPr>
          </a:p>
        </p:txBody>
      </p:sp>
      <p:pic>
        <p:nvPicPr>
          <p:cNvPr id="522" name="Google Shape;522;p39" title="realtime_64_smooth_1_10_12.gif"/>
          <p:cNvPicPr preferRelativeResize="0"/>
          <p:nvPr/>
        </p:nvPicPr>
        <p:blipFill>
          <a:blip r:embed="rId3">
            <a:alphaModFix/>
          </a:blip>
          <a:stretch>
            <a:fillRect/>
          </a:stretch>
        </p:blipFill>
        <p:spPr>
          <a:xfrm>
            <a:off x="41125" y="1895275"/>
            <a:ext cx="4479750" cy="2523800"/>
          </a:xfrm>
          <a:prstGeom prst="rect">
            <a:avLst/>
          </a:prstGeom>
          <a:noFill/>
          <a:ln>
            <a:noFill/>
          </a:ln>
        </p:spPr>
      </p:pic>
      <p:pic>
        <p:nvPicPr>
          <p:cNvPr id="523" name="Google Shape;523;p39" title="realtime_128_smooth_1_10_12.gif"/>
          <p:cNvPicPr preferRelativeResize="0"/>
          <p:nvPr/>
        </p:nvPicPr>
        <p:blipFill>
          <a:blip r:embed="rId4">
            <a:alphaModFix/>
          </a:blip>
          <a:stretch>
            <a:fillRect/>
          </a:stretch>
        </p:blipFill>
        <p:spPr>
          <a:xfrm>
            <a:off x="4572000" y="1895275"/>
            <a:ext cx="4479750" cy="252380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7" name="Shape 527"/>
        <p:cNvGrpSpPr/>
        <p:nvPr/>
      </p:nvGrpSpPr>
      <p:grpSpPr>
        <a:xfrm>
          <a:off x="0" y="0"/>
          <a:ext cx="0" cy="0"/>
          <a:chOff x="0" y="0"/>
          <a:chExt cx="0" cy="0"/>
        </a:xfrm>
      </p:grpSpPr>
      <p:grpSp>
        <p:nvGrpSpPr>
          <p:cNvPr id="528" name="Google Shape;528;p40"/>
          <p:cNvGrpSpPr/>
          <p:nvPr/>
        </p:nvGrpSpPr>
        <p:grpSpPr>
          <a:xfrm>
            <a:off x="-476250" y="-857250"/>
            <a:ext cx="10477500" cy="6381750"/>
            <a:chOff x="-476250" y="-857250"/>
            <a:chExt cx="10477500" cy="6381750"/>
          </a:xfrm>
        </p:grpSpPr>
        <p:sp>
          <p:nvSpPr>
            <p:cNvPr id="529" name="Google Shape;529;p4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4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4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32" name="Google Shape;532;p40"/>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Conclusion</a:t>
            </a:r>
            <a:endParaRPr b="1" sz="4400">
              <a:solidFill>
                <a:srgbClr val="1E293B"/>
              </a:solidFill>
              <a:latin typeface="Oswald"/>
              <a:ea typeface="Oswald"/>
              <a:cs typeface="Oswald"/>
              <a:sym typeface="Oswald"/>
            </a:endParaRPr>
          </a:p>
        </p:txBody>
      </p:sp>
      <p:sp>
        <p:nvSpPr>
          <p:cNvPr id="533" name="Google Shape;533;p40"/>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7" name="Shape 537"/>
        <p:cNvGrpSpPr/>
        <p:nvPr/>
      </p:nvGrpSpPr>
      <p:grpSpPr>
        <a:xfrm>
          <a:off x="0" y="0"/>
          <a:ext cx="0" cy="0"/>
          <a:chOff x="0" y="0"/>
          <a:chExt cx="0" cy="0"/>
        </a:xfrm>
      </p:grpSpPr>
      <p:grpSp>
        <p:nvGrpSpPr>
          <p:cNvPr id="538" name="Google Shape;538;p41"/>
          <p:cNvGrpSpPr/>
          <p:nvPr/>
        </p:nvGrpSpPr>
        <p:grpSpPr>
          <a:xfrm>
            <a:off x="-476250" y="-857250"/>
            <a:ext cx="10477500" cy="6381750"/>
            <a:chOff x="-476250" y="-857250"/>
            <a:chExt cx="10477500" cy="6381750"/>
          </a:xfrm>
        </p:grpSpPr>
        <p:sp>
          <p:nvSpPr>
            <p:cNvPr id="539" name="Google Shape;539;p4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4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4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41"/>
            <p:cNvSpPr/>
            <p:nvPr/>
          </p:nvSpPr>
          <p:spPr>
            <a:xfrm>
              <a:off x="571500" y="8382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43" name="Google Shape;543;p41"/>
          <p:cNvSpPr txBox="1"/>
          <p:nvPr>
            <p:ph type="title"/>
          </p:nvPr>
        </p:nvSpPr>
        <p:spPr>
          <a:xfrm>
            <a:off x="571500" y="304800"/>
            <a:ext cx="8001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2600">
                <a:solidFill>
                  <a:srgbClr val="1E293B"/>
                </a:solidFill>
                <a:latin typeface="Inter"/>
                <a:ea typeface="Inter"/>
                <a:cs typeface="Inter"/>
                <a:sym typeface="Inter"/>
              </a:rPr>
              <a:t>Conclusion</a:t>
            </a:r>
            <a:endParaRPr b="1" i="0" sz="2600">
              <a:solidFill>
                <a:srgbClr val="1E293B"/>
              </a:solidFill>
              <a:latin typeface="Inter"/>
              <a:ea typeface="Inter"/>
              <a:cs typeface="Inter"/>
              <a:sym typeface="Inter"/>
            </a:endParaRPr>
          </a:p>
        </p:txBody>
      </p:sp>
      <p:grpSp>
        <p:nvGrpSpPr>
          <p:cNvPr id="544" name="Google Shape;544;p41"/>
          <p:cNvGrpSpPr/>
          <p:nvPr/>
        </p:nvGrpSpPr>
        <p:grpSpPr>
          <a:xfrm>
            <a:off x="571500" y="1000125"/>
            <a:ext cx="8001000" cy="1095300"/>
            <a:chOff x="0" y="0"/>
            <a:chExt cx="8001000" cy="1095300"/>
          </a:xfrm>
        </p:grpSpPr>
        <p:sp>
          <p:nvSpPr>
            <p:cNvPr id="545" name="Google Shape;545;p41"/>
            <p:cNvSpPr/>
            <p:nvPr/>
          </p:nvSpPr>
          <p:spPr>
            <a:xfrm>
              <a:off x="0" y="0"/>
              <a:ext cx="8001000" cy="1095300"/>
            </a:xfrm>
            <a:prstGeom prst="roundRect">
              <a:avLst>
                <a:gd fmla="val 869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41"/>
            <p:cNvSpPr/>
            <p:nvPr/>
          </p:nvSpPr>
          <p:spPr>
            <a:xfrm>
              <a:off x="190500" y="171450"/>
              <a:ext cx="342900" cy="342900"/>
            </a:xfrm>
            <a:prstGeom prst="roundRect">
              <a:avLst>
                <a:gd fmla="val 22222"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7" name="Google Shape;547;p41"/>
            <p:cNvSpPr txBox="1"/>
            <p:nvPr/>
          </p:nvSpPr>
          <p:spPr>
            <a:xfrm>
              <a:off x="685800" y="114300"/>
              <a:ext cx="7124700" cy="8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0F172A"/>
                  </a:solidFill>
                  <a:latin typeface="Inter"/>
                  <a:ea typeface="Inter"/>
                  <a:cs typeface="Inter"/>
                  <a:sym typeface="Inter"/>
                </a:rPr>
                <a:t>System &amp; Architecture Innovation</a:t>
              </a:r>
              <a:endParaRPr b="1" sz="1300">
                <a:solidFill>
                  <a:srgbClr val="0F172A"/>
                </a:solidFill>
                <a:latin typeface="Inter"/>
                <a:ea typeface="Inter"/>
                <a:cs typeface="Inter"/>
                <a:sym typeface="Inter"/>
              </a:endParaRPr>
            </a:p>
            <a:p>
              <a:pPr indent="-295275" lvl="0" marL="457200" rtl="0" algn="l">
                <a:spcBef>
                  <a:spcPts val="300"/>
                </a:spcBef>
                <a:spcAft>
                  <a:spcPts val="0"/>
                </a:spcAft>
                <a:buClr>
                  <a:srgbClr val="475569"/>
                </a:buClr>
                <a:buSzPts val="1050"/>
                <a:buFont typeface="Inter"/>
                <a:buChar char="●"/>
              </a:pPr>
              <a:r>
                <a:rPr b="0" lang="zh-TW" sz="1050">
                  <a:solidFill>
                    <a:srgbClr val="475569"/>
                  </a:solidFill>
                  <a:latin typeface="Inter"/>
                  <a:ea typeface="Inter"/>
                  <a:cs typeface="Inter"/>
                  <a:sym typeface="Inter"/>
                </a:rPr>
                <a:t>MiniROI U-Net distilled from TrackNetV4 for edge devices (NVIDIA Jetson Nano)</a:t>
              </a:r>
              <a:endParaRPr b="0" sz="1050">
                <a:solidFill>
                  <a:srgbClr val="475569"/>
                </a:solidFill>
                <a:latin typeface="Inter"/>
                <a:ea typeface="Inter"/>
                <a:cs typeface="Inter"/>
                <a:sym typeface="Inter"/>
              </a:endParaRPr>
            </a:p>
            <a:p>
              <a:pPr indent="-295275" lvl="0" marL="457200" rtl="0" algn="l">
                <a:spcBef>
                  <a:spcPts val="150"/>
                </a:spcBef>
                <a:spcAft>
                  <a:spcPts val="0"/>
                </a:spcAft>
                <a:buClr>
                  <a:srgbClr val="475569"/>
                </a:buClr>
                <a:buSzPts val="1050"/>
                <a:buFont typeface="Inter"/>
                <a:buChar char="●"/>
              </a:pPr>
              <a:r>
                <a:rPr b="0" lang="zh-TW" sz="1050">
                  <a:solidFill>
                    <a:srgbClr val="475569"/>
                  </a:solidFill>
                  <a:latin typeface="Inter"/>
                  <a:ea typeface="Inter"/>
                  <a:cs typeface="Inter"/>
                  <a:sym typeface="Inter"/>
                </a:rPr>
                <a:t>Dual TensorRT Engines: 128×128 local cruise &amp; 512×288 global search from unified weights</a:t>
              </a:r>
              <a:endParaRPr b="0" sz="1050">
                <a:solidFill>
                  <a:srgbClr val="475569"/>
                </a:solidFill>
                <a:latin typeface="Inter"/>
                <a:ea typeface="Inter"/>
                <a:cs typeface="Inter"/>
                <a:sym typeface="Inter"/>
              </a:endParaRPr>
            </a:p>
            <a:p>
              <a:pPr indent="-295275" lvl="0" marL="457200" rtl="0" algn="l">
                <a:spcBef>
                  <a:spcPts val="150"/>
                </a:spcBef>
                <a:spcAft>
                  <a:spcPts val="0"/>
                </a:spcAft>
                <a:buClr>
                  <a:srgbClr val="475569"/>
                </a:buClr>
                <a:buSzPts val="1050"/>
                <a:buFont typeface="Inter"/>
                <a:buChar char="●"/>
              </a:pPr>
              <a:r>
                <a:rPr b="0" lang="zh-TW" sz="1050">
                  <a:solidFill>
                    <a:srgbClr val="475569"/>
                  </a:solidFill>
                  <a:latin typeface="Inter"/>
                  <a:ea typeface="Inter"/>
                  <a:cs typeface="Inter"/>
                  <a:sym typeface="Inter"/>
                </a:rPr>
                <a:t>4-Phase Dynamic FSM: State switching (Init, Cruise, Recovery, Re-handover) for robust tracking</a:t>
              </a:r>
              <a:endParaRPr b="0" sz="1050">
                <a:solidFill>
                  <a:srgbClr val="475569"/>
                </a:solidFill>
                <a:latin typeface="Inter"/>
                <a:ea typeface="Inter"/>
                <a:cs typeface="Inter"/>
                <a:sym typeface="Inter"/>
              </a:endParaRPr>
            </a:p>
          </p:txBody>
        </p:sp>
      </p:grpSp>
      <p:grpSp>
        <p:nvGrpSpPr>
          <p:cNvPr id="548" name="Google Shape;548;p41"/>
          <p:cNvGrpSpPr/>
          <p:nvPr/>
        </p:nvGrpSpPr>
        <p:grpSpPr>
          <a:xfrm>
            <a:off x="571500" y="2238375"/>
            <a:ext cx="8001000" cy="1095300"/>
            <a:chOff x="0" y="0"/>
            <a:chExt cx="8001000" cy="1095300"/>
          </a:xfrm>
        </p:grpSpPr>
        <p:sp>
          <p:nvSpPr>
            <p:cNvPr id="549" name="Google Shape;549;p41"/>
            <p:cNvSpPr/>
            <p:nvPr/>
          </p:nvSpPr>
          <p:spPr>
            <a:xfrm>
              <a:off x="0" y="0"/>
              <a:ext cx="8001000" cy="1095300"/>
            </a:xfrm>
            <a:prstGeom prst="roundRect">
              <a:avLst>
                <a:gd fmla="val 869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41"/>
            <p:cNvSpPr/>
            <p:nvPr/>
          </p:nvSpPr>
          <p:spPr>
            <a:xfrm>
              <a:off x="190500" y="171450"/>
              <a:ext cx="342900" cy="342900"/>
            </a:xfrm>
            <a:prstGeom prst="roundRect">
              <a:avLst>
                <a:gd fmla="val 22222"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41"/>
            <p:cNvSpPr txBox="1"/>
            <p:nvPr/>
          </p:nvSpPr>
          <p:spPr>
            <a:xfrm>
              <a:off x="685800" y="114300"/>
              <a:ext cx="7124700" cy="8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203">
                  <a:solidFill>
                    <a:srgbClr val="0F172A"/>
                  </a:solidFill>
                  <a:latin typeface="Inter"/>
                  <a:ea typeface="Inter"/>
                  <a:cs typeface="Inter"/>
                  <a:sym typeface="Inter"/>
                </a:rPr>
                <a:t>Experimental Performance &amp; Results</a:t>
              </a:r>
              <a:endParaRPr b="1" sz="1203">
                <a:solidFill>
                  <a:srgbClr val="0F172A"/>
                </a:solidFill>
                <a:latin typeface="Inter"/>
                <a:ea typeface="Inter"/>
                <a:cs typeface="Inter"/>
                <a:sym typeface="Inter"/>
              </a:endParaRPr>
            </a:p>
            <a:p>
              <a:pPr indent="-290274" lvl="0" marL="457200" rtl="0" algn="l">
                <a:spcBef>
                  <a:spcPts val="300"/>
                </a:spcBef>
                <a:spcAft>
                  <a:spcPts val="0"/>
                </a:spcAft>
                <a:buClr>
                  <a:srgbClr val="475569"/>
                </a:buClr>
                <a:buSzPts val="971"/>
                <a:buFont typeface="Inter"/>
                <a:buChar char="●"/>
              </a:pPr>
              <a:r>
                <a:rPr b="0" lang="zh-TW" sz="971">
                  <a:solidFill>
                    <a:srgbClr val="475569"/>
                  </a:solidFill>
                  <a:latin typeface="Inter"/>
                  <a:ea typeface="Inter"/>
                  <a:cs typeface="Inter"/>
                  <a:sym typeface="Inter"/>
                </a:rPr>
                <a:t>Real-Time Speed: Sub-33ms end-to-end processing delay (&gt;30 FPS edge tracking)</a:t>
              </a:r>
              <a:endParaRPr b="0" sz="971">
                <a:solidFill>
                  <a:srgbClr val="475569"/>
                </a:solidFill>
                <a:latin typeface="Inter"/>
                <a:ea typeface="Inter"/>
                <a:cs typeface="Inter"/>
                <a:sym typeface="Inter"/>
              </a:endParaRPr>
            </a:p>
            <a:p>
              <a:pPr indent="-290274" lvl="0" marL="457200" rtl="0" algn="l">
                <a:spcBef>
                  <a:spcPts val="150"/>
                </a:spcBef>
                <a:spcAft>
                  <a:spcPts val="0"/>
                </a:spcAft>
                <a:buClr>
                  <a:srgbClr val="475569"/>
                </a:buClr>
                <a:buSzPts val="971"/>
                <a:buFont typeface="Inter"/>
                <a:buChar char="●"/>
              </a:pPr>
              <a:r>
                <a:rPr b="0" lang="zh-TW" sz="971">
                  <a:solidFill>
                    <a:srgbClr val="475569"/>
                  </a:solidFill>
                  <a:latin typeface="Inter"/>
                  <a:ea typeface="Inter"/>
                  <a:cs typeface="Inter"/>
                  <a:sym typeface="Inter"/>
                </a:rPr>
                <a:t>Zero Reallocation Overhead: Dual fixed-engine strategy eliminates dynamic GPU memory latency</a:t>
              </a:r>
              <a:endParaRPr b="0" sz="971">
                <a:solidFill>
                  <a:srgbClr val="475569"/>
                </a:solidFill>
                <a:latin typeface="Inter"/>
                <a:ea typeface="Inter"/>
                <a:cs typeface="Inter"/>
                <a:sym typeface="Inter"/>
              </a:endParaRPr>
            </a:p>
            <a:p>
              <a:pPr indent="-290274" lvl="0" marL="457200" rtl="0" algn="l">
                <a:spcBef>
                  <a:spcPts val="150"/>
                </a:spcBef>
                <a:spcAft>
                  <a:spcPts val="0"/>
                </a:spcAft>
                <a:buClr>
                  <a:srgbClr val="475569"/>
                </a:buClr>
                <a:buSzPts val="971"/>
                <a:buFont typeface="Inter"/>
                <a:buChar char="●"/>
              </a:pPr>
              <a:r>
                <a:rPr b="0" lang="zh-TW" sz="971">
                  <a:solidFill>
                    <a:srgbClr val="475569"/>
                  </a:solidFill>
                  <a:latin typeface="Inter"/>
                  <a:ea typeface="Inter"/>
                  <a:cs typeface="Inter"/>
                  <a:sym typeface="Inter"/>
                </a:rPr>
                <a:t>High Robustness: Miss=3 buffer absorbs confidence dips, avoiding severe search state FPS drops (4.76 FPS)</a:t>
              </a:r>
              <a:endParaRPr b="0" sz="971">
                <a:solidFill>
                  <a:srgbClr val="475569"/>
                </a:solidFill>
                <a:latin typeface="Inter"/>
                <a:ea typeface="Inter"/>
                <a:cs typeface="Inter"/>
                <a:sym typeface="Inter"/>
              </a:endParaRPr>
            </a:p>
          </p:txBody>
        </p:sp>
      </p:grpSp>
      <p:grpSp>
        <p:nvGrpSpPr>
          <p:cNvPr id="552" name="Google Shape;552;p41"/>
          <p:cNvGrpSpPr/>
          <p:nvPr/>
        </p:nvGrpSpPr>
        <p:grpSpPr>
          <a:xfrm>
            <a:off x="571500" y="3476625"/>
            <a:ext cx="8001000" cy="1095300"/>
            <a:chOff x="0" y="0"/>
            <a:chExt cx="8001000" cy="1095300"/>
          </a:xfrm>
        </p:grpSpPr>
        <p:sp>
          <p:nvSpPr>
            <p:cNvPr id="553" name="Google Shape;553;p41"/>
            <p:cNvSpPr/>
            <p:nvPr/>
          </p:nvSpPr>
          <p:spPr>
            <a:xfrm>
              <a:off x="0" y="0"/>
              <a:ext cx="8001000" cy="1095300"/>
            </a:xfrm>
            <a:prstGeom prst="roundRect">
              <a:avLst>
                <a:gd fmla="val 869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41"/>
            <p:cNvSpPr/>
            <p:nvPr/>
          </p:nvSpPr>
          <p:spPr>
            <a:xfrm>
              <a:off x="190500" y="171450"/>
              <a:ext cx="342900" cy="342900"/>
            </a:xfrm>
            <a:prstGeom prst="roundRect">
              <a:avLst>
                <a:gd fmla="val 22222"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41"/>
            <p:cNvSpPr txBox="1"/>
            <p:nvPr/>
          </p:nvSpPr>
          <p:spPr>
            <a:xfrm>
              <a:off x="685800" y="114300"/>
              <a:ext cx="7124700" cy="8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0F172A"/>
                  </a:solidFill>
                  <a:latin typeface="Inter"/>
                  <a:ea typeface="Inter"/>
                  <a:cs typeface="Inter"/>
                  <a:sym typeface="Inter"/>
                </a:rPr>
                <a:t>Future Research Directions</a:t>
              </a:r>
              <a:endParaRPr b="1" sz="1300">
                <a:solidFill>
                  <a:srgbClr val="0F172A"/>
                </a:solidFill>
                <a:latin typeface="Inter"/>
                <a:ea typeface="Inter"/>
                <a:cs typeface="Inter"/>
                <a:sym typeface="Inter"/>
              </a:endParaRPr>
            </a:p>
            <a:p>
              <a:pPr indent="-295275" lvl="0" marL="457200" rtl="0" algn="l">
                <a:spcBef>
                  <a:spcPts val="300"/>
                </a:spcBef>
                <a:spcAft>
                  <a:spcPts val="0"/>
                </a:spcAft>
                <a:buClr>
                  <a:srgbClr val="475569"/>
                </a:buClr>
                <a:buSzPts val="1050"/>
                <a:buFont typeface="Inter"/>
                <a:buChar char="●"/>
              </a:pPr>
              <a:r>
                <a:rPr b="0" lang="zh-TW" sz="1050">
                  <a:solidFill>
                    <a:srgbClr val="475569"/>
                  </a:solidFill>
                  <a:latin typeface="Inter"/>
                  <a:ea typeface="Inter"/>
                  <a:cs typeface="Inter"/>
                  <a:sym typeface="Inter"/>
                </a:rPr>
                <a:t>Hard Negative Mining: Enhance 512×288 global dataset to reduce false positives in complex scenes</a:t>
              </a:r>
              <a:endParaRPr b="0" sz="1050">
                <a:solidFill>
                  <a:srgbClr val="475569"/>
                </a:solidFill>
                <a:latin typeface="Inter"/>
                <a:ea typeface="Inter"/>
                <a:cs typeface="Inter"/>
                <a:sym typeface="Inter"/>
              </a:endParaRPr>
            </a:p>
            <a:p>
              <a:pPr indent="-295275" lvl="0" marL="457200" rtl="0" algn="l">
                <a:spcBef>
                  <a:spcPts val="150"/>
                </a:spcBef>
                <a:spcAft>
                  <a:spcPts val="0"/>
                </a:spcAft>
                <a:buClr>
                  <a:srgbClr val="475569"/>
                </a:buClr>
                <a:buSzPts val="1050"/>
                <a:buFont typeface="Inter"/>
                <a:buChar char="●"/>
              </a:pPr>
              <a:r>
                <a:rPr b="0" lang="zh-TW" sz="1050">
                  <a:solidFill>
                    <a:srgbClr val="475569"/>
                  </a:solidFill>
                  <a:latin typeface="Inter"/>
                  <a:ea typeface="Inter"/>
                  <a:cs typeface="Inter"/>
                  <a:sym typeface="Inter"/>
                </a:rPr>
                <a:t>3D Trajectory Reconstruction: Integrate multi-camera setup for 3D spatial transformation and tactical analysis</a:t>
              </a:r>
              <a:endParaRPr b="0" sz="1050">
                <a:solidFill>
                  <a:srgbClr val="475569"/>
                </a:solidFill>
                <a:latin typeface="Inter"/>
                <a:ea typeface="Inter"/>
                <a:cs typeface="Inter"/>
                <a:sym typeface="Inte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a:t>最新版備用PPT</a:t>
            </a:r>
            <a:endParaRPr/>
          </a:p>
        </p:txBody>
      </p:sp>
      <p:sp>
        <p:nvSpPr>
          <p:cNvPr id="561" name="Google Shape;561;p4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5" name="Shape 565"/>
        <p:cNvGrpSpPr/>
        <p:nvPr/>
      </p:nvGrpSpPr>
      <p:grpSpPr>
        <a:xfrm>
          <a:off x="0" y="0"/>
          <a:ext cx="0" cy="0"/>
          <a:chOff x="0" y="0"/>
          <a:chExt cx="0" cy="0"/>
        </a:xfrm>
      </p:grpSpPr>
      <p:grpSp>
        <p:nvGrpSpPr>
          <p:cNvPr id="566" name="Google Shape;566;p43"/>
          <p:cNvGrpSpPr/>
          <p:nvPr/>
        </p:nvGrpSpPr>
        <p:grpSpPr>
          <a:xfrm>
            <a:off x="0" y="-857250"/>
            <a:ext cx="10001250" cy="2857500"/>
            <a:chOff x="0" y="-857250"/>
            <a:chExt cx="10001250" cy="2857500"/>
          </a:xfrm>
        </p:grpSpPr>
        <p:sp>
          <p:nvSpPr>
            <p:cNvPr id="567" name="Google Shape;567;p4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43"/>
            <p:cNvSpPr/>
            <p:nvPr/>
          </p:nvSpPr>
          <p:spPr>
            <a:xfrm>
              <a:off x="0" y="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43"/>
            <p:cNvSpPr/>
            <p:nvPr/>
          </p:nvSpPr>
          <p:spPr>
            <a:xfrm>
              <a:off x="381000" y="8096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70" name="Google Shape;570;p43"/>
          <p:cNvGrpSpPr/>
          <p:nvPr/>
        </p:nvGrpSpPr>
        <p:grpSpPr>
          <a:xfrm>
            <a:off x="381000" y="1000125"/>
            <a:ext cx="8382000" cy="3857700"/>
            <a:chOff x="381000" y="1000125"/>
            <a:chExt cx="8382000" cy="3857700"/>
          </a:xfrm>
        </p:grpSpPr>
        <p:sp>
          <p:nvSpPr>
            <p:cNvPr id="571" name="Google Shape;571;p43"/>
            <p:cNvSpPr/>
            <p:nvPr/>
          </p:nvSpPr>
          <p:spPr>
            <a:xfrm>
              <a:off x="381000" y="1000125"/>
              <a:ext cx="2590800" cy="3857700"/>
            </a:xfrm>
            <a:prstGeom prst="roundRect">
              <a:avLst>
                <a:gd fmla="val 36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43"/>
            <p:cNvSpPr/>
            <p:nvPr/>
          </p:nvSpPr>
          <p:spPr>
            <a:xfrm>
              <a:off x="381000" y="1000125"/>
              <a:ext cx="25908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43"/>
            <p:cNvSpPr txBox="1"/>
            <p:nvPr/>
          </p:nvSpPr>
          <p:spPr>
            <a:xfrm>
              <a:off x="514350" y="1143000"/>
              <a:ext cx="2324100" cy="35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250">
                  <a:solidFill>
                    <a:srgbClr val="0F172A"/>
                  </a:solidFill>
                  <a:latin typeface="Inter"/>
                  <a:ea typeface="Inter"/>
                  <a:cs typeface="Inter"/>
                  <a:sym typeface="Inter"/>
                </a:rPr>
                <a:t>1. Dual Engines &amp; Dynamic Switching</a:t>
              </a:r>
              <a:endParaRPr b="1" sz="1250">
                <a:solidFill>
                  <a:srgbClr val="0F172A"/>
                </a:solidFill>
                <a:latin typeface="Inter"/>
                <a:ea typeface="Inter"/>
                <a:cs typeface="Inter"/>
                <a:sym typeface="Inter"/>
              </a:endParaRPr>
            </a:p>
            <a:p>
              <a:pPr indent="0" lvl="0" marL="0" rtl="0" algn="l">
                <a:spcBef>
                  <a:spcPts val="450"/>
                </a:spcBef>
                <a:spcAft>
                  <a:spcPts val="0"/>
                </a:spcAft>
                <a:buNone/>
              </a:pPr>
              <a:r>
                <a:rPr b="0" lang="zh-TW" sz="850">
                  <a:solidFill>
                    <a:srgbClr val="1D4ED8"/>
                  </a:solidFill>
                  <a:highlight>
                    <a:srgbClr val="EFF6FF"/>
                  </a:highlight>
                  <a:latin typeface="Inter SemiBold"/>
                  <a:ea typeface="Inter SemiBold"/>
                  <a:cs typeface="Inter SemiBold"/>
                  <a:sym typeface="Inter SemiBold"/>
                </a:rPr>
                <a:t>Solving "High-Speed Shuttlecock Out-of-Bounds"</a:t>
              </a:r>
              <a:endParaRPr b="0" sz="850">
                <a:solidFill>
                  <a:srgbClr val="1D4ED8"/>
                </a:solidFill>
                <a:highlight>
                  <a:srgbClr val="EFF6FF"/>
                </a:highlight>
                <a:latin typeface="Inter SemiBold"/>
                <a:ea typeface="Inter SemiBold"/>
                <a:cs typeface="Inter SemiBold"/>
                <a:sym typeface="Inter SemiBold"/>
              </a:endParaRPr>
            </a:p>
            <a:p>
              <a:pPr indent="0" lvl="0" marL="0" rtl="0" algn="l">
                <a:spcBef>
                  <a:spcPts val="900"/>
                </a:spcBef>
                <a:spcAft>
                  <a:spcPts val="0"/>
                </a:spcAft>
                <a:buNone/>
              </a:pPr>
              <a:r>
                <a:rPr b="1" lang="zh-TW" sz="950">
                  <a:solidFill>
                    <a:srgbClr val="0F172A"/>
                  </a:solidFill>
                  <a:latin typeface="Inter"/>
                  <a:ea typeface="Inter"/>
                  <a:cs typeface="Inter"/>
                  <a:sym typeface="Inter"/>
                </a:rPr>
                <a:t>1. Single Weight Reuse (FCN)</a:t>
              </a:r>
              <a:endParaRPr b="1" sz="950">
                <a:solidFill>
                  <a:srgbClr val="0F172A"/>
                </a:solidFill>
                <a:latin typeface="Inter"/>
                <a:ea typeface="Inter"/>
                <a:cs typeface="Inter"/>
                <a:sym typeface="Inter"/>
              </a:endParaRPr>
            </a:p>
            <a:p>
              <a:pPr indent="0" lvl="0" marL="0" rtl="0" algn="l">
                <a:spcBef>
                  <a:spcPts val="150"/>
                </a:spcBef>
                <a:spcAft>
                  <a:spcPts val="0"/>
                </a:spcAft>
                <a:buNone/>
              </a:pPr>
              <a:r>
                <a:rPr b="0" lang="zh-TW" sz="850">
                  <a:solidFill>
                    <a:srgbClr val="475569"/>
                  </a:solidFill>
                  <a:latin typeface="Inter"/>
                  <a:ea typeface="Inter"/>
                  <a:cs typeface="Inter"/>
                  <a:sym typeface="Inter"/>
                </a:rPr>
                <a:t>Uses FCN without fixed input sizes, enabling single-weight reuse to handle both local and global search.</a:t>
              </a:r>
              <a:endParaRPr b="0" sz="850">
                <a:solidFill>
                  <a:srgbClr val="475569"/>
                </a:solidFill>
                <a:latin typeface="Inter"/>
                <a:ea typeface="Inter"/>
                <a:cs typeface="Inter"/>
                <a:sym typeface="Inter"/>
              </a:endParaRPr>
            </a:p>
            <a:p>
              <a:pPr indent="0" lvl="0" marL="0" rtl="0" algn="l">
                <a:spcBef>
                  <a:spcPts val="750"/>
                </a:spcBef>
                <a:spcAft>
                  <a:spcPts val="0"/>
                </a:spcAft>
                <a:buNone/>
              </a:pPr>
              <a:r>
                <a:rPr b="1" lang="zh-TW" sz="950">
                  <a:solidFill>
                    <a:srgbClr val="0F172A"/>
                  </a:solidFill>
                  <a:latin typeface="Inter"/>
                  <a:ea typeface="Inter"/>
                  <a:cs typeface="Inter"/>
                  <a:sym typeface="Inter"/>
                </a:rPr>
                <a:t>2. FSM</a:t>
              </a:r>
              <a:endParaRPr b="1" sz="950">
                <a:solidFill>
                  <a:srgbClr val="0F172A"/>
                </a:solidFill>
                <a:latin typeface="Inter"/>
                <a:ea typeface="Inter"/>
                <a:cs typeface="Inter"/>
                <a:sym typeface="Inter"/>
              </a:endParaRPr>
            </a:p>
            <a:p>
              <a:pPr indent="0" lvl="0" marL="0" rtl="0" algn="l">
                <a:spcBef>
                  <a:spcPts val="150"/>
                </a:spcBef>
                <a:spcAft>
                  <a:spcPts val="0"/>
                </a:spcAft>
                <a:buNone/>
              </a:pPr>
              <a:r>
                <a:rPr b="0" lang="zh-TW" sz="850">
                  <a:solidFill>
                    <a:srgbClr val="475569"/>
                  </a:solidFill>
                  <a:latin typeface="Inter"/>
                  <a:ea typeface="Inter"/>
                  <a:cs typeface="Inter"/>
                  <a:sym typeface="Inter"/>
                </a:rPr>
                <a:t>Utilizes a Finite State Machine (FSM) to determine the current tracking state.</a:t>
              </a:r>
              <a:endParaRPr b="0" sz="850">
                <a:solidFill>
                  <a:srgbClr val="475569"/>
                </a:solidFill>
                <a:latin typeface="Inter"/>
                <a:ea typeface="Inter"/>
                <a:cs typeface="Inter"/>
                <a:sym typeface="Inter"/>
              </a:endParaRPr>
            </a:p>
            <a:p>
              <a:pPr indent="0" lvl="0" marL="0" rtl="0" algn="l">
                <a:spcBef>
                  <a:spcPts val="750"/>
                </a:spcBef>
                <a:spcAft>
                  <a:spcPts val="0"/>
                </a:spcAft>
                <a:buNone/>
              </a:pPr>
              <a:r>
                <a:rPr b="1" lang="zh-TW" sz="950">
                  <a:solidFill>
                    <a:srgbClr val="0F172A"/>
                  </a:solidFill>
                  <a:latin typeface="Inter"/>
                  <a:ea typeface="Inter"/>
                  <a:cs typeface="Inter"/>
                  <a:sym typeface="Inter"/>
                </a:rPr>
                <a:t>3. Kalman Filter</a:t>
              </a:r>
              <a:endParaRPr b="1" sz="950">
                <a:solidFill>
                  <a:srgbClr val="0F172A"/>
                </a:solidFill>
                <a:latin typeface="Inter"/>
                <a:ea typeface="Inter"/>
                <a:cs typeface="Inter"/>
                <a:sym typeface="Inter"/>
              </a:endParaRPr>
            </a:p>
            <a:p>
              <a:pPr indent="0" lvl="0" marL="0" rtl="0" algn="l">
                <a:spcBef>
                  <a:spcPts val="150"/>
                </a:spcBef>
                <a:spcAft>
                  <a:spcPts val="0"/>
                </a:spcAft>
                <a:buNone/>
              </a:pPr>
              <a:r>
                <a:rPr b="0" lang="zh-TW" sz="850">
                  <a:solidFill>
                    <a:srgbClr val="475569"/>
                  </a:solidFill>
                  <a:latin typeface="Inter"/>
                  <a:ea typeface="Inter"/>
                  <a:cs typeface="Inter"/>
                  <a:sym typeface="Inter"/>
                </a:rPr>
                <a:t>When target disappears, predicts position based on past motion to guide ROI instead of triggering Global Search immediately.</a:t>
              </a:r>
              <a:endParaRPr b="0" sz="850">
                <a:solidFill>
                  <a:srgbClr val="475569"/>
                </a:solidFill>
                <a:latin typeface="Inter"/>
                <a:ea typeface="Inter"/>
                <a:cs typeface="Inter"/>
                <a:sym typeface="Inter"/>
              </a:endParaRPr>
            </a:p>
          </p:txBody>
        </p:sp>
        <p:sp>
          <p:nvSpPr>
            <p:cNvPr id="574" name="Google Shape;574;p43"/>
            <p:cNvSpPr/>
            <p:nvPr/>
          </p:nvSpPr>
          <p:spPr>
            <a:xfrm>
              <a:off x="3124200" y="1000125"/>
              <a:ext cx="2590800" cy="3857700"/>
            </a:xfrm>
            <a:prstGeom prst="roundRect">
              <a:avLst>
                <a:gd fmla="val 36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43"/>
            <p:cNvSpPr/>
            <p:nvPr/>
          </p:nvSpPr>
          <p:spPr>
            <a:xfrm>
              <a:off x="3124200" y="1000125"/>
              <a:ext cx="2590800" cy="477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43"/>
            <p:cNvSpPr txBox="1"/>
            <p:nvPr/>
          </p:nvSpPr>
          <p:spPr>
            <a:xfrm>
              <a:off x="3257550" y="1143000"/>
              <a:ext cx="2324100" cy="35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250">
                  <a:solidFill>
                    <a:srgbClr val="0F172A"/>
                  </a:solidFill>
                  <a:latin typeface="Inter"/>
                  <a:ea typeface="Inter"/>
                  <a:cs typeface="Inter"/>
                  <a:sym typeface="Inter"/>
                </a:rPr>
                <a:t>2. Spatiotemporal Dynamic Mask</a:t>
              </a:r>
              <a:endParaRPr b="1" sz="1250">
                <a:solidFill>
                  <a:srgbClr val="0F172A"/>
                </a:solidFill>
                <a:latin typeface="Inter"/>
                <a:ea typeface="Inter"/>
                <a:cs typeface="Inter"/>
                <a:sym typeface="Inter"/>
              </a:endParaRPr>
            </a:p>
            <a:p>
              <a:pPr indent="0" lvl="0" marL="0" rtl="0" algn="l">
                <a:spcBef>
                  <a:spcPts val="450"/>
                </a:spcBef>
                <a:spcAft>
                  <a:spcPts val="0"/>
                </a:spcAft>
                <a:buNone/>
              </a:pPr>
              <a:r>
                <a:rPr b="0" lang="zh-TW" sz="850">
                  <a:solidFill>
                    <a:srgbClr val="0369A1"/>
                  </a:solidFill>
                  <a:highlight>
                    <a:srgbClr val="F0F9FF"/>
                  </a:highlight>
                  <a:latin typeface="Inter SemiBold"/>
                  <a:ea typeface="Inter SemiBold"/>
                  <a:cs typeface="Inter SemiBold"/>
                  <a:sym typeface="Inter SemiBold"/>
                </a:rPr>
                <a:t>Filtering "Static Background Noise"</a:t>
              </a:r>
              <a:endParaRPr b="0" sz="850">
                <a:solidFill>
                  <a:srgbClr val="0369A1"/>
                </a:solidFill>
                <a:highlight>
                  <a:srgbClr val="F0F9FF"/>
                </a:highlight>
                <a:latin typeface="Inter SemiBold"/>
                <a:ea typeface="Inter SemiBold"/>
                <a:cs typeface="Inter SemiBold"/>
                <a:sym typeface="Inter SemiBold"/>
              </a:endParaRPr>
            </a:p>
            <a:p>
              <a:pPr indent="0" lvl="0" marL="0" rtl="0" algn="l">
                <a:spcBef>
                  <a:spcPts val="900"/>
                </a:spcBef>
                <a:spcAft>
                  <a:spcPts val="0"/>
                </a:spcAft>
                <a:buNone/>
              </a:pPr>
              <a:r>
                <a:rPr b="1" lang="zh-TW" sz="950">
                  <a:solidFill>
                    <a:srgbClr val="0F172A"/>
                  </a:solidFill>
                  <a:latin typeface="Inter"/>
                  <a:ea typeface="Inter"/>
                  <a:cs typeface="Inter"/>
                  <a:sym typeface="Inter"/>
                </a:rPr>
                <a:t>1. Lightweight Design Trade-Off</a:t>
              </a:r>
              <a:endParaRPr b="1" sz="950">
                <a:solidFill>
                  <a:srgbClr val="0F172A"/>
                </a:solidFill>
                <a:latin typeface="Inter"/>
                <a:ea typeface="Inter"/>
                <a:cs typeface="Inter"/>
                <a:sym typeface="Inter"/>
              </a:endParaRPr>
            </a:p>
            <a:p>
              <a:pPr indent="0" lvl="0" marL="0" rtl="0" algn="l">
                <a:spcBef>
                  <a:spcPts val="150"/>
                </a:spcBef>
                <a:spcAft>
                  <a:spcPts val="0"/>
                </a:spcAft>
                <a:buNone/>
              </a:pPr>
              <a:r>
                <a:rPr b="0" lang="zh-TW" sz="850">
                  <a:solidFill>
                    <a:srgbClr val="475569"/>
                  </a:solidFill>
                  <a:latin typeface="Inter"/>
                  <a:ea typeface="Inter"/>
                  <a:cs typeface="Inter"/>
                  <a:sym typeface="Inter"/>
                </a:rPr>
                <a:t>Removes Attention in Student model for maximum FPS, though vulnerable to white shoes and court lines.</a:t>
              </a:r>
              <a:endParaRPr b="0" sz="850">
                <a:solidFill>
                  <a:srgbClr val="475569"/>
                </a:solidFill>
                <a:latin typeface="Inter"/>
                <a:ea typeface="Inter"/>
                <a:cs typeface="Inter"/>
                <a:sym typeface="Inter"/>
              </a:endParaRPr>
            </a:p>
            <a:p>
              <a:pPr indent="0" lvl="0" marL="0" rtl="0" algn="l">
                <a:spcBef>
                  <a:spcPts val="750"/>
                </a:spcBef>
                <a:spcAft>
                  <a:spcPts val="0"/>
                </a:spcAft>
                <a:buNone/>
              </a:pPr>
              <a:r>
                <a:rPr b="1" lang="zh-TW" sz="950">
                  <a:solidFill>
                    <a:srgbClr val="0F172A"/>
                  </a:solidFill>
                  <a:latin typeface="Inter"/>
                  <a:ea typeface="Inter"/>
                  <a:cs typeface="Inter"/>
                  <a:sym typeface="Inter"/>
                </a:rPr>
                <a:t>2. Spatiotemporal Mask</a:t>
              </a:r>
              <a:endParaRPr b="1" sz="950">
                <a:solidFill>
                  <a:srgbClr val="0F172A"/>
                </a:solidFill>
                <a:latin typeface="Inter"/>
                <a:ea typeface="Inter"/>
                <a:cs typeface="Inter"/>
                <a:sym typeface="Inter"/>
              </a:endParaRPr>
            </a:p>
            <a:p>
              <a:pPr indent="0" lvl="0" marL="0" rtl="0" algn="l">
                <a:spcBef>
                  <a:spcPts val="150"/>
                </a:spcBef>
                <a:spcAft>
                  <a:spcPts val="0"/>
                </a:spcAft>
                <a:buNone/>
              </a:pPr>
              <a:r>
                <a:rPr b="0" lang="zh-TW" sz="850">
                  <a:solidFill>
                    <a:srgbClr val="475569"/>
                  </a:solidFill>
                  <a:latin typeface="Inter"/>
                  <a:ea typeface="Inter"/>
                  <a:cs typeface="Inter"/>
                  <a:sym typeface="Inter"/>
                </a:rPr>
                <a:t>Leverages high-speed motion to compute frame differences and isolate active regions.</a:t>
              </a:r>
              <a:endParaRPr b="0" sz="850">
                <a:solidFill>
                  <a:srgbClr val="475569"/>
                </a:solidFill>
                <a:latin typeface="Inter"/>
                <a:ea typeface="Inter"/>
                <a:cs typeface="Inter"/>
                <a:sym typeface="Inter"/>
              </a:endParaRPr>
            </a:p>
            <a:p>
              <a:pPr indent="0" lvl="0" marL="0" rtl="0" algn="l">
                <a:spcBef>
                  <a:spcPts val="750"/>
                </a:spcBef>
                <a:spcAft>
                  <a:spcPts val="0"/>
                </a:spcAft>
                <a:buNone/>
              </a:pPr>
              <a:r>
                <a:rPr b="1" lang="zh-TW" sz="950">
                  <a:solidFill>
                    <a:srgbClr val="0F172A"/>
                  </a:solidFill>
                  <a:latin typeface="Inter"/>
                  <a:ea typeface="Inter"/>
                  <a:cs typeface="Inter"/>
                  <a:sym typeface="Inter"/>
                </a:rPr>
                <a:t>3. Heatmap Fusion</a:t>
              </a:r>
              <a:endParaRPr b="1" sz="950">
                <a:solidFill>
                  <a:srgbClr val="0F172A"/>
                </a:solidFill>
                <a:latin typeface="Inter"/>
                <a:ea typeface="Inter"/>
                <a:cs typeface="Inter"/>
                <a:sym typeface="Inter"/>
              </a:endParaRPr>
            </a:p>
            <a:p>
              <a:pPr indent="0" lvl="0" marL="0" rtl="0" algn="l">
                <a:spcBef>
                  <a:spcPts val="150"/>
                </a:spcBef>
                <a:spcAft>
                  <a:spcPts val="0"/>
                </a:spcAft>
                <a:buNone/>
              </a:pPr>
              <a:r>
                <a:rPr b="0" lang="zh-TW" sz="850">
                  <a:solidFill>
                    <a:srgbClr val="475569"/>
                  </a:solidFill>
                  <a:latin typeface="Inter"/>
                  <a:ea typeface="Inter"/>
                  <a:cs typeface="Inter"/>
                  <a:sym typeface="Inter"/>
                </a:rPr>
                <a:t>Eliminates false positives from high-contrast static background without adding neural network complexity.</a:t>
              </a:r>
              <a:endParaRPr b="0" sz="850">
                <a:solidFill>
                  <a:srgbClr val="475569"/>
                </a:solidFill>
                <a:latin typeface="Inter"/>
                <a:ea typeface="Inter"/>
                <a:cs typeface="Inter"/>
                <a:sym typeface="Inter"/>
              </a:endParaRPr>
            </a:p>
          </p:txBody>
        </p:sp>
        <p:sp>
          <p:nvSpPr>
            <p:cNvPr id="577" name="Google Shape;577;p43"/>
            <p:cNvSpPr/>
            <p:nvPr/>
          </p:nvSpPr>
          <p:spPr>
            <a:xfrm>
              <a:off x="5867400" y="1000125"/>
              <a:ext cx="2895600" cy="3857700"/>
            </a:xfrm>
            <a:prstGeom prst="roundRect">
              <a:avLst>
                <a:gd fmla="val 3289" name="adj"/>
              </a:avLst>
            </a:prstGeom>
            <a:solidFill>
              <a:srgbClr val="F8FAFC"/>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43"/>
            <p:cNvSpPr/>
            <p:nvPr/>
          </p:nvSpPr>
          <p:spPr>
            <a:xfrm>
              <a:off x="5867400" y="1000125"/>
              <a:ext cx="2895600" cy="47700"/>
            </a:xfrm>
            <a:prstGeom prst="roundRect">
              <a:avLst>
                <a:gd fmla="val 40000" name="adj"/>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43"/>
            <p:cNvSpPr txBox="1"/>
            <p:nvPr/>
          </p:nvSpPr>
          <p:spPr>
            <a:xfrm>
              <a:off x="6019800" y="1143000"/>
              <a:ext cx="25908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1400">
                  <a:solidFill>
                    <a:srgbClr val="2563EB"/>
                  </a:solidFill>
                  <a:latin typeface="Material Icons"/>
                  <a:ea typeface="Material Icons"/>
                  <a:cs typeface="Material Icons"/>
                  <a:sym typeface="Material Icons"/>
                </a:rPr>
                <a:t>account_tree </a:t>
              </a:r>
              <a:r>
                <a:rPr b="1" lang="zh-TW" sz="1250">
                  <a:solidFill>
                    <a:srgbClr val="0F172A"/>
                  </a:solidFill>
                  <a:latin typeface="Inter"/>
                  <a:ea typeface="Inter"/>
                  <a:cs typeface="Inter"/>
                  <a:sym typeface="Inter"/>
                </a:rPr>
                <a:t>Design Overview</a:t>
              </a:r>
              <a:endParaRPr b="1" sz="1400">
                <a:solidFill>
                  <a:srgbClr val="2563EB"/>
                </a:solidFill>
                <a:latin typeface="Material Icons"/>
                <a:ea typeface="Material Icons"/>
                <a:cs typeface="Material Icons"/>
                <a:sym typeface="Material Icons"/>
              </a:endParaRPr>
            </a:p>
          </p:txBody>
        </p:sp>
        <p:sp>
          <p:nvSpPr>
            <p:cNvPr id="580" name="Google Shape;580;p43"/>
            <p:cNvSpPr/>
            <p:nvPr/>
          </p:nvSpPr>
          <p:spPr>
            <a:xfrm>
              <a:off x="6019800" y="1466850"/>
              <a:ext cx="2590800" cy="495300"/>
            </a:xfrm>
            <a:prstGeom prst="roundRect">
              <a:avLst>
                <a:gd fmla="val 1538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43"/>
            <p:cNvSpPr txBox="1"/>
            <p:nvPr/>
          </p:nvSpPr>
          <p:spPr>
            <a:xfrm>
              <a:off x="6019800" y="1466850"/>
              <a:ext cx="25908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zh-TW" sz="1500">
                  <a:solidFill>
                    <a:srgbClr val="64748B"/>
                  </a:solidFill>
                  <a:latin typeface="Material Icons"/>
                  <a:ea typeface="Material Icons"/>
                  <a:cs typeface="Material Icons"/>
                  <a:sym typeface="Material Icons"/>
                </a:rPr>
                <a:t>collections</a:t>
              </a:r>
              <a:endParaRPr sz="1500">
                <a:solidFill>
                  <a:srgbClr val="64748B"/>
                </a:solidFill>
                <a:latin typeface="Material Icons"/>
                <a:ea typeface="Material Icons"/>
                <a:cs typeface="Material Icons"/>
                <a:sym typeface="Material Icons"/>
              </a:endParaRPr>
            </a:p>
            <a:p>
              <a:pPr indent="0" lvl="0" marL="0" rtl="0" algn="ctr">
                <a:spcBef>
                  <a:spcPts val="0"/>
                </a:spcBef>
                <a:spcAft>
                  <a:spcPts val="0"/>
                </a:spcAft>
                <a:buNone/>
              </a:pPr>
              <a:r>
                <a:rPr b="1" lang="zh-TW" sz="950">
                  <a:solidFill>
                    <a:srgbClr val="1E293B"/>
                  </a:solidFill>
                  <a:latin typeface="Inter"/>
                  <a:ea typeface="Inter"/>
                  <a:cs typeface="Inter"/>
                  <a:sym typeface="Inter"/>
                </a:rPr>
                <a:t>Input 3 Images</a:t>
              </a:r>
              <a:endParaRPr b="1" sz="950">
                <a:solidFill>
                  <a:srgbClr val="1E293B"/>
                </a:solidFill>
                <a:latin typeface="Inter"/>
                <a:ea typeface="Inter"/>
                <a:cs typeface="Inter"/>
                <a:sym typeface="Inter"/>
              </a:endParaRPr>
            </a:p>
            <a:p>
              <a:pPr indent="0" lvl="0" marL="0" rtl="0" algn="ctr">
                <a:spcBef>
                  <a:spcPts val="0"/>
                </a:spcBef>
                <a:spcAft>
                  <a:spcPts val="0"/>
                </a:spcAft>
                <a:buNone/>
              </a:pPr>
              <a:r>
                <a:rPr b="0" lang="zh-TW" sz="750">
                  <a:solidFill>
                    <a:srgbClr val="64748B"/>
                  </a:solidFill>
                  <a:latin typeface="Inter"/>
                  <a:ea typeface="Inter"/>
                  <a:cs typeface="Inter"/>
                  <a:sym typeface="Inter"/>
                </a:rPr>
                <a:t>Multi-frame image sequence input</a:t>
              </a:r>
              <a:endParaRPr b="0" sz="750">
                <a:solidFill>
                  <a:srgbClr val="64748B"/>
                </a:solidFill>
                <a:latin typeface="Inter"/>
                <a:ea typeface="Inter"/>
                <a:cs typeface="Inter"/>
                <a:sym typeface="Inter"/>
              </a:endParaRPr>
            </a:p>
          </p:txBody>
        </p:sp>
        <p:sp>
          <p:nvSpPr>
            <p:cNvPr id="582" name="Google Shape;582;p43"/>
            <p:cNvSpPr txBox="1"/>
            <p:nvPr/>
          </p:nvSpPr>
          <p:spPr>
            <a:xfrm>
              <a:off x="6019800" y="2017776"/>
              <a:ext cx="2590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zh-TW" sz="930">
                  <a:solidFill>
                    <a:srgbClr val="94A3B8"/>
                  </a:solidFill>
                  <a:latin typeface="Material Icons"/>
                  <a:ea typeface="Material Icons"/>
                  <a:cs typeface="Material Icons"/>
                  <a:sym typeface="Material Icons"/>
                </a:rPr>
                <a:t>arrow_downward</a:t>
              </a:r>
              <a:endParaRPr sz="930">
                <a:solidFill>
                  <a:srgbClr val="94A3B8"/>
                </a:solidFill>
                <a:latin typeface="Material Icons"/>
                <a:ea typeface="Material Icons"/>
                <a:cs typeface="Material Icons"/>
                <a:sym typeface="Material Icons"/>
              </a:endParaRPr>
            </a:p>
          </p:txBody>
        </p:sp>
        <p:sp>
          <p:nvSpPr>
            <p:cNvPr id="583" name="Google Shape;583;p43"/>
            <p:cNvSpPr/>
            <p:nvPr/>
          </p:nvSpPr>
          <p:spPr>
            <a:xfrm>
              <a:off x="6019800" y="2209800"/>
              <a:ext cx="2590800" cy="533400"/>
            </a:xfrm>
            <a:prstGeom prst="roundRect">
              <a:avLst>
                <a:gd fmla="val 14285"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p43"/>
            <p:cNvSpPr txBox="1"/>
            <p:nvPr/>
          </p:nvSpPr>
          <p:spPr>
            <a:xfrm>
              <a:off x="6019800" y="2209800"/>
              <a:ext cx="2590800" cy="533400"/>
            </a:xfrm>
            <a:prstGeom prst="rect">
              <a:avLst/>
            </a:prstGeom>
            <a:solidFill>
              <a:srgbClr val="000000">
                <a:alpha val="0"/>
              </a:srgbClr>
            </a:solidFill>
            <a:ln>
              <a:noFill/>
            </a:ln>
          </p:spPr>
          <p:txBody>
            <a:bodyPr anchorCtr="0" anchor="ctr" bIns="0" lIns="133350" spcFirstLastPara="1" rIns="0" wrap="square" tIns="0">
              <a:noAutofit/>
            </a:bodyPr>
            <a:lstStyle/>
            <a:p>
              <a:pPr indent="0" lvl="0" marL="0" rtl="0" algn="l">
                <a:spcBef>
                  <a:spcPts val="0"/>
                </a:spcBef>
                <a:spcAft>
                  <a:spcPts val="0"/>
                </a:spcAft>
                <a:buNone/>
              </a:pPr>
              <a:r>
                <a:rPr lang="zh-TW" sz="1500">
                  <a:solidFill>
                    <a:srgbClr val="2563EB"/>
                  </a:solidFill>
                  <a:latin typeface="Material Icons"/>
                  <a:ea typeface="Material Icons"/>
                  <a:cs typeface="Material Icons"/>
                  <a:sym typeface="Material Icons"/>
                </a:rPr>
                <a:t>speed </a:t>
              </a:r>
              <a:r>
                <a:rPr b="1" lang="zh-TW" sz="950">
                  <a:solidFill>
                    <a:srgbClr val="1E40AF"/>
                  </a:solidFill>
                  <a:latin typeface="Inter"/>
                  <a:ea typeface="Inter"/>
                  <a:cs typeface="Inter"/>
                  <a:sym typeface="Inter"/>
                </a:rPr>
                <a:t>Dual Engines Module</a:t>
              </a:r>
              <a:endParaRPr sz="1500">
                <a:solidFill>
                  <a:srgbClr val="2563EB"/>
                </a:solidFill>
                <a:latin typeface="Material Icons"/>
                <a:ea typeface="Material Icons"/>
                <a:cs typeface="Material Icons"/>
                <a:sym typeface="Material Icons"/>
              </a:endParaRPr>
            </a:p>
            <a:p>
              <a:pPr indent="0" lvl="0" marL="190500" marR="0" rtl="0" algn="l">
                <a:spcBef>
                  <a:spcPts val="225"/>
                </a:spcBef>
                <a:spcAft>
                  <a:spcPts val="0"/>
                </a:spcAft>
                <a:buNone/>
              </a:pPr>
              <a:r>
                <a:rPr b="0" lang="zh-TW" sz="800">
                  <a:solidFill>
                    <a:srgbClr val="2563EB"/>
                  </a:solidFill>
                  <a:latin typeface="Inter SemiBold"/>
                  <a:ea typeface="Inter SemiBold"/>
                  <a:cs typeface="Inter SemiBold"/>
                  <a:sym typeface="Inter SemiBold"/>
                </a:rPr>
                <a:t>• Incl. Kalman Filter Module</a:t>
              </a:r>
              <a:endParaRPr b="0" sz="800">
                <a:solidFill>
                  <a:srgbClr val="2563EB"/>
                </a:solidFill>
                <a:latin typeface="Inter SemiBold"/>
                <a:ea typeface="Inter SemiBold"/>
                <a:cs typeface="Inter SemiBold"/>
                <a:sym typeface="Inter SemiBold"/>
              </a:endParaRPr>
            </a:p>
          </p:txBody>
        </p:sp>
        <p:sp>
          <p:nvSpPr>
            <p:cNvPr id="585" name="Google Shape;585;p43"/>
            <p:cNvSpPr txBox="1"/>
            <p:nvPr/>
          </p:nvSpPr>
          <p:spPr>
            <a:xfrm>
              <a:off x="6019800" y="2798826"/>
              <a:ext cx="2590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zh-TW" sz="930">
                  <a:solidFill>
                    <a:srgbClr val="94A3B8"/>
                  </a:solidFill>
                  <a:latin typeface="Material Icons"/>
                  <a:ea typeface="Material Icons"/>
                  <a:cs typeface="Material Icons"/>
                  <a:sym typeface="Material Icons"/>
                </a:rPr>
                <a:t>arrow_downward</a:t>
              </a:r>
              <a:endParaRPr sz="930">
                <a:solidFill>
                  <a:srgbClr val="94A3B8"/>
                </a:solidFill>
                <a:latin typeface="Material Icons"/>
                <a:ea typeface="Material Icons"/>
                <a:cs typeface="Material Icons"/>
                <a:sym typeface="Material Icons"/>
              </a:endParaRPr>
            </a:p>
          </p:txBody>
        </p:sp>
        <p:sp>
          <p:nvSpPr>
            <p:cNvPr id="586" name="Google Shape;586;p43"/>
            <p:cNvSpPr/>
            <p:nvPr/>
          </p:nvSpPr>
          <p:spPr>
            <a:xfrm>
              <a:off x="6019800" y="2990850"/>
              <a:ext cx="2590800" cy="533400"/>
            </a:xfrm>
            <a:prstGeom prst="roundRect">
              <a:avLst>
                <a:gd fmla="val 14285"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43"/>
            <p:cNvSpPr txBox="1"/>
            <p:nvPr/>
          </p:nvSpPr>
          <p:spPr>
            <a:xfrm>
              <a:off x="6019800" y="2990850"/>
              <a:ext cx="2590800" cy="533400"/>
            </a:xfrm>
            <a:prstGeom prst="rect">
              <a:avLst/>
            </a:prstGeom>
            <a:solidFill>
              <a:srgbClr val="000000">
                <a:alpha val="0"/>
              </a:srgbClr>
            </a:solidFill>
            <a:ln>
              <a:noFill/>
            </a:ln>
          </p:spPr>
          <p:txBody>
            <a:bodyPr anchorCtr="0" anchor="ctr" bIns="0" lIns="133350" spcFirstLastPara="1" rIns="0" wrap="square" tIns="0">
              <a:noAutofit/>
            </a:bodyPr>
            <a:lstStyle/>
            <a:p>
              <a:pPr indent="0" lvl="0" marL="0" rtl="0" algn="l">
                <a:spcBef>
                  <a:spcPts val="0"/>
                </a:spcBef>
                <a:spcAft>
                  <a:spcPts val="0"/>
                </a:spcAft>
                <a:buNone/>
              </a:pPr>
              <a:r>
                <a:rPr lang="zh-TW" sz="1500">
                  <a:solidFill>
                    <a:srgbClr val="0284C7"/>
                  </a:solidFill>
                  <a:latin typeface="Material Icons"/>
                  <a:ea typeface="Material Icons"/>
                  <a:cs typeface="Material Icons"/>
                  <a:sym typeface="Material Icons"/>
                </a:rPr>
                <a:t>filter_alt </a:t>
              </a:r>
              <a:r>
                <a:rPr b="1" lang="zh-TW" sz="950">
                  <a:solidFill>
                    <a:srgbClr val="0369A1"/>
                  </a:solidFill>
                  <a:latin typeface="Inter"/>
                  <a:ea typeface="Inter"/>
                  <a:cs typeface="Inter"/>
                  <a:sym typeface="Inter"/>
                </a:rPr>
                <a:t>Spatiotemporal Dynamic Mask</a:t>
              </a:r>
              <a:endParaRPr sz="1500">
                <a:solidFill>
                  <a:srgbClr val="0284C7"/>
                </a:solidFill>
                <a:latin typeface="Material Icons"/>
                <a:ea typeface="Material Icons"/>
                <a:cs typeface="Material Icons"/>
                <a:sym typeface="Material Icons"/>
              </a:endParaRPr>
            </a:p>
            <a:p>
              <a:pPr indent="0" lvl="0" marL="190500" marR="0" rtl="0" algn="l">
                <a:spcBef>
                  <a:spcPts val="225"/>
                </a:spcBef>
                <a:spcAft>
                  <a:spcPts val="0"/>
                </a:spcAft>
                <a:buNone/>
              </a:pPr>
              <a:r>
                <a:rPr b="0" lang="zh-TW" sz="800">
                  <a:solidFill>
                    <a:srgbClr val="0284C7"/>
                  </a:solidFill>
                  <a:latin typeface="Inter"/>
                  <a:ea typeface="Inter"/>
                  <a:cs typeface="Inter"/>
                  <a:sym typeface="Inter"/>
                </a:rPr>
                <a:t>Background noise filtering</a:t>
              </a:r>
              <a:endParaRPr b="0" sz="800">
                <a:solidFill>
                  <a:srgbClr val="0284C7"/>
                </a:solidFill>
                <a:latin typeface="Inter"/>
                <a:ea typeface="Inter"/>
                <a:cs typeface="Inter"/>
                <a:sym typeface="Inter"/>
              </a:endParaRPr>
            </a:p>
          </p:txBody>
        </p:sp>
        <p:sp>
          <p:nvSpPr>
            <p:cNvPr id="588" name="Google Shape;588;p43"/>
            <p:cNvSpPr txBox="1"/>
            <p:nvPr/>
          </p:nvSpPr>
          <p:spPr>
            <a:xfrm>
              <a:off x="6019800" y="3579876"/>
              <a:ext cx="2590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zh-TW" sz="930">
                  <a:solidFill>
                    <a:srgbClr val="94A3B8"/>
                  </a:solidFill>
                  <a:latin typeface="Material Icons"/>
                  <a:ea typeface="Material Icons"/>
                  <a:cs typeface="Material Icons"/>
                  <a:sym typeface="Material Icons"/>
                </a:rPr>
                <a:t>arrow_downward</a:t>
              </a:r>
              <a:endParaRPr sz="930">
                <a:solidFill>
                  <a:srgbClr val="94A3B8"/>
                </a:solidFill>
                <a:latin typeface="Material Icons"/>
                <a:ea typeface="Material Icons"/>
                <a:cs typeface="Material Icons"/>
                <a:sym typeface="Material Icons"/>
              </a:endParaRPr>
            </a:p>
          </p:txBody>
        </p:sp>
        <p:sp>
          <p:nvSpPr>
            <p:cNvPr id="589" name="Google Shape;589;p43"/>
            <p:cNvSpPr/>
            <p:nvPr/>
          </p:nvSpPr>
          <p:spPr>
            <a:xfrm>
              <a:off x="6019800" y="3771900"/>
              <a:ext cx="2590800" cy="495300"/>
            </a:xfrm>
            <a:prstGeom prst="roundRect">
              <a:avLst>
                <a:gd fmla="val 15384"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43"/>
            <p:cNvSpPr txBox="1"/>
            <p:nvPr/>
          </p:nvSpPr>
          <p:spPr>
            <a:xfrm>
              <a:off x="6019800" y="3771900"/>
              <a:ext cx="25908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zh-TW" sz="1500">
                  <a:solidFill>
                    <a:srgbClr val="16A34A"/>
                  </a:solidFill>
                  <a:latin typeface="Material Icons"/>
                  <a:ea typeface="Material Icons"/>
                  <a:cs typeface="Material Icons"/>
                  <a:sym typeface="Material Icons"/>
                </a:rPr>
                <a:t>check_circle</a:t>
              </a:r>
              <a:endParaRPr sz="1500">
                <a:solidFill>
                  <a:srgbClr val="16A34A"/>
                </a:solidFill>
                <a:latin typeface="Material Icons"/>
                <a:ea typeface="Material Icons"/>
                <a:cs typeface="Material Icons"/>
                <a:sym typeface="Material Icons"/>
              </a:endParaRPr>
            </a:p>
            <a:p>
              <a:pPr indent="0" lvl="0" marL="0" rtl="0" algn="ctr">
                <a:spcBef>
                  <a:spcPts val="0"/>
                </a:spcBef>
                <a:spcAft>
                  <a:spcPts val="0"/>
                </a:spcAft>
                <a:buNone/>
              </a:pPr>
              <a:r>
                <a:rPr b="1" lang="zh-TW" sz="950">
                  <a:solidFill>
                    <a:srgbClr val="166534"/>
                  </a:solidFill>
                  <a:latin typeface="Inter"/>
                  <a:ea typeface="Inter"/>
                  <a:cs typeface="Inter"/>
                  <a:sym typeface="Inter"/>
                </a:rPr>
                <a:t>Output</a:t>
              </a:r>
              <a:endParaRPr b="1" sz="950">
                <a:solidFill>
                  <a:srgbClr val="166534"/>
                </a:solidFill>
                <a:latin typeface="Inter"/>
                <a:ea typeface="Inter"/>
                <a:cs typeface="Inter"/>
                <a:sym typeface="Inter"/>
              </a:endParaRPr>
            </a:p>
            <a:p>
              <a:pPr indent="0" lvl="0" marL="0" rtl="0" algn="ctr">
                <a:spcBef>
                  <a:spcPts val="0"/>
                </a:spcBef>
                <a:spcAft>
                  <a:spcPts val="0"/>
                </a:spcAft>
                <a:buNone/>
              </a:pPr>
              <a:r>
                <a:rPr b="0" lang="zh-TW" sz="750">
                  <a:solidFill>
                    <a:srgbClr val="15803D"/>
                  </a:solidFill>
                  <a:latin typeface="Inter"/>
                  <a:ea typeface="Inter"/>
                  <a:cs typeface="Inter"/>
                  <a:sym typeface="Inter"/>
                </a:rPr>
                <a:t>Accurate tracking result</a:t>
              </a:r>
              <a:endParaRPr b="0" sz="750">
                <a:solidFill>
                  <a:srgbClr val="15803D"/>
                </a:solidFill>
                <a:latin typeface="Inter"/>
                <a:ea typeface="Inter"/>
                <a:cs typeface="Inter"/>
                <a:sym typeface="Inter"/>
              </a:endParaRPr>
            </a:p>
          </p:txBody>
        </p:sp>
      </p:grpSp>
      <p:sp>
        <p:nvSpPr>
          <p:cNvPr id="591" name="Google Shape;591;p43"/>
          <p:cNvSpPr txBox="1"/>
          <p:nvPr>
            <p:ph type="title"/>
          </p:nvPr>
        </p:nvSpPr>
        <p:spPr>
          <a:xfrm>
            <a:off x="381000" y="209550"/>
            <a:ext cx="8382000" cy="5526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100">
                <a:solidFill>
                  <a:srgbClr val="0F172A"/>
                </a:solidFill>
                <a:latin typeface="Inter"/>
                <a:ea typeface="Inter"/>
                <a:cs typeface="Inter"/>
                <a:sym typeface="Inter"/>
              </a:rPr>
              <a:t>Proposed Approach &amp; Key Features </a:t>
            </a:r>
            <a:r>
              <a:rPr b="0" lang="zh-TW" sz="1450">
                <a:solidFill>
                  <a:srgbClr val="2563EB"/>
                </a:solidFill>
                <a:latin typeface="Inter Medium"/>
                <a:ea typeface="Inter Medium"/>
                <a:cs typeface="Inter Medium"/>
                <a:sym typeface="Inter Medium"/>
              </a:rPr>
              <a:t>(Proposed Approach)</a:t>
            </a:r>
            <a:endParaRPr b="1" sz="2100">
              <a:solidFill>
                <a:srgbClr val="0F172A"/>
              </a:solidFill>
              <a:latin typeface="Inter"/>
              <a:ea typeface="Inter"/>
              <a:cs typeface="Inter"/>
              <a:sym typeface="Inter"/>
            </a:endParaRPr>
          </a:p>
          <a:p>
            <a:pPr indent="0" lvl="0" marL="0" rtl="0" algn="l">
              <a:spcBef>
                <a:spcPts val="300"/>
              </a:spcBef>
              <a:spcAft>
                <a:spcPts val="0"/>
              </a:spcAft>
              <a:buNone/>
            </a:pPr>
            <a:r>
              <a:rPr b="0" lang="zh-TW" sz="1000">
                <a:solidFill>
                  <a:srgbClr val="64748B"/>
                </a:solidFill>
                <a:latin typeface="Inter"/>
                <a:ea typeface="Inter"/>
                <a:cs typeface="Inter"/>
                <a:sym typeface="Inter"/>
              </a:rPr>
              <a:t>Dual-Engine Hybrid Tracking: Balancing High-Speed Out-of-Bounds Prevention and Lightweight Anti-Noise Capability</a:t>
            </a:r>
            <a:endParaRPr b="0" sz="1000">
              <a:solidFill>
                <a:srgbClr val="64748B"/>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5" name="Shape 595"/>
        <p:cNvGrpSpPr/>
        <p:nvPr/>
      </p:nvGrpSpPr>
      <p:grpSpPr>
        <a:xfrm>
          <a:off x="0" y="0"/>
          <a:ext cx="0" cy="0"/>
          <a:chOff x="0" y="0"/>
          <a:chExt cx="0" cy="0"/>
        </a:xfrm>
      </p:grpSpPr>
      <p:grpSp>
        <p:nvGrpSpPr>
          <p:cNvPr id="596" name="Google Shape;596;p44"/>
          <p:cNvGrpSpPr/>
          <p:nvPr/>
        </p:nvGrpSpPr>
        <p:grpSpPr>
          <a:xfrm>
            <a:off x="-476250" y="-857250"/>
            <a:ext cx="10477500" cy="6381750"/>
            <a:chOff x="-476250" y="-857250"/>
            <a:chExt cx="10477500" cy="6381750"/>
          </a:xfrm>
        </p:grpSpPr>
        <p:sp>
          <p:nvSpPr>
            <p:cNvPr id="597" name="Google Shape;597;p4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4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9" name="Google Shape;599;p4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00" name="Google Shape;600;p44"/>
          <p:cNvSpPr txBox="1"/>
          <p:nvPr/>
        </p:nvSpPr>
        <p:spPr>
          <a:xfrm>
            <a:off x="571500" y="381000"/>
            <a:ext cx="8001000" cy="55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2600" u="none" strike="noStrike">
                <a:solidFill>
                  <a:srgbClr val="1E293B"/>
                </a:solidFill>
                <a:latin typeface="Inter"/>
                <a:ea typeface="Inter"/>
                <a:cs typeface="Inter"/>
                <a:sym typeface="Inter"/>
              </a:rPr>
              <a:t>Noise Hijacking </a:t>
            </a:r>
            <a:r>
              <a:rPr b="0" i="0" lang="zh-TW" sz="1600" u="none" strike="noStrike">
                <a:solidFill>
                  <a:srgbClr val="3B82F6"/>
                </a:solidFill>
                <a:latin typeface="Inter"/>
                <a:ea typeface="Inter"/>
                <a:cs typeface="Inter"/>
                <a:sym typeface="Inter"/>
              </a:rPr>
              <a:t>(Spatiotemporal Masking Defense Mechanism)</a:t>
            </a:r>
            <a:endParaRPr b="1" i="0" sz="2600" u="none" strike="noStrike">
              <a:solidFill>
                <a:srgbClr val="1E293B"/>
              </a:solidFill>
              <a:latin typeface="Inter"/>
              <a:ea typeface="Inter"/>
              <a:cs typeface="Inter"/>
              <a:sym typeface="Inter"/>
            </a:endParaRPr>
          </a:p>
        </p:txBody>
      </p:sp>
      <p:sp>
        <p:nvSpPr>
          <p:cNvPr id="601" name="Google Shape;601;p44"/>
          <p:cNvSpPr txBox="1"/>
          <p:nvPr/>
        </p:nvSpPr>
        <p:spPr>
          <a:xfrm>
            <a:off x="571500" y="939600"/>
            <a:ext cx="80010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1100" u="none" strike="noStrike">
                <a:solidFill>
                  <a:srgbClr val="DC2626"/>
                </a:solidFill>
                <a:latin typeface="Inter"/>
                <a:ea typeface="Inter"/>
                <a:cs typeface="Inter"/>
                <a:sym typeface="Inter"/>
              </a:rPr>
              <a:t>Attention mechanisms cannot be deployed on Jetson Nano; </a:t>
            </a:r>
            <a:endParaRPr b="1" i="0" sz="1100" u="none" strike="noStrike">
              <a:solidFill>
                <a:srgbClr val="DC2626"/>
              </a:solidFill>
              <a:latin typeface="Inter"/>
              <a:ea typeface="Inter"/>
              <a:cs typeface="Inter"/>
              <a:sym typeface="Inter"/>
            </a:endParaRPr>
          </a:p>
          <a:p>
            <a:pPr indent="0" lvl="0" marL="0" rtl="0" algn="l">
              <a:spcBef>
                <a:spcPts val="0"/>
              </a:spcBef>
              <a:spcAft>
                <a:spcPts val="0"/>
              </a:spcAft>
              <a:buNone/>
            </a:pPr>
            <a:r>
              <a:rPr b="1" i="0" lang="zh-TW" sz="1100" u="none" strike="noStrike">
                <a:solidFill>
                  <a:srgbClr val="DC2626"/>
                </a:solidFill>
                <a:latin typeface="Inter"/>
                <a:ea typeface="Inter"/>
                <a:cs typeface="Inter"/>
                <a:sym typeface="Inter"/>
              </a:rPr>
              <a:t>traditional image processing must be leveraged to eliminate noise hijacking.</a:t>
            </a:r>
            <a:endParaRPr b="1" i="0" sz="1100" u="none" strike="noStrike">
              <a:solidFill>
                <a:srgbClr val="DC2626"/>
              </a:solidFill>
              <a:latin typeface="Inter"/>
              <a:ea typeface="Inter"/>
              <a:cs typeface="Inter"/>
              <a:sym typeface="Inter"/>
            </a:endParaRPr>
          </a:p>
        </p:txBody>
      </p:sp>
      <p:grpSp>
        <p:nvGrpSpPr>
          <p:cNvPr id="602" name="Google Shape;602;p44"/>
          <p:cNvGrpSpPr/>
          <p:nvPr/>
        </p:nvGrpSpPr>
        <p:grpSpPr>
          <a:xfrm>
            <a:off x="571500" y="1381125"/>
            <a:ext cx="8001000" cy="3381450"/>
            <a:chOff x="571500" y="1381125"/>
            <a:chExt cx="8001000" cy="3381450"/>
          </a:xfrm>
        </p:grpSpPr>
        <p:sp>
          <p:nvSpPr>
            <p:cNvPr id="603" name="Google Shape;603;p44"/>
            <p:cNvSpPr/>
            <p:nvPr/>
          </p:nvSpPr>
          <p:spPr>
            <a:xfrm>
              <a:off x="571500" y="1381125"/>
              <a:ext cx="8001000" cy="1571700"/>
            </a:xfrm>
            <a:prstGeom prst="roundRect">
              <a:avLst>
                <a:gd fmla="val 727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44"/>
            <p:cNvSpPr/>
            <p:nvPr/>
          </p:nvSpPr>
          <p:spPr>
            <a:xfrm>
              <a:off x="714375" y="1524000"/>
              <a:ext cx="1905000" cy="1285800"/>
            </a:xfrm>
            <a:prstGeom prst="roundRect">
              <a:avLst>
                <a:gd fmla="val 5925" name="adj"/>
              </a:avLst>
            </a:prstGeom>
            <a:solidFill>
              <a:srgbClr val="F0F9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5" name="Google Shape;605;p44"/>
            <p:cNvSpPr txBox="1"/>
            <p:nvPr/>
          </p:nvSpPr>
          <p:spPr>
            <a:xfrm>
              <a:off x="809625" y="1600200"/>
              <a:ext cx="1714500" cy="11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zh-TW" sz="2200" u="none" strike="noStrike">
                  <a:solidFill>
                    <a:srgbClr val="0284C7"/>
                  </a:solidFill>
                  <a:latin typeface="Material Icons"/>
                  <a:ea typeface="Material Icons"/>
                  <a:cs typeface="Material Icons"/>
                  <a:sym typeface="Material Icons"/>
                </a:rPr>
                <a:t>motion_photos_on</a:t>
              </a:r>
              <a:endParaRPr b="0" i="0" sz="2200" u="none" strike="noStrike">
                <a:solidFill>
                  <a:srgbClr val="0284C7"/>
                </a:solidFill>
                <a:latin typeface="Material Icons"/>
                <a:ea typeface="Material Icons"/>
                <a:cs typeface="Material Icons"/>
                <a:sym typeface="Material Icons"/>
              </a:endParaRPr>
            </a:p>
            <a:p>
              <a:pPr indent="0" lvl="0" marL="0" rtl="0" algn="l">
                <a:spcBef>
                  <a:spcPts val="300"/>
                </a:spcBef>
                <a:spcAft>
                  <a:spcPts val="0"/>
                </a:spcAft>
                <a:buNone/>
              </a:pPr>
              <a:r>
                <a:rPr b="1" i="0" lang="zh-TW" sz="1100" u="none" strike="noStrike">
                  <a:solidFill>
                    <a:srgbClr val="0F172A"/>
                  </a:solidFill>
                  <a:latin typeface="Inter"/>
                  <a:ea typeface="Inter"/>
                  <a:cs typeface="Inter"/>
                  <a:sym typeface="Inter"/>
                </a:rPr>
                <a:t>Phase 1: Low-Compute Motion Extraction</a:t>
              </a:r>
              <a:endParaRPr b="0" i="0" sz="1100" u="none" strike="noStrike">
                <a:solidFill>
                  <a:srgbClr val="0284C7"/>
                </a:solidFill>
                <a:latin typeface="Material Icons"/>
                <a:ea typeface="Material Icons"/>
                <a:cs typeface="Material Icons"/>
                <a:sym typeface="Material Icons"/>
              </a:endParaRPr>
            </a:p>
            <a:p>
              <a:pPr indent="0" lvl="0" marL="0" rtl="0" algn="l">
                <a:spcBef>
                  <a:spcPts val="150"/>
                </a:spcBef>
                <a:spcAft>
                  <a:spcPts val="0"/>
                </a:spcAft>
                <a:buNone/>
              </a:pPr>
              <a:r>
                <a:rPr b="1" i="0" lang="zh-TW" sz="750" u="none" strike="noStrike">
                  <a:solidFill>
                    <a:srgbClr val="0284C7"/>
                  </a:solidFill>
                  <a:latin typeface="Inter"/>
                  <a:ea typeface="Inter"/>
                  <a:cs typeface="Inter"/>
                  <a:sym typeface="Inter"/>
                </a:rPr>
                <a:t>MOTION FEATURE EXTRACTION</a:t>
              </a:r>
              <a:endParaRPr b="0" i="0" sz="750" u="none" strike="noStrike">
                <a:solidFill>
                  <a:srgbClr val="0284C7"/>
                </a:solidFill>
                <a:latin typeface="Material Icons"/>
                <a:ea typeface="Material Icons"/>
                <a:cs typeface="Material Icons"/>
                <a:sym typeface="Material Icons"/>
              </a:endParaRPr>
            </a:p>
          </p:txBody>
        </p:sp>
        <p:sp>
          <p:nvSpPr>
            <p:cNvPr id="606" name="Google Shape;606;p44"/>
            <p:cNvSpPr txBox="1"/>
            <p:nvPr/>
          </p:nvSpPr>
          <p:spPr>
            <a:xfrm>
              <a:off x="2809875" y="1476375"/>
              <a:ext cx="2524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925" u="none" strike="noStrike">
                  <a:solidFill>
                    <a:srgbClr val="1E293B"/>
                  </a:solidFill>
                  <a:latin typeface="Inter"/>
                  <a:ea typeface="Inter"/>
                  <a:cs typeface="Inter"/>
                  <a:sym typeface="Inter"/>
                </a:rPr>
                <a:t>Absolute Pixel Differencing</a:t>
              </a:r>
              <a:endParaRPr b="1" i="0" sz="925" u="none" strike="noStrike">
                <a:solidFill>
                  <a:srgbClr val="1E293B"/>
                </a:solidFill>
                <a:latin typeface="Inter"/>
                <a:ea typeface="Inter"/>
                <a:cs typeface="Inter"/>
                <a:sym typeface="Inter"/>
              </a:endParaRPr>
            </a:p>
            <a:p>
              <a:pPr indent="0" lvl="0" marL="0" rtl="0" algn="l">
                <a:spcBef>
                  <a:spcPts val="0"/>
                </a:spcBef>
                <a:spcAft>
                  <a:spcPts val="0"/>
                </a:spcAft>
                <a:buNone/>
              </a:pPr>
              <a:r>
                <a:rPr b="0" i="0" lang="zh-TW" sz="786" u="none" strike="noStrike">
                  <a:solidFill>
                    <a:srgbClr val="475569"/>
                  </a:solidFill>
                  <a:latin typeface="Inter"/>
                  <a:ea typeface="Inter"/>
                  <a:cs typeface="Inter"/>
                  <a:sym typeface="Inter"/>
                </a:rPr>
                <a:t>Reads two consecutive grayscale frames to compute difference matrix:</a:t>
              </a:r>
              <a:endParaRPr b="1" i="0" sz="786" u="none" strike="noStrike">
                <a:solidFill>
                  <a:srgbClr val="1E293B"/>
                </a:solidFill>
                <a:latin typeface="Inter"/>
                <a:ea typeface="Inter"/>
                <a:cs typeface="Inter"/>
                <a:sym typeface="Inter"/>
              </a:endParaRPr>
            </a:p>
          </p:txBody>
        </p:sp>
        <p:pic>
          <p:nvPicPr>
            <p:cNvPr id="607" name="Google Shape;607;p44"/>
            <p:cNvPicPr preferRelativeResize="0"/>
            <p:nvPr/>
          </p:nvPicPr>
          <p:blipFill rotWithShape="1">
            <a:blip r:embed="rId4">
              <a:alphaModFix/>
            </a:blip>
            <a:srcRect b="0" l="20" r="20" t="0"/>
            <a:stretch/>
          </p:blipFill>
          <p:spPr>
            <a:xfrm>
              <a:off x="2809875" y="1992188"/>
              <a:ext cx="1619100" cy="292500"/>
            </a:xfrm>
            <a:prstGeom prst="rect">
              <a:avLst/>
            </a:prstGeom>
            <a:noFill/>
            <a:ln>
              <a:noFill/>
            </a:ln>
          </p:spPr>
        </p:pic>
        <p:sp>
          <p:nvSpPr>
            <p:cNvPr id="608" name="Google Shape;608;p44"/>
            <p:cNvSpPr txBox="1"/>
            <p:nvPr/>
          </p:nvSpPr>
          <p:spPr>
            <a:xfrm>
              <a:off x="5476875" y="1476375"/>
              <a:ext cx="29529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925" u="none" strike="noStrike">
                  <a:solidFill>
                    <a:srgbClr val="1E293B"/>
                  </a:solidFill>
                  <a:latin typeface="Inter"/>
                  <a:ea typeface="Inter"/>
                  <a:cs typeface="Inter"/>
                  <a:sym typeface="Inter"/>
                </a:rPr>
                <a:t>Binarization Threshold Filtering</a:t>
              </a:r>
              <a:endParaRPr b="1" i="0" sz="925" u="none" strike="noStrike">
                <a:solidFill>
                  <a:srgbClr val="1E293B"/>
                </a:solidFill>
                <a:latin typeface="Inter"/>
                <a:ea typeface="Inter"/>
                <a:cs typeface="Inter"/>
                <a:sym typeface="Inter"/>
              </a:endParaRPr>
            </a:p>
            <a:p>
              <a:pPr indent="0" lvl="0" marL="0" rtl="0" algn="l">
                <a:spcBef>
                  <a:spcPts val="0"/>
                </a:spcBef>
                <a:spcAft>
                  <a:spcPts val="0"/>
                </a:spcAft>
                <a:buNone/>
              </a:pPr>
              <a:r>
                <a:rPr b="0" i="0" lang="zh-TW" sz="786" u="none" strike="noStrike">
                  <a:solidFill>
                    <a:srgbClr val="475569"/>
                  </a:solidFill>
                  <a:latin typeface="Inter"/>
                  <a:ea typeface="Inter"/>
                  <a:cs typeface="Inter"/>
                  <a:sym typeface="Inter"/>
                </a:rPr>
                <a:t>Filters noise using threshold Tmask to generate spatiotemporal mask Mt:</a:t>
              </a:r>
              <a:endParaRPr b="1" i="0" sz="786" u="none" strike="noStrike">
                <a:solidFill>
                  <a:srgbClr val="1E293B"/>
                </a:solidFill>
                <a:latin typeface="Inter"/>
                <a:ea typeface="Inter"/>
                <a:cs typeface="Inter"/>
                <a:sym typeface="Inter"/>
              </a:endParaRPr>
            </a:p>
          </p:txBody>
        </p:sp>
        <p:pic>
          <p:nvPicPr>
            <p:cNvPr id="609" name="Google Shape;609;p44"/>
            <p:cNvPicPr preferRelativeResize="0"/>
            <p:nvPr/>
          </p:nvPicPr>
          <p:blipFill rotWithShape="1">
            <a:blip r:embed="rId5">
              <a:alphaModFix/>
            </a:blip>
            <a:srcRect b="40" l="0" r="0" t="30"/>
            <a:stretch/>
          </p:blipFill>
          <p:spPr>
            <a:xfrm>
              <a:off x="5476875" y="1988875"/>
              <a:ext cx="1714500" cy="356100"/>
            </a:xfrm>
            <a:prstGeom prst="rect">
              <a:avLst/>
            </a:prstGeom>
            <a:noFill/>
            <a:ln>
              <a:noFill/>
            </a:ln>
          </p:spPr>
        </p:pic>
        <p:sp>
          <p:nvSpPr>
            <p:cNvPr id="610" name="Google Shape;610;p44"/>
            <p:cNvSpPr txBox="1"/>
            <p:nvPr/>
          </p:nvSpPr>
          <p:spPr>
            <a:xfrm>
              <a:off x="2809875" y="2400300"/>
              <a:ext cx="56199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950" u="none" strike="noStrike">
                  <a:solidFill>
                    <a:srgbClr val="1E293B"/>
                  </a:solidFill>
                  <a:latin typeface="Inter"/>
                  <a:ea typeface="Inter"/>
                  <a:cs typeface="Inter"/>
                  <a:sym typeface="Inter"/>
                </a:rPr>
                <a:t>Ultra-Low Complexity: </a:t>
              </a:r>
              <a:r>
                <a:rPr b="0" i="0" lang="zh-TW" sz="950" u="none" strike="noStrike">
                  <a:solidFill>
                    <a:srgbClr val="475569"/>
                  </a:solidFill>
                  <a:latin typeface="Inter"/>
                  <a:ea typeface="Inter"/>
                  <a:cs typeface="Inter"/>
                  <a:sym typeface="Inter"/>
                </a:rPr>
                <a:t>O(N) pixel-level operation, taking ~0 ms on Jetson Nano.</a:t>
              </a:r>
              <a:endParaRPr b="1" i="0" sz="950" u="none" strike="noStrike">
                <a:solidFill>
                  <a:srgbClr val="1E293B"/>
                </a:solidFill>
                <a:latin typeface="Inter"/>
                <a:ea typeface="Inter"/>
                <a:cs typeface="Inter"/>
                <a:sym typeface="Inter"/>
              </a:endParaRPr>
            </a:p>
          </p:txBody>
        </p:sp>
        <p:sp>
          <p:nvSpPr>
            <p:cNvPr id="611" name="Google Shape;611;p44"/>
            <p:cNvSpPr/>
            <p:nvPr/>
          </p:nvSpPr>
          <p:spPr>
            <a:xfrm>
              <a:off x="1619250" y="2809875"/>
              <a:ext cx="95400" cy="362100"/>
            </a:xfrm>
            <a:custGeom>
              <a:rect b="b" l="l" r="r" t="t"/>
              <a:pathLst>
                <a:path extrusionOk="0" h="120000" w="120000">
                  <a:moveTo>
                    <a:pt x="60000" y="0"/>
                  </a:moveTo>
                  <a:lnTo>
                    <a:pt x="60000" y="120000"/>
                  </a:lnTo>
                  <a:moveTo>
                    <a:pt x="0" y="101053"/>
                  </a:moveTo>
                  <a:lnTo>
                    <a:pt x="60000" y="120000"/>
                  </a:lnTo>
                  <a:lnTo>
                    <a:pt x="120000" y="101053"/>
                  </a:lnTo>
                </a:path>
              </a:pathLst>
            </a:custGeom>
            <a:solidFill>
              <a:srgbClr val="000000">
                <a:alpha val="0"/>
              </a:srgbClr>
            </a:solidFill>
            <a:ln cap="rnd"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44"/>
            <p:cNvSpPr/>
            <p:nvPr/>
          </p:nvSpPr>
          <p:spPr>
            <a:xfrm>
              <a:off x="571500" y="3190875"/>
              <a:ext cx="8001000" cy="1571700"/>
            </a:xfrm>
            <a:prstGeom prst="roundRect">
              <a:avLst>
                <a:gd fmla="val 727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44"/>
            <p:cNvSpPr/>
            <p:nvPr/>
          </p:nvSpPr>
          <p:spPr>
            <a:xfrm>
              <a:off x="714375" y="3333750"/>
              <a:ext cx="1905000" cy="1285800"/>
            </a:xfrm>
            <a:prstGeom prst="roundRect">
              <a:avLst>
                <a:gd fmla="val 5925"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4" name="Google Shape;614;p44"/>
            <p:cNvSpPr txBox="1"/>
            <p:nvPr/>
          </p:nvSpPr>
          <p:spPr>
            <a:xfrm>
              <a:off x="809625" y="3409950"/>
              <a:ext cx="1714500" cy="11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zh-TW" sz="2200" u="none" strike="noStrike">
                  <a:solidFill>
                    <a:srgbClr val="16A34A"/>
                  </a:solidFill>
                  <a:latin typeface="Material Icons"/>
                  <a:ea typeface="Material Icons"/>
                  <a:cs typeface="Material Icons"/>
                  <a:sym typeface="Material Icons"/>
                </a:rPr>
                <a:t>shield</a:t>
              </a:r>
              <a:endParaRPr b="0" i="0" sz="2200" u="none" strike="noStrike">
                <a:solidFill>
                  <a:srgbClr val="16A34A"/>
                </a:solidFill>
                <a:latin typeface="Material Icons"/>
                <a:ea typeface="Material Icons"/>
                <a:cs typeface="Material Icons"/>
                <a:sym typeface="Material Icons"/>
              </a:endParaRPr>
            </a:p>
            <a:p>
              <a:pPr indent="0" lvl="0" marL="0" rtl="0" algn="l">
                <a:spcBef>
                  <a:spcPts val="300"/>
                </a:spcBef>
                <a:spcAft>
                  <a:spcPts val="0"/>
                </a:spcAft>
                <a:buNone/>
              </a:pPr>
              <a:r>
                <a:rPr b="1" i="0" lang="zh-TW" sz="1100" u="none" strike="noStrike">
                  <a:solidFill>
                    <a:srgbClr val="0F172A"/>
                  </a:solidFill>
                  <a:latin typeface="Inter"/>
                  <a:ea typeface="Inter"/>
                  <a:cs typeface="Inter"/>
                  <a:sym typeface="Inter"/>
                </a:rPr>
                <a:t>Phase 2: Physical Forced-Zero Defense</a:t>
              </a:r>
              <a:endParaRPr b="0" i="0" sz="1100" u="none" strike="noStrike">
                <a:solidFill>
                  <a:srgbClr val="16A34A"/>
                </a:solidFill>
                <a:latin typeface="Material Icons"/>
                <a:ea typeface="Material Icons"/>
                <a:cs typeface="Material Icons"/>
                <a:sym typeface="Material Icons"/>
              </a:endParaRPr>
            </a:p>
            <a:p>
              <a:pPr indent="0" lvl="0" marL="0" rtl="0" algn="l">
                <a:spcBef>
                  <a:spcPts val="150"/>
                </a:spcBef>
                <a:spcAft>
                  <a:spcPts val="0"/>
                </a:spcAft>
                <a:buNone/>
              </a:pPr>
              <a:r>
                <a:rPr b="1" i="0" lang="zh-TW" sz="750" u="none" strike="noStrike">
                  <a:solidFill>
                    <a:srgbClr val="16A34A"/>
                  </a:solidFill>
                  <a:latin typeface="Inter"/>
                  <a:ea typeface="Inter"/>
                  <a:cs typeface="Inter"/>
                  <a:sym typeface="Inter"/>
                </a:rPr>
                <a:t>PHYSICAL MASKING DEFENSE</a:t>
              </a:r>
              <a:endParaRPr b="0" i="0" sz="750" u="none" strike="noStrike">
                <a:solidFill>
                  <a:srgbClr val="16A34A"/>
                </a:solidFill>
                <a:latin typeface="Material Icons"/>
                <a:ea typeface="Material Icons"/>
                <a:cs typeface="Material Icons"/>
                <a:sym typeface="Material Icons"/>
              </a:endParaRPr>
            </a:p>
          </p:txBody>
        </p:sp>
        <p:sp>
          <p:nvSpPr>
            <p:cNvPr id="615" name="Google Shape;615;p44"/>
            <p:cNvSpPr txBox="1"/>
            <p:nvPr/>
          </p:nvSpPr>
          <p:spPr>
            <a:xfrm>
              <a:off x="2809875" y="3286125"/>
              <a:ext cx="2524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925" u="none" strike="noStrike">
                  <a:solidFill>
                    <a:srgbClr val="1E293B"/>
                  </a:solidFill>
                  <a:latin typeface="Inter"/>
                  <a:ea typeface="Inter"/>
                  <a:cs typeface="Inter"/>
                  <a:sym typeface="Inter"/>
                </a:rPr>
                <a:t>Hadamard Product Correction</a:t>
              </a:r>
              <a:endParaRPr b="1" i="0" sz="925" u="none" strike="noStrike">
                <a:solidFill>
                  <a:srgbClr val="1E293B"/>
                </a:solidFill>
                <a:latin typeface="Inter"/>
                <a:ea typeface="Inter"/>
                <a:cs typeface="Inter"/>
                <a:sym typeface="Inter"/>
              </a:endParaRPr>
            </a:p>
            <a:p>
              <a:pPr indent="0" lvl="0" marL="0" rtl="0" algn="l">
                <a:spcBef>
                  <a:spcPts val="0"/>
                </a:spcBef>
                <a:spcAft>
                  <a:spcPts val="0"/>
                </a:spcAft>
                <a:buNone/>
              </a:pPr>
              <a:r>
                <a:rPr b="0" i="0" lang="zh-TW" sz="833" u="none" strike="noStrike">
                  <a:solidFill>
                    <a:srgbClr val="475569"/>
                  </a:solidFill>
                  <a:latin typeface="Inter"/>
                  <a:ea typeface="Inter"/>
                  <a:cs typeface="Inter"/>
                  <a:sym typeface="Inter"/>
                </a:rPr>
                <a:t>Performs element-wise multiplication of predicted heatmap Ht and dynamic mask Mt:</a:t>
              </a:r>
              <a:endParaRPr b="1" i="0" sz="833" u="none" strike="noStrike">
                <a:solidFill>
                  <a:srgbClr val="1E293B"/>
                </a:solidFill>
                <a:latin typeface="Inter"/>
                <a:ea typeface="Inter"/>
                <a:cs typeface="Inter"/>
                <a:sym typeface="Inter"/>
              </a:endParaRPr>
            </a:p>
          </p:txBody>
        </p:sp>
        <p:pic>
          <p:nvPicPr>
            <p:cNvPr id="616" name="Google Shape;616;p44"/>
            <p:cNvPicPr preferRelativeResize="0"/>
            <p:nvPr/>
          </p:nvPicPr>
          <p:blipFill rotWithShape="1">
            <a:blip r:embed="rId6">
              <a:alphaModFix/>
            </a:blip>
            <a:srcRect b="110" l="0" r="0" t="120"/>
            <a:stretch/>
          </p:blipFill>
          <p:spPr>
            <a:xfrm>
              <a:off x="2809875" y="3714750"/>
              <a:ext cx="857400" cy="266700"/>
            </a:xfrm>
            <a:prstGeom prst="rect">
              <a:avLst/>
            </a:prstGeom>
            <a:noFill/>
            <a:ln>
              <a:noFill/>
            </a:ln>
          </p:spPr>
        </p:pic>
        <p:sp>
          <p:nvSpPr>
            <p:cNvPr id="617" name="Google Shape;617;p44"/>
            <p:cNvSpPr txBox="1"/>
            <p:nvPr/>
          </p:nvSpPr>
          <p:spPr>
            <a:xfrm>
              <a:off x="5476875" y="3286125"/>
              <a:ext cx="29529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zh-TW" sz="1000" u="none" strike="noStrike">
                  <a:solidFill>
                    <a:srgbClr val="1E293B"/>
                  </a:solidFill>
                  <a:latin typeface="Inter"/>
                  <a:ea typeface="Inter"/>
                  <a:cs typeface="Inter"/>
                  <a:sym typeface="Inter"/>
                </a:rPr>
                <a:t>Static Interference Suppression</a:t>
              </a:r>
              <a:endParaRPr b="1" i="0" sz="1000" u="none" strike="noStrike">
                <a:solidFill>
                  <a:srgbClr val="1E293B"/>
                </a:solidFill>
                <a:latin typeface="Inter"/>
                <a:ea typeface="Inter"/>
                <a:cs typeface="Inter"/>
                <a:sym typeface="Inter"/>
              </a:endParaRPr>
            </a:p>
            <a:p>
              <a:pPr indent="0" lvl="0" marL="0" rtl="0" algn="l">
                <a:spcBef>
                  <a:spcPts val="0"/>
                </a:spcBef>
                <a:spcAft>
                  <a:spcPts val="0"/>
                </a:spcAft>
                <a:buNone/>
              </a:pPr>
              <a:r>
                <a:rPr b="0" i="0" lang="zh-TW" sz="850" u="none" strike="noStrike">
                  <a:solidFill>
                    <a:srgbClr val="475569"/>
                  </a:solidFill>
                  <a:latin typeface="Inter"/>
                  <a:ea typeface="Inter"/>
                  <a:cs typeface="Inter"/>
                  <a:sym typeface="Inter"/>
                </a:rPr>
                <a:t>Prevents false positives from static white lines, billboards, or slow-moving players.</a:t>
              </a:r>
              <a:endParaRPr b="1" i="0" sz="850" u="none" strike="noStrike">
                <a:solidFill>
                  <a:srgbClr val="1E293B"/>
                </a:solidFill>
                <a:latin typeface="Inter"/>
                <a:ea typeface="Inter"/>
                <a:cs typeface="Inter"/>
                <a:sym typeface="Inter"/>
              </a:endParaRPr>
            </a:p>
          </p:txBody>
        </p:sp>
        <p:sp>
          <p:nvSpPr>
            <p:cNvPr id="618" name="Google Shape;618;p44"/>
            <p:cNvSpPr txBox="1"/>
            <p:nvPr/>
          </p:nvSpPr>
          <p:spPr>
            <a:xfrm>
              <a:off x="2809875" y="4210050"/>
              <a:ext cx="56199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zh-TW" sz="950" u="none" strike="noStrike">
                  <a:solidFill>
                    <a:srgbClr val="EF4444"/>
                  </a:solidFill>
                  <a:latin typeface="Inter"/>
                  <a:ea typeface="Inter"/>
                  <a:cs typeface="Inter"/>
                  <a:sym typeface="Inter"/>
                </a:rPr>
                <a:t>Physical Forced-Zero: </a:t>
              </a:r>
              <a:r>
                <a:rPr b="0" i="0" lang="zh-TW" sz="950" u="none" strike="noStrike">
                  <a:solidFill>
                    <a:srgbClr val="475569"/>
                  </a:solidFill>
                  <a:latin typeface="Inter"/>
                  <a:ea typeface="Inter"/>
                  <a:cs typeface="Inter"/>
                  <a:sym typeface="Inter"/>
                </a:rPr>
                <a:t>If frame difference is below threshold (mask value 0), confidence is mathematically forced to zero!</a:t>
              </a:r>
              <a:endParaRPr b="1" i="0" sz="950" u="none" strike="noStrike">
                <a:solidFill>
                  <a:srgbClr val="EF4444"/>
                </a:solidFill>
                <a:latin typeface="Inter"/>
                <a:ea typeface="Inter"/>
                <a:cs typeface="Inter"/>
                <a:sym typeface="Inte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a:t>以下為第</a:t>
            </a:r>
            <a:r>
              <a:rPr lang="zh-TW"/>
              <a:t>二</a:t>
            </a:r>
            <a:r>
              <a:rPr lang="zh-TW"/>
              <a:t>版</a:t>
            </a:r>
            <a:endParaRPr/>
          </a:p>
        </p:txBody>
      </p:sp>
      <p:sp>
        <p:nvSpPr>
          <p:cNvPr id="624" name="Google Shape;624;p4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8" name="Shape 628"/>
        <p:cNvGrpSpPr/>
        <p:nvPr/>
      </p:nvGrpSpPr>
      <p:grpSpPr>
        <a:xfrm>
          <a:off x="0" y="0"/>
          <a:ext cx="0" cy="0"/>
          <a:chOff x="0" y="0"/>
          <a:chExt cx="0" cy="0"/>
        </a:xfrm>
      </p:grpSpPr>
      <p:grpSp>
        <p:nvGrpSpPr>
          <p:cNvPr id="629" name="Google Shape;629;p46"/>
          <p:cNvGrpSpPr/>
          <p:nvPr/>
        </p:nvGrpSpPr>
        <p:grpSpPr>
          <a:xfrm>
            <a:off x="-476250" y="-857250"/>
            <a:ext cx="10477500" cy="6381750"/>
            <a:chOff x="-476250" y="-857250"/>
            <a:chExt cx="10477500" cy="6381750"/>
          </a:xfrm>
        </p:grpSpPr>
        <p:pic>
          <p:nvPicPr>
            <p:cNvPr id="630" name="Google Shape;630;p46"/>
            <p:cNvPicPr preferRelativeResize="0"/>
            <p:nvPr/>
          </p:nvPicPr>
          <p:blipFill rotWithShape="1">
            <a:blip r:embed="rId4">
              <a:alphaModFix/>
            </a:blip>
            <a:srcRect b="0" l="0" r="0" t="0"/>
            <a:stretch/>
          </p:blipFill>
          <p:spPr>
            <a:xfrm>
              <a:off x="0" y="0"/>
              <a:ext cx="9144000" cy="1428900"/>
            </a:xfrm>
            <a:prstGeom prst="rect">
              <a:avLst/>
            </a:prstGeom>
            <a:noFill/>
            <a:ln>
              <a:noFill/>
            </a:ln>
          </p:spPr>
        </p:pic>
        <p:sp>
          <p:nvSpPr>
            <p:cNvPr id="631" name="Google Shape;631;p46"/>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4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33" name="Google Shape;633;p46"/>
          <p:cNvGrpSpPr/>
          <p:nvPr/>
        </p:nvGrpSpPr>
        <p:grpSpPr>
          <a:xfrm>
            <a:off x="4333875" y="571500"/>
            <a:ext cx="476400" cy="511452"/>
            <a:chOff x="4333875" y="571500"/>
            <a:chExt cx="476400" cy="511452"/>
          </a:xfrm>
        </p:grpSpPr>
        <p:sp>
          <p:nvSpPr>
            <p:cNvPr id="634" name="Google Shape;634;p46"/>
            <p:cNvSpPr/>
            <p:nvPr/>
          </p:nvSpPr>
          <p:spPr>
            <a:xfrm>
              <a:off x="4333875" y="571500"/>
              <a:ext cx="476400" cy="476400"/>
            </a:xfrm>
            <a:prstGeom prst="roundRect">
              <a:avLst>
                <a:gd fmla="val 2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46"/>
            <p:cNvSpPr txBox="1"/>
            <p:nvPr/>
          </p:nvSpPr>
          <p:spPr>
            <a:xfrm>
              <a:off x="4333875" y="606552"/>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600">
                  <a:solidFill>
                    <a:srgbClr val="FFFFFF"/>
                  </a:solidFill>
                  <a:latin typeface="Material Icons"/>
                  <a:ea typeface="Material Icons"/>
                  <a:cs typeface="Material Icons"/>
                  <a:sym typeface="Material Icons"/>
                </a:rPr>
                <a:t>shuttlecock</a:t>
              </a:r>
              <a:endParaRPr sz="600">
                <a:solidFill>
                  <a:srgbClr val="FFFFFF"/>
                </a:solidFill>
                <a:latin typeface="Material Icons"/>
                <a:ea typeface="Material Icons"/>
                <a:cs typeface="Material Icons"/>
                <a:sym typeface="Material Icons"/>
              </a:endParaRPr>
            </a:p>
          </p:txBody>
        </p:sp>
      </p:grpSp>
      <p:sp>
        <p:nvSpPr>
          <p:cNvPr id="636" name="Google Shape;636;p46"/>
          <p:cNvSpPr txBox="1"/>
          <p:nvPr>
            <p:ph type="ctrTitle"/>
          </p:nvPr>
        </p:nvSpPr>
        <p:spPr>
          <a:xfrm>
            <a:off x="571500" y="1333500"/>
            <a:ext cx="8001000" cy="17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zh-TW" sz="3570">
                <a:solidFill>
                  <a:srgbClr val="1E293B"/>
                </a:solidFill>
                <a:latin typeface="Oswald"/>
                <a:ea typeface="Oswald"/>
                <a:cs typeface="Oswald"/>
                <a:sym typeface="Oswald"/>
              </a:rPr>
              <a:t>Real-Time Badminton Tracking on Edge Devices</a:t>
            </a:r>
            <a:endParaRPr b="1" i="0" sz="3570">
              <a:solidFill>
                <a:srgbClr val="1E293B"/>
              </a:solidFill>
              <a:latin typeface="Oswald"/>
              <a:ea typeface="Oswald"/>
              <a:cs typeface="Oswald"/>
              <a:sym typeface="Oswald"/>
            </a:endParaRPr>
          </a:p>
          <a:p>
            <a:pPr indent="0" lvl="0" marL="0" rtl="0" algn="ctr">
              <a:spcBef>
                <a:spcPts val="750"/>
              </a:spcBef>
              <a:spcAft>
                <a:spcPts val="0"/>
              </a:spcAft>
              <a:buNone/>
            </a:pPr>
            <a:r>
              <a:rPr b="0" i="0" lang="zh-TW" sz="2720">
                <a:solidFill>
                  <a:srgbClr val="3B82F6"/>
                </a:solidFill>
                <a:latin typeface="Oswald"/>
                <a:ea typeface="Oswald"/>
                <a:cs typeface="Oswald"/>
                <a:sym typeface="Oswald"/>
              </a:rPr>
              <a:t>A Lightweight ROI-based Architecture</a:t>
            </a:r>
            <a:endParaRPr b="0" i="0" sz="2720">
              <a:solidFill>
                <a:srgbClr val="3B82F6"/>
              </a:solidFill>
              <a:latin typeface="Oswald"/>
              <a:ea typeface="Oswald"/>
              <a:cs typeface="Oswald"/>
              <a:sym typeface="Oswald"/>
            </a:endParaRPr>
          </a:p>
        </p:txBody>
      </p:sp>
      <p:sp>
        <p:nvSpPr>
          <p:cNvPr id="637" name="Google Shape;637;p46"/>
          <p:cNvSpPr/>
          <p:nvPr/>
        </p:nvSpPr>
        <p:spPr>
          <a:xfrm>
            <a:off x="3143250" y="3238500"/>
            <a:ext cx="2857500" cy="38100"/>
          </a:xfrm>
          <a:prstGeom prst="roundRect">
            <a:avLst>
              <a:gd fmla="val 50000" name="adj"/>
            </a:avLst>
          </a:prstGeom>
          <a:solidFill>
            <a:srgbClr val="3B82F6">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46"/>
          <p:cNvSpPr txBox="1"/>
          <p:nvPr>
            <p:ph idx="1" type="subTitle"/>
          </p:nvPr>
        </p:nvSpPr>
        <p:spPr>
          <a:xfrm>
            <a:off x="762000" y="3524250"/>
            <a:ext cx="7620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ctr">
              <a:spcBef>
                <a:spcPts val="0"/>
              </a:spcBef>
              <a:spcAft>
                <a:spcPts val="0"/>
              </a:spcAft>
              <a:buNone/>
            </a:pPr>
            <a:r>
              <a:rPr b="0" i="0" lang="zh-TW" sz="1800">
                <a:solidFill>
                  <a:srgbClr val="64748B"/>
                </a:solidFill>
                <a:latin typeface="Inter Medium"/>
                <a:ea typeface="Inter Medium"/>
                <a:cs typeface="Inter Medium"/>
                <a:sym typeface="Inter Medium"/>
              </a:rPr>
              <a:t>Overcoming Compute Limitations of TrackNet on </a:t>
            </a:r>
            <a:r>
              <a:rPr b="1" i="0" lang="zh-TW" sz="1800">
                <a:solidFill>
                  <a:srgbClr val="334155"/>
                </a:solidFill>
                <a:latin typeface="Inter"/>
                <a:ea typeface="Inter"/>
                <a:cs typeface="Inter"/>
                <a:sym typeface="Inter"/>
              </a:rPr>
              <a:t>Jetson Nano</a:t>
            </a:r>
            <a:endParaRPr b="0" i="0" sz="1800">
              <a:solidFill>
                <a:srgbClr val="64748B"/>
              </a:solidFill>
              <a:latin typeface="Inter Medium"/>
              <a:ea typeface="Inter Medium"/>
              <a:cs typeface="Inter Medium"/>
              <a:sym typeface="Inter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2" name="Shape 642"/>
        <p:cNvGrpSpPr/>
        <p:nvPr/>
      </p:nvGrpSpPr>
      <p:grpSpPr>
        <a:xfrm>
          <a:off x="0" y="0"/>
          <a:ext cx="0" cy="0"/>
          <a:chOff x="0" y="0"/>
          <a:chExt cx="0" cy="0"/>
        </a:xfrm>
      </p:grpSpPr>
      <p:grpSp>
        <p:nvGrpSpPr>
          <p:cNvPr id="643" name="Google Shape;643;p47"/>
          <p:cNvGrpSpPr/>
          <p:nvPr/>
        </p:nvGrpSpPr>
        <p:grpSpPr>
          <a:xfrm>
            <a:off x="-476250" y="-857250"/>
            <a:ext cx="10477500" cy="6381750"/>
            <a:chOff x="-476250" y="-857250"/>
            <a:chExt cx="10477500" cy="6381750"/>
          </a:xfrm>
        </p:grpSpPr>
        <p:sp>
          <p:nvSpPr>
            <p:cNvPr id="644" name="Google Shape;644;p4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4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4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7" name="Google Shape;647;p47"/>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論文摘要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lang="zh-TW" sz="2800">
                <a:solidFill>
                  <a:srgbClr val="3B82F6"/>
                </a:solidFill>
                <a:latin typeface="Inter"/>
                <a:ea typeface="Inter"/>
                <a:cs typeface="Inter"/>
                <a:sym typeface="Inter"/>
              </a:rPr>
              <a:t>(Abstract)</a:t>
            </a:r>
            <a:endParaRPr b="1" sz="4400">
              <a:solidFill>
                <a:srgbClr val="1E293B"/>
              </a:solidFill>
              <a:latin typeface="Oswald"/>
              <a:ea typeface="Oswald"/>
              <a:cs typeface="Oswald"/>
              <a:sym typeface="Oswald"/>
            </a:endParaRPr>
          </a:p>
        </p:txBody>
      </p:sp>
      <p:sp>
        <p:nvSpPr>
          <p:cNvPr id="648" name="Google Shape;648;p47"/>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2" name="Shape 652"/>
        <p:cNvGrpSpPr/>
        <p:nvPr/>
      </p:nvGrpSpPr>
      <p:grpSpPr>
        <a:xfrm>
          <a:off x="0" y="0"/>
          <a:ext cx="0" cy="0"/>
          <a:chOff x="0" y="0"/>
          <a:chExt cx="0" cy="0"/>
        </a:xfrm>
      </p:grpSpPr>
      <p:sp>
        <p:nvSpPr>
          <p:cNvPr id="653" name="Google Shape;653;p48"/>
          <p:cNvSpPr txBox="1"/>
          <p:nvPr>
            <p:ph type="title"/>
          </p:nvPr>
        </p:nvSpPr>
        <p:spPr>
          <a:xfrm>
            <a:off x="571500" y="428625"/>
            <a:ext cx="8001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600">
                <a:solidFill>
                  <a:srgbClr val="1E293B"/>
                </a:solidFill>
                <a:latin typeface="Oswald"/>
                <a:ea typeface="Oswald"/>
                <a:cs typeface="Oswald"/>
                <a:sym typeface="Oswald"/>
              </a:rPr>
              <a:t>論文摘要 </a:t>
            </a:r>
            <a:r>
              <a:rPr b="0" lang="zh-TW" sz="2200">
                <a:solidFill>
                  <a:srgbClr val="3B82F6"/>
                </a:solidFill>
                <a:latin typeface="Oswald"/>
                <a:ea typeface="Oswald"/>
                <a:cs typeface="Oswald"/>
                <a:sym typeface="Oswald"/>
              </a:rPr>
              <a:t>(Abstract)</a:t>
            </a:r>
            <a:endParaRPr b="1" sz="2600">
              <a:solidFill>
                <a:srgbClr val="1E293B"/>
              </a:solidFill>
              <a:latin typeface="Oswald"/>
              <a:ea typeface="Oswald"/>
              <a:cs typeface="Oswald"/>
              <a:sym typeface="Oswald"/>
            </a:endParaRPr>
          </a:p>
        </p:txBody>
      </p:sp>
      <p:grpSp>
        <p:nvGrpSpPr>
          <p:cNvPr id="654" name="Google Shape;654;p48"/>
          <p:cNvGrpSpPr/>
          <p:nvPr/>
        </p:nvGrpSpPr>
        <p:grpSpPr>
          <a:xfrm>
            <a:off x="-476250" y="-857250"/>
            <a:ext cx="10477500" cy="6572250"/>
            <a:chOff x="-476250" y="-857250"/>
            <a:chExt cx="10477500" cy="6572250"/>
          </a:xfrm>
        </p:grpSpPr>
        <p:sp>
          <p:nvSpPr>
            <p:cNvPr id="655" name="Google Shape;655;p48"/>
            <p:cNvSpPr/>
            <p:nvPr/>
          </p:nvSpPr>
          <p:spPr>
            <a:xfrm>
              <a:off x="7143750" y="-857250"/>
              <a:ext cx="2857500" cy="2857500"/>
            </a:xfrm>
            <a:prstGeom prst="ellipse">
              <a:avLst/>
            </a:prstGeom>
            <a:solidFill>
              <a:srgbClr val="60A5FA">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48"/>
            <p:cNvSpPr/>
            <p:nvPr/>
          </p:nvSpPr>
          <p:spPr>
            <a:xfrm>
              <a:off x="-476250" y="38100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4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58" name="Google Shape;658;p48"/>
          <p:cNvGrpSpPr/>
          <p:nvPr/>
        </p:nvGrpSpPr>
        <p:grpSpPr>
          <a:xfrm>
            <a:off x="571500" y="1000125"/>
            <a:ext cx="8001000" cy="3457500"/>
            <a:chOff x="0" y="0"/>
            <a:chExt cx="8001000" cy="3457500"/>
          </a:xfrm>
        </p:grpSpPr>
        <p:sp>
          <p:nvSpPr>
            <p:cNvPr id="659" name="Google Shape;659;p48"/>
            <p:cNvSpPr/>
            <p:nvPr/>
          </p:nvSpPr>
          <p:spPr>
            <a:xfrm>
              <a:off x="0" y="0"/>
              <a:ext cx="8001000" cy="34575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48"/>
            <p:cNvSpPr/>
            <p:nvPr/>
          </p:nvSpPr>
          <p:spPr>
            <a:xfrm>
              <a:off x="0" y="0"/>
              <a:ext cx="76200" cy="3457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1" name="Google Shape;661;p48"/>
            <p:cNvSpPr txBox="1"/>
            <p:nvPr/>
          </p:nvSpPr>
          <p:spPr>
            <a:xfrm>
              <a:off x="367800" y="169875"/>
              <a:ext cx="7633200" cy="306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目前的羽球追蹤模型雖然有不錯的準確度，但通常需要大量的運算資源，因此很難直接部署在 Jetson Nano 這類低功耗、低算力的邊緣設備上。</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如果想讓羽球追蹤真正做到即時運算，首先就必須解決「速度不夠快」的問題。</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因此，本研究以</a:t>
              </a:r>
              <a:r>
                <a:rPr b="1" lang="zh-TW" sz="1100">
                  <a:solidFill>
                    <a:srgbClr val="0F172A"/>
                  </a:solidFill>
                  <a:highlight>
                    <a:schemeClr val="accent6"/>
                  </a:highlight>
                  <a:latin typeface="Inter"/>
                  <a:ea typeface="Inter"/>
                  <a:cs typeface="Inter"/>
                  <a:sym typeface="Inter"/>
                </a:rPr>
                <a:t>知識蒸餾與 ROI（感興趣區域）追蹤作為 Baseline</a:t>
              </a:r>
              <a:r>
                <a:rPr b="1" lang="zh-TW" sz="1100">
                  <a:solidFill>
                    <a:srgbClr val="0F172A"/>
                  </a:solidFill>
                  <a:latin typeface="Inter"/>
                  <a:ea typeface="Inter"/>
                  <a:cs typeface="Inter"/>
                  <a:sym typeface="Inter"/>
                </a:rPr>
                <a:t>，並進一步設計一套適合邊緣設備的輕量化雙引擎追蹤架構。</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在降低模型運算量之後，新的問題也隨之出現，例如畫面中的靜態物體容易被誤認成羽球，或是羽球移動太快而跑出追蹤範圍。</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針對這些問題，本研究加入了</a:t>
              </a:r>
              <a:r>
                <a:rPr b="1" lang="zh-TW" sz="1100">
                  <a:solidFill>
                    <a:srgbClr val="0F172A"/>
                  </a:solidFill>
                  <a:highlight>
                    <a:schemeClr val="accent6"/>
                  </a:highlight>
                  <a:latin typeface="Inter"/>
                  <a:ea typeface="Inter"/>
                  <a:cs typeface="Inter"/>
                  <a:sym typeface="Inter"/>
                </a:rPr>
                <a:t>時空動態遮罩</a:t>
              </a:r>
              <a:r>
                <a:rPr b="1" lang="zh-TW" sz="1100">
                  <a:solidFill>
                    <a:srgbClr val="0F172A"/>
                  </a:solidFill>
                  <a:latin typeface="Inter"/>
                  <a:ea typeface="Inter"/>
                  <a:cs typeface="Inter"/>
                  <a:sym typeface="Inter"/>
                </a:rPr>
                <a:t>排除</a:t>
              </a:r>
              <a:r>
                <a:rPr b="1" lang="zh-TW" sz="1100">
                  <a:solidFill>
                    <a:srgbClr val="0F172A"/>
                  </a:solidFill>
                  <a:latin typeface="Inter"/>
                  <a:ea typeface="Inter"/>
                  <a:cs typeface="Inter"/>
                  <a:sym typeface="Inter"/>
                </a:rPr>
                <a:t>背景雜訊</a:t>
              </a:r>
              <a:r>
                <a:rPr b="1" lang="zh-TW" sz="1100">
                  <a:solidFill>
                    <a:srgbClr val="0F172A"/>
                  </a:solidFill>
                  <a:latin typeface="Inter"/>
                  <a:ea typeface="Inter"/>
                  <a:cs typeface="Inter"/>
                  <a:sym typeface="Inter"/>
                </a:rPr>
                <a:t>，同時搭配</a:t>
              </a:r>
              <a:r>
                <a:rPr b="1" lang="zh-TW" sz="1100">
                  <a:solidFill>
                    <a:srgbClr val="0F172A"/>
                  </a:solidFill>
                  <a:highlight>
                    <a:schemeClr val="accent6"/>
                  </a:highlight>
                  <a:latin typeface="Inter"/>
                  <a:ea typeface="Inter"/>
                  <a:cs typeface="Inter"/>
                  <a:sym typeface="Inter"/>
                </a:rPr>
                <a:t>卡爾曼濾波器</a:t>
              </a:r>
              <a:r>
                <a:rPr b="1" lang="zh-TW" sz="1100">
                  <a:solidFill>
                    <a:srgbClr val="0F172A"/>
                  </a:solidFill>
                  <a:latin typeface="Inter"/>
                  <a:ea typeface="Inter"/>
                  <a:cs typeface="Inter"/>
                  <a:sym typeface="Inter"/>
                </a:rPr>
                <a:t>，根據羽球過去的移動方向預測下一個位置，即使短時間看不到羽球，也能維持追蹤。</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最後，再透過雙引擎切換機制，根據目前的追蹤狀況選擇適合的方式進行偵測，讓系統在低算力的情況下，仍然能維持穩定的追蹤效果。</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t/>
              </a:r>
              <a:endParaRPr b="1" sz="11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100">
                  <a:solidFill>
                    <a:srgbClr val="0F172A"/>
                  </a:solidFill>
                  <a:latin typeface="Inter"/>
                  <a:ea typeface="Inter"/>
                  <a:cs typeface="Inter"/>
                  <a:sym typeface="Inter"/>
                </a:rPr>
                <a:t>在實驗結果方面，透過 128×128 的輕量化輸入解析度，</a:t>
              </a:r>
              <a:r>
                <a:rPr b="1" lang="zh-TW" sz="1100">
                  <a:solidFill>
                    <a:srgbClr val="0F172A"/>
                  </a:solidFill>
                  <a:highlight>
                    <a:schemeClr val="accent6"/>
                  </a:highlight>
                  <a:latin typeface="Inter"/>
                  <a:ea typeface="Inter"/>
                  <a:cs typeface="Inter"/>
                  <a:sym typeface="Inter"/>
                </a:rPr>
                <a:t>單次推論延遲可壓低至 33 ms 以下，達到超過 30 FPS 的即時運算速度。</a:t>
              </a:r>
              <a:r>
                <a:rPr b="1" lang="zh-TW" sz="1100">
                  <a:solidFill>
                    <a:srgbClr val="0F172A"/>
                  </a:solidFill>
                  <a:latin typeface="Inter"/>
                  <a:ea typeface="Inter"/>
                  <a:cs typeface="Inter"/>
                  <a:sym typeface="Inter"/>
                </a:rPr>
                <a:t>也就是說，即使使用 Jetson Nano 這類平價硬體，也能做到接近即時的羽球追蹤，讓未來將這類技術應用在一般羽球場館與智慧運動訓練環境成為可能。</a:t>
              </a:r>
              <a:endParaRPr b="1" sz="1100">
                <a:solidFill>
                  <a:srgbClr val="0F172A"/>
                </a:solidFill>
                <a:latin typeface="Inter"/>
                <a:ea typeface="Inter"/>
                <a:cs typeface="Inter"/>
                <a:sym typeface="Inte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5" name="Shape 665"/>
        <p:cNvGrpSpPr/>
        <p:nvPr/>
      </p:nvGrpSpPr>
      <p:grpSpPr>
        <a:xfrm>
          <a:off x="0" y="0"/>
          <a:ext cx="0" cy="0"/>
          <a:chOff x="0" y="0"/>
          <a:chExt cx="0" cy="0"/>
        </a:xfrm>
      </p:grpSpPr>
      <p:grpSp>
        <p:nvGrpSpPr>
          <p:cNvPr id="666" name="Google Shape;666;p49"/>
          <p:cNvGrpSpPr/>
          <p:nvPr/>
        </p:nvGrpSpPr>
        <p:grpSpPr>
          <a:xfrm>
            <a:off x="-476250" y="-857250"/>
            <a:ext cx="10477500" cy="6381750"/>
            <a:chOff x="-476250" y="-857250"/>
            <a:chExt cx="10477500" cy="6381750"/>
          </a:xfrm>
        </p:grpSpPr>
        <p:sp>
          <p:nvSpPr>
            <p:cNvPr id="667" name="Google Shape;667;p4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4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4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0" name="Google Shape;670;p49"/>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研究動機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(Motivation)</a:t>
            </a:r>
            <a:endParaRPr b="1" sz="4400">
              <a:solidFill>
                <a:srgbClr val="1E293B"/>
              </a:solidFill>
              <a:latin typeface="Oswald"/>
              <a:ea typeface="Oswald"/>
              <a:cs typeface="Oswald"/>
              <a:sym typeface="Oswald"/>
            </a:endParaRPr>
          </a:p>
        </p:txBody>
      </p:sp>
      <p:sp>
        <p:nvSpPr>
          <p:cNvPr id="671" name="Google Shape;671;p49"/>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5" name="Shape 675"/>
        <p:cNvGrpSpPr/>
        <p:nvPr/>
      </p:nvGrpSpPr>
      <p:grpSpPr>
        <a:xfrm>
          <a:off x="0" y="0"/>
          <a:ext cx="0" cy="0"/>
          <a:chOff x="0" y="0"/>
          <a:chExt cx="0" cy="0"/>
        </a:xfrm>
      </p:grpSpPr>
      <p:sp>
        <p:nvSpPr>
          <p:cNvPr id="676" name="Google Shape;676;p50"/>
          <p:cNvSpPr txBox="1"/>
          <p:nvPr>
            <p:ph type="title"/>
          </p:nvPr>
        </p:nvSpPr>
        <p:spPr>
          <a:xfrm>
            <a:off x="571500" y="428625"/>
            <a:ext cx="8001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600">
                <a:solidFill>
                  <a:srgbClr val="1E293B"/>
                </a:solidFill>
                <a:latin typeface="Oswald"/>
                <a:ea typeface="Oswald"/>
                <a:cs typeface="Oswald"/>
                <a:sym typeface="Oswald"/>
              </a:rPr>
              <a:t>研究背景與研究動機 </a:t>
            </a:r>
            <a:r>
              <a:rPr lang="zh-TW" sz="2200">
                <a:solidFill>
                  <a:srgbClr val="3B82F6"/>
                </a:solidFill>
                <a:latin typeface="Oswald"/>
                <a:ea typeface="Oswald"/>
                <a:cs typeface="Oswald"/>
                <a:sym typeface="Oswald"/>
              </a:rPr>
              <a:t>(Background &amp; Motivation)</a:t>
            </a:r>
            <a:endParaRPr b="1" sz="2600">
              <a:solidFill>
                <a:srgbClr val="1E293B"/>
              </a:solidFill>
              <a:latin typeface="Oswald"/>
              <a:ea typeface="Oswald"/>
              <a:cs typeface="Oswald"/>
              <a:sym typeface="Oswald"/>
            </a:endParaRPr>
          </a:p>
        </p:txBody>
      </p:sp>
      <p:grpSp>
        <p:nvGrpSpPr>
          <p:cNvPr id="677" name="Google Shape;677;p50"/>
          <p:cNvGrpSpPr/>
          <p:nvPr/>
        </p:nvGrpSpPr>
        <p:grpSpPr>
          <a:xfrm>
            <a:off x="-476250" y="-857250"/>
            <a:ext cx="10477500" cy="6572250"/>
            <a:chOff x="-476250" y="-857250"/>
            <a:chExt cx="10477500" cy="6572250"/>
          </a:xfrm>
        </p:grpSpPr>
        <p:sp>
          <p:nvSpPr>
            <p:cNvPr id="678" name="Google Shape;678;p50"/>
            <p:cNvSpPr/>
            <p:nvPr/>
          </p:nvSpPr>
          <p:spPr>
            <a:xfrm>
              <a:off x="7143750" y="-857250"/>
              <a:ext cx="2857500" cy="2857500"/>
            </a:xfrm>
            <a:prstGeom prst="ellipse">
              <a:avLst/>
            </a:prstGeom>
            <a:solidFill>
              <a:srgbClr val="60A5FA">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50"/>
            <p:cNvSpPr/>
            <p:nvPr/>
          </p:nvSpPr>
          <p:spPr>
            <a:xfrm>
              <a:off x="-476250" y="38100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5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81" name="Google Shape;681;p50"/>
          <p:cNvGrpSpPr/>
          <p:nvPr/>
        </p:nvGrpSpPr>
        <p:grpSpPr>
          <a:xfrm>
            <a:off x="571500" y="1000125"/>
            <a:ext cx="8001000" cy="3457500"/>
            <a:chOff x="0" y="0"/>
            <a:chExt cx="8001000" cy="3457500"/>
          </a:xfrm>
        </p:grpSpPr>
        <p:sp>
          <p:nvSpPr>
            <p:cNvPr id="682" name="Google Shape;682;p50"/>
            <p:cNvSpPr/>
            <p:nvPr/>
          </p:nvSpPr>
          <p:spPr>
            <a:xfrm>
              <a:off x="0" y="0"/>
              <a:ext cx="8001000" cy="34575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50"/>
            <p:cNvSpPr/>
            <p:nvPr/>
          </p:nvSpPr>
          <p:spPr>
            <a:xfrm>
              <a:off x="0" y="0"/>
              <a:ext cx="76200" cy="3457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50"/>
            <p:cNvSpPr txBox="1"/>
            <p:nvPr/>
          </p:nvSpPr>
          <p:spPr>
            <a:xfrm>
              <a:off x="367800" y="169875"/>
              <a:ext cx="7633200" cy="306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我本身很喜歡打羽球，在練習和比賽的過程中，也常常會遇到一個問題：知道自己某些地方打得不好，卻很難具體找出問題在哪裡。</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如果能夠把比賽中的羽球軌跡和落點記錄下來，就可以進一步分析自己的打法。例如</a:t>
              </a:r>
              <a:r>
                <a:rPr b="1" lang="zh-TW" sz="1200">
                  <a:solidFill>
                    <a:srgbClr val="0F172A"/>
                  </a:solidFill>
                  <a:highlight>
                    <a:schemeClr val="accent6"/>
                  </a:highlight>
                  <a:latin typeface="Inter"/>
                  <a:ea typeface="Inter"/>
                  <a:cs typeface="Inter"/>
                  <a:sym typeface="Inter"/>
                </a:rPr>
                <a:t>找出自己在哪個位置最容易失分</a:t>
              </a:r>
              <a:r>
                <a:rPr b="1" lang="zh-TW" sz="1200">
                  <a:solidFill>
                    <a:srgbClr val="0F172A"/>
                  </a:solidFill>
                  <a:latin typeface="Inter"/>
                  <a:ea typeface="Inter"/>
                  <a:cs typeface="Inter"/>
                  <a:sym typeface="Inter"/>
                </a:rPr>
                <a:t>，或是</a:t>
              </a:r>
              <a:r>
                <a:rPr b="1" lang="zh-TW" sz="1200">
                  <a:solidFill>
                    <a:srgbClr val="0F172A"/>
                  </a:solidFill>
                  <a:highlight>
                    <a:schemeClr val="accent6"/>
                  </a:highlight>
                  <a:latin typeface="Inter"/>
                  <a:ea typeface="Inter"/>
                  <a:cs typeface="Inter"/>
                  <a:sym typeface="Inter"/>
                </a:rPr>
                <a:t>分析對手從某個位置擊球時，最常把球打到哪裡</a:t>
              </a:r>
              <a:r>
                <a:rPr b="1" lang="zh-TW" sz="1200">
                  <a:solidFill>
                    <a:srgbClr val="0F172A"/>
                  </a:solidFill>
                  <a:latin typeface="Inter"/>
                  <a:ea typeface="Inter"/>
                  <a:cs typeface="Inter"/>
                  <a:sym typeface="Inter"/>
                </a:rPr>
                <a:t>。透過這些資料，可以更客觀地了解自己的問題，也能作為後續調整訓練和戰術的參考。</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目前頂級賽事常使用像 Hawk-Eye（鷹眼）這類系統。這種方法雖然準確，但需要多台高速攝影機、光纖、多台高階電腦、較複雜的場地配置，以及相對高昂的設備成本，可能一套下來就要上百萬台幣。</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因此，對一般羽球館、訓練中心或普通球友來說，使用門檻還是太高。</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所以我開始思考：能不能做一套比較平價、硬體需求也比較簡單的羽球追蹤系統？</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希望捨棄昂貴設備，只使用</a:t>
              </a:r>
              <a:r>
                <a:rPr b="1" lang="zh-TW" sz="1200">
                  <a:solidFill>
                    <a:srgbClr val="0F172A"/>
                  </a:solidFill>
                  <a:highlight>
                    <a:schemeClr val="accent6"/>
                  </a:highlight>
                  <a:latin typeface="Inter"/>
                  <a:ea typeface="Inter"/>
                  <a:cs typeface="Inter"/>
                  <a:sym typeface="Inter"/>
                </a:rPr>
                <a:t>單一攝影機</a:t>
              </a:r>
              <a:r>
                <a:rPr b="1" lang="zh-TW" sz="1200">
                  <a:solidFill>
                    <a:srgbClr val="0F172A"/>
                  </a:solidFill>
                  <a:latin typeface="Inter"/>
                  <a:ea typeface="Inter"/>
                  <a:cs typeface="Inter"/>
                  <a:sym typeface="Inter"/>
                </a:rPr>
                <a:t>，搭配像 </a:t>
              </a:r>
              <a:r>
                <a:rPr b="1" lang="zh-TW" sz="1200">
                  <a:solidFill>
                    <a:srgbClr val="0F172A"/>
                  </a:solidFill>
                  <a:highlight>
                    <a:schemeClr val="accent6"/>
                  </a:highlight>
                  <a:latin typeface="Inter"/>
                  <a:ea typeface="Inter"/>
                  <a:cs typeface="Inter"/>
                  <a:sym typeface="Inter"/>
                </a:rPr>
                <a:t>Jetson Nano 這類低成本邊緣運算設備</a:t>
              </a:r>
              <a:r>
                <a:rPr b="1" lang="zh-TW" sz="1200">
                  <a:solidFill>
                    <a:srgbClr val="0F172A"/>
                  </a:solidFill>
                  <a:latin typeface="Inter"/>
                  <a:ea typeface="Inter"/>
                  <a:cs typeface="Inter"/>
                  <a:sym typeface="Inter"/>
                </a:rPr>
                <a:t>，在有限的運算資源下完成羽球的即時偵測與追蹤。</a:t>
              </a:r>
              <a:endParaRPr b="1" sz="1200">
                <a:solidFill>
                  <a:srgbClr val="0F172A"/>
                </a:solidFill>
                <a:latin typeface="Inter"/>
                <a:ea typeface="Inter"/>
                <a:cs typeface="Inter"/>
                <a:sym typeface="Inter"/>
              </a:endParaRPr>
            </a:p>
            <a:p>
              <a:pPr indent="0" lvl="0" marL="0" rtl="0" algn="l">
                <a:lnSpc>
                  <a:spcPct val="115000"/>
                </a:lnSpc>
                <a:spcBef>
                  <a:spcPts val="0"/>
                </a:spcBef>
                <a:spcAft>
                  <a:spcPts val="0"/>
                </a:spcAft>
                <a:buNone/>
              </a:pPr>
              <a:r>
                <a:rPr b="1" lang="zh-TW" sz="1200">
                  <a:solidFill>
                    <a:srgbClr val="0F172A"/>
                  </a:solidFill>
                  <a:latin typeface="Inter"/>
                  <a:ea typeface="Inter"/>
                  <a:cs typeface="Inter"/>
                  <a:sym typeface="Inter"/>
                </a:rPr>
                <a:t>如果能夠做到這一點，未來就有機會把原本只有大型賽事才能使用的運動數據分析技術，帶進一般羽球場館與日常訓練環境。</a:t>
              </a:r>
              <a:endParaRPr b="1" sz="1200">
                <a:solidFill>
                  <a:srgbClr val="0F172A"/>
                </a:solidFill>
                <a:latin typeface="Inter"/>
                <a:ea typeface="Inter"/>
                <a:cs typeface="Inter"/>
                <a:sym typeface="Inte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8" name="Shape 688"/>
        <p:cNvGrpSpPr/>
        <p:nvPr/>
      </p:nvGrpSpPr>
      <p:grpSpPr>
        <a:xfrm>
          <a:off x="0" y="0"/>
          <a:ext cx="0" cy="0"/>
          <a:chOff x="0" y="0"/>
          <a:chExt cx="0" cy="0"/>
        </a:xfrm>
      </p:grpSpPr>
      <p:grpSp>
        <p:nvGrpSpPr>
          <p:cNvPr id="689" name="Google Shape;689;p51"/>
          <p:cNvGrpSpPr/>
          <p:nvPr/>
        </p:nvGrpSpPr>
        <p:grpSpPr>
          <a:xfrm>
            <a:off x="-476250" y="-857250"/>
            <a:ext cx="10477500" cy="6381750"/>
            <a:chOff x="-476250" y="-857250"/>
            <a:chExt cx="10477500" cy="6381750"/>
          </a:xfrm>
        </p:grpSpPr>
        <p:sp>
          <p:nvSpPr>
            <p:cNvPr id="690" name="Google Shape;690;p5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5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5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3" name="Google Shape;693;p51"/>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介紹</a:t>
            </a:r>
            <a:r>
              <a:rPr b="1" lang="zh-TW" sz="4400">
                <a:solidFill>
                  <a:srgbClr val="1E293B"/>
                </a:solidFill>
                <a:latin typeface="Oswald"/>
                <a:ea typeface="Oswald"/>
                <a:cs typeface="Oswald"/>
                <a:sym typeface="Oswald"/>
              </a:rPr>
              <a:t>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Introduction</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694" name="Google Shape;694;p51"/>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grpSp>
        <p:nvGrpSpPr>
          <p:cNvPr id="699" name="Google Shape;699;p52"/>
          <p:cNvGrpSpPr/>
          <p:nvPr/>
        </p:nvGrpSpPr>
        <p:grpSpPr>
          <a:xfrm>
            <a:off x="-476250" y="-857250"/>
            <a:ext cx="10477500" cy="6381750"/>
            <a:chOff x="-476250" y="-857250"/>
            <a:chExt cx="10477500" cy="6381750"/>
          </a:xfrm>
        </p:grpSpPr>
        <p:sp>
          <p:nvSpPr>
            <p:cNvPr id="700" name="Google Shape;700;p5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1" name="Google Shape;701;p5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5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52"/>
            <p:cNvSpPr/>
            <p:nvPr/>
          </p:nvSpPr>
          <p:spPr>
            <a:xfrm>
              <a:off x="571500" y="8763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04" name="Google Shape;704;p52"/>
          <p:cNvSpPr txBox="1"/>
          <p:nvPr/>
        </p:nvSpPr>
        <p:spPr>
          <a:xfrm>
            <a:off x="571500" y="333375"/>
            <a:ext cx="80010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Oswald"/>
                <a:ea typeface="Oswald"/>
                <a:cs typeface="Oswald"/>
                <a:sym typeface="Oswald"/>
              </a:rPr>
              <a:t>介紹：</a:t>
            </a:r>
            <a:r>
              <a:rPr b="1" lang="zh-TW" sz="2400">
                <a:solidFill>
                  <a:srgbClr val="1E293B"/>
                </a:solidFill>
                <a:latin typeface="Oswald"/>
                <a:ea typeface="Oswald"/>
                <a:cs typeface="Oswald"/>
                <a:sym typeface="Oswald"/>
              </a:rPr>
              <a:t>選用設備</a:t>
            </a:r>
            <a:r>
              <a:rPr b="1" lang="zh-TW" sz="2400">
                <a:solidFill>
                  <a:srgbClr val="1E293B"/>
                </a:solidFill>
                <a:latin typeface="Oswald"/>
                <a:ea typeface="Oswald"/>
                <a:cs typeface="Oswald"/>
                <a:sym typeface="Oswald"/>
              </a:rPr>
              <a:t> </a:t>
            </a:r>
            <a:r>
              <a:rPr b="0" lang="zh-TW" sz="2000">
                <a:solidFill>
                  <a:srgbClr val="3B82F6"/>
                </a:solidFill>
                <a:latin typeface="Oswald"/>
                <a:ea typeface="Oswald"/>
                <a:cs typeface="Oswald"/>
                <a:sym typeface="Oswald"/>
              </a:rPr>
              <a:t>(</a:t>
            </a:r>
            <a:r>
              <a:rPr lang="zh-TW" sz="2000">
                <a:solidFill>
                  <a:srgbClr val="3B82F6"/>
                </a:solidFill>
                <a:latin typeface="Oswald"/>
                <a:ea typeface="Oswald"/>
                <a:cs typeface="Oswald"/>
                <a:sym typeface="Oswald"/>
              </a:rPr>
              <a:t>Device choose</a:t>
            </a:r>
            <a:r>
              <a:rPr b="0" lang="zh-TW" sz="2000">
                <a:solidFill>
                  <a:srgbClr val="3B82F6"/>
                </a:solidFill>
                <a:latin typeface="Oswald"/>
                <a:ea typeface="Oswald"/>
                <a:cs typeface="Oswald"/>
                <a:sym typeface="Oswald"/>
              </a:rPr>
              <a:t>)</a:t>
            </a:r>
            <a:endParaRPr b="1" sz="2400">
              <a:solidFill>
                <a:srgbClr val="1E293B"/>
              </a:solidFill>
              <a:latin typeface="Oswald"/>
              <a:ea typeface="Oswald"/>
              <a:cs typeface="Oswald"/>
              <a:sym typeface="Oswald"/>
            </a:endParaRPr>
          </a:p>
        </p:txBody>
      </p:sp>
      <p:grpSp>
        <p:nvGrpSpPr>
          <p:cNvPr id="705" name="Google Shape;705;p52"/>
          <p:cNvGrpSpPr/>
          <p:nvPr/>
        </p:nvGrpSpPr>
        <p:grpSpPr>
          <a:xfrm>
            <a:off x="571500" y="1000125"/>
            <a:ext cx="8001000" cy="619200"/>
            <a:chOff x="0" y="0"/>
            <a:chExt cx="8001000" cy="619200"/>
          </a:xfrm>
        </p:grpSpPr>
        <p:sp>
          <p:nvSpPr>
            <p:cNvPr id="706" name="Google Shape;706;p52"/>
            <p:cNvSpPr/>
            <p:nvPr/>
          </p:nvSpPr>
          <p:spPr>
            <a:xfrm>
              <a:off x="0" y="0"/>
              <a:ext cx="8001000" cy="619200"/>
            </a:xfrm>
            <a:prstGeom prst="roundRect">
              <a:avLst>
                <a:gd fmla="val 15384"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52"/>
            <p:cNvSpPr txBox="1"/>
            <p:nvPr/>
          </p:nvSpPr>
          <p:spPr>
            <a:xfrm>
              <a:off x="0" y="0"/>
              <a:ext cx="80010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800">
                  <a:solidFill>
                    <a:srgbClr val="FFFFFF"/>
                  </a:solidFill>
                  <a:latin typeface="Inter"/>
                  <a:ea typeface="Inter"/>
                  <a:cs typeface="Inter"/>
                  <a:sym typeface="Inter"/>
                </a:rPr>
                <a:t>NVIDIA Jetson Nano + 1080P 30FPS WebCam</a:t>
              </a:r>
              <a:endParaRPr b="1" sz="1800">
                <a:solidFill>
                  <a:srgbClr val="FFFFFF"/>
                </a:solidFill>
                <a:latin typeface="Inter"/>
                <a:ea typeface="Inter"/>
                <a:cs typeface="Inter"/>
                <a:sym typeface="Inter"/>
              </a:endParaRPr>
            </a:p>
          </p:txBody>
        </p:sp>
      </p:grpSp>
      <p:grpSp>
        <p:nvGrpSpPr>
          <p:cNvPr id="708" name="Google Shape;708;p52"/>
          <p:cNvGrpSpPr/>
          <p:nvPr/>
        </p:nvGrpSpPr>
        <p:grpSpPr>
          <a:xfrm>
            <a:off x="571500" y="1809750"/>
            <a:ext cx="2514600" cy="1238400"/>
            <a:chOff x="0" y="0"/>
            <a:chExt cx="2514600" cy="1238400"/>
          </a:xfrm>
        </p:grpSpPr>
        <p:sp>
          <p:nvSpPr>
            <p:cNvPr id="709" name="Google Shape;709;p52"/>
            <p:cNvSpPr/>
            <p:nvPr/>
          </p:nvSpPr>
          <p:spPr>
            <a:xfrm>
              <a:off x="0" y="0"/>
              <a:ext cx="2514600" cy="1238400"/>
            </a:xfrm>
            <a:prstGeom prst="roundRect">
              <a:avLst>
                <a:gd fmla="val 7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52"/>
            <p:cNvSpPr/>
            <p:nvPr/>
          </p:nvSpPr>
          <p:spPr>
            <a:xfrm>
              <a:off x="0" y="0"/>
              <a:ext cx="47700" cy="12384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1" name="Google Shape;711;p52"/>
            <p:cNvSpPr txBox="1"/>
            <p:nvPr/>
          </p:nvSpPr>
          <p:spPr>
            <a:xfrm>
              <a:off x="190500" y="0"/>
              <a:ext cx="21717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CPU</a:t>
              </a:r>
              <a:endParaRPr b="1" sz="1100">
                <a:solidFill>
                  <a:srgbClr val="3B82F6"/>
                </a:solidFill>
                <a:latin typeface="Inter"/>
                <a:ea typeface="Inter"/>
                <a:cs typeface="Inter"/>
                <a:sym typeface="Inter"/>
              </a:endParaRPr>
            </a:p>
            <a:p>
              <a:pPr indent="0" lvl="0" marL="0" rtl="0" algn="l">
                <a:spcBef>
                  <a:spcPts val="450"/>
                </a:spcBef>
                <a:spcAft>
                  <a:spcPts val="0"/>
                </a:spcAft>
                <a:buNone/>
              </a:pPr>
              <a:r>
                <a:rPr b="1" lang="zh-TW" sz="1300">
                  <a:solidFill>
                    <a:srgbClr val="0F172A"/>
                  </a:solidFill>
                  <a:latin typeface="Inter"/>
                  <a:ea typeface="Inter"/>
                  <a:cs typeface="Inter"/>
                  <a:sym typeface="Inter"/>
                </a:rPr>
                <a:t>四核心 ARM</a:t>
              </a:r>
              <a:br>
                <a:rPr b="1" lang="zh-TW" sz="1300">
                  <a:solidFill>
                    <a:srgbClr val="0F172A"/>
                  </a:solidFill>
                  <a:latin typeface="Inter"/>
                  <a:ea typeface="Inter"/>
                  <a:cs typeface="Inter"/>
                  <a:sym typeface="Inter"/>
                </a:rPr>
              </a:br>
              <a:r>
                <a:rPr b="1" lang="zh-TW" sz="1300">
                  <a:solidFill>
                    <a:srgbClr val="0F172A"/>
                  </a:solidFill>
                  <a:latin typeface="Inter"/>
                  <a:ea typeface="Inter"/>
                  <a:cs typeface="Inter"/>
                  <a:sym typeface="Inter"/>
                </a:rPr>
                <a:t>Cortex-A57 MPCore</a:t>
              </a:r>
              <a:endParaRPr b="1" sz="1300">
                <a:solidFill>
                  <a:srgbClr val="0F172A"/>
                </a:solidFill>
                <a:latin typeface="Inter"/>
                <a:ea typeface="Inter"/>
                <a:cs typeface="Inter"/>
                <a:sym typeface="Inter"/>
              </a:endParaRPr>
            </a:p>
          </p:txBody>
        </p:sp>
      </p:grpSp>
      <p:grpSp>
        <p:nvGrpSpPr>
          <p:cNvPr id="712" name="Google Shape;712;p52"/>
          <p:cNvGrpSpPr/>
          <p:nvPr/>
        </p:nvGrpSpPr>
        <p:grpSpPr>
          <a:xfrm>
            <a:off x="3314700" y="1809750"/>
            <a:ext cx="2514600" cy="1238400"/>
            <a:chOff x="0" y="0"/>
            <a:chExt cx="2514600" cy="1238400"/>
          </a:xfrm>
        </p:grpSpPr>
        <p:sp>
          <p:nvSpPr>
            <p:cNvPr id="713" name="Google Shape;713;p52"/>
            <p:cNvSpPr/>
            <p:nvPr/>
          </p:nvSpPr>
          <p:spPr>
            <a:xfrm>
              <a:off x="0" y="0"/>
              <a:ext cx="2514600" cy="1238400"/>
            </a:xfrm>
            <a:prstGeom prst="roundRect">
              <a:avLst>
                <a:gd fmla="val 7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4" name="Google Shape;714;p52"/>
            <p:cNvSpPr/>
            <p:nvPr/>
          </p:nvSpPr>
          <p:spPr>
            <a:xfrm>
              <a:off x="0" y="0"/>
              <a:ext cx="47700" cy="12384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52"/>
            <p:cNvSpPr txBox="1"/>
            <p:nvPr/>
          </p:nvSpPr>
          <p:spPr>
            <a:xfrm>
              <a:off x="190500" y="0"/>
              <a:ext cx="21717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GPU</a:t>
              </a:r>
              <a:endParaRPr b="1" sz="1100">
                <a:solidFill>
                  <a:srgbClr val="3B82F6"/>
                </a:solidFill>
                <a:latin typeface="Inter"/>
                <a:ea typeface="Inter"/>
                <a:cs typeface="Inter"/>
                <a:sym typeface="Inter"/>
              </a:endParaRPr>
            </a:p>
            <a:p>
              <a:pPr indent="0" lvl="0" marL="0" rtl="0" algn="l">
                <a:spcBef>
                  <a:spcPts val="450"/>
                </a:spcBef>
                <a:spcAft>
                  <a:spcPts val="0"/>
                </a:spcAft>
                <a:buNone/>
              </a:pPr>
              <a:r>
                <a:rPr b="1" lang="zh-TW" sz="1300">
                  <a:solidFill>
                    <a:srgbClr val="0F172A"/>
                  </a:solidFill>
                  <a:latin typeface="Inter"/>
                  <a:ea typeface="Inter"/>
                  <a:cs typeface="Inter"/>
                  <a:sym typeface="Inter"/>
                </a:rPr>
                <a:t>NVIDIA Maxwell 架構</a:t>
              </a:r>
              <a:br>
                <a:rPr b="1" lang="zh-TW" sz="1300">
                  <a:solidFill>
                    <a:srgbClr val="0F172A"/>
                  </a:solidFill>
                  <a:latin typeface="Inter"/>
                  <a:ea typeface="Inter"/>
                  <a:cs typeface="Inter"/>
                  <a:sym typeface="Inter"/>
                </a:rPr>
              </a:br>
              <a:r>
                <a:rPr b="1" lang="zh-TW" sz="1300">
                  <a:solidFill>
                    <a:srgbClr val="0F172A"/>
                  </a:solidFill>
                  <a:latin typeface="Inter"/>
                  <a:ea typeface="Inter"/>
                  <a:cs typeface="Inter"/>
                  <a:sym typeface="Inter"/>
                </a:rPr>
                <a:t>128 核心</a:t>
              </a:r>
              <a:endParaRPr b="1" sz="1300">
                <a:solidFill>
                  <a:srgbClr val="0F172A"/>
                </a:solidFill>
                <a:latin typeface="Inter"/>
                <a:ea typeface="Inter"/>
                <a:cs typeface="Inter"/>
                <a:sym typeface="Inter"/>
              </a:endParaRPr>
            </a:p>
          </p:txBody>
        </p:sp>
      </p:grpSp>
      <p:grpSp>
        <p:nvGrpSpPr>
          <p:cNvPr id="716" name="Google Shape;716;p52"/>
          <p:cNvGrpSpPr/>
          <p:nvPr/>
        </p:nvGrpSpPr>
        <p:grpSpPr>
          <a:xfrm>
            <a:off x="6057900" y="1809750"/>
            <a:ext cx="2514600" cy="1238400"/>
            <a:chOff x="0" y="0"/>
            <a:chExt cx="2514600" cy="1238400"/>
          </a:xfrm>
        </p:grpSpPr>
        <p:sp>
          <p:nvSpPr>
            <p:cNvPr id="717" name="Google Shape;717;p52"/>
            <p:cNvSpPr/>
            <p:nvPr/>
          </p:nvSpPr>
          <p:spPr>
            <a:xfrm>
              <a:off x="0" y="0"/>
              <a:ext cx="2514600" cy="1238400"/>
            </a:xfrm>
            <a:prstGeom prst="roundRect">
              <a:avLst>
                <a:gd fmla="val 7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52"/>
            <p:cNvSpPr/>
            <p:nvPr/>
          </p:nvSpPr>
          <p:spPr>
            <a:xfrm>
              <a:off x="0" y="0"/>
              <a:ext cx="47700" cy="12384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52"/>
            <p:cNvSpPr txBox="1"/>
            <p:nvPr/>
          </p:nvSpPr>
          <p:spPr>
            <a:xfrm>
              <a:off x="190500" y="0"/>
              <a:ext cx="21717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RAM</a:t>
              </a:r>
              <a:endParaRPr b="1" sz="1100">
                <a:solidFill>
                  <a:srgbClr val="3B82F6"/>
                </a:solidFill>
                <a:latin typeface="Inter"/>
                <a:ea typeface="Inter"/>
                <a:cs typeface="Inter"/>
                <a:sym typeface="Inter"/>
              </a:endParaRPr>
            </a:p>
            <a:p>
              <a:pPr indent="0" lvl="0" marL="0" rtl="0" algn="l">
                <a:spcBef>
                  <a:spcPts val="450"/>
                </a:spcBef>
                <a:spcAft>
                  <a:spcPts val="0"/>
                </a:spcAft>
                <a:buNone/>
              </a:pPr>
              <a:r>
                <a:rPr b="1" lang="zh-TW" sz="1300">
                  <a:solidFill>
                    <a:srgbClr val="0F172A"/>
                  </a:solidFill>
                  <a:latin typeface="Inter"/>
                  <a:ea typeface="Inter"/>
                  <a:cs typeface="Inter"/>
                  <a:sym typeface="Inter"/>
                </a:rPr>
                <a:t>4GB 64-bit</a:t>
              </a:r>
              <a:br>
                <a:rPr b="1" lang="zh-TW" sz="1300">
                  <a:solidFill>
                    <a:srgbClr val="0F172A"/>
                  </a:solidFill>
                  <a:latin typeface="Inter"/>
                  <a:ea typeface="Inter"/>
                  <a:cs typeface="Inter"/>
                  <a:sym typeface="Inter"/>
                </a:rPr>
              </a:br>
              <a:r>
                <a:rPr b="1" lang="zh-TW" sz="1300">
                  <a:solidFill>
                    <a:srgbClr val="0F172A"/>
                  </a:solidFill>
                  <a:latin typeface="Inter"/>
                  <a:ea typeface="Inter"/>
                  <a:cs typeface="Inter"/>
                  <a:sym typeface="Inter"/>
                </a:rPr>
                <a:t>LPDDR4</a:t>
              </a:r>
              <a:endParaRPr b="1" sz="1300">
                <a:solidFill>
                  <a:srgbClr val="0F172A"/>
                </a:solidFill>
                <a:latin typeface="Inter"/>
                <a:ea typeface="Inter"/>
                <a:cs typeface="Inter"/>
                <a:sym typeface="Inter"/>
              </a:endParaRPr>
            </a:p>
          </p:txBody>
        </p:sp>
      </p:grpSp>
      <p:grpSp>
        <p:nvGrpSpPr>
          <p:cNvPr id="720" name="Google Shape;720;p52"/>
          <p:cNvGrpSpPr/>
          <p:nvPr/>
        </p:nvGrpSpPr>
        <p:grpSpPr>
          <a:xfrm>
            <a:off x="571500" y="3238500"/>
            <a:ext cx="3886200" cy="1238400"/>
            <a:chOff x="0" y="0"/>
            <a:chExt cx="3886200" cy="1238400"/>
          </a:xfrm>
        </p:grpSpPr>
        <p:sp>
          <p:nvSpPr>
            <p:cNvPr id="721" name="Google Shape;721;p52"/>
            <p:cNvSpPr/>
            <p:nvPr/>
          </p:nvSpPr>
          <p:spPr>
            <a:xfrm>
              <a:off x="0" y="0"/>
              <a:ext cx="3886200" cy="1238400"/>
            </a:xfrm>
            <a:prstGeom prst="roundRect">
              <a:avLst>
                <a:gd fmla="val 7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52"/>
            <p:cNvSpPr/>
            <p:nvPr/>
          </p:nvSpPr>
          <p:spPr>
            <a:xfrm>
              <a:off x="0" y="0"/>
              <a:ext cx="47700" cy="12384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52"/>
            <p:cNvSpPr txBox="1"/>
            <p:nvPr/>
          </p:nvSpPr>
          <p:spPr>
            <a:xfrm>
              <a:off x="190500" y="0"/>
              <a:ext cx="35433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OS (作業系統)</a:t>
              </a:r>
              <a:endParaRPr b="1" sz="1100">
                <a:solidFill>
                  <a:srgbClr val="3B82F6"/>
                </a:solidFill>
                <a:latin typeface="Inter"/>
                <a:ea typeface="Inter"/>
                <a:cs typeface="Inter"/>
                <a:sym typeface="Inter"/>
              </a:endParaRPr>
            </a:p>
            <a:p>
              <a:pPr indent="0" lvl="0" marL="0" rtl="0" algn="l">
                <a:spcBef>
                  <a:spcPts val="450"/>
                </a:spcBef>
                <a:spcAft>
                  <a:spcPts val="0"/>
                </a:spcAft>
                <a:buNone/>
              </a:pPr>
              <a:r>
                <a:rPr b="1" lang="zh-TW" sz="1400">
                  <a:solidFill>
                    <a:srgbClr val="0F172A"/>
                  </a:solidFill>
                  <a:latin typeface="Inter"/>
                  <a:ea typeface="Inter"/>
                  <a:cs typeface="Inter"/>
                  <a:sym typeface="Inter"/>
                </a:rPr>
                <a:t>Ubuntu 18.04 </a:t>
              </a:r>
              <a:r>
                <a:rPr b="0" lang="zh-TW" sz="1100">
                  <a:solidFill>
                    <a:srgbClr val="64748B"/>
                  </a:solidFill>
                  <a:latin typeface="Inter"/>
                  <a:ea typeface="Inter"/>
                  <a:cs typeface="Inter"/>
                  <a:sym typeface="Inter"/>
                </a:rPr>
                <a:t>(JetPack 4.6.1)</a:t>
              </a:r>
              <a:endParaRPr b="1" sz="1400">
                <a:solidFill>
                  <a:srgbClr val="0F172A"/>
                </a:solidFill>
                <a:latin typeface="Inter"/>
                <a:ea typeface="Inter"/>
                <a:cs typeface="Inter"/>
                <a:sym typeface="Inter"/>
              </a:endParaRPr>
            </a:p>
          </p:txBody>
        </p:sp>
      </p:grpSp>
      <p:grpSp>
        <p:nvGrpSpPr>
          <p:cNvPr id="724" name="Google Shape;724;p52"/>
          <p:cNvGrpSpPr/>
          <p:nvPr/>
        </p:nvGrpSpPr>
        <p:grpSpPr>
          <a:xfrm>
            <a:off x="4686300" y="3238500"/>
            <a:ext cx="3886200" cy="1238400"/>
            <a:chOff x="0" y="0"/>
            <a:chExt cx="3886200" cy="1238400"/>
          </a:xfrm>
        </p:grpSpPr>
        <p:sp>
          <p:nvSpPr>
            <p:cNvPr id="725" name="Google Shape;725;p52"/>
            <p:cNvSpPr/>
            <p:nvPr/>
          </p:nvSpPr>
          <p:spPr>
            <a:xfrm>
              <a:off x="0" y="0"/>
              <a:ext cx="3886200" cy="1238400"/>
            </a:xfrm>
            <a:prstGeom prst="roundRect">
              <a:avLst>
                <a:gd fmla="val 7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52"/>
            <p:cNvSpPr/>
            <p:nvPr/>
          </p:nvSpPr>
          <p:spPr>
            <a:xfrm>
              <a:off x="0" y="0"/>
              <a:ext cx="47700" cy="12384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52"/>
            <p:cNvSpPr txBox="1"/>
            <p:nvPr/>
          </p:nvSpPr>
          <p:spPr>
            <a:xfrm>
              <a:off x="190500" y="0"/>
              <a:ext cx="35433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Framework (深度學習框架)</a:t>
              </a:r>
              <a:endParaRPr b="1" sz="1100">
                <a:solidFill>
                  <a:srgbClr val="3B82F6"/>
                </a:solidFill>
                <a:latin typeface="Inter"/>
                <a:ea typeface="Inter"/>
                <a:cs typeface="Inter"/>
                <a:sym typeface="Inter"/>
              </a:endParaRPr>
            </a:p>
            <a:p>
              <a:pPr indent="0" lvl="0" marL="0" rtl="0" algn="l">
                <a:spcBef>
                  <a:spcPts val="450"/>
                </a:spcBef>
                <a:spcAft>
                  <a:spcPts val="0"/>
                </a:spcAft>
                <a:buNone/>
              </a:pPr>
              <a:r>
                <a:rPr b="1" lang="zh-TW" sz="1400">
                  <a:solidFill>
                    <a:srgbClr val="0F172A"/>
                  </a:solidFill>
                  <a:latin typeface="Inter"/>
                  <a:ea typeface="Inter"/>
                  <a:cs typeface="Inter"/>
                  <a:sym typeface="Inter"/>
                </a:rPr>
                <a:t>PyTorch 1.10.0 </a:t>
              </a:r>
              <a:r>
                <a:rPr b="0" lang="zh-TW" sz="1100">
                  <a:solidFill>
                    <a:srgbClr val="64748B"/>
                  </a:solidFill>
                  <a:latin typeface="Inter"/>
                  <a:ea typeface="Inter"/>
                  <a:cs typeface="Inter"/>
                  <a:sym typeface="Inter"/>
                </a:rPr>
                <a:t>(CUDA 10.2)</a:t>
              </a:r>
              <a:endParaRPr b="1" sz="1400">
                <a:solidFill>
                  <a:srgbClr val="0F172A"/>
                </a:solidFill>
                <a:latin typeface="Inter"/>
                <a:ea typeface="Inter"/>
                <a:cs typeface="Inter"/>
                <a:sym typeface="Inte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grpSp>
        <p:nvGrpSpPr>
          <p:cNvPr id="732" name="Google Shape;732;p53"/>
          <p:cNvGrpSpPr/>
          <p:nvPr/>
        </p:nvGrpSpPr>
        <p:grpSpPr>
          <a:xfrm>
            <a:off x="-476250" y="-857250"/>
            <a:ext cx="10477500" cy="6381750"/>
            <a:chOff x="-476250" y="-857250"/>
            <a:chExt cx="10477500" cy="6381750"/>
          </a:xfrm>
        </p:grpSpPr>
        <p:sp>
          <p:nvSpPr>
            <p:cNvPr id="733" name="Google Shape;733;p5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5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5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6" name="Google Shape;736;p53"/>
            <p:cNvSpPr/>
            <p:nvPr/>
          </p:nvSpPr>
          <p:spPr>
            <a:xfrm>
              <a:off x="571500" y="8763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37" name="Google Shape;737;p53"/>
          <p:cNvSpPr txBox="1"/>
          <p:nvPr/>
        </p:nvSpPr>
        <p:spPr>
          <a:xfrm>
            <a:off x="571500" y="333375"/>
            <a:ext cx="80010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Oswald"/>
                <a:ea typeface="Oswald"/>
                <a:cs typeface="Oswald"/>
                <a:sym typeface="Oswald"/>
              </a:rPr>
              <a:t>介紹：研究背景與趨勢 </a:t>
            </a:r>
            <a:r>
              <a:rPr b="0" lang="zh-TW" sz="2000">
                <a:solidFill>
                  <a:srgbClr val="3B82F6"/>
                </a:solidFill>
                <a:latin typeface="Oswald"/>
                <a:ea typeface="Oswald"/>
                <a:cs typeface="Oswald"/>
                <a:sym typeface="Oswald"/>
              </a:rPr>
              <a:t>(Background &amp; Trends)</a:t>
            </a:r>
            <a:endParaRPr b="1" sz="2400">
              <a:solidFill>
                <a:srgbClr val="1E293B"/>
              </a:solidFill>
              <a:latin typeface="Oswald"/>
              <a:ea typeface="Oswald"/>
              <a:cs typeface="Oswald"/>
              <a:sym typeface="Oswald"/>
            </a:endParaRPr>
          </a:p>
        </p:txBody>
      </p:sp>
      <p:grpSp>
        <p:nvGrpSpPr>
          <p:cNvPr id="738" name="Google Shape;738;p53"/>
          <p:cNvGrpSpPr/>
          <p:nvPr/>
        </p:nvGrpSpPr>
        <p:grpSpPr>
          <a:xfrm>
            <a:off x="571500" y="1153056"/>
            <a:ext cx="8001000" cy="2389156"/>
            <a:chOff x="0" y="0"/>
            <a:chExt cx="8001000" cy="1714500"/>
          </a:xfrm>
        </p:grpSpPr>
        <p:sp>
          <p:nvSpPr>
            <p:cNvPr id="739" name="Google Shape;739;p53"/>
            <p:cNvSpPr/>
            <p:nvPr/>
          </p:nvSpPr>
          <p:spPr>
            <a:xfrm>
              <a:off x="0" y="0"/>
              <a:ext cx="8001000" cy="1714500"/>
            </a:xfrm>
            <a:prstGeom prst="roundRect">
              <a:avLst>
                <a:gd fmla="val 888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0" name="Google Shape;740;p53"/>
            <p:cNvSpPr/>
            <p:nvPr/>
          </p:nvSpPr>
          <p:spPr>
            <a:xfrm>
              <a:off x="0" y="0"/>
              <a:ext cx="57300" cy="1714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1" name="Google Shape;741;p53"/>
            <p:cNvSpPr txBox="1"/>
            <p:nvPr/>
          </p:nvSpPr>
          <p:spPr>
            <a:xfrm>
              <a:off x="228600" y="152400"/>
              <a:ext cx="7543800" cy="14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500">
                  <a:solidFill>
                    <a:srgbClr val="1E293B"/>
                  </a:solidFill>
                  <a:latin typeface="Inter"/>
                  <a:ea typeface="Inter"/>
                  <a:cs typeface="Inter"/>
                  <a:sym typeface="Inter"/>
                </a:rPr>
                <a:t>TrackNetV4</a:t>
              </a:r>
              <a:endParaRPr b="1" sz="1500">
                <a:solidFill>
                  <a:srgbClr val="1E293B"/>
                </a:solidFill>
                <a:latin typeface="Inter"/>
                <a:ea typeface="Inter"/>
                <a:cs typeface="Inter"/>
                <a:sym typeface="Inter"/>
              </a:endParaRPr>
            </a:p>
            <a:p>
              <a:pPr indent="0" lvl="0" marL="0" rtl="0" algn="l">
                <a:lnSpc>
                  <a:spcPct val="115000"/>
                </a:lnSpc>
                <a:spcBef>
                  <a:spcPts val="600"/>
                </a:spcBef>
                <a:spcAft>
                  <a:spcPts val="0"/>
                </a:spcAft>
                <a:buNone/>
              </a:pPr>
              <a:r>
                <a:rPr lang="zh-TW" sz="1100">
                  <a:solidFill>
                    <a:srgbClr val="0F172A"/>
                  </a:solidFill>
                  <a:latin typeface="Inter"/>
                  <a:ea typeface="Inter"/>
                  <a:cs typeface="Inter"/>
                  <a:sym typeface="Inter"/>
                </a:rPr>
                <a:t>在單鏡頭羽球追蹤的研究中，TrackNet 系列是非常常被拿來比較的經典方法。它的做法是一次看</a:t>
              </a:r>
              <a:r>
                <a:rPr b="1" lang="zh-TW" sz="1100">
                  <a:solidFill>
                    <a:srgbClr val="0F172A"/>
                  </a:solidFill>
                  <a:highlight>
                    <a:schemeClr val="accent6"/>
                  </a:highlight>
                  <a:latin typeface="Inter"/>
                  <a:ea typeface="Inter"/>
                  <a:cs typeface="Inter"/>
                  <a:sym typeface="Inter"/>
                </a:rPr>
                <a:t>連續幾張影像</a:t>
              </a:r>
              <a:r>
                <a:rPr lang="zh-TW" sz="1100">
                  <a:solidFill>
                    <a:srgbClr val="0F172A"/>
                  </a:solidFill>
                  <a:latin typeface="Inter"/>
                  <a:ea typeface="Inter"/>
                  <a:cs typeface="Inter"/>
                  <a:sym typeface="Inter"/>
                </a:rPr>
                <a:t>，再透過</a:t>
              </a:r>
              <a:r>
                <a:rPr b="1" lang="zh-TW" sz="1100">
                  <a:solidFill>
                    <a:srgbClr val="0F172A"/>
                  </a:solidFill>
                  <a:highlight>
                    <a:schemeClr val="accent6"/>
                  </a:highlight>
                  <a:latin typeface="Inter"/>
                  <a:ea typeface="Inter"/>
                  <a:cs typeface="Inter"/>
                  <a:sym typeface="Inter"/>
                </a:rPr>
                <a:t>熱力圖(每個pixel是羽球的機率)找出羽球的位置</a:t>
              </a:r>
              <a:r>
                <a:rPr lang="zh-TW" sz="1100">
                  <a:solidFill>
                    <a:srgbClr val="0F172A"/>
                  </a:solidFill>
                  <a:latin typeface="Inter"/>
                  <a:ea typeface="Inter"/>
                  <a:cs typeface="Inter"/>
                  <a:sym typeface="Inter"/>
                </a:rPr>
                <a:t>，因此即使羽球速度很快、短暫被擋住，也能維持不錯的追蹤效果。隨著版本更新，TrackNet 不斷加入新的方法來提升追蹤效果。</a:t>
              </a:r>
              <a:endParaRPr sz="1100">
                <a:solidFill>
                  <a:srgbClr val="0F172A"/>
                </a:solidFill>
                <a:latin typeface="Inter"/>
                <a:ea typeface="Inter"/>
                <a:cs typeface="Inter"/>
                <a:sym typeface="Inter"/>
              </a:endParaRPr>
            </a:p>
            <a:p>
              <a:pPr indent="-298450" lvl="0" marL="457200" rtl="0" algn="l">
                <a:spcBef>
                  <a:spcPts val="800"/>
                </a:spcBef>
                <a:spcAft>
                  <a:spcPts val="0"/>
                </a:spcAft>
                <a:buClr>
                  <a:srgbClr val="0F172A"/>
                </a:buClr>
                <a:buSzPts val="1100"/>
                <a:buFont typeface="Inter"/>
                <a:buChar char="●"/>
              </a:pPr>
              <a:r>
                <a:rPr b="1" lang="zh-TW" sz="1100">
                  <a:solidFill>
                    <a:srgbClr val="0F172A"/>
                  </a:solidFill>
                  <a:latin typeface="Inter"/>
                  <a:ea typeface="Inter"/>
                  <a:cs typeface="Inter"/>
                  <a:sym typeface="Inter"/>
                </a:rPr>
                <a:t>學會怎麼找球-&gt;找求更有效率-&gt;解決遮擋-&gt;球太快、太模糊，我要更知道它往哪裡動。</a:t>
              </a:r>
              <a:endParaRPr b="1" sz="1100">
                <a:solidFill>
                  <a:srgbClr val="0F172A"/>
                </a:solidFill>
                <a:latin typeface="Inter"/>
                <a:ea typeface="Inter"/>
                <a:cs typeface="Inter"/>
                <a:sym typeface="Inter"/>
              </a:endParaRPr>
            </a:p>
            <a:p>
              <a:pPr indent="-298450" lvl="0" marL="457200" rtl="0" algn="l">
                <a:spcBef>
                  <a:spcPts val="400"/>
                </a:spcBef>
                <a:spcAft>
                  <a:spcPts val="0"/>
                </a:spcAft>
                <a:buClr>
                  <a:srgbClr val="0F172A"/>
                </a:buClr>
                <a:buSzPts val="1100"/>
                <a:buFont typeface="Inter"/>
                <a:buChar char="●"/>
              </a:pPr>
              <a:r>
                <a:rPr b="1" lang="zh-TW" sz="1100">
                  <a:solidFill>
                    <a:srgbClr val="0F172A"/>
                  </a:solidFill>
                  <a:latin typeface="Inter"/>
                  <a:ea typeface="Inter"/>
                  <a:cs typeface="Inter"/>
                  <a:sym typeface="Inter"/>
                </a:rPr>
                <a:t>Motion Attention Map：</a:t>
              </a:r>
              <a:r>
                <a:rPr lang="zh-TW" sz="1100">
                  <a:solidFill>
                    <a:srgbClr val="0F172A"/>
                  </a:solidFill>
                  <a:latin typeface="Inter"/>
                  <a:ea typeface="Inter"/>
                  <a:cs typeface="Inter"/>
                  <a:sym typeface="Inter"/>
                </a:rPr>
                <a:t>除了分析單張畫面特徵，更利用前後影像變化判斷羽球運動位置。</a:t>
              </a:r>
              <a:endParaRPr sz="1100">
                <a:solidFill>
                  <a:srgbClr val="0F172A"/>
                </a:solidFill>
                <a:latin typeface="Inter"/>
                <a:ea typeface="Inter"/>
                <a:cs typeface="Inter"/>
                <a:sym typeface="Inter"/>
              </a:endParaRPr>
            </a:p>
            <a:p>
              <a:pPr indent="-298450" lvl="0" marL="457200" rtl="0" algn="l">
                <a:spcBef>
                  <a:spcPts val="400"/>
                </a:spcBef>
                <a:spcAft>
                  <a:spcPts val="0"/>
                </a:spcAft>
                <a:buClr>
                  <a:srgbClr val="0F172A"/>
                </a:buClr>
                <a:buSzPts val="1100"/>
                <a:buFont typeface="Inter"/>
                <a:buChar char="●"/>
              </a:pPr>
              <a:r>
                <a:rPr lang="zh-TW" sz="1100">
                  <a:solidFill>
                    <a:srgbClr val="0F172A"/>
                  </a:solidFill>
                  <a:latin typeface="Inter"/>
                  <a:ea typeface="Inter"/>
                  <a:cs typeface="Inter"/>
                  <a:sym typeface="Inter"/>
                </a:rPr>
                <a:t>特別適用於羽球這種</a:t>
              </a:r>
              <a:r>
                <a:rPr b="1" lang="zh-TW" sz="1100">
                  <a:solidFill>
                    <a:srgbClr val="0F172A"/>
                  </a:solidFill>
                  <a:highlight>
                    <a:srgbClr val="FEF08A"/>
                  </a:highlight>
                  <a:latin typeface="Inter"/>
                  <a:ea typeface="Inter"/>
                  <a:cs typeface="Inter"/>
                  <a:sym typeface="Inter"/>
                </a:rPr>
                <a:t>體積小、速度快、易產生運動模糊</a:t>
              </a:r>
              <a:r>
                <a:rPr lang="zh-TW" sz="1100">
                  <a:solidFill>
                    <a:srgbClr val="0F172A"/>
                  </a:solidFill>
                  <a:latin typeface="Inter"/>
                  <a:ea typeface="Inter"/>
                  <a:cs typeface="Inter"/>
                  <a:sym typeface="Inter"/>
                </a:rPr>
                <a:t>的目標。</a:t>
              </a:r>
              <a:endParaRPr sz="1100">
                <a:solidFill>
                  <a:srgbClr val="0F172A"/>
                </a:solidFill>
                <a:latin typeface="Inter"/>
                <a:ea typeface="Inter"/>
                <a:cs typeface="Inter"/>
                <a:sym typeface="Inter"/>
              </a:endParaRPr>
            </a:p>
            <a:p>
              <a:pPr indent="-298450" lvl="0" marL="457200" rtl="0" algn="l">
                <a:spcBef>
                  <a:spcPts val="400"/>
                </a:spcBef>
                <a:spcAft>
                  <a:spcPts val="0"/>
                </a:spcAft>
                <a:buClr>
                  <a:srgbClr val="0F172A"/>
                </a:buClr>
                <a:buSzPts val="1100"/>
                <a:buFont typeface="Inter"/>
                <a:buChar char="●"/>
              </a:pPr>
              <a:r>
                <a:rPr lang="zh-TW" sz="1100">
                  <a:solidFill>
                    <a:srgbClr val="0F172A"/>
                  </a:solidFill>
                  <a:latin typeface="Inter"/>
                  <a:ea typeface="Inter"/>
                  <a:cs typeface="Inter"/>
                  <a:sym typeface="Inter"/>
                </a:rPr>
                <a:t>準確率可達到 </a:t>
              </a:r>
              <a:r>
                <a:rPr b="0" lang="zh-TW" sz="1400">
                  <a:solidFill>
                    <a:srgbClr val="0284C7"/>
                  </a:solidFill>
                  <a:latin typeface="Inter ExtraBold"/>
                  <a:ea typeface="Inter ExtraBold"/>
                  <a:cs typeface="Inter ExtraBold"/>
                  <a:sym typeface="Inter ExtraBold"/>
                </a:rPr>
                <a:t>94.8%</a:t>
              </a:r>
              <a:endParaRPr sz="1100">
                <a:solidFill>
                  <a:srgbClr val="0F172A"/>
                </a:solidFill>
                <a:latin typeface="Inter"/>
                <a:ea typeface="Inter"/>
                <a:cs typeface="Inter"/>
                <a:sym typeface="Inter"/>
              </a:endParaRPr>
            </a:p>
          </p:txBody>
        </p:sp>
      </p:grpSp>
      <p:grpSp>
        <p:nvGrpSpPr>
          <p:cNvPr id="742" name="Google Shape;742;p53"/>
          <p:cNvGrpSpPr/>
          <p:nvPr/>
        </p:nvGrpSpPr>
        <p:grpSpPr>
          <a:xfrm>
            <a:off x="571500" y="3645675"/>
            <a:ext cx="8001000" cy="1116609"/>
            <a:chOff x="0" y="0"/>
            <a:chExt cx="8001000" cy="1857300"/>
          </a:xfrm>
        </p:grpSpPr>
        <p:sp>
          <p:nvSpPr>
            <p:cNvPr id="743" name="Google Shape;743;p53"/>
            <p:cNvSpPr/>
            <p:nvPr/>
          </p:nvSpPr>
          <p:spPr>
            <a:xfrm>
              <a:off x="0" y="0"/>
              <a:ext cx="8001000" cy="1857300"/>
            </a:xfrm>
            <a:prstGeom prst="roundRect">
              <a:avLst>
                <a:gd fmla="val 820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53"/>
            <p:cNvSpPr/>
            <p:nvPr/>
          </p:nvSpPr>
          <p:spPr>
            <a:xfrm>
              <a:off x="0" y="0"/>
              <a:ext cx="57300" cy="18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53"/>
            <p:cNvSpPr txBox="1"/>
            <p:nvPr/>
          </p:nvSpPr>
          <p:spPr>
            <a:xfrm>
              <a:off x="228600" y="152400"/>
              <a:ext cx="7543800" cy="15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150">
                  <a:solidFill>
                    <a:srgbClr val="991B1B"/>
                  </a:solidFill>
                  <a:highlight>
                    <a:srgbClr val="FEF2F2"/>
                  </a:highlight>
                  <a:latin typeface="Inter"/>
                  <a:ea typeface="Inter"/>
                  <a:cs typeface="Inter"/>
                  <a:sym typeface="Inter"/>
                </a:rPr>
                <a:t>準確度高，不代表跑得快！</a:t>
              </a:r>
              <a:endParaRPr b="1" sz="1150">
                <a:solidFill>
                  <a:srgbClr val="991B1B"/>
                </a:solidFill>
                <a:latin typeface="Inter"/>
                <a:ea typeface="Inter"/>
                <a:cs typeface="Inter"/>
                <a:sym typeface="Inter"/>
              </a:endParaRPr>
            </a:p>
            <a:p>
              <a:pPr indent="0" lvl="0" marL="0" rtl="0" algn="l">
                <a:spcBef>
                  <a:spcPts val="600"/>
                </a:spcBef>
                <a:spcAft>
                  <a:spcPts val="0"/>
                </a:spcAft>
                <a:buNone/>
              </a:pPr>
              <a:r>
                <a:rPr lang="zh-TW" sz="1100">
                  <a:solidFill>
                    <a:srgbClr val="334155"/>
                  </a:solidFill>
                  <a:latin typeface="Inter"/>
                  <a:ea typeface="Inter"/>
                  <a:cs typeface="Inter"/>
                  <a:sym typeface="Inter"/>
                </a:rPr>
                <a:t>TrackNetV4 原本針對高算力 GPU 設計。當直接移至 </a:t>
              </a:r>
              <a:r>
                <a:rPr b="1" lang="zh-TW" sz="1100">
                  <a:solidFill>
                    <a:srgbClr val="1E293B"/>
                  </a:solidFill>
                  <a:latin typeface="Inter"/>
                  <a:ea typeface="Inter"/>
                  <a:cs typeface="Inter"/>
                  <a:sym typeface="Inter"/>
                </a:rPr>
                <a:t>Jetson Nano</a:t>
              </a:r>
              <a:r>
                <a:rPr lang="zh-TW" sz="1100">
                  <a:solidFill>
                    <a:srgbClr val="334155"/>
                  </a:solidFill>
                  <a:latin typeface="Inter"/>
                  <a:ea typeface="Inter"/>
                  <a:cs typeface="Inter"/>
                  <a:sym typeface="Inter"/>
                </a:rPr>
                <a:t> 等邊緣設備時，龐大的計算量會導致</a:t>
              </a:r>
              <a:r>
                <a:rPr b="1" lang="zh-TW" sz="1100">
                  <a:solidFill>
                    <a:srgbClr val="DC2626"/>
                  </a:solidFill>
                  <a:latin typeface="Inter"/>
                  <a:ea typeface="Inter"/>
                  <a:cs typeface="Inter"/>
                  <a:sym typeface="Inter"/>
                </a:rPr>
                <a:t>推論速度大幅下降</a:t>
              </a:r>
              <a:r>
                <a:rPr lang="zh-TW" sz="1100">
                  <a:solidFill>
                    <a:srgbClr val="334155"/>
                  </a:solidFill>
                  <a:latin typeface="Inter"/>
                  <a:ea typeface="Inter"/>
                  <a:cs typeface="Inter"/>
                  <a:sym typeface="Inter"/>
                </a:rPr>
                <a:t>。</a:t>
              </a:r>
              <a:endParaRPr sz="1100">
                <a:solidFill>
                  <a:srgbClr val="334155"/>
                </a:solidFill>
                <a:latin typeface="Inter"/>
                <a:ea typeface="Inter"/>
                <a:cs typeface="Inter"/>
                <a:sym typeface="Inter"/>
              </a:endParaRPr>
            </a:p>
            <a:p>
              <a:pPr indent="0" lvl="0" marL="0" rtl="0" algn="l">
                <a:spcBef>
                  <a:spcPts val="600"/>
                </a:spcBef>
                <a:spcAft>
                  <a:spcPts val="400"/>
                </a:spcAft>
                <a:buNone/>
              </a:pPr>
              <a:r>
                <a:rPr b="1" lang="zh-TW" sz="1100">
                  <a:solidFill>
                    <a:srgbClr val="1E3A8A"/>
                  </a:solidFill>
                  <a:latin typeface="Inter"/>
                  <a:ea typeface="Inter"/>
                  <a:cs typeface="Inter"/>
                  <a:sym typeface="Inter"/>
                </a:rPr>
                <a:t>那麼能不能保留 TrackNetV4 的追蹤能力，同時讓它真正跑得動 Jetson Nano？</a:t>
              </a:r>
              <a:endParaRPr sz="950">
                <a:solidFill>
                  <a:srgbClr val="64748B"/>
                </a:solidFill>
                <a:latin typeface="Inter"/>
                <a:ea typeface="Inter"/>
                <a:cs typeface="Inter"/>
                <a:sym typeface="Inte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grpSp>
        <p:nvGrpSpPr>
          <p:cNvPr id="750" name="Google Shape;750;p54"/>
          <p:cNvGrpSpPr/>
          <p:nvPr/>
        </p:nvGrpSpPr>
        <p:grpSpPr>
          <a:xfrm>
            <a:off x="-476250" y="-857250"/>
            <a:ext cx="10477500" cy="6381750"/>
            <a:chOff x="-476250" y="-857250"/>
            <a:chExt cx="10477500" cy="6381750"/>
          </a:xfrm>
        </p:grpSpPr>
        <p:sp>
          <p:nvSpPr>
            <p:cNvPr id="751" name="Google Shape;751;p5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2" name="Google Shape;752;p5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5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4" name="Google Shape;754;p54"/>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55" name="Google Shape;755;p54"/>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Nano端測試 realtime mode (TracknetV4)</a:t>
            </a:r>
            <a:endParaRPr b="1" sz="24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pic>
        <p:nvPicPr>
          <p:cNvPr id="756" name="Google Shape;756;p54" title="teacher_realtime_nano (1).mp4">
            <a:hlinkClick r:id="rId3"/>
          </p:cNvPr>
          <p:cNvPicPr preferRelativeResize="0"/>
          <p:nvPr/>
        </p:nvPicPr>
        <p:blipFill>
          <a:blip r:embed="rId4">
            <a:alphaModFix/>
          </a:blip>
          <a:stretch>
            <a:fillRect/>
          </a:stretch>
        </p:blipFill>
        <p:spPr>
          <a:xfrm>
            <a:off x="2815375" y="1342300"/>
            <a:ext cx="6031101" cy="3392500"/>
          </a:xfrm>
          <a:prstGeom prst="rect">
            <a:avLst/>
          </a:prstGeom>
          <a:noFill/>
          <a:ln>
            <a:noFill/>
          </a:ln>
        </p:spPr>
      </p:pic>
      <p:sp>
        <p:nvSpPr>
          <p:cNvPr id="757" name="Google Shape;757;p54"/>
          <p:cNvSpPr txBox="1"/>
          <p:nvPr/>
        </p:nvSpPr>
        <p:spPr>
          <a:xfrm>
            <a:off x="316775" y="1546275"/>
            <a:ext cx="3092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延遲來到</a:t>
            </a:r>
            <a:r>
              <a:rPr lang="zh-TW" sz="1800">
                <a:solidFill>
                  <a:srgbClr val="DC2626"/>
                </a:solidFill>
              </a:rPr>
              <a:t>1100ms</a:t>
            </a:r>
            <a:br>
              <a:rPr lang="zh-TW" sz="1800">
                <a:solidFill>
                  <a:srgbClr val="DC2626"/>
                </a:solidFill>
              </a:rPr>
            </a:br>
            <a:r>
              <a:rPr lang="zh-TW" sz="1800">
                <a:solidFill>
                  <a:schemeClr val="dk2"/>
                </a:solidFill>
              </a:rPr>
              <a:t>幀率只有</a:t>
            </a:r>
            <a:r>
              <a:rPr lang="zh-TW" sz="1800">
                <a:solidFill>
                  <a:srgbClr val="DC2626"/>
                </a:solidFill>
              </a:rPr>
              <a:t>0.9FPS</a:t>
            </a:r>
            <a:endParaRPr sz="1800">
              <a:solidFill>
                <a:srgbClr val="DC262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1000"/>
                                        <p:tgtEl>
                                          <p:spTgt spid="7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grpSp>
        <p:nvGrpSpPr>
          <p:cNvPr id="762" name="Google Shape;762;p55"/>
          <p:cNvGrpSpPr/>
          <p:nvPr/>
        </p:nvGrpSpPr>
        <p:grpSpPr>
          <a:xfrm>
            <a:off x="-476250" y="-857250"/>
            <a:ext cx="10477500" cy="6381750"/>
            <a:chOff x="-476250" y="-857250"/>
            <a:chExt cx="10477500" cy="6381750"/>
          </a:xfrm>
        </p:grpSpPr>
        <p:sp>
          <p:nvSpPr>
            <p:cNvPr id="763" name="Google Shape;763;p5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4" name="Google Shape;764;p5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5" name="Google Shape;765;p5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6" name="Google Shape;766;p55"/>
            <p:cNvSpPr/>
            <p:nvPr/>
          </p:nvSpPr>
          <p:spPr>
            <a:xfrm>
              <a:off x="571500" y="7810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67" name="Google Shape;767;p55"/>
          <p:cNvSpPr txBox="1"/>
          <p:nvPr>
            <p:ph type="title"/>
          </p:nvPr>
        </p:nvSpPr>
        <p:spPr>
          <a:xfrm>
            <a:off x="571500" y="285750"/>
            <a:ext cx="8001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2400">
                <a:solidFill>
                  <a:srgbClr val="1E293B"/>
                </a:solidFill>
                <a:latin typeface="Oswald"/>
                <a:ea typeface="Oswald"/>
                <a:cs typeface="Oswald"/>
                <a:sym typeface="Oswald"/>
              </a:rPr>
              <a:t>介紹：研究背景與趨勢 </a:t>
            </a:r>
            <a:r>
              <a:rPr b="0" i="0" lang="zh-TW" sz="2000">
                <a:solidFill>
                  <a:srgbClr val="3B82F6"/>
                </a:solidFill>
                <a:latin typeface="Oswald"/>
                <a:ea typeface="Oswald"/>
                <a:cs typeface="Oswald"/>
                <a:sym typeface="Oswald"/>
              </a:rPr>
              <a:t>(Background &amp; Trends)</a:t>
            </a:r>
            <a:endParaRPr b="1" i="0" sz="2400">
              <a:solidFill>
                <a:srgbClr val="1E293B"/>
              </a:solidFill>
              <a:latin typeface="Oswald"/>
              <a:ea typeface="Oswald"/>
              <a:cs typeface="Oswald"/>
              <a:sym typeface="Oswald"/>
            </a:endParaRPr>
          </a:p>
        </p:txBody>
      </p:sp>
      <p:grpSp>
        <p:nvGrpSpPr>
          <p:cNvPr id="768" name="Google Shape;768;p55"/>
          <p:cNvGrpSpPr/>
          <p:nvPr/>
        </p:nvGrpSpPr>
        <p:grpSpPr>
          <a:xfrm>
            <a:off x="571500" y="904875"/>
            <a:ext cx="8001000" cy="626913"/>
            <a:chOff x="0" y="0"/>
            <a:chExt cx="8001000" cy="781200"/>
          </a:xfrm>
        </p:grpSpPr>
        <p:sp>
          <p:nvSpPr>
            <p:cNvPr id="769" name="Google Shape;769;p55"/>
            <p:cNvSpPr/>
            <p:nvPr/>
          </p:nvSpPr>
          <p:spPr>
            <a:xfrm>
              <a:off x="0" y="0"/>
              <a:ext cx="8001000" cy="781200"/>
            </a:xfrm>
            <a:prstGeom prst="roundRect">
              <a:avLst>
                <a:gd fmla="val 1463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55"/>
            <p:cNvSpPr/>
            <p:nvPr/>
          </p:nvSpPr>
          <p:spPr>
            <a:xfrm>
              <a:off x="0" y="0"/>
              <a:ext cx="47700" cy="7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1" name="Google Shape;771;p55"/>
            <p:cNvSpPr txBox="1"/>
            <p:nvPr/>
          </p:nvSpPr>
          <p:spPr>
            <a:xfrm>
              <a:off x="190500" y="76199"/>
              <a:ext cx="7620000" cy="65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100">
                  <a:solidFill>
                    <a:srgbClr val="334155"/>
                  </a:solidFill>
                  <a:latin typeface="Inter"/>
                  <a:ea typeface="Inter"/>
                  <a:cs typeface="Inter"/>
                  <a:sym typeface="Inter"/>
                </a:rPr>
                <a:t>實機測試顯示，將 TrackNetV4 部署於 Jetson Nano 時單幀推論需 1100 ms（&lt; 1 FPS），無法滿足即時追蹤。</a:t>
              </a:r>
              <a:endParaRPr b="0" sz="1100">
                <a:solidFill>
                  <a:srgbClr val="334155"/>
                </a:solidFill>
                <a:latin typeface="Inter"/>
                <a:ea typeface="Inter"/>
                <a:cs typeface="Inter"/>
                <a:sym typeface="Inter"/>
              </a:endParaRPr>
            </a:p>
            <a:p>
              <a:pPr indent="0" lvl="0" marL="0" rtl="0" algn="l">
                <a:spcBef>
                  <a:spcPts val="0"/>
                </a:spcBef>
                <a:spcAft>
                  <a:spcPts val="0"/>
                </a:spcAft>
                <a:buNone/>
              </a:pPr>
              <a:r>
                <a:rPr b="0" lang="zh-TW" sz="1100">
                  <a:solidFill>
                    <a:srgbClr val="334155"/>
                  </a:solidFill>
                  <a:latin typeface="Inter"/>
                  <a:ea typeface="Inter"/>
                  <a:cs typeface="Inter"/>
                  <a:sym typeface="Inter"/>
                </a:rPr>
                <a:t>為解決邊緣端算力瓶頸，學術與業界通常採用哪些優化策略機制？</a:t>
              </a:r>
              <a:endParaRPr b="0" sz="1100">
                <a:solidFill>
                  <a:srgbClr val="334155"/>
                </a:solidFill>
                <a:latin typeface="Inter"/>
                <a:ea typeface="Inter"/>
                <a:cs typeface="Inter"/>
                <a:sym typeface="Inter"/>
              </a:endParaRPr>
            </a:p>
          </p:txBody>
        </p:sp>
      </p:grpSp>
      <p:grpSp>
        <p:nvGrpSpPr>
          <p:cNvPr id="772" name="Google Shape;772;p55"/>
          <p:cNvGrpSpPr/>
          <p:nvPr/>
        </p:nvGrpSpPr>
        <p:grpSpPr>
          <a:xfrm>
            <a:off x="571500" y="1638950"/>
            <a:ext cx="3905400" cy="2481882"/>
            <a:chOff x="0" y="0"/>
            <a:chExt cx="3905400" cy="1762200"/>
          </a:xfrm>
        </p:grpSpPr>
        <p:sp>
          <p:nvSpPr>
            <p:cNvPr id="773" name="Google Shape;773;p55"/>
            <p:cNvSpPr/>
            <p:nvPr/>
          </p:nvSpPr>
          <p:spPr>
            <a:xfrm>
              <a:off x="0" y="0"/>
              <a:ext cx="3905400" cy="1762200"/>
            </a:xfrm>
            <a:prstGeom prst="roundRect">
              <a:avLst>
                <a:gd fmla="val 648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p55"/>
            <p:cNvSpPr/>
            <p:nvPr/>
          </p:nvSpPr>
          <p:spPr>
            <a:xfrm>
              <a:off x="0" y="0"/>
              <a:ext cx="47700" cy="17622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5" name="Google Shape;775;p55"/>
            <p:cNvSpPr txBox="1"/>
            <p:nvPr/>
          </p:nvSpPr>
          <p:spPr>
            <a:xfrm>
              <a:off x="190500" y="114300"/>
              <a:ext cx="3571800" cy="15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知識蒸餾 </a:t>
              </a:r>
              <a:r>
                <a:rPr b="1" lang="zh-TW" sz="1000">
                  <a:solidFill>
                    <a:srgbClr val="2563EB"/>
                  </a:solidFill>
                  <a:latin typeface="Inter"/>
                  <a:ea typeface="Inter"/>
                  <a:cs typeface="Inter"/>
                  <a:sym typeface="Inter"/>
                </a:rPr>
                <a:t>(Knowledge Distillation)</a:t>
              </a:r>
              <a:endParaRPr b="1" sz="1300">
                <a:solidFill>
                  <a:srgbClr val="1E293B"/>
                </a:solidFill>
                <a:latin typeface="Inter"/>
                <a:ea typeface="Inter"/>
                <a:cs typeface="Inter"/>
                <a:sym typeface="Inter"/>
              </a:endParaRPr>
            </a:p>
            <a:p>
              <a:pPr indent="0" lvl="0" marL="0" rtl="0" algn="l">
                <a:spcBef>
                  <a:spcPts val="400"/>
                </a:spcBef>
                <a:spcAft>
                  <a:spcPts val="0"/>
                </a:spcAft>
                <a:buNone/>
              </a:pPr>
              <a:r>
                <a:rPr b="1" lang="zh-TW" sz="1100">
                  <a:solidFill>
                    <a:srgbClr val="2563EB"/>
                  </a:solidFill>
                  <a:latin typeface="Inter"/>
                  <a:ea typeface="Inter"/>
                  <a:cs typeface="Inter"/>
                  <a:sym typeface="Inter"/>
                </a:rPr>
                <a:t>💡 把模型變小</a:t>
              </a:r>
              <a:endParaRPr b="1" sz="1100">
                <a:solidFill>
                  <a:srgbClr val="2563EB"/>
                </a:solidFill>
                <a:latin typeface="Inter"/>
                <a:ea typeface="Inter"/>
                <a:cs typeface="Inter"/>
                <a:sym typeface="Inter"/>
              </a:endParaRPr>
            </a:p>
            <a:p>
              <a:pPr indent="0" lvl="0" marL="0" rtl="0" algn="l">
                <a:spcBef>
                  <a:spcPts val="500"/>
                </a:spcBef>
                <a:spcAft>
                  <a:spcPts val="0"/>
                </a:spcAft>
                <a:buNone/>
              </a:pPr>
              <a:r>
                <a:rPr b="0" lang="zh-TW" sz="1050">
                  <a:solidFill>
                    <a:srgbClr val="334155"/>
                  </a:solidFill>
                  <a:latin typeface="Inter"/>
                  <a:ea typeface="Inter"/>
                  <a:cs typeface="Inter"/>
                  <a:sym typeface="Inter"/>
                </a:rPr>
                <a:t>讓高算力大型模型</a:t>
              </a:r>
              <a:r>
                <a:rPr lang="zh-TW" sz="1050">
                  <a:solidFill>
                    <a:srgbClr val="334155"/>
                  </a:solidFill>
                  <a:latin typeface="Inter"/>
                  <a:ea typeface="Inter"/>
                  <a:cs typeface="Inter"/>
                  <a:sym typeface="Inter"/>
                </a:rPr>
                <a:t>TrackNetV4</a:t>
              </a:r>
              <a:r>
                <a:rPr b="0" lang="zh-TW" sz="1050">
                  <a:solidFill>
                    <a:srgbClr val="334155"/>
                  </a:solidFill>
                  <a:latin typeface="Inter"/>
                  <a:ea typeface="Inter"/>
                  <a:cs typeface="Inter"/>
                  <a:sym typeface="Inter"/>
                </a:rPr>
                <a:t>當Teacher，</a:t>
              </a:r>
              <a:r>
                <a:rPr lang="zh-TW" sz="1050">
                  <a:solidFill>
                    <a:srgbClr val="334155"/>
                  </a:solidFill>
                  <a:latin typeface="Inter"/>
                  <a:ea typeface="Inter"/>
                  <a:cs typeface="Inter"/>
                  <a:sym typeface="Inter"/>
                </a:rPr>
                <a:t>再訓練一個更小的 Student Model，讓它學習原本 TrackNetV4 的羽球熱力圖，並且捨棄TrackNetV4的注意力機制，讓FPS更上一層樓</a:t>
              </a:r>
              <a:endParaRPr b="0" sz="1050">
                <a:solidFill>
                  <a:srgbClr val="334155"/>
                </a:solidFill>
                <a:latin typeface="Inter"/>
                <a:ea typeface="Inter"/>
                <a:cs typeface="Inter"/>
                <a:sym typeface="Inter"/>
              </a:endParaRPr>
            </a:p>
            <a:p>
              <a:pPr indent="0" lvl="0" marL="0" rtl="0" algn="l">
                <a:spcBef>
                  <a:spcPts val="400"/>
                </a:spcBef>
                <a:spcAft>
                  <a:spcPts val="0"/>
                </a:spcAft>
                <a:buNone/>
              </a:pPr>
              <a:r>
                <a:rPr b="0" lang="zh-TW" sz="1050">
                  <a:solidFill>
                    <a:srgbClr val="334155"/>
                  </a:solidFill>
                  <a:latin typeface="Inter"/>
                  <a:ea typeface="Inter"/>
                  <a:cs typeface="Inter"/>
                  <a:sym typeface="Inter"/>
                </a:rPr>
                <a:t>使學生模型在大幅削減參數與運算負擔的同時，盡可能保留原模型對羽球熱力圖的精準辨識能力。</a:t>
              </a:r>
              <a:endParaRPr b="0" sz="1050">
                <a:solidFill>
                  <a:srgbClr val="334155"/>
                </a:solidFill>
                <a:latin typeface="Inter"/>
                <a:ea typeface="Inter"/>
                <a:cs typeface="Inter"/>
                <a:sym typeface="Inter"/>
              </a:endParaRPr>
            </a:p>
            <a:p>
              <a:pPr indent="0" lvl="0" marL="0" rtl="0" algn="l">
                <a:spcBef>
                  <a:spcPts val="0"/>
                </a:spcBef>
                <a:spcAft>
                  <a:spcPts val="0"/>
                </a:spcAft>
                <a:buNone/>
              </a:pPr>
              <a:r>
                <a:t/>
              </a:r>
              <a:endParaRPr sz="1050">
                <a:solidFill>
                  <a:srgbClr val="334155"/>
                </a:solidFill>
                <a:latin typeface="Inter"/>
                <a:ea typeface="Inter"/>
                <a:cs typeface="Inter"/>
                <a:sym typeface="Inter"/>
              </a:endParaRPr>
            </a:p>
            <a:p>
              <a:pPr indent="0" lvl="0" marL="0" rtl="0" algn="l">
                <a:spcBef>
                  <a:spcPts val="0"/>
                </a:spcBef>
                <a:spcAft>
                  <a:spcPts val="0"/>
                </a:spcAft>
                <a:buNone/>
              </a:pPr>
              <a:r>
                <a:rPr lang="zh-TW" sz="1050">
                  <a:solidFill>
                    <a:srgbClr val="EF4444"/>
                  </a:solidFill>
                  <a:latin typeface="Inter"/>
                  <a:ea typeface="Inter"/>
                  <a:cs typeface="Inter"/>
                  <a:sym typeface="Inter"/>
                </a:rPr>
                <a:t>讓原本的0.9FPS優化到4.76FPS</a:t>
              </a:r>
              <a:endParaRPr sz="1050">
                <a:solidFill>
                  <a:srgbClr val="EF4444"/>
                </a:solidFill>
                <a:latin typeface="Inter"/>
                <a:ea typeface="Inter"/>
                <a:cs typeface="Inter"/>
                <a:sym typeface="Inter"/>
              </a:endParaRPr>
            </a:p>
            <a:p>
              <a:pPr indent="0" lvl="0" marL="0" rtl="0" algn="l">
                <a:spcBef>
                  <a:spcPts val="0"/>
                </a:spcBef>
                <a:spcAft>
                  <a:spcPts val="0"/>
                </a:spcAft>
                <a:buNone/>
              </a:pPr>
              <a:r>
                <a:t/>
              </a:r>
              <a:endParaRPr sz="1050">
                <a:solidFill>
                  <a:srgbClr val="EF4444"/>
                </a:solidFill>
                <a:latin typeface="Inter"/>
                <a:ea typeface="Inter"/>
                <a:cs typeface="Inter"/>
                <a:sym typeface="Inter"/>
              </a:endParaRPr>
            </a:p>
            <a:p>
              <a:pPr indent="0" lvl="0" marL="0" rtl="0" algn="l">
                <a:spcBef>
                  <a:spcPts val="0"/>
                </a:spcBef>
                <a:spcAft>
                  <a:spcPts val="0"/>
                </a:spcAft>
                <a:buNone/>
              </a:pPr>
              <a:r>
                <a:rPr lang="zh-TW" sz="1050">
                  <a:solidFill>
                    <a:srgbClr val="334155"/>
                  </a:solidFill>
                  <a:latin typeface="Inter"/>
                  <a:ea typeface="Inter"/>
                  <a:cs typeface="Inter"/>
                  <a:sym typeface="Inter"/>
                </a:rPr>
                <a:t>但只有把模型變小還不夠，因為如果每一幀還是處理整張高解析度畫面，運算量依然很大。 </a:t>
              </a:r>
              <a:endParaRPr sz="1050">
                <a:solidFill>
                  <a:srgbClr val="EF4444"/>
                </a:solidFill>
                <a:latin typeface="Inter"/>
                <a:ea typeface="Inter"/>
                <a:cs typeface="Inter"/>
                <a:sym typeface="Inter"/>
              </a:endParaRPr>
            </a:p>
          </p:txBody>
        </p:sp>
      </p:grpSp>
      <p:grpSp>
        <p:nvGrpSpPr>
          <p:cNvPr id="776" name="Google Shape;776;p55"/>
          <p:cNvGrpSpPr/>
          <p:nvPr/>
        </p:nvGrpSpPr>
        <p:grpSpPr>
          <a:xfrm>
            <a:off x="4667250" y="1661562"/>
            <a:ext cx="3905400" cy="2459326"/>
            <a:chOff x="0" y="0"/>
            <a:chExt cx="3905400" cy="1762200"/>
          </a:xfrm>
        </p:grpSpPr>
        <p:sp>
          <p:nvSpPr>
            <p:cNvPr id="777" name="Google Shape;777;p55"/>
            <p:cNvSpPr/>
            <p:nvPr/>
          </p:nvSpPr>
          <p:spPr>
            <a:xfrm>
              <a:off x="0" y="0"/>
              <a:ext cx="3905400" cy="1762200"/>
            </a:xfrm>
            <a:prstGeom prst="roundRect">
              <a:avLst>
                <a:gd fmla="val 648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8" name="Google Shape;778;p55"/>
            <p:cNvSpPr/>
            <p:nvPr/>
          </p:nvSpPr>
          <p:spPr>
            <a:xfrm>
              <a:off x="0" y="0"/>
              <a:ext cx="47700" cy="17622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9" name="Google Shape;779;p55"/>
            <p:cNvSpPr txBox="1"/>
            <p:nvPr/>
          </p:nvSpPr>
          <p:spPr>
            <a:xfrm>
              <a:off x="190500" y="114300"/>
              <a:ext cx="3571800" cy="15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ROI 局部追蹤 </a:t>
              </a:r>
              <a:r>
                <a:rPr b="1" lang="zh-TW" sz="1000">
                  <a:solidFill>
                    <a:srgbClr val="0284C7"/>
                  </a:solidFill>
                  <a:latin typeface="Inter"/>
                  <a:ea typeface="Inter"/>
                  <a:cs typeface="Inter"/>
                  <a:sym typeface="Inter"/>
                </a:rPr>
                <a:t>(Region of Interest)</a:t>
              </a:r>
              <a:endParaRPr b="1" sz="1300">
                <a:solidFill>
                  <a:srgbClr val="1E293B"/>
                </a:solidFill>
                <a:latin typeface="Inter"/>
                <a:ea typeface="Inter"/>
                <a:cs typeface="Inter"/>
                <a:sym typeface="Inter"/>
              </a:endParaRPr>
            </a:p>
            <a:p>
              <a:pPr indent="0" lvl="0" marL="0" rtl="0" algn="l">
                <a:spcBef>
                  <a:spcPts val="400"/>
                </a:spcBef>
                <a:spcAft>
                  <a:spcPts val="0"/>
                </a:spcAft>
                <a:buNone/>
              </a:pPr>
              <a:r>
                <a:rPr b="1" lang="zh-TW" sz="1100">
                  <a:solidFill>
                    <a:srgbClr val="0284C7"/>
                  </a:solidFill>
                  <a:latin typeface="Inter"/>
                  <a:ea typeface="Inter"/>
                  <a:cs typeface="Inter"/>
                  <a:sym typeface="Inter"/>
                </a:rPr>
                <a:t>🎯讓模型少看一點</a:t>
              </a:r>
              <a:endParaRPr b="1" sz="1100">
                <a:solidFill>
                  <a:srgbClr val="0284C7"/>
                </a:solidFill>
                <a:latin typeface="Inter"/>
                <a:ea typeface="Inter"/>
                <a:cs typeface="Inter"/>
                <a:sym typeface="Inter"/>
              </a:endParaRPr>
            </a:p>
            <a:p>
              <a:pPr indent="0" lvl="0" marL="0" rtl="0" algn="l">
                <a:spcBef>
                  <a:spcPts val="500"/>
                </a:spcBef>
                <a:spcAft>
                  <a:spcPts val="0"/>
                </a:spcAft>
                <a:buNone/>
              </a:pPr>
              <a:r>
                <a:rPr b="0" lang="zh-TW" sz="1050">
                  <a:solidFill>
                    <a:srgbClr val="334155"/>
                  </a:solidFill>
                  <a:latin typeface="Inter"/>
                  <a:ea typeface="Inter"/>
                  <a:cs typeface="Inter"/>
                  <a:sym typeface="Inter"/>
                </a:rPr>
                <a:t>借鏡日本擊劍追蹤系統經驗</a:t>
              </a:r>
              <a:r>
                <a:rPr lang="zh-TW" sz="1050">
                  <a:solidFill>
                    <a:srgbClr val="334155"/>
                  </a:solidFill>
                  <a:latin typeface="Inter"/>
                  <a:ea typeface="Inter"/>
                  <a:cs typeface="Inter"/>
                  <a:sym typeface="Inter"/>
                </a:rPr>
                <a:t>，擊劍的劍尖和羽球一樣，都是</a:t>
              </a:r>
              <a:r>
                <a:rPr b="1" lang="zh-TW" sz="1050">
                  <a:solidFill>
                    <a:srgbClr val="334155"/>
                  </a:solidFill>
                  <a:latin typeface="Inter"/>
                  <a:ea typeface="Inter"/>
                  <a:cs typeface="Inter"/>
                  <a:sym typeface="Inter"/>
                </a:rPr>
                <a:t>體積小、移動速度快，很容易追不到的目標</a:t>
              </a:r>
              <a:r>
                <a:rPr lang="zh-TW" sz="1050">
                  <a:solidFill>
                    <a:srgbClr val="334155"/>
                  </a:solidFill>
                  <a:latin typeface="Inter"/>
                  <a:ea typeface="Inter"/>
                  <a:cs typeface="Inter"/>
                  <a:sym typeface="Inter"/>
                </a:rPr>
                <a:t>。他們在開發單鏡頭版本時，把</a:t>
              </a:r>
              <a:r>
                <a:rPr b="1" lang="zh-TW" sz="1050">
                  <a:solidFill>
                    <a:srgbClr val="334155"/>
                  </a:solidFill>
                  <a:latin typeface="Inter"/>
                  <a:ea typeface="Inter"/>
                  <a:cs typeface="Inter"/>
                  <a:sym typeface="Inter"/>
                </a:rPr>
                <a:t>追蹤範圍限制在劍道場中央區域</a:t>
              </a:r>
              <a:r>
                <a:rPr lang="zh-TW" sz="1050">
                  <a:solidFill>
                    <a:srgbClr val="334155"/>
                  </a:solidFill>
                  <a:latin typeface="Inter"/>
                  <a:ea typeface="Inter"/>
                  <a:cs typeface="Inter"/>
                  <a:sym typeface="Inter"/>
                </a:rPr>
                <a:t>，降低需要處理的範圍 </a:t>
              </a:r>
              <a:endParaRPr sz="1050">
                <a:solidFill>
                  <a:srgbClr val="334155"/>
                </a:solidFill>
                <a:latin typeface="Inter"/>
                <a:ea typeface="Inter"/>
                <a:cs typeface="Inter"/>
                <a:sym typeface="Inter"/>
              </a:endParaRPr>
            </a:p>
            <a:p>
              <a:pPr indent="0" lvl="0" marL="0" rtl="0" algn="l">
                <a:spcBef>
                  <a:spcPts val="400"/>
                </a:spcBef>
                <a:spcAft>
                  <a:spcPts val="0"/>
                </a:spcAft>
                <a:buNone/>
              </a:pPr>
              <a:r>
                <a:rPr lang="zh-TW" sz="1050">
                  <a:solidFill>
                    <a:srgbClr val="334155"/>
                  </a:solidFill>
                  <a:latin typeface="Inter"/>
                  <a:ea typeface="Inter"/>
                  <a:cs typeface="Inter"/>
                  <a:sym typeface="Inter"/>
                </a:rPr>
                <a:t>因此，本研究再加入 ROI 追蹤：</a:t>
              </a:r>
              <a:r>
                <a:rPr lang="zh-TW" sz="1100">
                  <a:solidFill>
                    <a:schemeClr val="dk1"/>
                  </a:solidFill>
                </a:rPr>
                <a:t> </a:t>
              </a:r>
              <a:endParaRPr sz="1100">
                <a:solidFill>
                  <a:schemeClr val="dk1"/>
                </a:solidFill>
              </a:endParaRPr>
            </a:p>
            <a:p>
              <a:pPr indent="0" lvl="0" marL="0" rtl="0" algn="l">
                <a:spcBef>
                  <a:spcPts val="400"/>
                </a:spcBef>
                <a:spcAft>
                  <a:spcPts val="0"/>
                </a:spcAft>
                <a:buNone/>
              </a:pPr>
              <a:r>
                <a:rPr b="0" lang="zh-TW" sz="1050">
                  <a:solidFill>
                    <a:srgbClr val="334155"/>
                  </a:solidFill>
                  <a:latin typeface="Inter"/>
                  <a:ea typeface="Inter"/>
                  <a:cs typeface="Inter"/>
                  <a:sym typeface="Inter"/>
                </a:rPr>
                <a:t>不再逐幀分析整張畫面，而是依前幀位置裁切出 </a:t>
              </a:r>
              <a:r>
                <a:rPr b="1" lang="zh-TW" sz="1050">
                  <a:solidFill>
                    <a:srgbClr val="0F172A"/>
                  </a:solidFill>
                  <a:latin typeface="Inter"/>
                  <a:ea typeface="Inter"/>
                  <a:cs typeface="Inter"/>
                  <a:sym typeface="Inter"/>
                </a:rPr>
                <a:t>128×128 的 MiniROI</a:t>
              </a:r>
              <a:r>
                <a:rPr b="0" lang="zh-TW" sz="1050">
                  <a:solidFill>
                    <a:srgbClr val="334155"/>
                  </a:solidFill>
                  <a:latin typeface="Inter"/>
                  <a:ea typeface="Inter"/>
                  <a:cs typeface="Inter"/>
                  <a:sym typeface="Inter"/>
                </a:rPr>
                <a:t> 進行推論，大幅砍半影像處理範圍。</a:t>
              </a:r>
              <a:endParaRPr b="0" sz="1050">
                <a:solidFill>
                  <a:srgbClr val="334155"/>
                </a:solidFill>
                <a:latin typeface="Inter"/>
                <a:ea typeface="Inter"/>
                <a:cs typeface="Inter"/>
                <a:sym typeface="Inter"/>
              </a:endParaRPr>
            </a:p>
            <a:p>
              <a:pPr indent="0" lvl="0" marL="0" rtl="0" algn="l">
                <a:spcBef>
                  <a:spcPts val="0"/>
                </a:spcBef>
                <a:spcAft>
                  <a:spcPts val="0"/>
                </a:spcAft>
                <a:buNone/>
              </a:pPr>
              <a:r>
                <a:t/>
              </a:r>
              <a:endParaRPr sz="1050">
                <a:solidFill>
                  <a:srgbClr val="334155"/>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zh-TW" sz="1050">
                  <a:solidFill>
                    <a:srgbClr val="EF4444"/>
                  </a:solidFill>
                  <a:latin typeface="Inter"/>
                  <a:ea typeface="Inter"/>
                  <a:cs typeface="Inter"/>
                  <a:sym typeface="Inter"/>
                </a:rPr>
                <a:t>讓原本的4.76FPS優化到30.3FPS，達到REAL TIME門檻</a:t>
              </a:r>
              <a:endParaRPr sz="1050">
                <a:solidFill>
                  <a:srgbClr val="334155"/>
                </a:solidFill>
                <a:latin typeface="Inter"/>
                <a:ea typeface="Inter"/>
                <a:cs typeface="Inter"/>
                <a:sym typeface="Inter"/>
              </a:endParaRPr>
            </a:p>
          </p:txBody>
        </p:sp>
      </p:grpSp>
      <p:grpSp>
        <p:nvGrpSpPr>
          <p:cNvPr id="780" name="Google Shape;780;p55"/>
          <p:cNvGrpSpPr/>
          <p:nvPr/>
        </p:nvGrpSpPr>
        <p:grpSpPr>
          <a:xfrm>
            <a:off x="571500" y="4239150"/>
            <a:ext cx="8001000" cy="523372"/>
            <a:chOff x="0" y="0"/>
            <a:chExt cx="8001000" cy="1066800"/>
          </a:xfrm>
        </p:grpSpPr>
        <p:sp>
          <p:nvSpPr>
            <p:cNvPr id="781" name="Google Shape;781;p55"/>
            <p:cNvSpPr/>
            <p:nvPr/>
          </p:nvSpPr>
          <p:spPr>
            <a:xfrm>
              <a:off x="0" y="0"/>
              <a:ext cx="8001000" cy="1066800"/>
            </a:xfrm>
            <a:prstGeom prst="roundRect">
              <a:avLst>
                <a:gd fmla="val 10714" name="adj"/>
              </a:avLst>
            </a:prstGeom>
            <a:solidFill>
              <a:srgbClr val="FEF2F2"/>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55"/>
            <p:cNvSpPr/>
            <p:nvPr/>
          </p:nvSpPr>
          <p:spPr>
            <a:xfrm>
              <a:off x="0" y="0"/>
              <a:ext cx="47700" cy="10668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3" name="Google Shape;783;p55"/>
            <p:cNvSpPr txBox="1"/>
            <p:nvPr/>
          </p:nvSpPr>
          <p:spPr>
            <a:xfrm>
              <a:off x="190500" y="241968"/>
              <a:ext cx="7620000" cy="72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00"/>
                </a:spcAft>
                <a:buNone/>
              </a:pPr>
              <a:r>
                <a:rPr b="1" lang="zh-TW" sz="1200">
                  <a:solidFill>
                    <a:srgbClr val="DC2626"/>
                  </a:solidFill>
                  <a:latin typeface="Inter"/>
                  <a:ea typeface="Inter"/>
                  <a:cs typeface="Inter"/>
                  <a:sym typeface="Inter"/>
                </a:rPr>
                <a:t>速度成功達到 30 FPS，但真的能精準追到球嗎？</a:t>
              </a:r>
              <a:endParaRPr b="0" sz="1050">
                <a:solidFill>
                  <a:srgbClr val="991B1B"/>
                </a:solidFill>
                <a:latin typeface="Inter"/>
                <a:ea typeface="Inter"/>
                <a:cs typeface="Inter"/>
                <a:sym typeface="Inte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grpSp>
        <p:nvGrpSpPr>
          <p:cNvPr id="788" name="Google Shape;788;p56"/>
          <p:cNvGrpSpPr/>
          <p:nvPr/>
        </p:nvGrpSpPr>
        <p:grpSpPr>
          <a:xfrm>
            <a:off x="-476250" y="-857250"/>
            <a:ext cx="10477500" cy="6381750"/>
            <a:chOff x="-476250" y="-857250"/>
            <a:chExt cx="10477500" cy="6381750"/>
          </a:xfrm>
        </p:grpSpPr>
        <p:sp>
          <p:nvSpPr>
            <p:cNvPr id="789" name="Google Shape;789;p5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0" name="Google Shape;790;p5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1" name="Google Shape;791;p5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56"/>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93" name="Google Shape;793;p56"/>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TrackNetV4知識蒸餾+ROI</a:t>
            </a:r>
            <a:endParaRPr b="1" sz="2400">
              <a:solidFill>
                <a:srgbClr val="1E293B"/>
              </a:solidFill>
              <a:latin typeface="Inter"/>
              <a:ea typeface="Inter"/>
              <a:cs typeface="Inter"/>
              <a:sym typeface="Inter"/>
            </a:endParaRPr>
          </a:p>
          <a:p>
            <a:pPr indent="0" lvl="0" marL="0" rtl="0" algn="l">
              <a:spcBef>
                <a:spcPts val="225"/>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pic>
        <p:nvPicPr>
          <p:cNvPr id="794" name="Google Shape;794;p56" title="Stateless Noise Hijacking.mp4">
            <a:hlinkClick r:id="rId3"/>
          </p:cNvPr>
          <p:cNvPicPr preferRelativeResize="0"/>
          <p:nvPr/>
        </p:nvPicPr>
        <p:blipFill>
          <a:blip r:embed="rId4">
            <a:alphaModFix/>
          </a:blip>
          <a:stretch>
            <a:fillRect/>
          </a:stretch>
        </p:blipFill>
        <p:spPr>
          <a:xfrm>
            <a:off x="3818275" y="1336762"/>
            <a:ext cx="5269224" cy="2963925"/>
          </a:xfrm>
          <a:prstGeom prst="rect">
            <a:avLst/>
          </a:prstGeom>
          <a:noFill/>
          <a:ln>
            <a:noFill/>
          </a:ln>
          <a:effectLst>
            <a:outerShdw blurRad="57150" rotWithShape="0" algn="bl" dir="5400000" dist="19050">
              <a:srgbClr val="000000">
                <a:alpha val="50000"/>
              </a:srgbClr>
            </a:outerShdw>
          </a:effectLst>
        </p:spPr>
      </p:pic>
      <p:grpSp>
        <p:nvGrpSpPr>
          <p:cNvPr id="795" name="Google Shape;795;p56"/>
          <p:cNvGrpSpPr/>
          <p:nvPr/>
        </p:nvGrpSpPr>
        <p:grpSpPr>
          <a:xfrm>
            <a:off x="267397" y="1129045"/>
            <a:ext cx="3507729" cy="2080024"/>
            <a:chOff x="4476750" y="1333500"/>
            <a:chExt cx="4095900" cy="2428800"/>
          </a:xfrm>
        </p:grpSpPr>
        <p:pic>
          <p:nvPicPr>
            <p:cNvPr id="796" name="Google Shape;796;p56"/>
            <p:cNvPicPr preferRelativeResize="0"/>
            <p:nvPr/>
          </p:nvPicPr>
          <p:blipFill rotWithShape="1">
            <a:blip r:embed="rId5">
              <a:alphaModFix/>
            </a:blip>
            <a:srcRect b="11390" l="0" r="0" t="11390"/>
            <a:stretch/>
          </p:blipFill>
          <p:spPr>
            <a:xfrm>
              <a:off x="4476750" y="1333500"/>
              <a:ext cx="4095900" cy="2428800"/>
            </a:xfrm>
            <a:prstGeom prst="rect">
              <a:avLst/>
            </a:prstGeom>
            <a:noFill/>
            <a:ln>
              <a:noFill/>
            </a:ln>
          </p:spPr>
        </p:pic>
        <p:pic>
          <p:nvPicPr>
            <p:cNvPr id="797" name="Google Shape;797;p56"/>
            <p:cNvPicPr preferRelativeResize="0"/>
            <p:nvPr/>
          </p:nvPicPr>
          <p:blipFill rotWithShape="1">
            <a:blip r:embed="rId6">
              <a:alphaModFix/>
            </a:blip>
            <a:srcRect b="23524" l="0" r="0" t="0"/>
            <a:stretch/>
          </p:blipFill>
          <p:spPr>
            <a:xfrm>
              <a:off x="4476750" y="1333500"/>
              <a:ext cx="4095900" cy="2428800"/>
            </a:xfrm>
            <a:prstGeom prst="roundRect">
              <a:avLst>
                <a:gd fmla="val 4705" name="adj"/>
              </a:avLst>
            </a:prstGeom>
            <a:noFill/>
            <a:ln>
              <a:noFill/>
            </a:ln>
          </p:spPr>
        </p:pic>
      </p:grpSp>
      <p:grpSp>
        <p:nvGrpSpPr>
          <p:cNvPr id="798" name="Google Shape;798;p56"/>
          <p:cNvGrpSpPr/>
          <p:nvPr/>
        </p:nvGrpSpPr>
        <p:grpSpPr>
          <a:xfrm>
            <a:off x="267400" y="3400575"/>
            <a:ext cx="3507638" cy="1141628"/>
            <a:chOff x="0" y="0"/>
            <a:chExt cx="8001000" cy="762000"/>
          </a:xfrm>
        </p:grpSpPr>
        <p:sp>
          <p:nvSpPr>
            <p:cNvPr id="799" name="Google Shape;799;p56"/>
            <p:cNvSpPr/>
            <p:nvPr/>
          </p:nvSpPr>
          <p:spPr>
            <a:xfrm>
              <a:off x="0" y="0"/>
              <a:ext cx="8001000" cy="762000"/>
            </a:xfrm>
            <a:prstGeom prst="roundRect">
              <a:avLst>
                <a:gd fmla="val 12500"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0" name="Google Shape;800;p56"/>
            <p:cNvSpPr/>
            <p:nvPr/>
          </p:nvSpPr>
          <p:spPr>
            <a:xfrm>
              <a:off x="0" y="0"/>
              <a:ext cx="57300" cy="7620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1" name="Google Shape;801;p56"/>
            <p:cNvSpPr txBox="1"/>
            <p:nvPr/>
          </p:nvSpPr>
          <p:spPr>
            <a:xfrm>
              <a:off x="190500" y="0"/>
              <a:ext cx="7620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050">
                  <a:solidFill>
                    <a:srgbClr val="7F1D1D"/>
                  </a:solidFill>
                  <a:latin typeface="Inter"/>
                  <a:ea typeface="Inter"/>
                  <a:cs typeface="Inter"/>
                  <a:sym typeface="Inter"/>
                </a:rPr>
                <a:t>雖然推論效能達 30 FPS 即時標準，但畫面中可觀察到「</a:t>
              </a:r>
              <a:r>
                <a:rPr b="1" lang="zh-TW" sz="1050">
                  <a:solidFill>
                    <a:srgbClr val="B91C1C"/>
                  </a:solidFill>
                  <a:latin typeface="Inter"/>
                  <a:ea typeface="Inter"/>
                  <a:cs typeface="Inter"/>
                  <a:sym typeface="Inter"/>
                </a:rPr>
                <a:t>羽球</a:t>
              </a:r>
              <a:r>
                <a:rPr b="1" lang="zh-TW" sz="1050">
                  <a:solidFill>
                    <a:srgbClr val="B91C1C"/>
                  </a:solidFill>
                  <a:latin typeface="Inter"/>
                  <a:ea typeface="Inter"/>
                  <a:cs typeface="Inter"/>
                  <a:sym typeface="Inter"/>
                </a:rPr>
                <a:t>出框</a:t>
              </a:r>
              <a:r>
                <a:rPr b="0" lang="zh-TW" sz="1050">
                  <a:solidFill>
                    <a:srgbClr val="7F1D1D"/>
                  </a:solidFill>
                  <a:latin typeface="Inter"/>
                  <a:ea typeface="Inter"/>
                  <a:cs typeface="Inter"/>
                  <a:sym typeface="Inter"/>
                </a:rPr>
                <a:t>」與「</a:t>
              </a:r>
              <a:r>
                <a:rPr b="1" lang="zh-TW" sz="1050">
                  <a:solidFill>
                    <a:srgbClr val="B91C1C"/>
                  </a:solidFill>
                  <a:latin typeface="Inter"/>
                  <a:ea typeface="Inter"/>
                  <a:cs typeface="Inter"/>
                  <a:sym typeface="Inter"/>
                </a:rPr>
                <a:t>雜訊</a:t>
              </a:r>
              <a:r>
                <a:rPr b="1" lang="zh-TW" sz="1050">
                  <a:solidFill>
                    <a:srgbClr val="B91C1C"/>
                  </a:solidFill>
                  <a:latin typeface="Inter"/>
                  <a:ea typeface="Inter"/>
                  <a:cs typeface="Inter"/>
                  <a:sym typeface="Inter"/>
                </a:rPr>
                <a:t>干擾</a:t>
              </a:r>
              <a:r>
                <a:rPr b="0" lang="zh-TW" sz="1050">
                  <a:solidFill>
                    <a:srgbClr val="7F1D1D"/>
                  </a:solidFill>
                  <a:latin typeface="Inter"/>
                  <a:ea typeface="Inter"/>
                  <a:cs typeface="Inter"/>
                  <a:sym typeface="Inter"/>
                </a:rPr>
                <a:t>」現象。</a:t>
              </a:r>
              <a:endParaRPr b="0" sz="1050">
                <a:solidFill>
                  <a:srgbClr val="7F1D1D"/>
                </a:solidFill>
                <a:latin typeface="Inter"/>
                <a:ea typeface="Inter"/>
                <a:cs typeface="Inter"/>
                <a:sym typeface="Inte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1000"/>
                                        <p:tgtEl>
                                          <p:spTgt spid="7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grpSp>
        <p:nvGrpSpPr>
          <p:cNvPr id="806" name="Google Shape;806;p57"/>
          <p:cNvGrpSpPr/>
          <p:nvPr/>
        </p:nvGrpSpPr>
        <p:grpSpPr>
          <a:xfrm>
            <a:off x="0" y="-857250"/>
            <a:ext cx="10001250" cy="2857500"/>
            <a:chOff x="0" y="-857250"/>
            <a:chExt cx="10001250" cy="2857500"/>
          </a:xfrm>
        </p:grpSpPr>
        <p:sp>
          <p:nvSpPr>
            <p:cNvPr id="807" name="Google Shape;807;p5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8" name="Google Shape;808;p57"/>
            <p:cNvSpPr/>
            <p:nvPr/>
          </p:nvSpPr>
          <p:spPr>
            <a:xfrm>
              <a:off x="0" y="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9" name="Google Shape;809;p57"/>
            <p:cNvSpPr/>
            <p:nvPr/>
          </p:nvSpPr>
          <p:spPr>
            <a:xfrm>
              <a:off x="571500" y="83820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10" name="Google Shape;810;p57"/>
          <p:cNvGrpSpPr/>
          <p:nvPr/>
        </p:nvGrpSpPr>
        <p:grpSpPr>
          <a:xfrm>
            <a:off x="571500" y="285750"/>
            <a:ext cx="8001000" cy="523800"/>
            <a:chOff x="0" y="0"/>
            <a:chExt cx="8001000" cy="523800"/>
          </a:xfrm>
        </p:grpSpPr>
        <p:sp>
          <p:nvSpPr>
            <p:cNvPr id="811" name="Google Shape;811;p57"/>
            <p:cNvSpPr/>
            <p:nvPr/>
          </p:nvSpPr>
          <p:spPr>
            <a:xfrm>
              <a:off x="0" y="0"/>
              <a:ext cx="8001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57"/>
            <p:cNvSpPr txBox="1"/>
            <p:nvPr/>
          </p:nvSpPr>
          <p:spPr>
            <a:xfrm>
              <a:off x="0" y="0"/>
              <a:ext cx="8001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Oswald"/>
                  <a:ea typeface="Oswald"/>
                  <a:cs typeface="Oswald"/>
                  <a:sym typeface="Oswald"/>
                </a:rPr>
                <a:t>觀察到的問題與技術挑戰 </a:t>
              </a:r>
              <a:r>
                <a:rPr b="0" lang="zh-TW" sz="1800">
                  <a:solidFill>
                    <a:srgbClr val="3B82F6"/>
                  </a:solidFill>
                  <a:latin typeface="Oswald"/>
                  <a:ea typeface="Oswald"/>
                  <a:cs typeface="Oswald"/>
                  <a:sym typeface="Oswald"/>
                </a:rPr>
                <a:t>(Key Challenges)</a:t>
              </a:r>
              <a:endParaRPr b="1" sz="2400">
                <a:solidFill>
                  <a:srgbClr val="1E293B"/>
                </a:solidFill>
                <a:latin typeface="Oswald"/>
                <a:ea typeface="Oswald"/>
                <a:cs typeface="Oswald"/>
                <a:sym typeface="Oswald"/>
              </a:endParaRPr>
            </a:p>
          </p:txBody>
        </p:sp>
      </p:grpSp>
      <p:grpSp>
        <p:nvGrpSpPr>
          <p:cNvPr id="813" name="Google Shape;813;p57"/>
          <p:cNvGrpSpPr/>
          <p:nvPr/>
        </p:nvGrpSpPr>
        <p:grpSpPr>
          <a:xfrm>
            <a:off x="571500" y="1047750"/>
            <a:ext cx="2524200" cy="3903439"/>
            <a:chOff x="0" y="0"/>
            <a:chExt cx="2524200" cy="2952900"/>
          </a:xfrm>
        </p:grpSpPr>
        <p:sp>
          <p:nvSpPr>
            <p:cNvPr id="814" name="Google Shape;814;p57"/>
            <p:cNvSpPr/>
            <p:nvPr/>
          </p:nvSpPr>
          <p:spPr>
            <a:xfrm>
              <a:off x="0" y="0"/>
              <a:ext cx="2524200" cy="2952900"/>
            </a:xfrm>
            <a:prstGeom prst="roundRect">
              <a:avLst>
                <a:gd fmla="val 45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5" name="Google Shape;815;p57"/>
            <p:cNvSpPr/>
            <p:nvPr/>
          </p:nvSpPr>
          <p:spPr>
            <a:xfrm>
              <a:off x="0" y="0"/>
              <a:ext cx="25242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6" name="Google Shape;816;p57"/>
            <p:cNvSpPr txBox="1"/>
            <p:nvPr/>
          </p:nvSpPr>
          <p:spPr>
            <a:xfrm>
              <a:off x="152400" y="152400"/>
              <a:ext cx="2219400" cy="264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1. </a:t>
              </a:r>
              <a:r>
                <a:rPr b="1" lang="zh-TW" sz="1300">
                  <a:solidFill>
                    <a:srgbClr val="1E293B"/>
                  </a:solidFill>
                  <a:latin typeface="Inter"/>
                  <a:ea typeface="Inter"/>
                  <a:cs typeface="Inter"/>
                  <a:sym typeface="Inter"/>
                </a:rPr>
                <a:t>ROI 本身就是局部視野就必然存在出框風險</a:t>
              </a:r>
              <a:endParaRPr b="1" sz="1300">
                <a:solidFill>
                  <a:srgbClr val="1E293B"/>
                </a:solidFill>
                <a:latin typeface="Inter"/>
                <a:ea typeface="Inter"/>
                <a:cs typeface="Inter"/>
                <a:sym typeface="Inter"/>
              </a:endParaRPr>
            </a:p>
            <a:p>
              <a:pPr indent="0" lvl="0" marL="0" rtl="0" algn="l">
                <a:spcBef>
                  <a:spcPts val="0"/>
                </a:spcBef>
                <a:spcAft>
                  <a:spcPts val="0"/>
                </a:spcAft>
                <a:buNone/>
              </a:pPr>
              <a:r>
                <a:t/>
              </a:r>
              <a:endParaRPr b="1" sz="1300">
                <a:solidFill>
                  <a:srgbClr val="1E293B"/>
                </a:solidFill>
                <a:latin typeface="Inter"/>
                <a:ea typeface="Inter"/>
                <a:cs typeface="Inter"/>
                <a:sym typeface="Inter"/>
              </a:endParaRPr>
            </a:p>
            <a:p>
              <a:pPr indent="0" lvl="0" marL="0" rtl="0" algn="l">
                <a:spcBef>
                  <a:spcPts val="450"/>
                </a:spcBef>
                <a:spcAft>
                  <a:spcPts val="0"/>
                </a:spcAft>
                <a:buNone/>
              </a:pPr>
              <a:r>
                <a:rPr lang="zh-TW" sz="1000">
                  <a:solidFill>
                    <a:srgbClr val="2563EB"/>
                  </a:solidFill>
                  <a:latin typeface="Inter SemiBold"/>
                  <a:ea typeface="Inter SemiBold"/>
                  <a:cs typeface="Inter SemiBold"/>
                  <a:sym typeface="Inter SemiBold"/>
                </a:rPr>
                <a:t>系統一定需要一個全域搜尋機制把目標位置找回來</a:t>
              </a:r>
              <a:endParaRPr sz="1000">
                <a:solidFill>
                  <a:srgbClr val="2563EB"/>
                </a:solidFill>
                <a:latin typeface="Inter SemiBold"/>
                <a:ea typeface="Inter SemiBold"/>
                <a:cs typeface="Inter SemiBold"/>
                <a:sym typeface="Inter SemiBold"/>
              </a:endParaRPr>
            </a:p>
            <a:p>
              <a:pPr indent="0" lvl="0" marL="0" rtl="0" algn="l">
                <a:spcBef>
                  <a:spcPts val="750"/>
                </a:spcBef>
                <a:spcAft>
                  <a:spcPts val="0"/>
                </a:spcAft>
                <a:buNone/>
              </a:pPr>
              <a:r>
                <a:t/>
              </a:r>
              <a:endParaRPr sz="1000">
                <a:solidFill>
                  <a:srgbClr val="2563EB"/>
                </a:solidFill>
                <a:latin typeface="Inter SemiBold"/>
                <a:ea typeface="Inter SemiBold"/>
                <a:cs typeface="Inter SemiBold"/>
                <a:sym typeface="Inter SemiBold"/>
              </a:endParaRPr>
            </a:p>
            <a:p>
              <a:pPr indent="-288925" lvl="0" marL="457200" rtl="0" algn="l">
                <a:lnSpc>
                  <a:spcPct val="150000"/>
                </a:lnSpc>
                <a:spcBef>
                  <a:spcPts val="750"/>
                </a:spcBef>
                <a:spcAft>
                  <a:spcPts val="0"/>
                </a:spcAft>
                <a:buClr>
                  <a:srgbClr val="64748B"/>
                </a:buClr>
                <a:buSzPts val="950"/>
                <a:buFont typeface="Inter"/>
                <a:buAutoNum type="arabicPeriod"/>
              </a:pPr>
              <a:r>
                <a:rPr lang="zh-TW" sz="950">
                  <a:solidFill>
                    <a:srgbClr val="64748B"/>
                  </a:solidFill>
                  <a:latin typeface="Inter"/>
                  <a:ea typeface="Inter"/>
                  <a:cs typeface="Inter"/>
                  <a:sym typeface="Inter"/>
                </a:rPr>
                <a:t>全域搜尋引擎從何而來？</a:t>
              </a:r>
              <a:endParaRPr sz="950">
                <a:solidFill>
                  <a:srgbClr val="64748B"/>
                </a:solidFill>
                <a:latin typeface="Inter"/>
                <a:ea typeface="Inter"/>
                <a:cs typeface="Inter"/>
                <a:sym typeface="Inter"/>
              </a:endParaRPr>
            </a:p>
            <a:p>
              <a:pPr indent="-288925" lvl="0" marL="457200" rtl="0" algn="l">
                <a:lnSpc>
                  <a:spcPct val="150000"/>
                </a:lnSpc>
                <a:spcBef>
                  <a:spcPts val="0"/>
                </a:spcBef>
                <a:spcAft>
                  <a:spcPts val="0"/>
                </a:spcAft>
                <a:buClr>
                  <a:srgbClr val="64748B"/>
                </a:buClr>
                <a:buSzPts val="950"/>
                <a:buFont typeface="Inter"/>
                <a:buAutoNum type="arabicPeriod"/>
              </a:pPr>
              <a:r>
                <a:rPr lang="zh-TW" sz="950">
                  <a:solidFill>
                    <a:srgbClr val="64748B"/>
                  </a:solidFill>
                  <a:latin typeface="Inter"/>
                  <a:ea typeface="Inter"/>
                  <a:cs typeface="Inter"/>
                  <a:sym typeface="Inter"/>
                </a:rPr>
                <a:t>全域</a:t>
              </a:r>
              <a:r>
                <a:rPr lang="zh-TW" sz="950">
                  <a:solidFill>
                    <a:srgbClr val="64748B"/>
                  </a:solidFill>
                  <a:latin typeface="Inter"/>
                  <a:ea typeface="Inter"/>
                  <a:cs typeface="Inter"/>
                  <a:sym typeface="Inter"/>
                </a:rPr>
                <a:t>與區域搜尋切換時機？</a:t>
              </a:r>
              <a:endParaRPr sz="950">
                <a:solidFill>
                  <a:srgbClr val="64748B"/>
                </a:solidFill>
                <a:latin typeface="Inter"/>
                <a:ea typeface="Inter"/>
                <a:cs typeface="Inter"/>
                <a:sym typeface="Inter"/>
              </a:endParaRPr>
            </a:p>
            <a:p>
              <a:pPr indent="-288925" lvl="0" marL="457200" rtl="0" algn="l">
                <a:lnSpc>
                  <a:spcPct val="150000"/>
                </a:lnSpc>
                <a:spcBef>
                  <a:spcPts val="0"/>
                </a:spcBef>
                <a:spcAft>
                  <a:spcPts val="0"/>
                </a:spcAft>
                <a:buClr>
                  <a:srgbClr val="64748B"/>
                </a:buClr>
                <a:buSzPts val="950"/>
                <a:buFont typeface="Inter"/>
                <a:buAutoNum type="arabicPeriod"/>
              </a:pPr>
              <a:r>
                <a:rPr lang="zh-TW" sz="950">
                  <a:solidFill>
                    <a:srgbClr val="64748B"/>
                  </a:solidFill>
                  <a:latin typeface="Inter"/>
                  <a:ea typeface="Inter"/>
                  <a:cs typeface="Inter"/>
                  <a:sym typeface="Inter"/>
                </a:rPr>
                <a:t>全域搜尋雖然可以重新找回羽球，但運算成本高，</a:t>
              </a:r>
              <a:r>
                <a:rPr lang="zh-TW" sz="950">
                  <a:solidFill>
                    <a:srgbClr val="64748B"/>
                  </a:solidFill>
                  <a:latin typeface="Inter"/>
                  <a:ea typeface="Inter"/>
                  <a:cs typeface="Inter"/>
                  <a:sym typeface="Inter"/>
                </a:rPr>
                <a:t>如何降低全域搜尋的使用頻率，</a:t>
              </a:r>
              <a:r>
                <a:rPr lang="zh-TW" sz="950">
                  <a:solidFill>
                    <a:srgbClr val="64748B"/>
                  </a:solidFill>
                  <a:latin typeface="Inter"/>
                  <a:ea typeface="Inter"/>
                  <a:cs typeface="Inter"/>
                  <a:sym typeface="Inter"/>
                </a:rPr>
                <a:t>只有在必要時才啟動？</a:t>
              </a:r>
              <a:endParaRPr sz="950">
                <a:solidFill>
                  <a:srgbClr val="64748B"/>
                </a:solidFill>
                <a:latin typeface="Inter"/>
                <a:ea typeface="Inter"/>
                <a:cs typeface="Inter"/>
                <a:sym typeface="Inter"/>
              </a:endParaRPr>
            </a:p>
            <a:p>
              <a:pPr indent="0" lvl="0" marL="0" rtl="0" algn="l">
                <a:lnSpc>
                  <a:spcPct val="150000"/>
                </a:lnSpc>
                <a:spcBef>
                  <a:spcPts val="0"/>
                </a:spcBef>
                <a:spcAft>
                  <a:spcPts val="0"/>
                </a:spcAft>
                <a:buNone/>
              </a:pPr>
              <a:r>
                <a:t/>
              </a:r>
              <a:endParaRPr sz="950">
                <a:solidFill>
                  <a:srgbClr val="334155"/>
                </a:solidFill>
                <a:latin typeface="Inter"/>
                <a:ea typeface="Inter"/>
                <a:cs typeface="Inter"/>
                <a:sym typeface="Inter"/>
              </a:endParaRPr>
            </a:p>
            <a:p>
              <a:pPr indent="0" lvl="0" marL="457200" rtl="0" algn="l">
                <a:spcBef>
                  <a:spcPts val="0"/>
                </a:spcBef>
                <a:spcAft>
                  <a:spcPts val="0"/>
                </a:spcAft>
                <a:buNone/>
              </a:pPr>
              <a:r>
                <a:t/>
              </a:r>
              <a:endParaRPr sz="950">
                <a:solidFill>
                  <a:srgbClr val="334155"/>
                </a:solidFill>
                <a:latin typeface="Inter"/>
                <a:ea typeface="Inter"/>
                <a:cs typeface="Inter"/>
                <a:sym typeface="Inter"/>
              </a:endParaRPr>
            </a:p>
          </p:txBody>
        </p:sp>
      </p:grpSp>
      <p:grpSp>
        <p:nvGrpSpPr>
          <p:cNvPr id="817" name="Google Shape;817;p57"/>
          <p:cNvGrpSpPr/>
          <p:nvPr/>
        </p:nvGrpSpPr>
        <p:grpSpPr>
          <a:xfrm>
            <a:off x="3305175" y="1047750"/>
            <a:ext cx="2524200" cy="3903439"/>
            <a:chOff x="0" y="0"/>
            <a:chExt cx="2524200" cy="2952900"/>
          </a:xfrm>
        </p:grpSpPr>
        <p:sp>
          <p:nvSpPr>
            <p:cNvPr id="818" name="Google Shape;818;p57"/>
            <p:cNvSpPr/>
            <p:nvPr/>
          </p:nvSpPr>
          <p:spPr>
            <a:xfrm>
              <a:off x="0" y="0"/>
              <a:ext cx="2524200" cy="2952900"/>
            </a:xfrm>
            <a:prstGeom prst="roundRect">
              <a:avLst>
                <a:gd fmla="val 45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9" name="Google Shape;819;p57"/>
            <p:cNvSpPr/>
            <p:nvPr/>
          </p:nvSpPr>
          <p:spPr>
            <a:xfrm>
              <a:off x="0" y="0"/>
              <a:ext cx="25242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0" name="Google Shape;820;p57"/>
            <p:cNvSpPr txBox="1"/>
            <p:nvPr/>
          </p:nvSpPr>
          <p:spPr>
            <a:xfrm>
              <a:off x="152400" y="152400"/>
              <a:ext cx="2219400" cy="264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2. 輕量化模型的背景雜訊</a:t>
              </a:r>
              <a:endParaRPr b="1" sz="1300">
                <a:solidFill>
                  <a:srgbClr val="1E293B"/>
                </a:solidFill>
                <a:latin typeface="Inter"/>
                <a:ea typeface="Inter"/>
                <a:cs typeface="Inter"/>
                <a:sym typeface="Inter"/>
              </a:endParaRPr>
            </a:p>
            <a:p>
              <a:pPr indent="0" lvl="0" marL="0" rtl="0" algn="l">
                <a:spcBef>
                  <a:spcPts val="0"/>
                </a:spcBef>
                <a:spcAft>
                  <a:spcPts val="0"/>
                </a:spcAft>
                <a:buNone/>
              </a:pPr>
              <a:r>
                <a:t/>
              </a:r>
              <a:endParaRPr b="1" sz="1300">
                <a:solidFill>
                  <a:srgbClr val="1E293B"/>
                </a:solidFill>
                <a:latin typeface="Inter"/>
                <a:ea typeface="Inter"/>
                <a:cs typeface="Inter"/>
                <a:sym typeface="Inter"/>
              </a:endParaRPr>
            </a:p>
            <a:p>
              <a:pPr indent="0" lvl="0" marL="0" rtl="0" algn="l">
                <a:spcBef>
                  <a:spcPts val="450"/>
                </a:spcBef>
                <a:spcAft>
                  <a:spcPts val="0"/>
                </a:spcAft>
                <a:buNone/>
              </a:pPr>
              <a:r>
                <a:rPr lang="zh-TW" sz="1000">
                  <a:solidFill>
                    <a:srgbClr val="0284C7"/>
                  </a:solidFill>
                  <a:latin typeface="Inter SemiBold"/>
                  <a:ea typeface="Inter SemiBold"/>
                  <a:cs typeface="Inter SemiBold"/>
                  <a:sym typeface="Inter SemiBold"/>
                </a:rPr>
                <a:t>缺少注意力機制無法有效過濾雜訊</a:t>
              </a:r>
              <a:endParaRPr b="0" sz="1000">
                <a:solidFill>
                  <a:srgbClr val="0284C7"/>
                </a:solidFill>
                <a:latin typeface="Inter SemiBold"/>
                <a:ea typeface="Inter SemiBold"/>
                <a:cs typeface="Inter SemiBold"/>
                <a:sym typeface="Inter SemiBold"/>
              </a:endParaRPr>
            </a:p>
            <a:p>
              <a:pPr indent="0" lvl="0" marL="0" rtl="0" algn="l">
                <a:spcBef>
                  <a:spcPts val="750"/>
                </a:spcBef>
                <a:spcAft>
                  <a:spcPts val="0"/>
                </a:spcAft>
                <a:buNone/>
              </a:pPr>
              <a:r>
                <a:t/>
              </a:r>
              <a:endParaRPr sz="950">
                <a:solidFill>
                  <a:srgbClr val="0F172A"/>
                </a:solidFill>
                <a:latin typeface="Inter SemiBold"/>
                <a:ea typeface="Inter SemiBold"/>
                <a:cs typeface="Inter SemiBold"/>
                <a:sym typeface="Inter SemiBold"/>
              </a:endParaRPr>
            </a:p>
            <a:p>
              <a:pPr indent="0" lvl="0" marL="0" rtl="0" algn="l">
                <a:spcBef>
                  <a:spcPts val="450"/>
                </a:spcBef>
                <a:spcAft>
                  <a:spcPts val="0"/>
                </a:spcAft>
                <a:buNone/>
              </a:pPr>
              <a:r>
                <a:rPr b="0" lang="zh-TW" sz="950">
                  <a:solidFill>
                    <a:srgbClr val="0F172A"/>
                  </a:solidFill>
                  <a:latin typeface="Inter SemiBold"/>
                  <a:ea typeface="Inter SemiBold"/>
                  <a:cs typeface="Inter SemiBold"/>
                  <a:sym typeface="Inter SemiBold"/>
                </a:rPr>
                <a:t>常見干擾源：</a:t>
              </a:r>
              <a:endParaRPr sz="950">
                <a:solidFill>
                  <a:srgbClr val="0F172A"/>
                </a:solidFill>
                <a:latin typeface="Inter SemiBold"/>
                <a:ea typeface="Inter SemiBold"/>
                <a:cs typeface="Inter SemiBold"/>
                <a:sym typeface="Inter SemiBold"/>
              </a:endParaRPr>
            </a:p>
            <a:p>
              <a:pPr indent="-288925" lvl="0" marL="457200" rtl="0" algn="l">
                <a:lnSpc>
                  <a:spcPct val="150000"/>
                </a:lnSpc>
                <a:spcBef>
                  <a:spcPts val="450"/>
                </a:spcBef>
                <a:spcAft>
                  <a:spcPts val="0"/>
                </a:spcAft>
                <a:buClr>
                  <a:srgbClr val="64748B"/>
                </a:buClr>
                <a:buSzPts val="950"/>
                <a:buFont typeface="Inter"/>
                <a:buChar char="●"/>
              </a:pPr>
              <a:r>
                <a:rPr lang="zh-TW" sz="950">
                  <a:solidFill>
                    <a:srgbClr val="64748B"/>
                  </a:solidFill>
                  <a:latin typeface="Inter"/>
                  <a:ea typeface="Inter"/>
                  <a:cs typeface="Inter"/>
                  <a:sym typeface="Inter"/>
                </a:rPr>
                <a:t>白色球鞋</a:t>
              </a:r>
              <a:endParaRPr sz="950">
                <a:solidFill>
                  <a:srgbClr val="64748B"/>
                </a:solidFill>
                <a:latin typeface="Inter"/>
                <a:ea typeface="Inter"/>
                <a:cs typeface="Inter"/>
                <a:sym typeface="Inter"/>
              </a:endParaRPr>
            </a:p>
            <a:p>
              <a:pPr indent="-288925" lvl="0" marL="457200" rtl="0" algn="l">
                <a:lnSpc>
                  <a:spcPct val="150000"/>
                </a:lnSpc>
                <a:spcBef>
                  <a:spcPts val="0"/>
                </a:spcBef>
                <a:spcAft>
                  <a:spcPts val="0"/>
                </a:spcAft>
                <a:buClr>
                  <a:srgbClr val="64748B"/>
                </a:buClr>
                <a:buSzPts val="950"/>
                <a:buFont typeface="Inter"/>
                <a:buChar char="●"/>
              </a:pPr>
              <a:r>
                <a:rPr lang="zh-TW" sz="950">
                  <a:solidFill>
                    <a:srgbClr val="64748B"/>
                  </a:solidFill>
                  <a:latin typeface="Inter"/>
                  <a:ea typeface="Inter"/>
                  <a:cs typeface="Inter"/>
                  <a:sym typeface="Inter"/>
                </a:rPr>
                <a:t>場邊廣告看板</a:t>
              </a:r>
              <a:endParaRPr sz="950">
                <a:solidFill>
                  <a:srgbClr val="64748B"/>
                </a:solidFill>
                <a:latin typeface="Inter"/>
                <a:ea typeface="Inter"/>
                <a:cs typeface="Inter"/>
                <a:sym typeface="Inter"/>
              </a:endParaRPr>
            </a:p>
            <a:p>
              <a:pPr indent="-288925" lvl="0" marL="457200" rtl="0" algn="l">
                <a:lnSpc>
                  <a:spcPct val="150000"/>
                </a:lnSpc>
                <a:spcBef>
                  <a:spcPts val="0"/>
                </a:spcBef>
                <a:spcAft>
                  <a:spcPts val="0"/>
                </a:spcAft>
                <a:buClr>
                  <a:srgbClr val="64748B"/>
                </a:buClr>
                <a:buSzPts val="950"/>
                <a:buFont typeface="Inter"/>
                <a:buChar char="●"/>
              </a:pPr>
              <a:r>
                <a:rPr lang="zh-TW" sz="950">
                  <a:solidFill>
                    <a:srgbClr val="64748B"/>
                  </a:solidFill>
                  <a:latin typeface="Inter"/>
                  <a:ea typeface="Inter"/>
                  <a:cs typeface="Inter"/>
                  <a:sym typeface="Inter"/>
                </a:rPr>
                <a:t>球場地版白線</a:t>
              </a:r>
              <a:endParaRPr sz="950">
                <a:solidFill>
                  <a:srgbClr val="64748B"/>
                </a:solidFill>
                <a:latin typeface="Inter"/>
                <a:ea typeface="Inter"/>
                <a:cs typeface="Inter"/>
                <a:sym typeface="Inter"/>
              </a:endParaRPr>
            </a:p>
            <a:p>
              <a:pPr indent="0" lvl="0" marL="0" rtl="0" algn="l">
                <a:spcBef>
                  <a:spcPts val="750"/>
                </a:spcBef>
                <a:spcAft>
                  <a:spcPts val="0"/>
                </a:spcAft>
                <a:buNone/>
              </a:pPr>
              <a:r>
                <a:t/>
              </a:r>
              <a:endParaRPr sz="950">
                <a:solidFill>
                  <a:srgbClr val="0C4A6E"/>
                </a:solidFill>
                <a:highlight>
                  <a:srgbClr val="F0F9FF"/>
                </a:highlight>
                <a:latin typeface="Inter"/>
                <a:ea typeface="Inter"/>
                <a:cs typeface="Inter"/>
                <a:sym typeface="Inter"/>
              </a:endParaRPr>
            </a:p>
          </p:txBody>
        </p:sp>
      </p:grpSp>
      <p:grpSp>
        <p:nvGrpSpPr>
          <p:cNvPr id="821" name="Google Shape;821;p57"/>
          <p:cNvGrpSpPr/>
          <p:nvPr/>
        </p:nvGrpSpPr>
        <p:grpSpPr>
          <a:xfrm>
            <a:off x="6048375" y="1047750"/>
            <a:ext cx="2524200" cy="3903439"/>
            <a:chOff x="0" y="0"/>
            <a:chExt cx="2524200" cy="2952900"/>
          </a:xfrm>
        </p:grpSpPr>
        <p:sp>
          <p:nvSpPr>
            <p:cNvPr id="822" name="Google Shape;822;p57"/>
            <p:cNvSpPr/>
            <p:nvPr/>
          </p:nvSpPr>
          <p:spPr>
            <a:xfrm>
              <a:off x="0" y="0"/>
              <a:ext cx="2524200" cy="2952900"/>
            </a:xfrm>
            <a:prstGeom prst="roundRect">
              <a:avLst>
                <a:gd fmla="val 45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3" name="Google Shape;823;p57"/>
            <p:cNvSpPr/>
            <p:nvPr/>
          </p:nvSpPr>
          <p:spPr>
            <a:xfrm>
              <a:off x="0" y="0"/>
              <a:ext cx="2524200" cy="381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57"/>
            <p:cNvSpPr txBox="1"/>
            <p:nvPr/>
          </p:nvSpPr>
          <p:spPr>
            <a:xfrm>
              <a:off x="152400" y="152400"/>
              <a:ext cx="2219400" cy="264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3. ROI 尺寸權衡</a:t>
              </a:r>
              <a:endParaRPr b="1" sz="1300">
                <a:solidFill>
                  <a:srgbClr val="1E293B"/>
                </a:solidFill>
                <a:latin typeface="Inter"/>
                <a:ea typeface="Inter"/>
                <a:cs typeface="Inter"/>
                <a:sym typeface="Inter"/>
              </a:endParaRPr>
            </a:p>
            <a:p>
              <a:pPr indent="0" lvl="0" marL="0" rtl="0" algn="l">
                <a:spcBef>
                  <a:spcPts val="0"/>
                </a:spcBef>
                <a:spcAft>
                  <a:spcPts val="0"/>
                </a:spcAft>
                <a:buNone/>
              </a:pPr>
              <a:r>
                <a:t/>
              </a:r>
              <a:endParaRPr b="1" sz="1300">
                <a:solidFill>
                  <a:srgbClr val="1E293B"/>
                </a:solidFill>
                <a:latin typeface="Inter"/>
                <a:ea typeface="Inter"/>
                <a:cs typeface="Inter"/>
                <a:sym typeface="Inter"/>
              </a:endParaRPr>
            </a:p>
            <a:p>
              <a:pPr indent="0" lvl="0" marL="0" rtl="0" algn="l">
                <a:spcBef>
                  <a:spcPts val="450"/>
                </a:spcBef>
                <a:spcAft>
                  <a:spcPts val="0"/>
                </a:spcAft>
                <a:buNone/>
              </a:pPr>
              <a:r>
                <a:rPr b="0" lang="zh-TW" sz="1000">
                  <a:solidFill>
                    <a:srgbClr val="0D9488"/>
                  </a:solidFill>
                  <a:latin typeface="Inter SemiBold"/>
                  <a:ea typeface="Inter SemiBold"/>
                  <a:cs typeface="Inter SemiBold"/>
                  <a:sym typeface="Inter SemiBold"/>
                </a:rPr>
                <a:t>搜尋範圍大小</a:t>
              </a:r>
              <a:r>
                <a:rPr lang="zh-TW" sz="1000">
                  <a:solidFill>
                    <a:srgbClr val="0D9488"/>
                  </a:solidFill>
                  <a:latin typeface="Inter SemiBold"/>
                  <a:ea typeface="Inter SemiBold"/>
                  <a:cs typeface="Inter SemiBold"/>
                  <a:sym typeface="Inter SemiBold"/>
                </a:rPr>
                <a:t>如何決定？</a:t>
              </a:r>
              <a:endParaRPr sz="1000">
                <a:solidFill>
                  <a:srgbClr val="0D9488"/>
                </a:solidFill>
                <a:latin typeface="Inter SemiBold"/>
                <a:ea typeface="Inter SemiBold"/>
                <a:cs typeface="Inter SemiBold"/>
                <a:sym typeface="Inter SemiBold"/>
              </a:endParaRPr>
            </a:p>
            <a:p>
              <a:pPr indent="0" lvl="0" marL="0" rtl="0" algn="l">
                <a:spcBef>
                  <a:spcPts val="750"/>
                </a:spcBef>
                <a:spcAft>
                  <a:spcPts val="0"/>
                </a:spcAft>
                <a:buNone/>
              </a:pPr>
              <a:r>
                <a:t/>
              </a:r>
              <a:endParaRPr sz="1000">
                <a:solidFill>
                  <a:srgbClr val="0D9488"/>
                </a:solidFill>
                <a:latin typeface="Inter SemiBold"/>
                <a:ea typeface="Inter SemiBold"/>
                <a:cs typeface="Inter SemiBold"/>
                <a:sym typeface="Inter SemiBold"/>
              </a:endParaRPr>
            </a:p>
            <a:p>
              <a:pPr indent="-288925" lvl="0" marL="457200" rtl="0" algn="l">
                <a:spcBef>
                  <a:spcPts val="750"/>
                </a:spcBef>
                <a:spcAft>
                  <a:spcPts val="0"/>
                </a:spcAft>
                <a:buClr>
                  <a:srgbClr val="334155"/>
                </a:buClr>
                <a:buSzPts val="950"/>
                <a:buFont typeface="Inter"/>
                <a:buChar char="●"/>
              </a:pPr>
              <a:r>
                <a:rPr b="0" lang="zh-TW" sz="950">
                  <a:solidFill>
                    <a:srgbClr val="0F172A"/>
                  </a:solidFill>
                  <a:latin typeface="Inter SemiBold"/>
                  <a:ea typeface="Inter SemiBold"/>
                  <a:cs typeface="Inter SemiBold"/>
                  <a:sym typeface="Inter SemiBold"/>
                </a:rPr>
                <a:t>ROI 過小：</a:t>
              </a:r>
              <a:r>
                <a:rPr lang="zh-TW" sz="950">
                  <a:solidFill>
                    <a:srgbClr val="334155"/>
                  </a:solidFill>
                  <a:latin typeface="Inter"/>
                  <a:ea typeface="Inter"/>
                  <a:cs typeface="Inter"/>
                  <a:sym typeface="Inter"/>
                </a:rPr>
                <a:t>推論速度快，但羽球極易脫離範圍。</a:t>
              </a:r>
              <a:endParaRPr sz="950">
                <a:solidFill>
                  <a:srgbClr val="334155"/>
                </a:solidFill>
                <a:latin typeface="Inter"/>
                <a:ea typeface="Inter"/>
                <a:cs typeface="Inter"/>
                <a:sym typeface="Inter"/>
              </a:endParaRPr>
            </a:p>
            <a:p>
              <a:pPr indent="-288925" lvl="0" marL="457200" rtl="0" algn="l">
                <a:spcBef>
                  <a:spcPts val="600"/>
                </a:spcBef>
                <a:spcAft>
                  <a:spcPts val="0"/>
                </a:spcAft>
                <a:buClr>
                  <a:srgbClr val="334155"/>
                </a:buClr>
                <a:buSzPts val="950"/>
                <a:buFont typeface="Inter"/>
                <a:buChar char="●"/>
              </a:pPr>
              <a:r>
                <a:rPr b="0" lang="zh-TW" sz="950">
                  <a:solidFill>
                    <a:srgbClr val="0F172A"/>
                  </a:solidFill>
                  <a:latin typeface="Inter SemiBold"/>
                  <a:ea typeface="Inter SemiBold"/>
                  <a:cs typeface="Inter SemiBold"/>
                  <a:sym typeface="Inter SemiBold"/>
                </a:rPr>
                <a:t>ROI 過大：</a:t>
              </a:r>
              <a:r>
                <a:rPr lang="zh-TW" sz="950">
                  <a:solidFill>
                    <a:srgbClr val="334155"/>
                  </a:solidFill>
                  <a:latin typeface="Inter"/>
                  <a:ea typeface="Inter"/>
                  <a:cs typeface="Inter"/>
                  <a:sym typeface="Inter"/>
                </a:rPr>
                <a:t>涵蓋範圍安全，但大幅增加運算負擔。</a:t>
              </a:r>
              <a:endParaRPr sz="950">
                <a:solidFill>
                  <a:srgbClr val="334155"/>
                </a:solidFill>
                <a:latin typeface="Inter"/>
                <a:ea typeface="Inter"/>
                <a:cs typeface="Inter"/>
                <a:sym typeface="Inter"/>
              </a:endParaRPr>
            </a:p>
            <a:p>
              <a:pPr indent="0" lvl="0" marL="0" rtl="0" algn="l">
                <a:spcBef>
                  <a:spcPts val="900"/>
                </a:spcBef>
                <a:spcAft>
                  <a:spcPts val="0"/>
                </a:spcAft>
                <a:buNone/>
              </a:pPr>
              <a:r>
                <a:t/>
              </a:r>
              <a:endParaRPr sz="950">
                <a:solidFill>
                  <a:srgbClr val="115E59"/>
                </a:solidFill>
                <a:highlight>
                  <a:srgbClr val="F0FDFA"/>
                </a:highlight>
                <a:latin typeface="Inter"/>
                <a:ea typeface="Inter"/>
                <a:cs typeface="Inter"/>
                <a:sym typeface="Inte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8" name="Shape 828"/>
        <p:cNvGrpSpPr/>
        <p:nvPr/>
      </p:nvGrpSpPr>
      <p:grpSpPr>
        <a:xfrm>
          <a:off x="0" y="0"/>
          <a:ext cx="0" cy="0"/>
          <a:chOff x="0" y="0"/>
          <a:chExt cx="0" cy="0"/>
        </a:xfrm>
      </p:grpSpPr>
      <p:grpSp>
        <p:nvGrpSpPr>
          <p:cNvPr id="829" name="Google Shape;829;p58"/>
          <p:cNvGrpSpPr/>
          <p:nvPr/>
        </p:nvGrpSpPr>
        <p:grpSpPr>
          <a:xfrm>
            <a:off x="0" y="-857250"/>
            <a:ext cx="10001250" cy="2857500"/>
            <a:chOff x="0" y="-857250"/>
            <a:chExt cx="10001250" cy="2857500"/>
          </a:xfrm>
        </p:grpSpPr>
        <p:sp>
          <p:nvSpPr>
            <p:cNvPr id="830" name="Google Shape;830;p5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1" name="Google Shape;831;p58"/>
            <p:cNvSpPr/>
            <p:nvPr/>
          </p:nvSpPr>
          <p:spPr>
            <a:xfrm>
              <a:off x="0" y="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2" name="Google Shape;832;p58"/>
            <p:cNvSpPr/>
            <p:nvPr/>
          </p:nvSpPr>
          <p:spPr>
            <a:xfrm>
              <a:off x="381000" y="8096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3" name="Google Shape;833;p58"/>
          <p:cNvSpPr txBox="1"/>
          <p:nvPr>
            <p:ph type="title"/>
          </p:nvPr>
        </p:nvSpPr>
        <p:spPr>
          <a:xfrm>
            <a:off x="381000" y="238125"/>
            <a:ext cx="8382000" cy="523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035">
                <a:solidFill>
                  <a:srgbClr val="1E293B"/>
                </a:solidFill>
                <a:latin typeface="Inter"/>
                <a:ea typeface="Inter"/>
                <a:cs typeface="Inter"/>
                <a:sym typeface="Inter"/>
              </a:rPr>
              <a:t>方法簡介與特點 </a:t>
            </a:r>
            <a:r>
              <a:rPr b="0" lang="zh-TW" sz="1480">
                <a:solidFill>
                  <a:srgbClr val="3B82F6"/>
                </a:solidFill>
                <a:latin typeface="Inter"/>
                <a:ea typeface="Inter"/>
                <a:cs typeface="Inter"/>
                <a:sym typeface="Inter"/>
              </a:rPr>
              <a:t>(Proposed Approach)</a:t>
            </a:r>
            <a:endParaRPr b="1" sz="2035">
              <a:solidFill>
                <a:srgbClr val="1E293B"/>
              </a:solidFill>
              <a:latin typeface="Inter"/>
              <a:ea typeface="Inter"/>
              <a:cs typeface="Inter"/>
              <a:sym typeface="Inter"/>
            </a:endParaRPr>
          </a:p>
          <a:p>
            <a:pPr indent="0" lvl="0" marL="0" rtl="0" algn="l">
              <a:spcBef>
                <a:spcPts val="300"/>
              </a:spcBef>
              <a:spcAft>
                <a:spcPts val="0"/>
              </a:spcAft>
              <a:buNone/>
            </a:pPr>
            <a:r>
              <a:rPr b="0" lang="zh-TW" sz="1018">
                <a:solidFill>
                  <a:srgbClr val="64748B"/>
                </a:solidFill>
                <a:latin typeface="Inter"/>
                <a:ea typeface="Inter"/>
                <a:cs typeface="Inter"/>
                <a:sym typeface="Inter"/>
              </a:rPr>
              <a:t>雙引擎混合追蹤架構：兼顧羽球高速防出框與輕量化抗雜訊能力</a:t>
            </a:r>
            <a:endParaRPr b="0" sz="1018">
              <a:solidFill>
                <a:srgbClr val="64748B"/>
              </a:solidFill>
              <a:latin typeface="Inter"/>
              <a:ea typeface="Inter"/>
              <a:cs typeface="Inter"/>
              <a:sym typeface="Inter"/>
            </a:endParaRPr>
          </a:p>
        </p:txBody>
      </p:sp>
      <p:grpSp>
        <p:nvGrpSpPr>
          <p:cNvPr id="834" name="Google Shape;834;p58"/>
          <p:cNvGrpSpPr/>
          <p:nvPr/>
        </p:nvGrpSpPr>
        <p:grpSpPr>
          <a:xfrm>
            <a:off x="381000" y="1047750"/>
            <a:ext cx="2571900" cy="3714900"/>
            <a:chOff x="0" y="0"/>
            <a:chExt cx="2571900" cy="3714900"/>
          </a:xfrm>
        </p:grpSpPr>
        <p:sp>
          <p:nvSpPr>
            <p:cNvPr id="835" name="Google Shape;835;p58"/>
            <p:cNvSpPr/>
            <p:nvPr/>
          </p:nvSpPr>
          <p:spPr>
            <a:xfrm>
              <a:off x="0" y="0"/>
              <a:ext cx="2571900" cy="37149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6" name="Google Shape;836;p58"/>
            <p:cNvSpPr/>
            <p:nvPr/>
          </p:nvSpPr>
          <p:spPr>
            <a:xfrm>
              <a:off x="0" y="0"/>
              <a:ext cx="25719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7" name="Google Shape;837;p58"/>
            <p:cNvSpPr txBox="1"/>
            <p:nvPr/>
          </p:nvSpPr>
          <p:spPr>
            <a:xfrm>
              <a:off x="190500" y="190500"/>
              <a:ext cx="21909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1. 雙引擎與動態切換</a:t>
              </a:r>
              <a:endParaRPr b="1" sz="1400">
                <a:solidFill>
                  <a:srgbClr val="1E293B"/>
                </a:solidFill>
                <a:latin typeface="Inter"/>
                <a:ea typeface="Inter"/>
                <a:cs typeface="Inter"/>
                <a:sym typeface="Inter"/>
              </a:endParaRPr>
            </a:p>
            <a:p>
              <a:pPr indent="0" lvl="0" marL="0" rtl="0" algn="l">
                <a:spcBef>
                  <a:spcPts val="600"/>
                </a:spcBef>
                <a:spcAft>
                  <a:spcPts val="0"/>
                </a:spcAft>
                <a:buNone/>
              </a:pPr>
              <a:r>
                <a:rPr b="0" lang="zh-TW" sz="1050">
                  <a:solidFill>
                    <a:srgbClr val="2563EB"/>
                  </a:solidFill>
                  <a:latin typeface="Inter SemiBold"/>
                  <a:ea typeface="Inter SemiBold"/>
                  <a:cs typeface="Inter SemiBold"/>
                  <a:sym typeface="Inter SemiBold"/>
                </a:rPr>
                <a:t>解決「羽球高速出框」問題</a:t>
              </a:r>
              <a:endParaRPr b="0" sz="1050">
                <a:solidFill>
                  <a:srgbClr val="2563EB"/>
                </a:solidFill>
                <a:latin typeface="Inter SemiBold"/>
                <a:ea typeface="Inter SemiBold"/>
                <a:cs typeface="Inter SemiBold"/>
                <a:sym typeface="Inter SemiBold"/>
              </a:endParaRPr>
            </a:p>
            <a:p>
              <a:pPr indent="0" lvl="0" marL="0" rtl="0" algn="l">
                <a:spcBef>
                  <a:spcPts val="1050"/>
                </a:spcBef>
                <a:spcAft>
                  <a:spcPts val="0"/>
                </a:spcAft>
                <a:buNone/>
              </a:pPr>
              <a:r>
                <a:rPr b="1" lang="zh-TW" sz="1100">
                  <a:solidFill>
                    <a:srgbClr val="0F172A"/>
                  </a:solidFill>
                  <a:latin typeface="Inter"/>
                  <a:ea typeface="Inter"/>
                  <a:cs typeface="Inter"/>
                  <a:sym typeface="Inter"/>
                </a:rPr>
                <a:t>• 單一權重複用 (FCN)</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模型採用FCN，輸入尺寸並不需要固定，因此可以做到單一權重複用。也就是說，只需要訓練一組輕量化模型，就可以同時處理局部和全域搜尋。</a:t>
              </a:r>
              <a:endParaRPr sz="1000">
                <a:solidFill>
                  <a:srgbClr val="475569"/>
                </a:solidFill>
                <a:latin typeface="Inter"/>
                <a:ea typeface="Inter"/>
                <a:cs typeface="Inter"/>
                <a:sym typeface="Inter"/>
              </a:endParaRPr>
            </a:p>
            <a:p>
              <a:pPr indent="0" lvl="0" marL="0" rtl="0" algn="l">
                <a:spcBef>
                  <a:spcPts val="750"/>
                </a:spcBef>
                <a:spcAft>
                  <a:spcPts val="0"/>
                </a:spcAft>
                <a:buNone/>
              </a:pPr>
              <a:r>
                <a:rPr b="1" lang="zh-TW" sz="1100">
                  <a:solidFill>
                    <a:srgbClr val="0F172A"/>
                  </a:solidFill>
                  <a:latin typeface="Inter"/>
                  <a:ea typeface="Inter"/>
                  <a:cs typeface="Inter"/>
                  <a:sym typeface="Inter"/>
                </a:rPr>
                <a:t>• FSM </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我們利用有限狀態機FSM來判斷目前的追蹤狀態 </a:t>
              </a:r>
              <a:endParaRPr sz="1000">
                <a:solidFill>
                  <a:srgbClr val="475569"/>
                </a:solidFill>
                <a:latin typeface="Inter"/>
                <a:ea typeface="Inter"/>
                <a:cs typeface="Inter"/>
                <a:sym typeface="Inter"/>
              </a:endParaRPr>
            </a:p>
            <a:p>
              <a:pPr indent="0" lvl="0" marL="0" rtl="0" algn="l">
                <a:spcBef>
                  <a:spcPts val="300"/>
                </a:spcBef>
                <a:spcAft>
                  <a:spcPts val="0"/>
                </a:spcAft>
                <a:buNone/>
              </a:pPr>
              <a:r>
                <a:rPr b="1" lang="zh-TW" sz="1100">
                  <a:solidFill>
                    <a:srgbClr val="0F172A"/>
                  </a:solidFill>
                  <a:latin typeface="Inter"/>
                  <a:ea typeface="Inter"/>
                  <a:cs typeface="Inter"/>
                  <a:sym typeface="Inter"/>
                </a:rPr>
                <a:t>• Kalman Filter </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當羽球只是短暫消失時，系統不會馬上啟動 Global Search，而是先根據羽球過去的移動方向，預測下一個可能的位置，讓 ROI 跟著預測位置移動。 </a:t>
              </a:r>
              <a:endParaRPr sz="1000">
                <a:solidFill>
                  <a:srgbClr val="475569"/>
                </a:solidFill>
                <a:latin typeface="Inter"/>
                <a:ea typeface="Inter"/>
                <a:cs typeface="Inter"/>
                <a:sym typeface="Inter"/>
              </a:endParaRPr>
            </a:p>
            <a:p>
              <a:pPr indent="0" lvl="0" marL="0" rtl="0" algn="l">
                <a:spcBef>
                  <a:spcPts val="300"/>
                </a:spcBef>
                <a:spcAft>
                  <a:spcPts val="300"/>
                </a:spcAft>
                <a:buClr>
                  <a:schemeClr val="dk1"/>
                </a:buClr>
                <a:buSzPts val="1100"/>
                <a:buFont typeface="Arial"/>
                <a:buNone/>
              </a:pPr>
              <a:r>
                <a:t/>
              </a:r>
              <a:endParaRPr sz="1000">
                <a:solidFill>
                  <a:srgbClr val="475569"/>
                </a:solidFill>
                <a:latin typeface="Inter"/>
                <a:ea typeface="Inter"/>
                <a:cs typeface="Inter"/>
                <a:sym typeface="Inter"/>
              </a:endParaRPr>
            </a:p>
          </p:txBody>
        </p:sp>
      </p:grpSp>
      <p:grpSp>
        <p:nvGrpSpPr>
          <p:cNvPr id="838" name="Google Shape;838;p58"/>
          <p:cNvGrpSpPr/>
          <p:nvPr/>
        </p:nvGrpSpPr>
        <p:grpSpPr>
          <a:xfrm>
            <a:off x="3286125" y="1047750"/>
            <a:ext cx="2571900" cy="3714900"/>
            <a:chOff x="0" y="0"/>
            <a:chExt cx="2571900" cy="3714900"/>
          </a:xfrm>
        </p:grpSpPr>
        <p:sp>
          <p:nvSpPr>
            <p:cNvPr id="839" name="Google Shape;839;p58"/>
            <p:cNvSpPr/>
            <p:nvPr/>
          </p:nvSpPr>
          <p:spPr>
            <a:xfrm>
              <a:off x="0" y="0"/>
              <a:ext cx="2571900" cy="37149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0" name="Google Shape;840;p58"/>
            <p:cNvSpPr/>
            <p:nvPr/>
          </p:nvSpPr>
          <p:spPr>
            <a:xfrm>
              <a:off x="0" y="0"/>
              <a:ext cx="2571900" cy="477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1" name="Google Shape;841;p58"/>
            <p:cNvSpPr txBox="1"/>
            <p:nvPr/>
          </p:nvSpPr>
          <p:spPr>
            <a:xfrm>
              <a:off x="190500" y="190500"/>
              <a:ext cx="21909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2. 時空動態遮罩</a:t>
              </a:r>
              <a:endParaRPr b="1" sz="1400">
                <a:solidFill>
                  <a:srgbClr val="1E293B"/>
                </a:solidFill>
                <a:latin typeface="Inter"/>
                <a:ea typeface="Inter"/>
                <a:cs typeface="Inter"/>
                <a:sym typeface="Inter"/>
              </a:endParaRPr>
            </a:p>
            <a:p>
              <a:pPr indent="0" lvl="0" marL="0" rtl="0" algn="l">
                <a:spcBef>
                  <a:spcPts val="600"/>
                </a:spcBef>
                <a:spcAft>
                  <a:spcPts val="0"/>
                </a:spcAft>
                <a:buNone/>
              </a:pPr>
              <a:r>
                <a:rPr b="0" lang="zh-TW" sz="1050">
                  <a:solidFill>
                    <a:srgbClr val="0284C7"/>
                  </a:solidFill>
                  <a:latin typeface="Inter SemiBold"/>
                  <a:ea typeface="Inter SemiBold"/>
                  <a:cs typeface="Inter SemiBold"/>
                  <a:sym typeface="Inter SemiBold"/>
                </a:rPr>
                <a:t>過濾「背景靜態雜訊」</a:t>
              </a:r>
              <a:endParaRPr b="0" sz="1050">
                <a:solidFill>
                  <a:srgbClr val="0284C7"/>
                </a:solidFill>
                <a:latin typeface="Inter SemiBold"/>
                <a:ea typeface="Inter SemiBold"/>
                <a:cs typeface="Inter SemiBold"/>
                <a:sym typeface="Inter SemiBold"/>
              </a:endParaRPr>
            </a:p>
            <a:p>
              <a:pPr indent="0" lvl="0" marL="0" rtl="0" algn="l">
                <a:spcBef>
                  <a:spcPts val="1050"/>
                </a:spcBef>
                <a:spcAft>
                  <a:spcPts val="0"/>
                </a:spcAft>
                <a:buNone/>
              </a:pPr>
              <a:r>
                <a:rPr b="1" lang="zh-TW" sz="1100">
                  <a:solidFill>
                    <a:srgbClr val="0F172A"/>
                  </a:solidFill>
                  <a:latin typeface="Inter"/>
                  <a:ea typeface="Inter"/>
                  <a:cs typeface="Inter"/>
                  <a:sym typeface="Inter"/>
                </a:rPr>
                <a:t>• 輕量化設計取捨</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Student 模型移除 Attention 以換取極致 FPS，但易受白鞋、球場標線干擾。</a:t>
              </a:r>
              <a:endParaRPr sz="1000">
                <a:solidFill>
                  <a:srgbClr val="475569"/>
                </a:solidFill>
                <a:latin typeface="Inter"/>
                <a:ea typeface="Inter"/>
                <a:cs typeface="Inter"/>
                <a:sym typeface="Inter"/>
              </a:endParaRPr>
            </a:p>
            <a:p>
              <a:pPr indent="0" lvl="0" marL="0" rtl="0" algn="l">
                <a:spcBef>
                  <a:spcPts val="750"/>
                </a:spcBef>
                <a:spcAft>
                  <a:spcPts val="0"/>
                </a:spcAft>
                <a:buNone/>
              </a:pPr>
              <a:r>
                <a:rPr b="1" lang="zh-TW" sz="1100">
                  <a:solidFill>
                    <a:srgbClr val="0F172A"/>
                  </a:solidFill>
                  <a:latin typeface="Inter"/>
                  <a:ea typeface="Inter"/>
                  <a:cs typeface="Inter"/>
                  <a:sym typeface="Inter"/>
                </a:rPr>
                <a:t>• Spatiotemporal Mask</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利用羽球高速移動特性，計算影格差異找出運動區域。</a:t>
              </a:r>
              <a:endParaRPr sz="1000">
                <a:solidFill>
                  <a:srgbClr val="475569"/>
                </a:solidFill>
                <a:latin typeface="Inter"/>
                <a:ea typeface="Inter"/>
                <a:cs typeface="Inter"/>
                <a:sym typeface="Inter"/>
              </a:endParaRPr>
            </a:p>
            <a:p>
              <a:pPr indent="0" lvl="0" marL="0" rtl="0" algn="l">
                <a:spcBef>
                  <a:spcPts val="750"/>
                </a:spcBef>
                <a:spcAft>
                  <a:spcPts val="0"/>
                </a:spcAft>
                <a:buNone/>
              </a:pPr>
              <a:r>
                <a:rPr b="1" lang="zh-TW" sz="1100">
                  <a:solidFill>
                    <a:srgbClr val="0F172A"/>
                  </a:solidFill>
                  <a:latin typeface="Inter"/>
                  <a:ea typeface="Inter"/>
                  <a:cs typeface="Inter"/>
                  <a:sym typeface="Inter"/>
                </a:rPr>
                <a:t>• 熱力圖融合 (Fusion)</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不增加神經網路複雜度下，有效排除高對比靜態背景誤判。</a:t>
              </a:r>
              <a:endParaRPr sz="1000">
                <a:solidFill>
                  <a:srgbClr val="475569"/>
                </a:solidFill>
                <a:latin typeface="Inter"/>
                <a:ea typeface="Inter"/>
                <a:cs typeface="Inter"/>
                <a:sym typeface="Inter"/>
              </a:endParaRPr>
            </a:p>
          </p:txBody>
        </p:sp>
      </p:grpSp>
      <p:grpSp>
        <p:nvGrpSpPr>
          <p:cNvPr id="842" name="Google Shape;842;p58"/>
          <p:cNvGrpSpPr/>
          <p:nvPr/>
        </p:nvGrpSpPr>
        <p:grpSpPr>
          <a:xfrm>
            <a:off x="6191250" y="1047750"/>
            <a:ext cx="2571900" cy="3714900"/>
            <a:chOff x="0" y="0"/>
            <a:chExt cx="2571900" cy="3714900"/>
          </a:xfrm>
        </p:grpSpPr>
        <p:sp>
          <p:nvSpPr>
            <p:cNvPr id="843" name="Google Shape;843;p58"/>
            <p:cNvSpPr/>
            <p:nvPr/>
          </p:nvSpPr>
          <p:spPr>
            <a:xfrm>
              <a:off x="0" y="0"/>
              <a:ext cx="2571900" cy="37149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4" name="Google Shape;844;p58"/>
            <p:cNvSpPr/>
            <p:nvPr/>
          </p:nvSpPr>
          <p:spPr>
            <a:xfrm>
              <a:off x="0" y="0"/>
              <a:ext cx="2571900" cy="477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5" name="Google Shape;845;p58"/>
            <p:cNvSpPr txBox="1"/>
            <p:nvPr/>
          </p:nvSpPr>
          <p:spPr>
            <a:xfrm>
              <a:off x="190500" y="190500"/>
              <a:ext cx="21909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3. ROI 尺寸平衡設計</a:t>
              </a:r>
              <a:endParaRPr b="1" sz="1400">
                <a:solidFill>
                  <a:srgbClr val="1E293B"/>
                </a:solidFill>
                <a:latin typeface="Inter"/>
                <a:ea typeface="Inter"/>
                <a:cs typeface="Inter"/>
                <a:sym typeface="Inter"/>
              </a:endParaRPr>
            </a:p>
            <a:p>
              <a:pPr indent="0" lvl="0" marL="0" rtl="0" algn="l">
                <a:spcBef>
                  <a:spcPts val="600"/>
                </a:spcBef>
                <a:spcAft>
                  <a:spcPts val="0"/>
                </a:spcAft>
                <a:buNone/>
              </a:pPr>
              <a:r>
                <a:rPr b="0" lang="zh-TW" sz="1050">
                  <a:solidFill>
                    <a:srgbClr val="0D9488"/>
                  </a:solidFill>
                  <a:latin typeface="Inter SemiBold"/>
                  <a:ea typeface="Inter SemiBold"/>
                  <a:cs typeface="Inter SemiBold"/>
                  <a:sym typeface="Inter SemiBold"/>
                </a:rPr>
                <a:t>運算負擔 vs. 追蹤容錯</a:t>
              </a:r>
              <a:endParaRPr b="0" sz="1050">
                <a:solidFill>
                  <a:srgbClr val="0D9488"/>
                </a:solidFill>
                <a:latin typeface="Inter SemiBold"/>
                <a:ea typeface="Inter SemiBold"/>
                <a:cs typeface="Inter SemiBold"/>
                <a:sym typeface="Inter SemiBold"/>
              </a:endParaRPr>
            </a:p>
            <a:p>
              <a:pPr indent="0" lvl="0" marL="0" rtl="0" algn="l">
                <a:spcBef>
                  <a:spcPts val="1050"/>
                </a:spcBef>
                <a:spcAft>
                  <a:spcPts val="0"/>
                </a:spcAft>
                <a:buNone/>
              </a:pPr>
              <a:r>
                <a:rPr b="1" lang="zh-TW" sz="1100">
                  <a:solidFill>
                    <a:srgbClr val="0F172A"/>
                  </a:solidFill>
                  <a:latin typeface="Inter"/>
                  <a:ea typeface="Inter"/>
                  <a:cs typeface="Inter"/>
                  <a:sym typeface="Inter"/>
                </a:rPr>
                <a:t>• 尺寸權衡分析</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ROI 過小易出框，過大增加邊緣裝置運算負擔。</a:t>
              </a:r>
              <a:endParaRPr sz="1000">
                <a:solidFill>
                  <a:srgbClr val="475569"/>
                </a:solidFill>
                <a:latin typeface="Inter"/>
                <a:ea typeface="Inter"/>
                <a:cs typeface="Inter"/>
                <a:sym typeface="Inter"/>
              </a:endParaRPr>
            </a:p>
            <a:p>
              <a:pPr indent="0" lvl="0" marL="0" rtl="0" algn="l">
                <a:spcBef>
                  <a:spcPts val="750"/>
                </a:spcBef>
                <a:spcAft>
                  <a:spcPts val="0"/>
                </a:spcAft>
                <a:buNone/>
              </a:pPr>
              <a:r>
                <a:rPr b="1" lang="zh-TW" sz="1100">
                  <a:solidFill>
                    <a:srgbClr val="0F172A"/>
                  </a:solidFill>
                  <a:latin typeface="Inter"/>
                  <a:ea typeface="Inter"/>
                  <a:cs typeface="Inter"/>
                  <a:sym typeface="Inter"/>
                </a:rPr>
                <a:t>• 30 FPS 即時要求</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透過多尺寸實驗評估，取得推論速度與視角範圍的最佳平衡。</a:t>
              </a:r>
              <a:endParaRPr sz="1000">
                <a:solidFill>
                  <a:srgbClr val="475569"/>
                </a:solidFill>
                <a:latin typeface="Inter"/>
                <a:ea typeface="Inter"/>
                <a:cs typeface="Inter"/>
                <a:sym typeface="Inter"/>
              </a:endParaRPr>
            </a:p>
            <a:p>
              <a:pPr indent="0" lvl="0" marL="0" rtl="0" algn="l">
                <a:spcBef>
                  <a:spcPts val="750"/>
                </a:spcBef>
                <a:spcAft>
                  <a:spcPts val="0"/>
                </a:spcAft>
                <a:buNone/>
              </a:pPr>
              <a:r>
                <a:rPr b="1" lang="zh-TW" sz="1100">
                  <a:solidFill>
                    <a:srgbClr val="0F172A"/>
                  </a:solidFill>
                  <a:latin typeface="Inter"/>
                  <a:ea typeface="Inter"/>
                  <a:cs typeface="Inter"/>
                  <a:sym typeface="Inter"/>
                </a:rPr>
                <a:t>• 最終整合目標</a:t>
              </a:r>
              <a:endParaRPr b="1" sz="1100">
                <a:solidFill>
                  <a:srgbClr val="0F172A"/>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讓 Jetson Nano 達到兼具「即時速度」與「穩定追蹤」的邊緣系統。</a:t>
              </a:r>
              <a:endParaRPr sz="1000">
                <a:solidFill>
                  <a:srgbClr val="475569"/>
                </a:solidFill>
                <a:latin typeface="Inter"/>
                <a:ea typeface="Inter"/>
                <a:cs typeface="Inter"/>
                <a:sym typeface="Inter"/>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9" name="Shape 849"/>
        <p:cNvGrpSpPr/>
        <p:nvPr/>
      </p:nvGrpSpPr>
      <p:grpSpPr>
        <a:xfrm>
          <a:off x="0" y="0"/>
          <a:ext cx="0" cy="0"/>
          <a:chOff x="0" y="0"/>
          <a:chExt cx="0" cy="0"/>
        </a:xfrm>
      </p:grpSpPr>
      <p:grpSp>
        <p:nvGrpSpPr>
          <p:cNvPr id="850" name="Google Shape;850;p59"/>
          <p:cNvGrpSpPr/>
          <p:nvPr/>
        </p:nvGrpSpPr>
        <p:grpSpPr>
          <a:xfrm>
            <a:off x="-476250" y="-857250"/>
            <a:ext cx="10477500" cy="6381750"/>
            <a:chOff x="-476250" y="-857250"/>
            <a:chExt cx="10477500" cy="6381750"/>
          </a:xfrm>
        </p:grpSpPr>
        <p:sp>
          <p:nvSpPr>
            <p:cNvPr id="851" name="Google Shape;851;p5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2" name="Google Shape;852;p5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3" name="Google Shape;853;p5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54" name="Google Shape;854;p59"/>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方法</a:t>
            </a:r>
            <a:r>
              <a:rPr b="1" lang="zh-TW" sz="4400">
                <a:solidFill>
                  <a:srgbClr val="1E293B"/>
                </a:solidFill>
                <a:latin typeface="Oswald"/>
                <a:ea typeface="Oswald"/>
                <a:cs typeface="Oswald"/>
                <a:sym typeface="Oswald"/>
              </a:rPr>
              <a:t>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Methodology</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855" name="Google Shape;855;p59"/>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9" name="Shape 859"/>
        <p:cNvGrpSpPr/>
        <p:nvPr/>
      </p:nvGrpSpPr>
      <p:grpSpPr>
        <a:xfrm>
          <a:off x="0" y="0"/>
          <a:ext cx="0" cy="0"/>
          <a:chOff x="0" y="0"/>
          <a:chExt cx="0" cy="0"/>
        </a:xfrm>
      </p:grpSpPr>
      <p:grpSp>
        <p:nvGrpSpPr>
          <p:cNvPr id="860" name="Google Shape;860;p60"/>
          <p:cNvGrpSpPr/>
          <p:nvPr/>
        </p:nvGrpSpPr>
        <p:grpSpPr>
          <a:xfrm>
            <a:off x="-476250" y="-857250"/>
            <a:ext cx="10477500" cy="6381750"/>
            <a:chOff x="-476250" y="-857250"/>
            <a:chExt cx="10477500" cy="6381750"/>
          </a:xfrm>
        </p:grpSpPr>
        <p:sp>
          <p:nvSpPr>
            <p:cNvPr id="861" name="Google Shape;861;p6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2" name="Google Shape;862;p6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6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4" name="Google Shape;864;p60"/>
            <p:cNvSpPr/>
            <p:nvPr/>
          </p:nvSpPr>
          <p:spPr>
            <a:xfrm>
              <a:off x="381000" y="7810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65" name="Google Shape;865;p60"/>
          <p:cNvSpPr txBox="1"/>
          <p:nvPr>
            <p:ph type="title"/>
          </p:nvPr>
        </p:nvSpPr>
        <p:spPr>
          <a:xfrm>
            <a:off x="381000" y="238125"/>
            <a:ext cx="8382000" cy="523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200">
                <a:solidFill>
                  <a:srgbClr val="1E293B"/>
                </a:solidFill>
                <a:latin typeface="Inter"/>
                <a:ea typeface="Inter"/>
                <a:cs typeface="Inter"/>
                <a:sym typeface="Inter"/>
              </a:rPr>
              <a:t>系統架構總覽 </a:t>
            </a:r>
            <a:r>
              <a:rPr b="0" lang="zh-TW" sz="1600">
                <a:solidFill>
                  <a:srgbClr val="3B82F6"/>
                </a:solidFill>
                <a:latin typeface="Inter"/>
                <a:ea typeface="Inter"/>
                <a:cs typeface="Inter"/>
                <a:sym typeface="Inter"/>
              </a:rPr>
              <a:t>(System Overview)</a:t>
            </a:r>
            <a:endParaRPr b="1" sz="2200">
              <a:solidFill>
                <a:srgbClr val="1E293B"/>
              </a:solidFill>
              <a:latin typeface="Inter"/>
              <a:ea typeface="Inter"/>
              <a:cs typeface="Inter"/>
              <a:sym typeface="Inter"/>
            </a:endParaRPr>
          </a:p>
        </p:txBody>
      </p:sp>
      <p:grpSp>
        <p:nvGrpSpPr>
          <p:cNvPr id="866" name="Google Shape;866;p60"/>
          <p:cNvGrpSpPr/>
          <p:nvPr/>
        </p:nvGrpSpPr>
        <p:grpSpPr>
          <a:xfrm>
            <a:off x="381000" y="952500"/>
            <a:ext cx="3048000" cy="3905400"/>
            <a:chOff x="381000" y="952500"/>
            <a:chExt cx="3048000" cy="3905400"/>
          </a:xfrm>
        </p:grpSpPr>
        <p:sp>
          <p:nvSpPr>
            <p:cNvPr id="867" name="Google Shape;867;p60"/>
            <p:cNvSpPr/>
            <p:nvPr/>
          </p:nvSpPr>
          <p:spPr>
            <a:xfrm>
              <a:off x="381000" y="952500"/>
              <a:ext cx="3048000" cy="3905400"/>
            </a:xfrm>
            <a:prstGeom prst="roundRect">
              <a:avLst>
                <a:gd fmla="val 375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8" name="Google Shape;868;p60"/>
            <p:cNvSpPr/>
            <p:nvPr/>
          </p:nvSpPr>
          <p:spPr>
            <a:xfrm>
              <a:off x="381000" y="952500"/>
              <a:ext cx="3048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69" name="Google Shape;869;p60"/>
          <p:cNvGrpSpPr/>
          <p:nvPr/>
        </p:nvGrpSpPr>
        <p:grpSpPr>
          <a:xfrm>
            <a:off x="3619500" y="952500"/>
            <a:ext cx="5143500" cy="3905400"/>
            <a:chOff x="3619500" y="952500"/>
            <a:chExt cx="5143500" cy="3905400"/>
          </a:xfrm>
        </p:grpSpPr>
        <p:sp>
          <p:nvSpPr>
            <p:cNvPr id="870" name="Google Shape;870;p60"/>
            <p:cNvSpPr/>
            <p:nvPr/>
          </p:nvSpPr>
          <p:spPr>
            <a:xfrm>
              <a:off x="3619500" y="952500"/>
              <a:ext cx="5143500" cy="3905400"/>
            </a:xfrm>
            <a:prstGeom prst="roundRect">
              <a:avLst>
                <a:gd fmla="val 292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1" name="Google Shape;871;p60"/>
            <p:cNvSpPr/>
            <p:nvPr/>
          </p:nvSpPr>
          <p:spPr>
            <a:xfrm>
              <a:off x="3619500" y="952500"/>
              <a:ext cx="51435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872" name="Google Shape;872;p60"/>
          <p:cNvPicPr preferRelativeResize="0"/>
          <p:nvPr/>
        </p:nvPicPr>
        <p:blipFill rotWithShape="1">
          <a:blip r:embed="rId4">
            <a:alphaModFix/>
          </a:blip>
          <a:srcRect b="0" l="0" r="0" t="0"/>
          <a:stretch/>
        </p:blipFill>
        <p:spPr>
          <a:xfrm>
            <a:off x="523875" y="1095375"/>
            <a:ext cx="2762400" cy="3619500"/>
          </a:xfrm>
          <a:prstGeom prst="rect">
            <a:avLst/>
          </a:prstGeom>
          <a:noFill/>
          <a:ln>
            <a:noFill/>
          </a:ln>
        </p:spPr>
      </p:pic>
      <p:pic>
        <p:nvPicPr>
          <p:cNvPr id="873" name="Google Shape;873;p60"/>
          <p:cNvPicPr preferRelativeResize="0"/>
          <p:nvPr/>
        </p:nvPicPr>
        <p:blipFill rotWithShape="1">
          <a:blip r:embed="rId5">
            <a:alphaModFix/>
          </a:blip>
          <a:srcRect b="0" l="0" r="0" t="0"/>
          <a:stretch/>
        </p:blipFill>
        <p:spPr>
          <a:xfrm>
            <a:off x="3762375" y="1095375"/>
            <a:ext cx="4857900" cy="3619500"/>
          </a:xfrm>
          <a:prstGeom prst="rect">
            <a:avLst/>
          </a:prstGeom>
          <a:noFill/>
          <a:ln>
            <a:noFill/>
          </a:ln>
        </p:spPr>
      </p:pic>
      <p:sp>
        <p:nvSpPr>
          <p:cNvPr id="874" name="Google Shape;874;p60"/>
          <p:cNvSpPr/>
          <p:nvPr/>
        </p:nvSpPr>
        <p:spPr>
          <a:xfrm>
            <a:off x="6442800" y="4020300"/>
            <a:ext cx="129000" cy="123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DC2626"/>
              </a:highlight>
            </a:endParaRPr>
          </a:p>
        </p:txBody>
      </p:sp>
      <p:cxnSp>
        <p:nvCxnSpPr>
          <p:cNvPr id="875" name="Google Shape;875;p60"/>
          <p:cNvCxnSpPr>
            <a:stCxn id="874" idx="0"/>
          </p:cNvCxnSpPr>
          <p:nvPr/>
        </p:nvCxnSpPr>
        <p:spPr>
          <a:xfrm rot="10800000">
            <a:off x="6501900" y="3753000"/>
            <a:ext cx="5400" cy="267300"/>
          </a:xfrm>
          <a:prstGeom prst="straightConnector1">
            <a:avLst/>
          </a:prstGeom>
          <a:noFill/>
          <a:ln cap="flat" cmpd="sng" w="9525">
            <a:solidFill>
              <a:schemeClr val="dk2"/>
            </a:solidFill>
            <a:prstDash val="solid"/>
            <a:round/>
            <a:headEnd len="med" w="med" type="none"/>
            <a:tailEnd len="med" w="med" type="stealth"/>
          </a:ln>
        </p:spPr>
      </p:cxnSp>
      <p:sp>
        <p:nvSpPr>
          <p:cNvPr id="876" name="Google Shape;876;p60"/>
          <p:cNvSpPr txBox="1"/>
          <p:nvPr/>
        </p:nvSpPr>
        <p:spPr>
          <a:xfrm>
            <a:off x="6284400" y="4047275"/>
            <a:ext cx="445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900">
                <a:solidFill>
                  <a:srgbClr val="DC2626"/>
                </a:solidFill>
              </a:rPr>
              <a:t>start</a:t>
            </a:r>
            <a:endParaRPr sz="100">
              <a:solidFill>
                <a:srgbClr val="DC2626"/>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0" name="Shape 880"/>
        <p:cNvGrpSpPr/>
        <p:nvPr/>
      </p:nvGrpSpPr>
      <p:grpSpPr>
        <a:xfrm>
          <a:off x="0" y="0"/>
          <a:ext cx="0" cy="0"/>
          <a:chOff x="0" y="0"/>
          <a:chExt cx="0" cy="0"/>
        </a:xfrm>
      </p:grpSpPr>
      <p:grpSp>
        <p:nvGrpSpPr>
          <p:cNvPr id="881" name="Google Shape;881;p61"/>
          <p:cNvGrpSpPr/>
          <p:nvPr/>
        </p:nvGrpSpPr>
        <p:grpSpPr>
          <a:xfrm>
            <a:off x="-476250" y="-857250"/>
            <a:ext cx="10477500" cy="6381750"/>
            <a:chOff x="-476250" y="-857250"/>
            <a:chExt cx="10477500" cy="6381750"/>
          </a:xfrm>
        </p:grpSpPr>
        <p:sp>
          <p:nvSpPr>
            <p:cNvPr id="882" name="Google Shape;882;p6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3" name="Google Shape;883;p6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4" name="Google Shape;884;p6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85" name="Google Shape;885;p61"/>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視野狹隘導致之出框 </a:t>
            </a:r>
            <a:endParaRPr sz="2800">
              <a:solidFill>
                <a:srgbClr val="3B82F6"/>
              </a:solidFill>
              <a:latin typeface="Inter"/>
              <a:ea typeface="Inter"/>
              <a:cs typeface="Inter"/>
              <a:sym typeface="Inter"/>
            </a:endParaRPr>
          </a:p>
        </p:txBody>
      </p:sp>
      <p:sp>
        <p:nvSpPr>
          <p:cNvPr id="886" name="Google Shape;886;p61"/>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grpSp>
        <p:nvGrpSpPr>
          <p:cNvPr id="891" name="Google Shape;891;p62"/>
          <p:cNvGrpSpPr/>
          <p:nvPr/>
        </p:nvGrpSpPr>
        <p:grpSpPr>
          <a:xfrm>
            <a:off x="-476250" y="-857250"/>
            <a:ext cx="10477500" cy="6381750"/>
            <a:chOff x="-476250" y="-857250"/>
            <a:chExt cx="10477500" cy="6381750"/>
          </a:xfrm>
        </p:grpSpPr>
        <p:sp>
          <p:nvSpPr>
            <p:cNvPr id="892" name="Google Shape;892;p6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3" name="Google Shape;893;p6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4" name="Google Shape;894;p6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5" name="Google Shape;895;p62"/>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96" name="Google Shape;896;p62"/>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000">
                <a:solidFill>
                  <a:srgbClr val="1E293B"/>
                </a:solidFill>
                <a:latin typeface="Inter"/>
                <a:ea typeface="Inter"/>
                <a:cs typeface="Inter"/>
                <a:sym typeface="Inter"/>
              </a:rPr>
              <a:t>視野狹隘導致之出框 </a:t>
            </a:r>
            <a:r>
              <a:rPr b="0" lang="zh-TW" sz="1800">
                <a:solidFill>
                  <a:srgbClr val="3B82F6"/>
                </a:solidFill>
                <a:latin typeface="Inter"/>
                <a:ea typeface="Inter"/>
                <a:cs typeface="Inter"/>
                <a:sym typeface="Inter"/>
              </a:rPr>
              <a:t>(</a:t>
            </a:r>
            <a:r>
              <a:rPr lang="zh-TW" sz="1800">
                <a:solidFill>
                  <a:srgbClr val="3B82F6"/>
                </a:solidFill>
                <a:latin typeface="Inter"/>
                <a:ea typeface="Inter"/>
                <a:cs typeface="Inter"/>
                <a:sym typeface="Inter"/>
              </a:rPr>
              <a:t>單一權重複用 (FCN)</a:t>
            </a:r>
            <a:r>
              <a:rPr b="0" lang="zh-TW" sz="1800">
                <a:solidFill>
                  <a:srgbClr val="3B82F6"/>
                </a:solidFill>
                <a:latin typeface="Inter"/>
                <a:ea typeface="Inter"/>
                <a:cs typeface="Inter"/>
                <a:sym typeface="Inter"/>
              </a:rPr>
              <a:t>)</a:t>
            </a:r>
            <a:endParaRPr b="1" sz="3000">
              <a:solidFill>
                <a:srgbClr val="1E293B"/>
              </a:solidFill>
              <a:latin typeface="Inter"/>
              <a:ea typeface="Inter"/>
              <a:cs typeface="Inter"/>
              <a:sym typeface="Inter"/>
            </a:endParaRPr>
          </a:p>
        </p:txBody>
      </p:sp>
      <p:grpSp>
        <p:nvGrpSpPr>
          <p:cNvPr id="897" name="Google Shape;897;p62"/>
          <p:cNvGrpSpPr/>
          <p:nvPr/>
        </p:nvGrpSpPr>
        <p:grpSpPr>
          <a:xfrm>
            <a:off x="571500" y="1245350"/>
            <a:ext cx="8001000" cy="809700"/>
            <a:chOff x="0" y="0"/>
            <a:chExt cx="8001000" cy="809700"/>
          </a:xfrm>
        </p:grpSpPr>
        <p:sp>
          <p:nvSpPr>
            <p:cNvPr id="898" name="Google Shape;898;p62"/>
            <p:cNvSpPr/>
            <p:nvPr/>
          </p:nvSpPr>
          <p:spPr>
            <a:xfrm>
              <a:off x="0" y="0"/>
              <a:ext cx="8001000" cy="809700"/>
            </a:xfrm>
            <a:prstGeom prst="roundRect">
              <a:avLst>
                <a:gd fmla="val 1176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9" name="Google Shape;899;p62"/>
            <p:cNvSpPr/>
            <p:nvPr/>
          </p:nvSpPr>
          <p:spPr>
            <a:xfrm>
              <a:off x="0" y="0"/>
              <a:ext cx="57300" cy="8097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0" name="Google Shape;900;p62"/>
            <p:cNvSpPr txBox="1"/>
            <p:nvPr/>
          </p:nvSpPr>
          <p:spPr>
            <a:xfrm>
              <a:off x="228600" y="0"/>
              <a:ext cx="7543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800">
                  <a:solidFill>
                    <a:srgbClr val="2563EB"/>
                  </a:solidFill>
                  <a:latin typeface="Material Icons"/>
                  <a:ea typeface="Material Icons"/>
                  <a:cs typeface="Material Icons"/>
                  <a:sym typeface="Material Icons"/>
                </a:rPr>
                <a:t>layers</a:t>
              </a:r>
              <a:r>
                <a:rPr b="1" lang="zh-TW" sz="1300">
                  <a:solidFill>
                    <a:srgbClr val="1E3A8A"/>
                  </a:solidFill>
                  <a:latin typeface="Inter"/>
                  <a:ea typeface="Inter"/>
                  <a:cs typeface="Inter"/>
                  <a:sym typeface="Inter"/>
                </a:rPr>
                <a:t> 權重複用與空間換取時間 (FCN &amp; Space-for-Time Strategy)</a:t>
              </a:r>
              <a:endParaRPr b="1" sz="1300">
                <a:solidFill>
                  <a:srgbClr val="1E3A8A"/>
                </a:solidFill>
                <a:latin typeface="Inter"/>
                <a:ea typeface="Inter"/>
                <a:cs typeface="Inter"/>
                <a:sym typeface="Inter"/>
              </a:endParaRPr>
            </a:p>
            <a:p>
              <a:pPr indent="0" lvl="0" marL="0" rtl="0" algn="l">
                <a:spcBef>
                  <a:spcPts val="450"/>
                </a:spcBef>
                <a:spcAft>
                  <a:spcPts val="0"/>
                </a:spcAft>
                <a:buNone/>
              </a:pPr>
              <a:r>
                <a:rPr lang="zh-TW" sz="1050">
                  <a:solidFill>
                    <a:srgbClr val="334155"/>
                  </a:solidFill>
                  <a:latin typeface="Inter"/>
                  <a:ea typeface="Inter"/>
                  <a:cs typeface="Inter"/>
                  <a:sym typeface="Inter"/>
                </a:rPr>
                <a:t>利用全卷積網路 (FCN) 具備尺寸不變性 (Resolution-Invariant) 的特點，只需訓練一組模型。 為徹底消除邊緣部署時的切換延遲，採用「空間換取時間」的工程策略：</a:t>
              </a:r>
              <a:endParaRPr sz="1050">
                <a:solidFill>
                  <a:srgbClr val="334155"/>
                </a:solidFill>
                <a:latin typeface="Inter"/>
                <a:ea typeface="Inter"/>
                <a:cs typeface="Inter"/>
                <a:sym typeface="Inter"/>
              </a:endParaRPr>
            </a:p>
          </p:txBody>
        </p:sp>
      </p:grpSp>
      <p:grpSp>
        <p:nvGrpSpPr>
          <p:cNvPr id="901" name="Google Shape;901;p62"/>
          <p:cNvGrpSpPr/>
          <p:nvPr/>
        </p:nvGrpSpPr>
        <p:grpSpPr>
          <a:xfrm>
            <a:off x="571500" y="2477225"/>
            <a:ext cx="3857700" cy="1952700"/>
            <a:chOff x="0" y="0"/>
            <a:chExt cx="3857700" cy="1952700"/>
          </a:xfrm>
        </p:grpSpPr>
        <p:sp>
          <p:nvSpPr>
            <p:cNvPr id="902" name="Google Shape;902;p62"/>
            <p:cNvSpPr/>
            <p:nvPr/>
          </p:nvSpPr>
          <p:spPr>
            <a:xfrm>
              <a:off x="0" y="0"/>
              <a:ext cx="3857700" cy="1952700"/>
            </a:xfrm>
            <a:prstGeom prst="roundRect">
              <a:avLst>
                <a:gd fmla="val 58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3" name="Google Shape;903;p62"/>
            <p:cNvSpPr/>
            <p:nvPr/>
          </p:nvSpPr>
          <p:spPr>
            <a:xfrm>
              <a:off x="0" y="0"/>
              <a:ext cx="38577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4" name="Google Shape;904;p62"/>
            <p:cNvSpPr txBox="1"/>
            <p:nvPr/>
          </p:nvSpPr>
          <p:spPr>
            <a:xfrm>
              <a:off x="228600" y="190500"/>
              <a:ext cx="34005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zh-TW" sz="2000">
                  <a:solidFill>
                    <a:srgbClr val="2563EB"/>
                  </a:solidFill>
                  <a:latin typeface="Material Icons"/>
                  <a:ea typeface="Material Icons"/>
                  <a:cs typeface="Material Icons"/>
                  <a:sym typeface="Material Icons"/>
                </a:rPr>
                <a:t>memory</a:t>
              </a:r>
              <a:endParaRPr>
                <a:latin typeface="Inter"/>
                <a:ea typeface="Inter"/>
                <a:cs typeface="Inter"/>
                <a:sym typeface="Inter"/>
              </a:endParaRPr>
            </a:p>
            <a:p>
              <a:pPr indent="0" lvl="0" marL="0" rtl="0" algn="l">
                <a:spcBef>
                  <a:spcPts val="0"/>
                </a:spcBef>
                <a:spcAft>
                  <a:spcPts val="0"/>
                </a:spcAft>
                <a:buNone/>
              </a:pPr>
              <a:r>
                <a:rPr b="1" lang="zh-TW" sz="1300">
                  <a:solidFill>
                    <a:srgbClr val="0F172A"/>
                  </a:solidFill>
                  <a:latin typeface="Inter"/>
                  <a:ea typeface="Inter"/>
                  <a:cs typeface="Inter"/>
                  <a:sym typeface="Inter"/>
                </a:rPr>
                <a:t>演算法端</a:t>
              </a:r>
              <a:endParaRPr b="1" sz="1300">
                <a:solidFill>
                  <a:srgbClr val="0F172A"/>
                </a:solidFill>
                <a:latin typeface="Inter"/>
                <a:ea typeface="Inter"/>
                <a:cs typeface="Inter"/>
                <a:sym typeface="Inter"/>
              </a:endParaRPr>
            </a:p>
            <a:p>
              <a:pPr indent="0" lvl="0" marL="0" rtl="0" algn="l">
                <a:spcBef>
                  <a:spcPts val="0"/>
                </a:spcBef>
                <a:spcAft>
                  <a:spcPts val="0"/>
                </a:spcAft>
                <a:buNone/>
              </a:pPr>
              <a:r>
                <a:rPr b="0" lang="zh-TW" sz="950">
                  <a:solidFill>
                    <a:srgbClr val="2563EB"/>
                  </a:solidFill>
                  <a:latin typeface="Inter SemiBold"/>
                  <a:ea typeface="Inter SemiBold"/>
                  <a:cs typeface="Inter SemiBold"/>
                  <a:sym typeface="Inter SemiBold"/>
                </a:rPr>
                <a:t>單一權重複用</a:t>
              </a:r>
              <a:endParaRPr b="0" sz="950">
                <a:solidFill>
                  <a:srgbClr val="2563EB"/>
                </a:solidFill>
                <a:latin typeface="Inter SemiBold"/>
                <a:ea typeface="Inter SemiBold"/>
                <a:cs typeface="Inter SemiBold"/>
                <a:sym typeface="Inter SemiBold"/>
              </a:endParaRPr>
            </a:p>
            <a:p>
              <a:pPr indent="0" lvl="0" marL="0" rtl="0" algn="l">
                <a:spcBef>
                  <a:spcPts val="900"/>
                </a:spcBef>
                <a:spcAft>
                  <a:spcPts val="0"/>
                </a:spcAft>
                <a:buNone/>
              </a:pPr>
              <a:r>
                <a:rPr lang="zh-TW" sz="1050">
                  <a:solidFill>
                    <a:srgbClr val="475569"/>
                  </a:solidFill>
                  <a:latin typeface="Inter"/>
                  <a:ea typeface="Inter"/>
                  <a:cs typeface="Inter"/>
                  <a:sym typeface="Inter"/>
                </a:rPr>
                <a:t>單一組輕量化權重即可同時適應 </a:t>
              </a:r>
              <a:r>
                <a:rPr b="1" lang="zh-TW" sz="1050">
                  <a:solidFill>
                    <a:srgbClr val="1E293B"/>
                  </a:solidFill>
                  <a:latin typeface="Inter"/>
                  <a:ea typeface="Inter"/>
                  <a:cs typeface="Inter"/>
                  <a:sym typeface="Inter"/>
                </a:rPr>
                <a:t>128x128 局部巡航</a:t>
              </a:r>
              <a:r>
                <a:rPr lang="zh-TW" sz="1050">
                  <a:solidFill>
                    <a:srgbClr val="475569"/>
                  </a:solidFill>
                  <a:latin typeface="Inter"/>
                  <a:ea typeface="Inter"/>
                  <a:cs typeface="Inter"/>
                  <a:sym typeface="Inter"/>
                </a:rPr>
                <a:t> 與 </a:t>
              </a:r>
              <a:r>
                <a:rPr b="1" lang="zh-TW" sz="1050">
                  <a:solidFill>
                    <a:srgbClr val="1E293B"/>
                  </a:solidFill>
                  <a:latin typeface="Inter"/>
                  <a:ea typeface="Inter"/>
                  <a:cs typeface="Inter"/>
                  <a:sym typeface="Inter"/>
                </a:rPr>
                <a:t>512x288 全域搜索</a:t>
              </a:r>
              <a:r>
                <a:rPr lang="zh-TW" sz="1050">
                  <a:solidFill>
                    <a:srgbClr val="475569"/>
                  </a:solidFill>
                  <a:latin typeface="Inter"/>
                  <a:ea typeface="Inter"/>
                  <a:cs typeface="Inter"/>
                  <a:sym typeface="Inter"/>
                </a:rPr>
                <a:t>。</a:t>
              </a:r>
              <a:endParaRPr sz="1050">
                <a:solidFill>
                  <a:srgbClr val="475569"/>
                </a:solidFill>
                <a:latin typeface="Inter"/>
                <a:ea typeface="Inter"/>
                <a:cs typeface="Inter"/>
                <a:sym typeface="Inter"/>
              </a:endParaRPr>
            </a:p>
            <a:p>
              <a:pPr indent="0" lvl="0" marL="0" rtl="0" algn="l">
                <a:spcBef>
                  <a:spcPts val="750"/>
                </a:spcBef>
                <a:spcAft>
                  <a:spcPts val="0"/>
                </a:spcAft>
                <a:buNone/>
              </a:pPr>
              <a:r>
                <a:rPr lang="zh-TW" sz="950">
                  <a:solidFill>
                    <a:srgbClr val="64748B"/>
                  </a:solidFill>
                  <a:highlight>
                    <a:srgbClr val="F8FAFC"/>
                  </a:highlight>
                  <a:latin typeface="Inter"/>
                  <a:ea typeface="Inter"/>
                  <a:cs typeface="Inter"/>
                  <a:sym typeface="Inter"/>
                </a:rPr>
                <a:t>✨ 免去設計與訓練兩套獨立網路的龐大成本。</a:t>
              </a:r>
              <a:endParaRPr sz="950">
                <a:solidFill>
                  <a:srgbClr val="64748B"/>
                </a:solidFill>
                <a:highlight>
                  <a:srgbClr val="F8FAFC"/>
                </a:highlight>
                <a:latin typeface="Inter"/>
                <a:ea typeface="Inter"/>
                <a:cs typeface="Inter"/>
                <a:sym typeface="Inter"/>
              </a:endParaRPr>
            </a:p>
          </p:txBody>
        </p:sp>
      </p:grpSp>
      <p:grpSp>
        <p:nvGrpSpPr>
          <p:cNvPr id="905" name="Google Shape;905;p62"/>
          <p:cNvGrpSpPr/>
          <p:nvPr/>
        </p:nvGrpSpPr>
        <p:grpSpPr>
          <a:xfrm>
            <a:off x="4714800" y="2477225"/>
            <a:ext cx="3857700" cy="1952700"/>
            <a:chOff x="0" y="0"/>
            <a:chExt cx="3857700" cy="1952700"/>
          </a:xfrm>
        </p:grpSpPr>
        <p:sp>
          <p:nvSpPr>
            <p:cNvPr id="906" name="Google Shape;906;p62"/>
            <p:cNvSpPr/>
            <p:nvPr/>
          </p:nvSpPr>
          <p:spPr>
            <a:xfrm>
              <a:off x="0" y="0"/>
              <a:ext cx="3857700" cy="1952700"/>
            </a:xfrm>
            <a:prstGeom prst="roundRect">
              <a:avLst>
                <a:gd fmla="val 58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7" name="Google Shape;907;p62"/>
            <p:cNvSpPr/>
            <p:nvPr/>
          </p:nvSpPr>
          <p:spPr>
            <a:xfrm>
              <a:off x="0" y="0"/>
              <a:ext cx="3857700" cy="477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8" name="Google Shape;908;p62"/>
            <p:cNvSpPr txBox="1"/>
            <p:nvPr/>
          </p:nvSpPr>
          <p:spPr>
            <a:xfrm>
              <a:off x="228600" y="190500"/>
              <a:ext cx="34005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zh-TW" sz="2000">
                  <a:solidFill>
                    <a:srgbClr val="0D9488"/>
                  </a:solidFill>
                  <a:latin typeface="Material Icons"/>
                  <a:ea typeface="Material Icons"/>
                  <a:cs typeface="Material Icons"/>
                  <a:sym typeface="Material Icons"/>
                </a:rPr>
                <a:t>developer_board</a:t>
              </a:r>
              <a:endParaRPr>
                <a:latin typeface="Inter"/>
                <a:ea typeface="Inter"/>
                <a:cs typeface="Inter"/>
                <a:sym typeface="Inter"/>
              </a:endParaRPr>
            </a:p>
            <a:p>
              <a:pPr indent="0" lvl="0" marL="0" rtl="0" algn="l">
                <a:spcBef>
                  <a:spcPts val="0"/>
                </a:spcBef>
                <a:spcAft>
                  <a:spcPts val="0"/>
                </a:spcAft>
                <a:buNone/>
              </a:pPr>
              <a:r>
                <a:rPr b="1" lang="zh-TW" sz="1300">
                  <a:solidFill>
                    <a:srgbClr val="0F172A"/>
                  </a:solidFill>
                  <a:latin typeface="Inter"/>
                  <a:ea typeface="Inter"/>
                  <a:cs typeface="Inter"/>
                  <a:sym typeface="Inter"/>
                </a:rPr>
                <a:t>硬體端</a:t>
              </a:r>
              <a:endParaRPr b="1" sz="1300">
                <a:solidFill>
                  <a:srgbClr val="0F172A"/>
                </a:solidFill>
                <a:latin typeface="Inter"/>
                <a:ea typeface="Inter"/>
                <a:cs typeface="Inter"/>
                <a:sym typeface="Inter"/>
              </a:endParaRPr>
            </a:p>
            <a:p>
              <a:pPr indent="0" lvl="0" marL="0" rtl="0" algn="l">
                <a:spcBef>
                  <a:spcPts val="0"/>
                </a:spcBef>
                <a:spcAft>
                  <a:spcPts val="0"/>
                </a:spcAft>
                <a:buNone/>
              </a:pPr>
              <a:r>
                <a:rPr b="0" lang="zh-TW" sz="950">
                  <a:solidFill>
                    <a:srgbClr val="0D9488"/>
                  </a:solidFill>
                  <a:latin typeface="Inter SemiBold"/>
                  <a:ea typeface="Inter SemiBold"/>
                  <a:cs typeface="Inter SemiBold"/>
                  <a:sym typeface="Inter SemiBold"/>
                </a:rPr>
                <a:t>雙固定引擎部署</a:t>
              </a:r>
              <a:endParaRPr b="0" sz="950">
                <a:solidFill>
                  <a:srgbClr val="0D9488"/>
                </a:solidFill>
                <a:latin typeface="Inter SemiBold"/>
                <a:ea typeface="Inter SemiBold"/>
                <a:cs typeface="Inter SemiBold"/>
                <a:sym typeface="Inter SemiBold"/>
              </a:endParaRPr>
            </a:p>
            <a:p>
              <a:pPr indent="0" lvl="0" marL="0" rtl="0" algn="l">
                <a:spcBef>
                  <a:spcPts val="900"/>
                </a:spcBef>
                <a:spcAft>
                  <a:spcPts val="0"/>
                </a:spcAft>
                <a:buNone/>
              </a:pPr>
              <a:r>
                <a:rPr lang="zh-TW" sz="1050">
                  <a:solidFill>
                    <a:srgbClr val="475569"/>
                  </a:solidFill>
                  <a:latin typeface="Inter"/>
                  <a:ea typeface="Inter"/>
                  <a:cs typeface="Inter"/>
                  <a:sym typeface="Inter"/>
                </a:rPr>
                <a:t>直接於 Jetson Nano (4GB) 載入兩組「固定尺寸」TensorRT 引擎，徹底避開動態尺寸切換的 GPU 重分配延遲。</a:t>
              </a:r>
              <a:endParaRPr sz="1050">
                <a:solidFill>
                  <a:srgbClr val="475569"/>
                </a:solidFill>
                <a:latin typeface="Inter"/>
                <a:ea typeface="Inter"/>
                <a:cs typeface="Inter"/>
                <a:sym typeface="Inter"/>
              </a:endParaRPr>
            </a:p>
            <a:p>
              <a:pPr indent="0" lvl="0" marL="0" rtl="0" algn="l">
                <a:spcBef>
                  <a:spcPts val="750"/>
                </a:spcBef>
                <a:spcAft>
                  <a:spcPts val="0"/>
                </a:spcAft>
                <a:buNone/>
              </a:pPr>
              <a:r>
                <a:rPr b="0" lang="zh-TW" sz="950">
                  <a:solidFill>
                    <a:srgbClr val="0F766E"/>
                  </a:solidFill>
                  <a:highlight>
                    <a:srgbClr val="F0FDFA"/>
                  </a:highlight>
                  <a:latin typeface="Inter SemiBold"/>
                  <a:ea typeface="Inter SemiBold"/>
                  <a:cs typeface="Inter SemiBold"/>
                  <a:sym typeface="Inter SemiBold"/>
                </a:rPr>
                <a:t>確保</a:t>
              </a:r>
              <a:r>
                <a:rPr lang="zh-TW" sz="950">
                  <a:solidFill>
                    <a:srgbClr val="0F766E"/>
                  </a:solidFill>
                  <a:highlight>
                    <a:srgbClr val="F0FDFA"/>
                  </a:highlight>
                  <a:latin typeface="Inter SemiBold"/>
                  <a:ea typeface="Inter SemiBold"/>
                  <a:cs typeface="Inter SemiBold"/>
                  <a:sym typeface="Inter SemiBold"/>
                </a:rPr>
                <a:t>單次端到端處理延遲壓低至 33 ms 以下，具備超過 30 FPS 的即時推論能力</a:t>
              </a:r>
              <a:endParaRPr b="0" sz="950">
                <a:solidFill>
                  <a:srgbClr val="0F766E"/>
                </a:solidFill>
                <a:highlight>
                  <a:srgbClr val="F0FDFA"/>
                </a:highlight>
                <a:latin typeface="Inter SemiBold"/>
                <a:ea typeface="Inter SemiBold"/>
                <a:cs typeface="Inter SemiBold"/>
                <a:sym typeface="Inter SemiBold"/>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grpSp>
        <p:nvGrpSpPr>
          <p:cNvPr id="913" name="Google Shape;913;p63"/>
          <p:cNvGrpSpPr/>
          <p:nvPr/>
        </p:nvGrpSpPr>
        <p:grpSpPr>
          <a:xfrm>
            <a:off x="571500" y="1180950"/>
            <a:ext cx="8001000" cy="476402"/>
            <a:chOff x="0" y="0"/>
            <a:chExt cx="8001000" cy="304800"/>
          </a:xfrm>
        </p:grpSpPr>
        <p:sp>
          <p:nvSpPr>
            <p:cNvPr id="914" name="Google Shape;914;p63"/>
            <p:cNvSpPr/>
            <p:nvPr/>
          </p:nvSpPr>
          <p:spPr>
            <a:xfrm>
              <a:off x="0" y="0"/>
              <a:ext cx="8001000" cy="304800"/>
            </a:xfrm>
            <a:prstGeom prst="roundRect">
              <a:avLst>
                <a:gd fmla="val 1875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5" name="Google Shape;915;p63"/>
            <p:cNvSpPr txBox="1"/>
            <p:nvPr/>
          </p:nvSpPr>
          <p:spPr>
            <a:xfrm>
              <a:off x="114300" y="0"/>
              <a:ext cx="77724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TW" sz="1100">
                  <a:solidFill>
                    <a:srgbClr val="1E3A8A"/>
                  </a:solidFill>
                  <a:latin typeface="Inter"/>
                  <a:ea typeface="Inter"/>
                  <a:cs typeface="Inter"/>
                  <a:sym typeface="Inter"/>
                </a:rPr>
                <a:t> 雙引擎狀態切換 (FSM) </a:t>
              </a:r>
              <a:r>
                <a:rPr b="0" lang="zh-TW" sz="900">
                  <a:solidFill>
                    <a:srgbClr val="3B82F6"/>
                  </a:solidFill>
                  <a:latin typeface="Inter SemiBold"/>
                  <a:ea typeface="Inter SemiBold"/>
                  <a:cs typeface="Inter SemiBold"/>
                  <a:sym typeface="Inter SemiBold"/>
                </a:rPr>
                <a:t>FINITE STATE MACHINE PROCESS</a:t>
              </a:r>
              <a:endParaRPr b="1" sz="1100">
                <a:solidFill>
                  <a:srgbClr val="1E3A8A"/>
                </a:solidFill>
                <a:latin typeface="Inter"/>
                <a:ea typeface="Inter"/>
                <a:cs typeface="Inter"/>
                <a:sym typeface="Inter"/>
              </a:endParaRPr>
            </a:p>
          </p:txBody>
        </p:sp>
      </p:grpSp>
      <p:grpSp>
        <p:nvGrpSpPr>
          <p:cNvPr id="916" name="Google Shape;916;p63"/>
          <p:cNvGrpSpPr/>
          <p:nvPr/>
        </p:nvGrpSpPr>
        <p:grpSpPr>
          <a:xfrm>
            <a:off x="571500" y="1752600"/>
            <a:ext cx="1886100" cy="2057400"/>
            <a:chOff x="0" y="0"/>
            <a:chExt cx="1886100" cy="2057400"/>
          </a:xfrm>
        </p:grpSpPr>
        <p:sp>
          <p:nvSpPr>
            <p:cNvPr id="917" name="Google Shape;917;p63"/>
            <p:cNvSpPr/>
            <p:nvPr/>
          </p:nvSpPr>
          <p:spPr>
            <a:xfrm>
              <a:off x="0" y="0"/>
              <a:ext cx="1886100" cy="2057400"/>
            </a:xfrm>
            <a:prstGeom prst="roundRect">
              <a:avLst>
                <a:gd fmla="val 505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8" name="Google Shape;918;p63"/>
            <p:cNvSpPr/>
            <p:nvPr/>
          </p:nvSpPr>
          <p:spPr>
            <a:xfrm>
              <a:off x="0" y="0"/>
              <a:ext cx="1886100" cy="342900"/>
            </a:xfrm>
            <a:prstGeom prst="roundRect">
              <a:avLst>
                <a:gd fmla="val 27777"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9" name="Google Shape;919;p63"/>
            <p:cNvSpPr/>
            <p:nvPr/>
          </p:nvSpPr>
          <p:spPr>
            <a:xfrm>
              <a:off x="0" y="247650"/>
              <a:ext cx="1886100" cy="954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0" name="Google Shape;920;p63"/>
            <p:cNvSpPr/>
            <p:nvPr/>
          </p:nvSpPr>
          <p:spPr>
            <a:xfrm>
              <a:off x="0" y="0"/>
              <a:ext cx="38100" cy="20574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1" name="Google Shape;921;p63"/>
            <p:cNvSpPr txBox="1"/>
            <p:nvPr/>
          </p:nvSpPr>
          <p:spPr>
            <a:xfrm>
              <a:off x="133350" y="57150"/>
              <a:ext cx="1619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100">
                  <a:solidFill>
                    <a:srgbClr val="3B82F6"/>
                  </a:solidFill>
                  <a:latin typeface="Oswald"/>
                  <a:ea typeface="Oswald"/>
                  <a:cs typeface="Oswald"/>
                  <a:sym typeface="Oswald"/>
                </a:rPr>
                <a:t>00</a:t>
              </a:r>
              <a:r>
                <a:rPr b="1" lang="zh-TW" sz="1000">
                  <a:solidFill>
                    <a:srgbClr val="1E293B"/>
                  </a:solidFill>
                  <a:latin typeface="Inter"/>
                  <a:ea typeface="Inter"/>
                  <a:cs typeface="Inter"/>
                  <a:sym typeface="Inter"/>
                </a:rPr>
                <a:t> 階段零</a:t>
              </a:r>
              <a:endParaRPr b="1" sz="1000">
                <a:solidFill>
                  <a:srgbClr val="1E293B"/>
                </a:solidFill>
                <a:latin typeface="Inter"/>
                <a:ea typeface="Inter"/>
                <a:cs typeface="Inter"/>
                <a:sym typeface="Inter"/>
              </a:endParaRPr>
            </a:p>
            <a:p>
              <a:pPr indent="0" lvl="0" marL="0" rtl="0" algn="l">
                <a:spcBef>
                  <a:spcPts val="1200"/>
                </a:spcBef>
                <a:spcAft>
                  <a:spcPts val="0"/>
                </a:spcAft>
                <a:buNone/>
              </a:pPr>
              <a:r>
                <a:rPr b="1" lang="zh-TW" sz="1000">
                  <a:solidFill>
                    <a:srgbClr val="2563EB"/>
                  </a:solidFill>
                  <a:latin typeface="Inter"/>
                  <a:ea typeface="Inter"/>
                  <a:cs typeface="Inter"/>
                  <a:sym typeface="Inter"/>
                </a:rPr>
                <a:t>全域獲取初始羽球點</a:t>
              </a:r>
              <a:endParaRPr b="1" sz="1000">
                <a:solidFill>
                  <a:srgbClr val="2563EB"/>
                </a:solidFill>
                <a:latin typeface="Inter"/>
                <a:ea typeface="Inter"/>
                <a:cs typeface="Inter"/>
                <a:sym typeface="Inter"/>
              </a:endParaRPr>
            </a:p>
            <a:p>
              <a:pPr indent="0" lvl="0" marL="0" rtl="0" algn="l">
                <a:spcBef>
                  <a:spcPts val="600"/>
                </a:spcBef>
                <a:spcAft>
                  <a:spcPts val="0"/>
                </a:spcAft>
                <a:buNone/>
              </a:pPr>
              <a:r>
                <a:rPr b="0" lang="zh-TW" sz="900">
                  <a:solidFill>
                    <a:srgbClr val="64748B"/>
                  </a:solidFill>
                  <a:latin typeface="Inter"/>
                  <a:ea typeface="Inter"/>
                  <a:cs typeface="Inter"/>
                  <a:sym typeface="Inter"/>
                </a:rPr>
                <a:t>在最一開始沒有羽球座標時，先行使用全域搜尋獲取第一個羽球座標</a:t>
              </a:r>
              <a:endParaRPr b="0" sz="900">
                <a:solidFill>
                  <a:srgbClr val="64748B"/>
                </a:solidFill>
                <a:latin typeface="Inter"/>
                <a:ea typeface="Inter"/>
                <a:cs typeface="Inter"/>
                <a:sym typeface="Inter"/>
              </a:endParaRPr>
            </a:p>
          </p:txBody>
        </p:sp>
      </p:grpSp>
      <p:grpSp>
        <p:nvGrpSpPr>
          <p:cNvPr id="922" name="Google Shape;922;p63"/>
          <p:cNvGrpSpPr/>
          <p:nvPr/>
        </p:nvGrpSpPr>
        <p:grpSpPr>
          <a:xfrm>
            <a:off x="2609850" y="1752600"/>
            <a:ext cx="1886100" cy="2057400"/>
            <a:chOff x="0" y="0"/>
            <a:chExt cx="1886100" cy="2057400"/>
          </a:xfrm>
        </p:grpSpPr>
        <p:sp>
          <p:nvSpPr>
            <p:cNvPr id="923" name="Google Shape;923;p63"/>
            <p:cNvSpPr/>
            <p:nvPr/>
          </p:nvSpPr>
          <p:spPr>
            <a:xfrm>
              <a:off x="0" y="0"/>
              <a:ext cx="1886100" cy="2057400"/>
            </a:xfrm>
            <a:prstGeom prst="roundRect">
              <a:avLst>
                <a:gd fmla="val 505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4" name="Google Shape;924;p63"/>
            <p:cNvSpPr/>
            <p:nvPr/>
          </p:nvSpPr>
          <p:spPr>
            <a:xfrm>
              <a:off x="0" y="0"/>
              <a:ext cx="1886100" cy="342900"/>
            </a:xfrm>
            <a:prstGeom prst="roundRect">
              <a:avLst>
                <a:gd fmla="val 27777" name="adj"/>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5" name="Google Shape;925;p63"/>
            <p:cNvSpPr/>
            <p:nvPr/>
          </p:nvSpPr>
          <p:spPr>
            <a:xfrm>
              <a:off x="0" y="247650"/>
              <a:ext cx="1886100" cy="95400"/>
            </a:xfrm>
            <a:prstGeom prst="rect">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6" name="Google Shape;926;p63"/>
            <p:cNvSpPr/>
            <p:nvPr/>
          </p:nvSpPr>
          <p:spPr>
            <a:xfrm>
              <a:off x="0" y="0"/>
              <a:ext cx="38100" cy="20574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7" name="Google Shape;927;p63"/>
            <p:cNvSpPr txBox="1"/>
            <p:nvPr/>
          </p:nvSpPr>
          <p:spPr>
            <a:xfrm>
              <a:off x="133350" y="57150"/>
              <a:ext cx="1619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100">
                  <a:solidFill>
                    <a:srgbClr val="10B981"/>
                  </a:solidFill>
                  <a:latin typeface="Oswald"/>
                  <a:ea typeface="Oswald"/>
                  <a:cs typeface="Oswald"/>
                  <a:sym typeface="Oswald"/>
                </a:rPr>
                <a:t>01</a:t>
              </a:r>
              <a:r>
                <a:rPr b="1" lang="zh-TW" sz="1000">
                  <a:solidFill>
                    <a:srgbClr val="1E293B"/>
                  </a:solidFill>
                  <a:latin typeface="Inter"/>
                  <a:ea typeface="Inter"/>
                  <a:cs typeface="Inter"/>
                  <a:sym typeface="Inter"/>
                </a:rPr>
                <a:t> 階段一</a:t>
              </a:r>
              <a:endParaRPr b="1" sz="1000">
                <a:solidFill>
                  <a:srgbClr val="1E293B"/>
                </a:solidFill>
                <a:latin typeface="Inter"/>
                <a:ea typeface="Inter"/>
                <a:cs typeface="Inter"/>
                <a:sym typeface="Inter"/>
              </a:endParaRPr>
            </a:p>
            <a:p>
              <a:pPr indent="0" lvl="0" marL="0" rtl="0" algn="l">
                <a:spcBef>
                  <a:spcPts val="1200"/>
                </a:spcBef>
                <a:spcAft>
                  <a:spcPts val="0"/>
                </a:spcAft>
                <a:buNone/>
              </a:pPr>
              <a:r>
                <a:rPr b="1" lang="zh-TW" sz="1000">
                  <a:solidFill>
                    <a:srgbClr val="059669"/>
                  </a:solidFill>
                  <a:latin typeface="Inter"/>
                  <a:ea typeface="Inter"/>
                  <a:cs typeface="Inter"/>
                  <a:sym typeface="Inter"/>
                </a:rPr>
                <a:t>局部巡航與信心監測</a:t>
              </a:r>
              <a:endParaRPr b="1" sz="1000">
                <a:solidFill>
                  <a:srgbClr val="059669"/>
                </a:solidFill>
                <a:latin typeface="Inter"/>
                <a:ea typeface="Inter"/>
                <a:cs typeface="Inter"/>
                <a:sym typeface="Inter"/>
              </a:endParaRPr>
            </a:p>
            <a:p>
              <a:pPr indent="0" lvl="0" marL="0" rtl="0" algn="l">
                <a:spcBef>
                  <a:spcPts val="600"/>
                </a:spcBef>
                <a:spcAft>
                  <a:spcPts val="0"/>
                </a:spcAft>
                <a:buNone/>
              </a:pPr>
              <a:r>
                <a:rPr b="0" lang="zh-TW" sz="900">
                  <a:solidFill>
                    <a:srgbClr val="64748B"/>
                  </a:solidFill>
                  <a:latin typeface="Inter"/>
                  <a:ea typeface="Inter"/>
                  <a:cs typeface="Inter"/>
                  <a:sym typeface="Inter"/>
                </a:rPr>
                <a:t>執行 128 × 128 局部推論。若熱力圖最大峰值信心度 ≥ 設定之 Threshold，則維持局部追蹤。</a:t>
              </a:r>
              <a:endParaRPr b="0" sz="900">
                <a:solidFill>
                  <a:srgbClr val="64748B"/>
                </a:solidFill>
                <a:latin typeface="Inter"/>
                <a:ea typeface="Inter"/>
                <a:cs typeface="Inter"/>
                <a:sym typeface="Inter"/>
              </a:endParaRPr>
            </a:p>
          </p:txBody>
        </p:sp>
      </p:grpSp>
      <p:grpSp>
        <p:nvGrpSpPr>
          <p:cNvPr id="928" name="Google Shape;928;p63"/>
          <p:cNvGrpSpPr/>
          <p:nvPr/>
        </p:nvGrpSpPr>
        <p:grpSpPr>
          <a:xfrm>
            <a:off x="4648200" y="1752600"/>
            <a:ext cx="1886100" cy="2057400"/>
            <a:chOff x="0" y="0"/>
            <a:chExt cx="1886100" cy="2057400"/>
          </a:xfrm>
        </p:grpSpPr>
        <p:sp>
          <p:nvSpPr>
            <p:cNvPr id="929" name="Google Shape;929;p63"/>
            <p:cNvSpPr/>
            <p:nvPr/>
          </p:nvSpPr>
          <p:spPr>
            <a:xfrm>
              <a:off x="0" y="0"/>
              <a:ext cx="1886100" cy="2057400"/>
            </a:xfrm>
            <a:prstGeom prst="roundRect">
              <a:avLst>
                <a:gd fmla="val 505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63"/>
            <p:cNvSpPr/>
            <p:nvPr/>
          </p:nvSpPr>
          <p:spPr>
            <a:xfrm>
              <a:off x="0" y="0"/>
              <a:ext cx="1886100" cy="342900"/>
            </a:xfrm>
            <a:prstGeom prst="roundRect">
              <a:avLst>
                <a:gd fmla="val 27777"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1" name="Google Shape;931;p63"/>
            <p:cNvSpPr/>
            <p:nvPr/>
          </p:nvSpPr>
          <p:spPr>
            <a:xfrm>
              <a:off x="0" y="247650"/>
              <a:ext cx="1886100" cy="95400"/>
            </a:xfrm>
            <a:prstGeom prst="rect">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2" name="Google Shape;932;p63"/>
            <p:cNvSpPr/>
            <p:nvPr/>
          </p:nvSpPr>
          <p:spPr>
            <a:xfrm>
              <a:off x="0" y="0"/>
              <a:ext cx="38100" cy="20574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3" name="Google Shape;933;p63"/>
            <p:cNvSpPr txBox="1"/>
            <p:nvPr/>
          </p:nvSpPr>
          <p:spPr>
            <a:xfrm>
              <a:off x="133350" y="57150"/>
              <a:ext cx="1619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100">
                  <a:solidFill>
                    <a:srgbClr val="EF4444"/>
                  </a:solidFill>
                  <a:latin typeface="Oswald"/>
                  <a:ea typeface="Oswald"/>
                  <a:cs typeface="Oswald"/>
                  <a:sym typeface="Oswald"/>
                </a:rPr>
                <a:t>02</a:t>
              </a:r>
              <a:r>
                <a:rPr b="1" lang="zh-TW" sz="1000">
                  <a:solidFill>
                    <a:srgbClr val="1E293B"/>
                  </a:solidFill>
                  <a:latin typeface="Inter"/>
                  <a:ea typeface="Inter"/>
                  <a:cs typeface="Inter"/>
                  <a:sym typeface="Inter"/>
                </a:rPr>
                <a:t> 階段二</a:t>
              </a:r>
              <a:endParaRPr b="1" sz="1000">
                <a:solidFill>
                  <a:srgbClr val="1E293B"/>
                </a:solidFill>
                <a:latin typeface="Inter"/>
                <a:ea typeface="Inter"/>
                <a:cs typeface="Inter"/>
                <a:sym typeface="Inter"/>
              </a:endParaRPr>
            </a:p>
            <a:p>
              <a:pPr indent="0" lvl="0" marL="0" rtl="0" algn="l">
                <a:spcBef>
                  <a:spcPts val="1200"/>
                </a:spcBef>
                <a:spcAft>
                  <a:spcPts val="0"/>
                </a:spcAft>
                <a:buNone/>
              </a:pPr>
              <a:r>
                <a:rPr b="1" lang="zh-TW" sz="1000">
                  <a:solidFill>
                    <a:srgbClr val="DC2626"/>
                  </a:solidFill>
                  <a:latin typeface="Inter"/>
                  <a:ea typeface="Inter"/>
                  <a:cs typeface="Inter"/>
                  <a:sym typeface="Inter"/>
                </a:rPr>
                <a:t>脫框判定與救援觸發</a:t>
              </a:r>
              <a:endParaRPr b="1" sz="1000">
                <a:solidFill>
                  <a:srgbClr val="DC2626"/>
                </a:solidFill>
                <a:latin typeface="Inter"/>
                <a:ea typeface="Inter"/>
                <a:cs typeface="Inter"/>
                <a:sym typeface="Inter"/>
              </a:endParaRPr>
            </a:p>
            <a:p>
              <a:pPr indent="0" lvl="0" marL="0" rtl="0" algn="l">
                <a:spcBef>
                  <a:spcPts val="600"/>
                </a:spcBef>
                <a:spcAft>
                  <a:spcPts val="0"/>
                </a:spcAft>
                <a:buNone/>
              </a:pPr>
              <a:r>
                <a:rPr b="0" lang="zh-TW" sz="900">
                  <a:solidFill>
                    <a:srgbClr val="64748B"/>
                  </a:solidFill>
                  <a:latin typeface="Inter"/>
                  <a:ea typeface="Inter"/>
                  <a:cs typeface="Inter"/>
                  <a:sym typeface="Inter"/>
                </a:rPr>
                <a:t>當信心度 &lt; Threshold 時累加失追幀數。達到上限(Miss 3)則判定脫框，將輸入擴張至全域啟動救援。</a:t>
              </a:r>
              <a:endParaRPr b="0" sz="900">
                <a:solidFill>
                  <a:srgbClr val="64748B"/>
                </a:solidFill>
                <a:latin typeface="Inter"/>
                <a:ea typeface="Inter"/>
                <a:cs typeface="Inter"/>
                <a:sym typeface="Inter"/>
              </a:endParaRPr>
            </a:p>
          </p:txBody>
        </p:sp>
      </p:grpSp>
      <p:grpSp>
        <p:nvGrpSpPr>
          <p:cNvPr id="934" name="Google Shape;934;p63"/>
          <p:cNvGrpSpPr/>
          <p:nvPr/>
        </p:nvGrpSpPr>
        <p:grpSpPr>
          <a:xfrm>
            <a:off x="6686550" y="1752600"/>
            <a:ext cx="1886100" cy="2057400"/>
            <a:chOff x="0" y="0"/>
            <a:chExt cx="1886100" cy="2057400"/>
          </a:xfrm>
        </p:grpSpPr>
        <p:sp>
          <p:nvSpPr>
            <p:cNvPr id="935" name="Google Shape;935;p63"/>
            <p:cNvSpPr/>
            <p:nvPr/>
          </p:nvSpPr>
          <p:spPr>
            <a:xfrm>
              <a:off x="0" y="0"/>
              <a:ext cx="1886100" cy="2057400"/>
            </a:xfrm>
            <a:prstGeom prst="roundRect">
              <a:avLst>
                <a:gd fmla="val 505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6" name="Google Shape;936;p63"/>
            <p:cNvSpPr/>
            <p:nvPr/>
          </p:nvSpPr>
          <p:spPr>
            <a:xfrm>
              <a:off x="0" y="0"/>
              <a:ext cx="1886100" cy="342900"/>
            </a:xfrm>
            <a:prstGeom prst="roundRect">
              <a:avLst>
                <a:gd fmla="val 27777" name="adj"/>
              </a:avLst>
            </a:prstGeom>
            <a:solidFill>
              <a:srgbClr val="F0FD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7" name="Google Shape;937;p63"/>
            <p:cNvSpPr/>
            <p:nvPr/>
          </p:nvSpPr>
          <p:spPr>
            <a:xfrm>
              <a:off x="0" y="247650"/>
              <a:ext cx="1886100" cy="95400"/>
            </a:xfrm>
            <a:prstGeom prst="rect">
              <a:avLst/>
            </a:prstGeom>
            <a:solidFill>
              <a:srgbClr val="F0FD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8" name="Google Shape;938;p63"/>
            <p:cNvSpPr/>
            <p:nvPr/>
          </p:nvSpPr>
          <p:spPr>
            <a:xfrm>
              <a:off x="0" y="0"/>
              <a:ext cx="38100" cy="20574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9" name="Google Shape;939;p63"/>
            <p:cNvSpPr txBox="1"/>
            <p:nvPr/>
          </p:nvSpPr>
          <p:spPr>
            <a:xfrm>
              <a:off x="133350" y="57150"/>
              <a:ext cx="1619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100">
                  <a:solidFill>
                    <a:srgbClr val="0D9488"/>
                  </a:solidFill>
                  <a:latin typeface="Oswald"/>
                  <a:ea typeface="Oswald"/>
                  <a:cs typeface="Oswald"/>
                  <a:sym typeface="Oswald"/>
                </a:rPr>
                <a:t>03</a:t>
              </a:r>
              <a:r>
                <a:rPr b="1" lang="zh-TW" sz="1000">
                  <a:solidFill>
                    <a:srgbClr val="1E293B"/>
                  </a:solidFill>
                  <a:latin typeface="Inter"/>
                  <a:ea typeface="Inter"/>
                  <a:cs typeface="Inter"/>
                  <a:sym typeface="Inter"/>
                </a:rPr>
                <a:t> 階段三</a:t>
              </a:r>
              <a:endParaRPr b="1" sz="1000">
                <a:solidFill>
                  <a:srgbClr val="1E293B"/>
                </a:solidFill>
                <a:latin typeface="Inter"/>
                <a:ea typeface="Inter"/>
                <a:cs typeface="Inter"/>
                <a:sym typeface="Inter"/>
              </a:endParaRPr>
            </a:p>
            <a:p>
              <a:pPr indent="0" lvl="0" marL="0" rtl="0" algn="l">
                <a:spcBef>
                  <a:spcPts val="1200"/>
                </a:spcBef>
                <a:spcAft>
                  <a:spcPts val="0"/>
                </a:spcAft>
                <a:buNone/>
              </a:pPr>
              <a:r>
                <a:rPr b="1" lang="zh-TW" sz="1000">
                  <a:solidFill>
                    <a:srgbClr val="0D9488"/>
                  </a:solidFill>
                  <a:latin typeface="Inter"/>
                  <a:ea typeface="Inter"/>
                  <a:cs typeface="Inter"/>
                  <a:sym typeface="Inter"/>
                </a:rPr>
                <a:t>目標重獲與物理交接</a:t>
              </a:r>
              <a:endParaRPr b="1" sz="1000">
                <a:solidFill>
                  <a:srgbClr val="0D9488"/>
                </a:solidFill>
                <a:latin typeface="Inter"/>
                <a:ea typeface="Inter"/>
                <a:cs typeface="Inter"/>
                <a:sym typeface="Inter"/>
              </a:endParaRPr>
            </a:p>
            <a:p>
              <a:pPr indent="0" lvl="0" marL="0" rtl="0" algn="l">
                <a:spcBef>
                  <a:spcPts val="600"/>
                </a:spcBef>
                <a:spcAft>
                  <a:spcPts val="0"/>
                </a:spcAft>
                <a:buNone/>
              </a:pPr>
              <a:r>
                <a:rPr b="0" lang="zh-TW" sz="900">
                  <a:solidFill>
                    <a:srgbClr val="64748B"/>
                  </a:solidFill>
                  <a:latin typeface="Inter"/>
                  <a:ea typeface="Inter"/>
                  <a:cs typeface="Inter"/>
                  <a:sym typeface="Inter"/>
                </a:rPr>
                <a:t>於全圖搜索，當信心度回升時，精準提取最高機率像素座標，並切回局部模式。</a:t>
              </a:r>
              <a:endParaRPr b="0" sz="900">
                <a:solidFill>
                  <a:srgbClr val="64748B"/>
                </a:solidFill>
                <a:latin typeface="Inter"/>
                <a:ea typeface="Inter"/>
                <a:cs typeface="Inter"/>
                <a:sym typeface="Inter"/>
              </a:endParaRPr>
            </a:p>
          </p:txBody>
        </p:sp>
      </p:grpSp>
      <p:grpSp>
        <p:nvGrpSpPr>
          <p:cNvPr id="940" name="Google Shape;940;p63"/>
          <p:cNvGrpSpPr/>
          <p:nvPr/>
        </p:nvGrpSpPr>
        <p:grpSpPr>
          <a:xfrm>
            <a:off x="571500" y="3981450"/>
            <a:ext cx="8001000" cy="590700"/>
            <a:chOff x="0" y="0"/>
            <a:chExt cx="8001000" cy="590700"/>
          </a:xfrm>
        </p:grpSpPr>
        <p:sp>
          <p:nvSpPr>
            <p:cNvPr id="941" name="Google Shape;941;p63"/>
            <p:cNvSpPr/>
            <p:nvPr/>
          </p:nvSpPr>
          <p:spPr>
            <a:xfrm>
              <a:off x="0" y="0"/>
              <a:ext cx="8001000" cy="590700"/>
            </a:xfrm>
            <a:prstGeom prst="roundRect">
              <a:avLst>
                <a:gd fmla="val 12903"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2" name="Google Shape;942;p63"/>
            <p:cNvSpPr txBox="1"/>
            <p:nvPr/>
          </p:nvSpPr>
          <p:spPr>
            <a:xfrm>
              <a:off x="152400" y="76200"/>
              <a:ext cx="76962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950">
                  <a:solidFill>
                    <a:srgbClr val="DC2626"/>
                  </a:solidFill>
                  <a:latin typeface="Inter"/>
                  <a:ea typeface="Inter"/>
                  <a:cs typeface="Inter"/>
                  <a:sym typeface="Inter"/>
                </a:rPr>
                <a:t>⚠️ 切換效能衝擊</a:t>
              </a:r>
              <a:endParaRPr b="1" sz="950">
                <a:solidFill>
                  <a:srgbClr val="DC2626"/>
                </a:solidFill>
                <a:latin typeface="Inter"/>
                <a:ea typeface="Inter"/>
                <a:cs typeface="Inter"/>
                <a:sym typeface="Inter"/>
              </a:endParaRPr>
            </a:p>
            <a:p>
              <a:pPr indent="0" lvl="0" marL="0" rtl="0" algn="l">
                <a:spcBef>
                  <a:spcPts val="200"/>
                </a:spcBef>
                <a:spcAft>
                  <a:spcPts val="0"/>
                </a:spcAft>
                <a:buNone/>
              </a:pPr>
              <a:r>
                <a:rPr b="0" lang="zh-TW" sz="900">
                  <a:solidFill>
                    <a:srgbClr val="7F1D1D"/>
                  </a:solidFill>
                  <a:latin typeface="Inter"/>
                  <a:ea typeface="Inter"/>
                  <a:cs typeface="Inter"/>
                  <a:sym typeface="Inter"/>
                </a:rPr>
                <a:t>全域搜尋使運算面積暴增（效能由 </a:t>
              </a:r>
              <a:r>
                <a:rPr b="1" lang="zh-TW" sz="900">
                  <a:solidFill>
                    <a:srgbClr val="059669"/>
                  </a:solidFill>
                  <a:latin typeface="Inter"/>
                  <a:ea typeface="Inter"/>
                  <a:cs typeface="Inter"/>
                  <a:sym typeface="Inter"/>
                </a:rPr>
                <a:t>30.3 FPS</a:t>
              </a:r>
              <a:r>
                <a:rPr b="0" lang="zh-TW" sz="900">
                  <a:solidFill>
                    <a:srgbClr val="7F1D1D"/>
                  </a:solidFill>
                  <a:latin typeface="Inter"/>
                  <a:ea typeface="Inter"/>
                  <a:cs typeface="Inter"/>
                  <a:sym typeface="Inter"/>
                </a:rPr>
                <a:t> 跌至 </a:t>
              </a:r>
              <a:r>
                <a:rPr b="1" lang="zh-TW" sz="900">
                  <a:solidFill>
                    <a:srgbClr val="DC2626"/>
                  </a:solidFill>
                  <a:latin typeface="Inter"/>
                  <a:ea typeface="Inter"/>
                  <a:cs typeface="Inter"/>
                  <a:sym typeface="Inter"/>
                </a:rPr>
                <a:t>4.76 FPS</a:t>
              </a:r>
              <a:r>
                <a:rPr b="0" lang="zh-TW" sz="900">
                  <a:solidFill>
                    <a:srgbClr val="7F1D1D"/>
                  </a:solidFill>
                  <a:latin typeface="Inter"/>
                  <a:ea typeface="Inter"/>
                  <a:cs typeface="Inter"/>
                  <a:sym typeface="Inter"/>
                </a:rPr>
                <a:t>），頻繁切換易致延遲，因此需要額外機制提高局部追蹤使用頻率。</a:t>
              </a:r>
              <a:endParaRPr b="0" sz="900">
                <a:solidFill>
                  <a:srgbClr val="7F1D1D"/>
                </a:solidFill>
                <a:latin typeface="Inter"/>
                <a:ea typeface="Inter"/>
                <a:cs typeface="Inter"/>
                <a:sym typeface="Inter"/>
              </a:endParaRPr>
            </a:p>
          </p:txBody>
        </p:sp>
      </p:grpSp>
      <p:sp>
        <p:nvSpPr>
          <p:cNvPr id="943" name="Google Shape;943;p63"/>
          <p:cNvSpPr txBox="1"/>
          <p:nvPr>
            <p:ph type="title"/>
          </p:nvPr>
        </p:nvSpPr>
        <p:spPr>
          <a:xfrm>
            <a:off x="571500" y="333375"/>
            <a:ext cx="8001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600">
                <a:solidFill>
                  <a:srgbClr val="1E293B"/>
                </a:solidFill>
                <a:latin typeface="Inter"/>
                <a:ea typeface="Inter"/>
                <a:cs typeface="Inter"/>
                <a:sym typeface="Inter"/>
              </a:rPr>
              <a:t>視野狹隘導致之出框 </a:t>
            </a:r>
            <a:r>
              <a:rPr b="0" lang="zh-TW" sz="1600">
                <a:solidFill>
                  <a:srgbClr val="3B82F6"/>
                </a:solidFill>
                <a:latin typeface="Inter"/>
                <a:ea typeface="Inter"/>
                <a:cs typeface="Inter"/>
                <a:sym typeface="Inter"/>
              </a:rPr>
              <a:t>(全域與局部搜索切換機制)</a:t>
            </a:r>
            <a:endParaRPr b="1" sz="2600">
              <a:solidFill>
                <a:srgbClr val="1E293B"/>
              </a:solidFill>
              <a:latin typeface="Inter"/>
              <a:ea typeface="Inter"/>
              <a:cs typeface="Inter"/>
              <a:sym typeface="Inter"/>
            </a:endParaRPr>
          </a:p>
        </p:txBody>
      </p:sp>
      <p:grpSp>
        <p:nvGrpSpPr>
          <p:cNvPr id="944" name="Google Shape;944;p63"/>
          <p:cNvGrpSpPr/>
          <p:nvPr/>
        </p:nvGrpSpPr>
        <p:grpSpPr>
          <a:xfrm>
            <a:off x="-476250" y="-857250"/>
            <a:ext cx="10477500" cy="6381750"/>
            <a:chOff x="-476250" y="-857250"/>
            <a:chExt cx="10477500" cy="6381750"/>
          </a:xfrm>
        </p:grpSpPr>
        <p:sp>
          <p:nvSpPr>
            <p:cNvPr id="945" name="Google Shape;945;p6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6" name="Google Shape;946;p6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7" name="Google Shape;947;p6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8" name="Google Shape;948;p63"/>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grpSp>
        <p:nvGrpSpPr>
          <p:cNvPr id="953" name="Google Shape;953;p64"/>
          <p:cNvGrpSpPr/>
          <p:nvPr/>
        </p:nvGrpSpPr>
        <p:grpSpPr>
          <a:xfrm>
            <a:off x="-476250" y="-857250"/>
            <a:ext cx="10477500" cy="6381750"/>
            <a:chOff x="-476250" y="-857250"/>
            <a:chExt cx="10477500" cy="6381750"/>
          </a:xfrm>
        </p:grpSpPr>
        <p:sp>
          <p:nvSpPr>
            <p:cNvPr id="954" name="Google Shape;954;p6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5" name="Google Shape;955;p6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6" name="Google Shape;956;p6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7" name="Google Shape;957;p64"/>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958" name="Google Shape;958;p64"/>
          <p:cNvPicPr preferRelativeResize="0"/>
          <p:nvPr/>
        </p:nvPicPr>
        <p:blipFill rotWithShape="1">
          <a:blip r:embed="rId3">
            <a:alphaModFix/>
          </a:blip>
          <a:srcRect b="0" l="0" r="0" t="0"/>
          <a:stretch/>
        </p:blipFill>
        <p:spPr>
          <a:xfrm>
            <a:off x="2305050" y="3286125"/>
            <a:ext cx="916200" cy="189000"/>
          </a:xfrm>
          <a:prstGeom prst="rect">
            <a:avLst/>
          </a:prstGeom>
          <a:noFill/>
          <a:ln>
            <a:noFill/>
          </a:ln>
        </p:spPr>
      </p:pic>
      <p:pic>
        <p:nvPicPr>
          <p:cNvPr id="959" name="Google Shape;959;p64"/>
          <p:cNvPicPr preferRelativeResize="0"/>
          <p:nvPr/>
        </p:nvPicPr>
        <p:blipFill rotWithShape="1">
          <a:blip r:embed="rId4">
            <a:alphaModFix/>
          </a:blip>
          <a:srcRect b="0" l="0" r="0" t="0"/>
          <a:stretch/>
        </p:blipFill>
        <p:spPr>
          <a:xfrm>
            <a:off x="6191250" y="4114800"/>
            <a:ext cx="485400" cy="189000"/>
          </a:xfrm>
          <a:prstGeom prst="rect">
            <a:avLst/>
          </a:prstGeom>
          <a:noFill/>
          <a:ln>
            <a:noFill/>
          </a:ln>
        </p:spPr>
      </p:pic>
      <p:grpSp>
        <p:nvGrpSpPr>
          <p:cNvPr id="960" name="Google Shape;960;p64"/>
          <p:cNvGrpSpPr/>
          <p:nvPr/>
        </p:nvGrpSpPr>
        <p:grpSpPr>
          <a:xfrm>
            <a:off x="571500" y="333375"/>
            <a:ext cx="8001000" cy="476400"/>
            <a:chOff x="571500" y="333375"/>
            <a:chExt cx="8001000" cy="476400"/>
          </a:xfrm>
        </p:grpSpPr>
        <p:sp>
          <p:nvSpPr>
            <p:cNvPr id="961" name="Google Shape;961;p64"/>
            <p:cNvSpPr/>
            <p:nvPr/>
          </p:nvSpPr>
          <p:spPr>
            <a:xfrm>
              <a:off x="571500" y="333375"/>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2" name="Google Shape;962;p64"/>
            <p:cNvSpPr txBox="1"/>
            <p:nvPr/>
          </p:nvSpPr>
          <p:spPr>
            <a:xfrm>
              <a:off x="571500" y="333375"/>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600">
                  <a:solidFill>
                    <a:srgbClr val="1E293B"/>
                  </a:solidFill>
                  <a:latin typeface="Inter"/>
                  <a:ea typeface="Inter"/>
                  <a:cs typeface="Inter"/>
                  <a:sym typeface="Inter"/>
                </a:rPr>
                <a:t>視野狹隘導致之出框 </a:t>
              </a:r>
              <a:r>
                <a:rPr b="0" lang="zh-TW" sz="1600">
                  <a:solidFill>
                    <a:srgbClr val="3B82F6"/>
                  </a:solidFill>
                  <a:latin typeface="Inter"/>
                  <a:ea typeface="Inter"/>
                  <a:cs typeface="Inter"/>
                  <a:sym typeface="Inter"/>
                </a:rPr>
                <a:t>(效能震盪與延遲分析)</a:t>
              </a:r>
              <a:endParaRPr b="1" sz="2600">
                <a:solidFill>
                  <a:srgbClr val="1E293B"/>
                </a:solidFill>
                <a:latin typeface="Inter"/>
                <a:ea typeface="Inter"/>
                <a:cs typeface="Inter"/>
                <a:sym typeface="Inter"/>
              </a:endParaRPr>
            </a:p>
          </p:txBody>
        </p:sp>
      </p:grpSp>
      <p:grpSp>
        <p:nvGrpSpPr>
          <p:cNvPr id="963" name="Google Shape;963;p64"/>
          <p:cNvGrpSpPr/>
          <p:nvPr/>
        </p:nvGrpSpPr>
        <p:grpSpPr>
          <a:xfrm>
            <a:off x="571500" y="838200"/>
            <a:ext cx="8001000" cy="381000"/>
            <a:chOff x="571500" y="838200"/>
            <a:chExt cx="8001000" cy="381000"/>
          </a:xfrm>
        </p:grpSpPr>
        <p:sp>
          <p:nvSpPr>
            <p:cNvPr id="964" name="Google Shape;964;p64"/>
            <p:cNvSpPr/>
            <p:nvPr/>
          </p:nvSpPr>
          <p:spPr>
            <a:xfrm>
              <a:off x="571500" y="838200"/>
              <a:ext cx="800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5" name="Google Shape;965;p64"/>
            <p:cNvSpPr txBox="1"/>
            <p:nvPr/>
          </p:nvSpPr>
          <p:spPr>
            <a:xfrm>
              <a:off x="571500" y="838200"/>
              <a:ext cx="8001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zh-TW" sz="1100">
                  <a:solidFill>
                    <a:srgbClr val="475569"/>
                  </a:solidFill>
                  <a:latin typeface="Inter"/>
                  <a:ea typeface="Inter"/>
                  <a:cs typeface="Inter"/>
                  <a:sym typeface="Inter"/>
                </a:rPr>
                <a:t>當目標脫框觸發全域救援時，輸入面積擴張 9 倍，頻繁的局部與全域模式切換，將導致系統產生極其嚴重的效能震盪與延遲突波。</a:t>
              </a:r>
              <a:endParaRPr b="0" sz="1100">
                <a:solidFill>
                  <a:srgbClr val="475569"/>
                </a:solidFill>
                <a:latin typeface="Inter"/>
                <a:ea typeface="Inter"/>
                <a:cs typeface="Inter"/>
                <a:sym typeface="Inter"/>
              </a:endParaRPr>
            </a:p>
          </p:txBody>
        </p:sp>
      </p:grpSp>
      <p:grpSp>
        <p:nvGrpSpPr>
          <p:cNvPr id="966" name="Google Shape;966;p64"/>
          <p:cNvGrpSpPr/>
          <p:nvPr/>
        </p:nvGrpSpPr>
        <p:grpSpPr>
          <a:xfrm>
            <a:off x="571500" y="1314450"/>
            <a:ext cx="8001000" cy="1047900"/>
            <a:chOff x="571500" y="1314450"/>
            <a:chExt cx="8001000" cy="1047900"/>
          </a:xfrm>
        </p:grpSpPr>
        <p:sp>
          <p:nvSpPr>
            <p:cNvPr id="967" name="Google Shape;967;p64"/>
            <p:cNvSpPr/>
            <p:nvPr/>
          </p:nvSpPr>
          <p:spPr>
            <a:xfrm>
              <a:off x="571500" y="1314450"/>
              <a:ext cx="8001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8" name="Google Shape;968;p64"/>
            <p:cNvSpPr txBox="1"/>
            <p:nvPr/>
          </p:nvSpPr>
          <p:spPr>
            <a:xfrm>
              <a:off x="571500" y="1314450"/>
              <a:ext cx="8001000" cy="1047900"/>
            </a:xfrm>
            <a:prstGeom prst="rect">
              <a:avLst/>
            </a:prstGeom>
            <a:solidFill>
              <a:srgbClr val="000000">
                <a:alpha val="0"/>
              </a:srgbClr>
            </a:solidFill>
            <a:ln>
              <a:noFill/>
            </a:ln>
          </p:spPr>
          <p:txBody>
            <a:bodyPr anchorCtr="0" anchor="ctr" bIns="152400" lIns="228600" spcFirstLastPara="1" rIns="228600" wrap="square" tIns="152400">
              <a:noAutofit/>
            </a:bodyPr>
            <a:lstStyle/>
            <a:p>
              <a:pPr indent="0" lvl="0" marL="0" rtl="0" algn="l">
                <a:spcBef>
                  <a:spcPts val="0"/>
                </a:spcBef>
                <a:spcAft>
                  <a:spcPts val="0"/>
                </a:spcAft>
                <a:buNone/>
              </a:pPr>
              <a:r>
                <a:rPr b="0" lang="zh-TW" sz="2000">
                  <a:solidFill>
                    <a:srgbClr val="3B82F6"/>
                  </a:solidFill>
                  <a:latin typeface="Material Icons"/>
                  <a:ea typeface="Material Icons"/>
                  <a:cs typeface="Material Icons"/>
                  <a:sym typeface="Material Icons"/>
                </a:rPr>
                <a:t>track_changes</a:t>
              </a:r>
              <a:r>
                <a:rPr b="1" lang="zh-TW" sz="1300">
                  <a:solidFill>
                    <a:srgbClr val="1E293B"/>
                  </a:solidFill>
                  <a:latin typeface="Inter"/>
                  <a:ea typeface="Inter"/>
                  <a:cs typeface="Inter"/>
                  <a:sym typeface="Inter"/>
                </a:rPr>
                <a:t> 主動預測策略 </a:t>
              </a:r>
              <a:r>
                <a:rPr b="1" lang="zh-TW" sz="950">
                  <a:solidFill>
                    <a:srgbClr val="3B82F6"/>
                  </a:solidFill>
                  <a:latin typeface="Inter"/>
                  <a:ea typeface="Inter"/>
                  <a:cs typeface="Inter"/>
                  <a:sym typeface="Inter"/>
                </a:rPr>
                <a:t>MAXIMIZE LOCAL WINDOW HIT RATE</a:t>
              </a:r>
              <a:endParaRPr b="0" sz="1050">
                <a:solidFill>
                  <a:srgbClr val="475569"/>
                </a:solidFill>
                <a:latin typeface="Inter"/>
                <a:ea typeface="Inter"/>
                <a:cs typeface="Inter"/>
                <a:sym typeface="Inter"/>
              </a:endParaRPr>
            </a:p>
            <a:p>
              <a:pPr indent="0" lvl="0" marL="0" rtl="0" algn="l">
                <a:spcBef>
                  <a:spcPts val="300"/>
                </a:spcBef>
                <a:spcAft>
                  <a:spcPts val="0"/>
                </a:spcAft>
                <a:buNone/>
              </a:pPr>
              <a:r>
                <a:rPr b="1" lang="zh-TW" sz="1000">
                  <a:solidFill>
                    <a:srgbClr val="1E293B"/>
                  </a:solidFill>
                  <a:latin typeface="Inter"/>
                  <a:ea typeface="Inter"/>
                  <a:cs typeface="Inter"/>
                  <a:sym typeface="Inter"/>
                </a:rPr>
                <a:t>• 高比例鎖定：</a:t>
              </a:r>
              <a:r>
                <a:rPr b="0" lang="zh-TW" sz="1000">
                  <a:solidFill>
                    <a:srgbClr val="475569"/>
                  </a:solidFill>
                  <a:latin typeface="Inter"/>
                  <a:ea typeface="Inter"/>
                  <a:cs typeface="Inter"/>
                  <a:sym typeface="Inter"/>
                </a:rPr>
                <a:t>確保影格鎖定於 128×128 局部視窗內。          </a:t>
              </a:r>
              <a:endParaRPr b="0" sz="1000">
                <a:solidFill>
                  <a:srgbClr val="475569"/>
                </a:solidFill>
                <a:latin typeface="Inter"/>
                <a:ea typeface="Inter"/>
                <a:cs typeface="Inter"/>
                <a:sym typeface="Inter"/>
              </a:endParaRPr>
            </a:p>
            <a:p>
              <a:pPr indent="0" lvl="0" marL="0" rtl="0" algn="l">
                <a:spcBef>
                  <a:spcPts val="0"/>
                </a:spcBef>
                <a:spcAft>
                  <a:spcPts val="0"/>
                </a:spcAft>
                <a:buNone/>
              </a:pPr>
              <a:r>
                <a:rPr b="1" lang="zh-TW" sz="1000">
                  <a:solidFill>
                    <a:srgbClr val="1E293B"/>
                  </a:solidFill>
                  <a:latin typeface="Inter"/>
                  <a:ea typeface="Inter"/>
                  <a:cs typeface="Inter"/>
                  <a:sym typeface="Inter"/>
                </a:rPr>
                <a:t>• 消除震盪：</a:t>
              </a:r>
              <a:r>
                <a:rPr b="0" lang="zh-TW" sz="1000">
                  <a:solidFill>
                    <a:srgbClr val="475569"/>
                  </a:solidFill>
                  <a:latin typeface="Inter"/>
                  <a:ea typeface="Inter"/>
                  <a:cs typeface="Inter"/>
                  <a:sym typeface="Inter"/>
                </a:rPr>
                <a:t>使系統長期維持高速巡航檔位。</a:t>
              </a:r>
              <a:endParaRPr b="0" sz="1000">
                <a:solidFill>
                  <a:srgbClr val="475569"/>
                </a:solidFill>
                <a:latin typeface="Inter"/>
                <a:ea typeface="Inter"/>
                <a:cs typeface="Inter"/>
                <a:sym typeface="Inter"/>
              </a:endParaRPr>
            </a:p>
          </p:txBody>
        </p:sp>
      </p:grpSp>
      <p:grpSp>
        <p:nvGrpSpPr>
          <p:cNvPr id="969" name="Google Shape;969;p64"/>
          <p:cNvGrpSpPr/>
          <p:nvPr/>
        </p:nvGrpSpPr>
        <p:grpSpPr>
          <a:xfrm>
            <a:off x="571500" y="2476500"/>
            <a:ext cx="8001000" cy="2286000"/>
            <a:chOff x="571500" y="2476500"/>
            <a:chExt cx="8001000" cy="2286000"/>
          </a:xfrm>
        </p:grpSpPr>
        <p:sp>
          <p:nvSpPr>
            <p:cNvPr id="970" name="Google Shape;970;p64"/>
            <p:cNvSpPr/>
            <p:nvPr/>
          </p:nvSpPr>
          <p:spPr>
            <a:xfrm>
              <a:off x="571500" y="2476500"/>
              <a:ext cx="8001000" cy="2286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1" name="Google Shape;971;p64"/>
            <p:cNvSpPr txBox="1"/>
            <p:nvPr/>
          </p:nvSpPr>
          <p:spPr>
            <a:xfrm>
              <a:off x="571500" y="2476500"/>
              <a:ext cx="8001000" cy="2286000"/>
            </a:xfrm>
            <a:prstGeom prst="rect">
              <a:avLst/>
            </a:prstGeom>
            <a:solidFill>
              <a:srgbClr val="000000">
                <a:alpha val="0"/>
              </a:srgbClr>
            </a:solidFill>
            <a:ln>
              <a:noFill/>
            </a:ln>
          </p:spPr>
          <p:txBody>
            <a:bodyPr anchorCtr="0" anchor="t" bIns="190500" lIns="228600" spcFirstLastPara="1" rIns="228600" wrap="square" tIns="190500">
              <a:noAutofit/>
            </a:bodyPr>
            <a:lstStyle/>
            <a:p>
              <a:pPr indent="0" lvl="0" marL="0" rtl="0" algn="l">
                <a:spcBef>
                  <a:spcPts val="0"/>
                </a:spcBef>
                <a:spcAft>
                  <a:spcPts val="0"/>
                </a:spcAft>
                <a:buNone/>
              </a:pPr>
              <a:r>
                <a:rPr b="0" lang="zh-TW" sz="2000">
                  <a:solidFill>
                    <a:srgbClr val="3B82F6"/>
                  </a:solidFill>
                  <a:latin typeface="Material Icons"/>
                  <a:ea typeface="Material Icons"/>
                  <a:cs typeface="Material Icons"/>
                  <a:sym typeface="Material Icons"/>
                </a:rPr>
                <a:t>navigation</a:t>
              </a:r>
              <a:r>
                <a:rPr b="1" lang="zh-TW" sz="1300">
                  <a:solidFill>
                    <a:srgbClr val="1E293B"/>
                  </a:solidFill>
                  <a:latin typeface="Inter"/>
                  <a:ea typeface="Inter"/>
                  <a:cs typeface="Inter"/>
                  <a:sym typeface="Inter"/>
                </a:rPr>
                <a:t> 卡爾曼濾波機制 </a:t>
              </a:r>
              <a:r>
                <a:rPr b="1" lang="zh-TW" sz="950">
                  <a:solidFill>
                    <a:srgbClr val="3B82F6"/>
                  </a:solidFill>
                  <a:latin typeface="Inter"/>
                  <a:ea typeface="Inter"/>
                  <a:cs typeface="Inter"/>
                  <a:sym typeface="Inter"/>
                </a:rPr>
                <a:t>LOW-COST PHYSICAL INERTIAL NAVIGATION</a:t>
              </a:r>
              <a:endParaRPr b="0" sz="2000">
                <a:solidFill>
                  <a:srgbClr val="3B82F6"/>
                </a:solidFill>
                <a:latin typeface="Material Icons"/>
                <a:ea typeface="Material Icons"/>
                <a:cs typeface="Material Icons"/>
                <a:sym typeface="Material Icons"/>
              </a:endParaRPr>
            </a:p>
            <a:p>
              <a:pPr indent="0" lvl="0" marL="0" rtl="0" algn="l">
                <a:spcBef>
                  <a:spcPts val="1050"/>
                </a:spcBef>
                <a:spcAft>
                  <a:spcPts val="0"/>
                </a:spcAft>
                <a:buNone/>
              </a:pPr>
              <a:r>
                <a:rPr b="1" lang="zh-TW" sz="1100">
                  <a:solidFill>
                    <a:srgbClr val="1E293B"/>
                  </a:solidFill>
                  <a:latin typeface="Inter"/>
                  <a:ea typeface="Inter"/>
                  <a:cs typeface="Inter"/>
                  <a:sym typeface="Inter"/>
                </a:rPr>
                <a:t>階段一：運動學狀態轉移 (State Matrix)</a:t>
              </a:r>
              <a:endParaRPr b="1" sz="1100">
                <a:solidFill>
                  <a:srgbClr val="1E293B"/>
                </a:solidFill>
                <a:latin typeface="Inter"/>
                <a:ea typeface="Inter"/>
                <a:cs typeface="Inter"/>
                <a:sym typeface="Inter"/>
              </a:endParaRPr>
            </a:p>
            <a:p>
              <a:pPr indent="0" lvl="0" marL="0" rtl="0" algn="l">
                <a:spcBef>
                  <a:spcPts val="300"/>
                </a:spcBef>
                <a:spcAft>
                  <a:spcPts val="0"/>
                </a:spcAft>
                <a:buNone/>
              </a:pPr>
              <a:r>
                <a:rPr b="0" lang="zh-TW" sz="1000">
                  <a:solidFill>
                    <a:srgbClr val="475569"/>
                  </a:solidFill>
                  <a:latin typeface="Inter"/>
                  <a:ea typeface="Inter"/>
                  <a:cs typeface="Inter"/>
                  <a:sym typeface="Inter"/>
                </a:rPr>
                <a:t>將位置與速度封裝為                            ，當預測出羽球座標時，執行狀態更新（Measurement Update）修正向量。</a:t>
              </a:r>
              <a:endParaRPr b="0" sz="1000">
                <a:solidFill>
                  <a:srgbClr val="475569"/>
                </a:solidFill>
                <a:latin typeface="Inter"/>
                <a:ea typeface="Inter"/>
                <a:cs typeface="Inter"/>
                <a:sym typeface="Inter"/>
              </a:endParaRPr>
            </a:p>
            <a:p>
              <a:pPr indent="0" lvl="0" marL="0" rtl="0" algn="l">
                <a:spcBef>
                  <a:spcPts val="1050"/>
                </a:spcBef>
                <a:spcAft>
                  <a:spcPts val="0"/>
                </a:spcAft>
                <a:buNone/>
              </a:pPr>
              <a:r>
                <a:rPr b="1" lang="zh-TW" sz="1100">
                  <a:solidFill>
                    <a:srgbClr val="1E293B"/>
                  </a:solidFill>
                  <a:latin typeface="Inter"/>
                  <a:ea typeface="Inter"/>
                  <a:cs typeface="Inter"/>
                  <a:sym typeface="Inter"/>
                </a:rPr>
                <a:t>階段二：動態視窗預測 (Active Prediction)</a:t>
              </a:r>
              <a:endParaRPr b="1" sz="1100">
                <a:solidFill>
                  <a:srgbClr val="1E293B"/>
                </a:solidFill>
                <a:latin typeface="Inter"/>
                <a:ea typeface="Inter"/>
                <a:cs typeface="Inter"/>
                <a:sym typeface="Inter"/>
              </a:endParaRPr>
            </a:p>
            <a:p>
              <a:pPr indent="0" lvl="0" marL="0" rtl="0" algn="l">
                <a:spcBef>
                  <a:spcPts val="300"/>
                </a:spcBef>
                <a:spcAft>
                  <a:spcPts val="0"/>
                </a:spcAft>
                <a:buNone/>
              </a:pPr>
              <a:r>
                <a:rPr b="0" lang="zh-TW" sz="1000">
                  <a:solidFill>
                    <a:srgbClr val="475569"/>
                  </a:solidFill>
                  <a:latin typeface="Inter"/>
                  <a:ea typeface="Inter"/>
                  <a:cs typeface="Inter"/>
                  <a:sym typeface="Inter"/>
                </a:rPr>
                <a:t>在讀取下一影格前，利用速度向量物理外推，提前將 128×128 局部裁切視窗中心對準預測座標                。</a:t>
              </a:r>
              <a:endParaRPr b="0" sz="1000">
                <a:solidFill>
                  <a:srgbClr val="475569"/>
                </a:solidFill>
                <a:latin typeface="Inter"/>
                <a:ea typeface="Inter"/>
                <a:cs typeface="Inter"/>
                <a:sym typeface="Inter"/>
              </a:endParaRPr>
            </a:p>
            <a:p>
              <a:pPr indent="0" lvl="0" marL="0" rtl="0" algn="l">
                <a:spcBef>
                  <a:spcPts val="0"/>
                </a:spcBef>
                <a:spcAft>
                  <a:spcPts val="0"/>
                </a:spcAft>
                <a:buNone/>
              </a:pPr>
              <a:r>
                <a:rPr lang="zh-TW" sz="1000">
                  <a:solidFill>
                    <a:srgbClr val="475569"/>
                  </a:solidFill>
                  <a:latin typeface="Inter"/>
                  <a:ea typeface="Inter"/>
                  <a:cs typeface="Inter"/>
                  <a:sym typeface="Inter"/>
                </a:rPr>
                <a:t>如果連續丟失</a:t>
              </a:r>
              <a:r>
                <a:rPr b="1" lang="zh-TW" sz="1000">
                  <a:solidFill>
                    <a:srgbClr val="475569"/>
                  </a:solidFill>
                  <a:latin typeface="Inter"/>
                  <a:ea typeface="Inter"/>
                  <a:cs typeface="Inter"/>
                  <a:sym typeface="Inter"/>
                </a:rPr>
                <a:t>三次</a:t>
              </a:r>
              <a:r>
                <a:rPr lang="zh-TW" sz="1000">
                  <a:solidFill>
                    <a:srgbClr val="475569"/>
                  </a:solidFill>
                  <a:latin typeface="Inter"/>
                  <a:ea typeface="Inter"/>
                  <a:cs typeface="Inter"/>
                  <a:sym typeface="Inter"/>
                </a:rPr>
                <a:t>，才真正啟動全域搜尋機制</a:t>
              </a:r>
              <a:endParaRPr sz="1000">
                <a:solidFill>
                  <a:srgbClr val="475569"/>
                </a:solidFill>
                <a:latin typeface="Inter"/>
                <a:ea typeface="Inter"/>
                <a:cs typeface="Inter"/>
                <a:sym typeface="Inter"/>
              </a:endParaRPr>
            </a:p>
          </p:txBody>
        </p:sp>
      </p:grpSp>
      <p:pic>
        <p:nvPicPr>
          <p:cNvPr id="972" name="Google Shape;972;p64"/>
          <p:cNvPicPr preferRelativeResize="0"/>
          <p:nvPr/>
        </p:nvPicPr>
        <p:blipFill>
          <a:blip r:embed="rId3">
            <a:alphaModFix/>
          </a:blip>
          <a:stretch>
            <a:fillRect/>
          </a:stretch>
        </p:blipFill>
        <p:spPr>
          <a:xfrm>
            <a:off x="2008653" y="3286162"/>
            <a:ext cx="916247" cy="188925"/>
          </a:xfrm>
          <a:prstGeom prst="rect">
            <a:avLst/>
          </a:prstGeom>
          <a:noFill/>
          <a:ln>
            <a:noFill/>
          </a:ln>
        </p:spPr>
      </p:pic>
      <p:pic>
        <p:nvPicPr>
          <p:cNvPr id="973" name="Google Shape;973;p64"/>
          <p:cNvPicPr preferRelativeResize="0"/>
          <p:nvPr/>
        </p:nvPicPr>
        <p:blipFill>
          <a:blip r:embed="rId4">
            <a:alphaModFix/>
          </a:blip>
          <a:stretch>
            <a:fillRect/>
          </a:stretch>
        </p:blipFill>
        <p:spPr>
          <a:xfrm>
            <a:off x="6149223" y="3771125"/>
            <a:ext cx="485350" cy="1889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7" name="Shape 977"/>
        <p:cNvGrpSpPr/>
        <p:nvPr/>
      </p:nvGrpSpPr>
      <p:grpSpPr>
        <a:xfrm>
          <a:off x="0" y="0"/>
          <a:ext cx="0" cy="0"/>
          <a:chOff x="0" y="0"/>
          <a:chExt cx="0" cy="0"/>
        </a:xfrm>
      </p:grpSpPr>
      <p:grpSp>
        <p:nvGrpSpPr>
          <p:cNvPr id="978" name="Google Shape;978;p65"/>
          <p:cNvGrpSpPr/>
          <p:nvPr/>
        </p:nvGrpSpPr>
        <p:grpSpPr>
          <a:xfrm>
            <a:off x="-476250" y="-857250"/>
            <a:ext cx="10477500" cy="6381750"/>
            <a:chOff x="-476250" y="-857250"/>
            <a:chExt cx="10477500" cy="6381750"/>
          </a:xfrm>
        </p:grpSpPr>
        <p:sp>
          <p:nvSpPr>
            <p:cNvPr id="979" name="Google Shape;979;p6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0" name="Google Shape;980;p6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1" name="Google Shape;981;p6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82" name="Google Shape;982;p65"/>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無狀態偵測之雜訊綁架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Stateless Noise Hijacking</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983" name="Google Shape;983;p65"/>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7" name="Shape 987"/>
        <p:cNvGrpSpPr/>
        <p:nvPr/>
      </p:nvGrpSpPr>
      <p:grpSpPr>
        <a:xfrm>
          <a:off x="0" y="0"/>
          <a:ext cx="0" cy="0"/>
          <a:chOff x="0" y="0"/>
          <a:chExt cx="0" cy="0"/>
        </a:xfrm>
      </p:grpSpPr>
      <p:grpSp>
        <p:nvGrpSpPr>
          <p:cNvPr id="988" name="Google Shape;988;p66"/>
          <p:cNvGrpSpPr/>
          <p:nvPr/>
        </p:nvGrpSpPr>
        <p:grpSpPr>
          <a:xfrm>
            <a:off x="-476250" y="-857250"/>
            <a:ext cx="10477500" cy="6381750"/>
            <a:chOff x="-476250" y="-857250"/>
            <a:chExt cx="10477500" cy="6381750"/>
          </a:xfrm>
        </p:grpSpPr>
        <p:sp>
          <p:nvSpPr>
            <p:cNvPr id="989" name="Google Shape;989;p6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0" name="Google Shape;990;p6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1" name="Google Shape;991;p6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2" name="Google Shape;992;p66"/>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93" name="Google Shape;993;p66"/>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000">
                <a:solidFill>
                  <a:srgbClr val="1E293B"/>
                </a:solidFill>
                <a:latin typeface="Inter"/>
                <a:ea typeface="Inter"/>
                <a:cs typeface="Inter"/>
                <a:sym typeface="Inter"/>
              </a:rPr>
              <a:t>雜訊綁架 </a:t>
            </a:r>
            <a:r>
              <a:rPr b="0" lang="zh-TW" sz="1800">
                <a:solidFill>
                  <a:srgbClr val="3B82F6"/>
                </a:solidFill>
                <a:latin typeface="Inter"/>
                <a:ea typeface="Inter"/>
                <a:cs typeface="Inter"/>
                <a:sym typeface="Inter"/>
              </a:rPr>
              <a:t>(時空遮罩防禦機制)</a:t>
            </a:r>
            <a:endParaRPr b="1" sz="3000">
              <a:solidFill>
                <a:srgbClr val="1E293B"/>
              </a:solidFill>
              <a:latin typeface="Inter"/>
              <a:ea typeface="Inter"/>
              <a:cs typeface="Inter"/>
              <a:sym typeface="Inter"/>
            </a:endParaRPr>
          </a:p>
        </p:txBody>
      </p:sp>
      <p:sp>
        <p:nvSpPr>
          <p:cNvPr id="994" name="Google Shape;994;p66"/>
          <p:cNvSpPr txBox="1"/>
          <p:nvPr/>
        </p:nvSpPr>
        <p:spPr>
          <a:xfrm>
            <a:off x="571500" y="1190625"/>
            <a:ext cx="80010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zh-TW" sz="1050">
                <a:solidFill>
                  <a:srgbClr val="475569"/>
                </a:solidFill>
                <a:latin typeface="Inter"/>
                <a:ea typeface="Inter"/>
                <a:cs typeface="Inter"/>
                <a:sym typeface="Inter"/>
              </a:rPr>
              <a:t>為解決輕量化模型在邊緣端執行深層注意力抗噪算力不足的問題，本系統將背景過濾任務自神經網路剝離。</a:t>
            </a:r>
            <a:endParaRPr b="0" sz="1050">
              <a:solidFill>
                <a:srgbClr val="475569"/>
              </a:solidFill>
              <a:latin typeface="Inter"/>
              <a:ea typeface="Inter"/>
              <a:cs typeface="Inter"/>
              <a:sym typeface="Inter"/>
            </a:endParaRPr>
          </a:p>
          <a:p>
            <a:pPr indent="0" lvl="0" marL="0" rtl="0" algn="l">
              <a:spcBef>
                <a:spcPts val="300"/>
              </a:spcBef>
              <a:spcAft>
                <a:spcPts val="0"/>
              </a:spcAft>
              <a:buNone/>
            </a:pPr>
            <a:r>
              <a:rPr b="0" lang="zh-TW" sz="1050">
                <a:solidFill>
                  <a:srgbClr val="475569"/>
                </a:solidFill>
                <a:latin typeface="Inter"/>
                <a:ea typeface="Inter"/>
                <a:cs typeface="Inter"/>
                <a:sym typeface="Inter"/>
              </a:rPr>
              <a:t>利用羽球「極高速移動」之物理特性，以極低算力的像素差分提出</a:t>
            </a:r>
            <a:r>
              <a:rPr b="1" lang="zh-TW" sz="1050">
                <a:solidFill>
                  <a:srgbClr val="475569"/>
                </a:solidFill>
                <a:latin typeface="Inter"/>
                <a:ea typeface="Inter"/>
                <a:cs typeface="Inter"/>
                <a:sym typeface="Inter"/>
              </a:rPr>
              <a:t>時空動態遮罩 (Spatiotemporal Motion Mask)</a:t>
            </a:r>
            <a:r>
              <a:rPr b="0" lang="zh-TW"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p:txBody>
      </p:sp>
      <p:grpSp>
        <p:nvGrpSpPr>
          <p:cNvPr id="995" name="Google Shape;995;p66"/>
          <p:cNvGrpSpPr/>
          <p:nvPr/>
        </p:nvGrpSpPr>
        <p:grpSpPr>
          <a:xfrm>
            <a:off x="571500" y="1381125"/>
            <a:ext cx="8001000" cy="3381450"/>
            <a:chOff x="571500" y="1381125"/>
            <a:chExt cx="8001000" cy="3381450"/>
          </a:xfrm>
        </p:grpSpPr>
        <p:sp>
          <p:nvSpPr>
            <p:cNvPr id="996" name="Google Shape;996;p66"/>
            <p:cNvSpPr/>
            <p:nvPr/>
          </p:nvSpPr>
          <p:spPr>
            <a:xfrm>
              <a:off x="571500" y="1381125"/>
              <a:ext cx="8001000" cy="1571700"/>
            </a:xfrm>
            <a:prstGeom prst="roundRect">
              <a:avLst>
                <a:gd fmla="val 727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7" name="Google Shape;997;p66"/>
            <p:cNvSpPr/>
            <p:nvPr/>
          </p:nvSpPr>
          <p:spPr>
            <a:xfrm>
              <a:off x="714375" y="1524000"/>
              <a:ext cx="1905000" cy="1285800"/>
            </a:xfrm>
            <a:prstGeom prst="roundRect">
              <a:avLst>
                <a:gd fmla="val 5925" name="adj"/>
              </a:avLst>
            </a:prstGeom>
            <a:solidFill>
              <a:srgbClr val="F0F9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8" name="Google Shape;998;p66"/>
            <p:cNvSpPr txBox="1"/>
            <p:nvPr/>
          </p:nvSpPr>
          <p:spPr>
            <a:xfrm>
              <a:off x="809625" y="1600200"/>
              <a:ext cx="1714500" cy="11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zh-TW" sz="2200">
                  <a:solidFill>
                    <a:srgbClr val="0284C7"/>
                  </a:solidFill>
                  <a:latin typeface="Material Icons"/>
                  <a:ea typeface="Material Icons"/>
                  <a:cs typeface="Material Icons"/>
                  <a:sym typeface="Material Icons"/>
                </a:rPr>
                <a:t>motion_photos_on</a:t>
              </a:r>
              <a:endParaRPr sz="2200">
                <a:solidFill>
                  <a:srgbClr val="0284C7"/>
                </a:solidFill>
                <a:latin typeface="Material Icons"/>
                <a:ea typeface="Material Icons"/>
                <a:cs typeface="Material Icons"/>
                <a:sym typeface="Material Icons"/>
              </a:endParaRPr>
            </a:p>
            <a:p>
              <a:pPr indent="0" lvl="0" marL="0" rtl="0" algn="l">
                <a:spcBef>
                  <a:spcPts val="300"/>
                </a:spcBef>
                <a:spcAft>
                  <a:spcPts val="0"/>
                </a:spcAft>
                <a:buNone/>
              </a:pPr>
              <a:r>
                <a:rPr b="1" lang="zh-TW" sz="1200">
                  <a:solidFill>
                    <a:srgbClr val="0F172A"/>
                  </a:solidFill>
                  <a:latin typeface="Inter"/>
                  <a:ea typeface="Inter"/>
                  <a:cs typeface="Inter"/>
                  <a:sym typeface="Inter"/>
                </a:rPr>
                <a:t>階段一：極低算力動態萃取</a:t>
              </a:r>
              <a:endParaRPr b="1" sz="1200">
                <a:solidFill>
                  <a:srgbClr val="0F172A"/>
                </a:solidFill>
                <a:latin typeface="Inter"/>
                <a:ea typeface="Inter"/>
                <a:cs typeface="Inter"/>
                <a:sym typeface="Inter"/>
              </a:endParaRPr>
            </a:p>
            <a:p>
              <a:pPr indent="0" lvl="0" marL="0" rtl="0" algn="l">
                <a:spcBef>
                  <a:spcPts val="150"/>
                </a:spcBef>
                <a:spcAft>
                  <a:spcPts val="0"/>
                </a:spcAft>
                <a:buNone/>
              </a:pPr>
              <a:r>
                <a:rPr b="1" lang="zh-TW" sz="800">
                  <a:solidFill>
                    <a:srgbClr val="0284C7"/>
                  </a:solidFill>
                  <a:latin typeface="Inter"/>
                  <a:ea typeface="Inter"/>
                  <a:cs typeface="Inter"/>
                  <a:sym typeface="Inter"/>
                </a:rPr>
                <a:t>MOTION FEATURE EXTRACTION</a:t>
              </a:r>
              <a:endParaRPr b="1" sz="800">
                <a:solidFill>
                  <a:srgbClr val="0284C7"/>
                </a:solidFill>
                <a:latin typeface="Inter"/>
                <a:ea typeface="Inter"/>
                <a:cs typeface="Inter"/>
                <a:sym typeface="Inter"/>
              </a:endParaRPr>
            </a:p>
          </p:txBody>
        </p:sp>
        <p:sp>
          <p:nvSpPr>
            <p:cNvPr id="999" name="Google Shape;999;p66"/>
            <p:cNvSpPr txBox="1"/>
            <p:nvPr/>
          </p:nvSpPr>
          <p:spPr>
            <a:xfrm>
              <a:off x="2809875" y="1476375"/>
              <a:ext cx="2524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000">
                  <a:solidFill>
                    <a:srgbClr val="1E293B"/>
                  </a:solidFill>
                  <a:latin typeface="Inter"/>
                  <a:ea typeface="Inter"/>
                  <a:cs typeface="Inter"/>
                  <a:sym typeface="Inter"/>
                </a:rPr>
                <a:t>絕對像素差分</a:t>
              </a:r>
              <a:endParaRPr b="1" sz="10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475569"/>
                  </a:solidFill>
                  <a:latin typeface="Inter"/>
                  <a:ea typeface="Inter"/>
                  <a:cs typeface="Inter"/>
                  <a:sym typeface="Inter"/>
                </a:rPr>
                <a:t>讀取連續兩影格灰階影像，計算差異矩陣：</a:t>
              </a:r>
              <a:endParaRPr b="0" sz="900">
                <a:solidFill>
                  <a:srgbClr val="475569"/>
                </a:solidFill>
                <a:latin typeface="Inter"/>
                <a:ea typeface="Inter"/>
                <a:cs typeface="Inter"/>
                <a:sym typeface="Inter"/>
              </a:endParaRPr>
            </a:p>
          </p:txBody>
        </p:sp>
        <p:pic>
          <p:nvPicPr>
            <p:cNvPr id="1000" name="Google Shape;1000;p66"/>
            <p:cNvPicPr preferRelativeResize="0"/>
            <p:nvPr/>
          </p:nvPicPr>
          <p:blipFill rotWithShape="1">
            <a:blip r:embed="rId4">
              <a:alphaModFix/>
            </a:blip>
            <a:srcRect b="0" l="20" r="20" t="0"/>
            <a:stretch/>
          </p:blipFill>
          <p:spPr>
            <a:xfrm>
              <a:off x="2809875" y="1885950"/>
              <a:ext cx="1619100" cy="292500"/>
            </a:xfrm>
            <a:prstGeom prst="rect">
              <a:avLst/>
            </a:prstGeom>
            <a:noFill/>
            <a:ln>
              <a:noFill/>
            </a:ln>
          </p:spPr>
        </p:pic>
        <p:sp>
          <p:nvSpPr>
            <p:cNvPr id="1001" name="Google Shape;1001;p66"/>
            <p:cNvSpPr txBox="1"/>
            <p:nvPr/>
          </p:nvSpPr>
          <p:spPr>
            <a:xfrm>
              <a:off x="5476875" y="1476375"/>
              <a:ext cx="29529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000">
                  <a:solidFill>
                    <a:srgbClr val="1E293B"/>
                  </a:solidFill>
                  <a:latin typeface="Inter"/>
                  <a:ea typeface="Inter"/>
                  <a:cs typeface="Inter"/>
                  <a:sym typeface="Inter"/>
                </a:rPr>
                <a:t>二值化閾值過濾</a:t>
              </a:r>
              <a:endParaRPr b="1" sz="10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475569"/>
                  </a:solidFill>
                  <a:latin typeface="Inter"/>
                  <a:ea typeface="Inter"/>
                  <a:cs typeface="Inter"/>
                  <a:sym typeface="Inter"/>
                </a:rPr>
                <a:t>藉由閾值 Tmask 過濾噪點，生成時空遮罩 Mt：</a:t>
              </a:r>
              <a:endParaRPr b="0" sz="900">
                <a:solidFill>
                  <a:srgbClr val="475569"/>
                </a:solidFill>
                <a:latin typeface="Inter"/>
                <a:ea typeface="Inter"/>
                <a:cs typeface="Inter"/>
                <a:sym typeface="Inter"/>
              </a:endParaRPr>
            </a:p>
          </p:txBody>
        </p:sp>
        <p:pic>
          <p:nvPicPr>
            <p:cNvPr id="1002" name="Google Shape;1002;p66"/>
            <p:cNvPicPr preferRelativeResize="0"/>
            <p:nvPr/>
          </p:nvPicPr>
          <p:blipFill rotWithShape="1">
            <a:blip r:embed="rId5">
              <a:alphaModFix/>
            </a:blip>
            <a:srcRect b="40" l="0" r="0" t="30"/>
            <a:stretch/>
          </p:blipFill>
          <p:spPr>
            <a:xfrm>
              <a:off x="5476875" y="1885950"/>
              <a:ext cx="1714500" cy="356100"/>
            </a:xfrm>
            <a:prstGeom prst="rect">
              <a:avLst/>
            </a:prstGeom>
            <a:noFill/>
            <a:ln>
              <a:noFill/>
            </a:ln>
          </p:spPr>
        </p:pic>
        <p:sp>
          <p:nvSpPr>
            <p:cNvPr id="1003" name="Google Shape;1003;p66"/>
            <p:cNvSpPr txBox="1"/>
            <p:nvPr/>
          </p:nvSpPr>
          <p:spPr>
            <a:xfrm>
              <a:off x="2809875" y="2400300"/>
              <a:ext cx="56199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950">
                  <a:solidFill>
                    <a:srgbClr val="1E293B"/>
                  </a:solidFill>
                  <a:latin typeface="Inter"/>
                  <a:ea typeface="Inter"/>
                  <a:cs typeface="Inter"/>
                  <a:sym typeface="Inter"/>
                </a:rPr>
                <a:t>極低運算複雜度：</a:t>
              </a:r>
              <a:r>
                <a:rPr b="0" lang="zh-TW" sz="950">
                  <a:solidFill>
                    <a:srgbClr val="475569"/>
                  </a:solidFill>
                  <a:latin typeface="Inter"/>
                  <a:ea typeface="Inter"/>
                  <a:cs typeface="Inter"/>
                  <a:sym typeface="Inter"/>
                </a:rPr>
                <a:t>O(N) 像素級運算，在 Jetson Nano 上耗時趨近於 0 毫秒。</a:t>
              </a:r>
              <a:endParaRPr b="1" sz="950">
                <a:solidFill>
                  <a:srgbClr val="1E293B"/>
                </a:solidFill>
                <a:latin typeface="Inter"/>
                <a:ea typeface="Inter"/>
                <a:cs typeface="Inter"/>
                <a:sym typeface="Inter"/>
              </a:endParaRPr>
            </a:p>
          </p:txBody>
        </p:sp>
        <p:sp>
          <p:nvSpPr>
            <p:cNvPr id="1004" name="Google Shape;1004;p66"/>
            <p:cNvSpPr/>
            <p:nvPr/>
          </p:nvSpPr>
          <p:spPr>
            <a:xfrm>
              <a:off x="1619250" y="2809875"/>
              <a:ext cx="95400" cy="362100"/>
            </a:xfrm>
            <a:custGeom>
              <a:rect b="b" l="l" r="r" t="t"/>
              <a:pathLst>
                <a:path extrusionOk="0" h="120000" w="120000">
                  <a:moveTo>
                    <a:pt x="60000" y="0"/>
                  </a:moveTo>
                  <a:lnTo>
                    <a:pt x="60000" y="120000"/>
                  </a:lnTo>
                  <a:moveTo>
                    <a:pt x="0" y="101053"/>
                  </a:moveTo>
                  <a:lnTo>
                    <a:pt x="60000" y="120000"/>
                  </a:lnTo>
                  <a:lnTo>
                    <a:pt x="120000" y="101053"/>
                  </a:lnTo>
                </a:path>
              </a:pathLst>
            </a:custGeom>
            <a:solidFill>
              <a:srgbClr val="000000">
                <a:alpha val="0"/>
              </a:srgbClr>
            </a:solidFill>
            <a:ln cap="rnd"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5" name="Google Shape;1005;p66"/>
            <p:cNvSpPr/>
            <p:nvPr/>
          </p:nvSpPr>
          <p:spPr>
            <a:xfrm>
              <a:off x="571500" y="3190875"/>
              <a:ext cx="8001000" cy="1571700"/>
            </a:xfrm>
            <a:prstGeom prst="roundRect">
              <a:avLst>
                <a:gd fmla="val 727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6" name="Google Shape;1006;p66"/>
            <p:cNvSpPr/>
            <p:nvPr/>
          </p:nvSpPr>
          <p:spPr>
            <a:xfrm>
              <a:off x="714375" y="3333750"/>
              <a:ext cx="1905000" cy="1285800"/>
            </a:xfrm>
            <a:prstGeom prst="roundRect">
              <a:avLst>
                <a:gd fmla="val 5925"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7" name="Google Shape;1007;p66"/>
            <p:cNvSpPr txBox="1"/>
            <p:nvPr/>
          </p:nvSpPr>
          <p:spPr>
            <a:xfrm>
              <a:off x="809625" y="3409950"/>
              <a:ext cx="1714500" cy="11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zh-TW" sz="2200">
                  <a:solidFill>
                    <a:srgbClr val="16A34A"/>
                  </a:solidFill>
                  <a:latin typeface="Material Icons"/>
                  <a:ea typeface="Material Icons"/>
                  <a:cs typeface="Material Icons"/>
                  <a:sym typeface="Material Icons"/>
                </a:rPr>
                <a:t>shield</a:t>
              </a:r>
              <a:endParaRPr sz="2200">
                <a:solidFill>
                  <a:srgbClr val="16A34A"/>
                </a:solidFill>
                <a:latin typeface="Material Icons"/>
                <a:ea typeface="Material Icons"/>
                <a:cs typeface="Material Icons"/>
                <a:sym typeface="Material Icons"/>
              </a:endParaRPr>
            </a:p>
            <a:p>
              <a:pPr indent="0" lvl="0" marL="0" rtl="0" algn="l">
                <a:spcBef>
                  <a:spcPts val="300"/>
                </a:spcBef>
                <a:spcAft>
                  <a:spcPts val="0"/>
                </a:spcAft>
                <a:buNone/>
              </a:pPr>
              <a:r>
                <a:rPr b="1" lang="zh-TW" sz="1200">
                  <a:solidFill>
                    <a:srgbClr val="0F172A"/>
                  </a:solidFill>
                  <a:latin typeface="Inter"/>
                  <a:ea typeface="Inter"/>
                  <a:cs typeface="Inter"/>
                  <a:sym typeface="Inter"/>
                </a:rPr>
                <a:t>階段二：物理強制歸零防禦</a:t>
              </a:r>
              <a:endParaRPr b="1" sz="1200">
                <a:solidFill>
                  <a:srgbClr val="0F172A"/>
                </a:solidFill>
                <a:latin typeface="Inter"/>
                <a:ea typeface="Inter"/>
                <a:cs typeface="Inter"/>
                <a:sym typeface="Inter"/>
              </a:endParaRPr>
            </a:p>
            <a:p>
              <a:pPr indent="0" lvl="0" marL="0" rtl="0" algn="l">
                <a:spcBef>
                  <a:spcPts val="150"/>
                </a:spcBef>
                <a:spcAft>
                  <a:spcPts val="0"/>
                </a:spcAft>
                <a:buNone/>
              </a:pPr>
              <a:r>
                <a:rPr b="1" lang="zh-TW" sz="800">
                  <a:solidFill>
                    <a:srgbClr val="16A34A"/>
                  </a:solidFill>
                  <a:latin typeface="Inter"/>
                  <a:ea typeface="Inter"/>
                  <a:cs typeface="Inter"/>
                  <a:sym typeface="Inter"/>
                </a:rPr>
                <a:t>PHYSICAL MASKING DEFENSE</a:t>
              </a:r>
              <a:endParaRPr b="1" sz="800">
                <a:solidFill>
                  <a:srgbClr val="16A34A"/>
                </a:solidFill>
                <a:latin typeface="Inter"/>
                <a:ea typeface="Inter"/>
                <a:cs typeface="Inter"/>
                <a:sym typeface="Inter"/>
              </a:endParaRPr>
            </a:p>
          </p:txBody>
        </p:sp>
        <p:sp>
          <p:nvSpPr>
            <p:cNvPr id="1008" name="Google Shape;1008;p66"/>
            <p:cNvSpPr txBox="1"/>
            <p:nvPr/>
          </p:nvSpPr>
          <p:spPr>
            <a:xfrm>
              <a:off x="2809875" y="3286125"/>
              <a:ext cx="2524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925">
                  <a:solidFill>
                    <a:srgbClr val="1E293B"/>
                  </a:solidFill>
                  <a:latin typeface="Inter"/>
                  <a:ea typeface="Inter"/>
                  <a:cs typeface="Inter"/>
                  <a:sym typeface="Inter"/>
                </a:rPr>
                <a:t>哈達瑪積修正</a:t>
              </a:r>
              <a:endParaRPr b="1" sz="925">
                <a:solidFill>
                  <a:srgbClr val="1E293B"/>
                </a:solidFill>
                <a:latin typeface="Inter"/>
                <a:ea typeface="Inter"/>
                <a:cs typeface="Inter"/>
                <a:sym typeface="Inter"/>
              </a:endParaRPr>
            </a:p>
            <a:p>
              <a:pPr indent="0" lvl="0" marL="0" rtl="0" algn="l">
                <a:spcBef>
                  <a:spcPts val="0"/>
                </a:spcBef>
                <a:spcAft>
                  <a:spcPts val="0"/>
                </a:spcAft>
                <a:buNone/>
              </a:pPr>
              <a:r>
                <a:rPr b="0" lang="zh-TW" sz="833">
                  <a:solidFill>
                    <a:srgbClr val="475569"/>
                  </a:solidFill>
                  <a:latin typeface="Inter"/>
                  <a:ea typeface="Inter"/>
                  <a:cs typeface="Inter"/>
                  <a:sym typeface="Inter"/>
                </a:rPr>
                <a:t>將預測熱力圖 Ht 與動態遮罩 Mt 執行元素級相乘，修正輸出：</a:t>
              </a:r>
              <a:endParaRPr b="0" sz="833">
                <a:solidFill>
                  <a:srgbClr val="475569"/>
                </a:solidFill>
                <a:latin typeface="Inter"/>
                <a:ea typeface="Inter"/>
                <a:cs typeface="Inter"/>
                <a:sym typeface="Inter"/>
              </a:endParaRPr>
            </a:p>
          </p:txBody>
        </p:sp>
        <p:pic>
          <p:nvPicPr>
            <p:cNvPr id="1009" name="Google Shape;1009;p66"/>
            <p:cNvPicPr preferRelativeResize="0"/>
            <p:nvPr/>
          </p:nvPicPr>
          <p:blipFill rotWithShape="1">
            <a:blip r:embed="rId6">
              <a:alphaModFix/>
            </a:blip>
            <a:srcRect b="110" l="0" r="0" t="120"/>
            <a:stretch/>
          </p:blipFill>
          <p:spPr>
            <a:xfrm>
              <a:off x="2809875" y="3714750"/>
              <a:ext cx="857400" cy="266700"/>
            </a:xfrm>
            <a:prstGeom prst="rect">
              <a:avLst/>
            </a:prstGeom>
            <a:noFill/>
            <a:ln>
              <a:noFill/>
            </a:ln>
          </p:spPr>
        </p:pic>
        <p:sp>
          <p:nvSpPr>
            <p:cNvPr id="1010" name="Google Shape;1010;p66"/>
            <p:cNvSpPr txBox="1"/>
            <p:nvPr/>
          </p:nvSpPr>
          <p:spPr>
            <a:xfrm>
              <a:off x="5476875" y="3286125"/>
              <a:ext cx="29529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000">
                  <a:solidFill>
                    <a:srgbClr val="1E293B"/>
                  </a:solidFill>
                  <a:latin typeface="Inter"/>
                  <a:ea typeface="Inter"/>
                  <a:cs typeface="Inter"/>
                  <a:sym typeface="Inter"/>
                </a:rPr>
                <a:t>抑制靜態干擾</a:t>
              </a:r>
              <a:endParaRPr b="1" sz="10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475569"/>
                  </a:solidFill>
                  <a:latin typeface="Inter"/>
                  <a:ea typeface="Inter"/>
                  <a:cs typeface="Inter"/>
                  <a:sym typeface="Inter"/>
                </a:rPr>
                <a:t>防止模型受到靜態白線、高對比廣告牌、緩慢移動球員等高信心度偽陽性干擾。</a:t>
              </a:r>
              <a:endParaRPr b="0" sz="900">
                <a:solidFill>
                  <a:srgbClr val="475569"/>
                </a:solidFill>
                <a:latin typeface="Inter"/>
                <a:ea typeface="Inter"/>
                <a:cs typeface="Inter"/>
                <a:sym typeface="Inter"/>
              </a:endParaRPr>
            </a:p>
          </p:txBody>
        </p:sp>
        <p:sp>
          <p:nvSpPr>
            <p:cNvPr id="1011" name="Google Shape;1011;p66"/>
            <p:cNvSpPr txBox="1"/>
            <p:nvPr/>
          </p:nvSpPr>
          <p:spPr>
            <a:xfrm>
              <a:off x="2809875" y="4210050"/>
              <a:ext cx="56199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950">
                  <a:solidFill>
                    <a:srgbClr val="EF4444"/>
                  </a:solidFill>
                  <a:latin typeface="Inter"/>
                  <a:ea typeface="Inter"/>
                  <a:cs typeface="Inter"/>
                  <a:sym typeface="Inter"/>
                </a:rPr>
                <a:t>物理性強制歸零：</a:t>
              </a:r>
              <a:r>
                <a:rPr b="0" lang="zh-TW" sz="950">
                  <a:solidFill>
                    <a:srgbClr val="475569"/>
                  </a:solidFill>
                  <a:latin typeface="Inter"/>
                  <a:ea typeface="Inter"/>
                  <a:cs typeface="Inter"/>
                  <a:sym typeface="Inter"/>
                </a:rPr>
                <a:t>若影格變化量未跨越閾值（遮罩值為 0），最終信心度在數學上強制歸零！</a:t>
              </a:r>
              <a:endParaRPr b="1" sz="950">
                <a:solidFill>
                  <a:srgbClr val="EF4444"/>
                </a:solidFill>
                <a:latin typeface="Inter"/>
                <a:ea typeface="Inter"/>
                <a:cs typeface="Inter"/>
                <a:sym typeface="Inter"/>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5" name="Shape 1015"/>
        <p:cNvGrpSpPr/>
        <p:nvPr/>
      </p:nvGrpSpPr>
      <p:grpSpPr>
        <a:xfrm>
          <a:off x="0" y="0"/>
          <a:ext cx="0" cy="0"/>
          <a:chOff x="0" y="0"/>
          <a:chExt cx="0" cy="0"/>
        </a:xfrm>
      </p:grpSpPr>
      <p:grpSp>
        <p:nvGrpSpPr>
          <p:cNvPr id="1016" name="Google Shape;1016;p67"/>
          <p:cNvGrpSpPr/>
          <p:nvPr/>
        </p:nvGrpSpPr>
        <p:grpSpPr>
          <a:xfrm>
            <a:off x="-476250" y="-857250"/>
            <a:ext cx="10477500" cy="6381750"/>
            <a:chOff x="-476250" y="-857250"/>
            <a:chExt cx="10477500" cy="6381750"/>
          </a:xfrm>
        </p:grpSpPr>
        <p:sp>
          <p:nvSpPr>
            <p:cNvPr id="1017" name="Google Shape;1017;p6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8" name="Google Shape;1018;p6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9" name="Google Shape;1019;p6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20" name="Google Shape;1020;p67"/>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ROI 大小選用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Select the size of ROI </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1021" name="Google Shape;1021;p67"/>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grpSp>
        <p:nvGrpSpPr>
          <p:cNvPr id="1026" name="Google Shape;1026;p68"/>
          <p:cNvGrpSpPr/>
          <p:nvPr/>
        </p:nvGrpSpPr>
        <p:grpSpPr>
          <a:xfrm>
            <a:off x="-476250" y="-857250"/>
            <a:ext cx="10477500" cy="6381750"/>
            <a:chOff x="-476250" y="-857250"/>
            <a:chExt cx="10477500" cy="6381750"/>
          </a:xfrm>
        </p:grpSpPr>
        <p:sp>
          <p:nvSpPr>
            <p:cNvPr id="1027" name="Google Shape;1027;p6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8" name="Google Shape;1028;p6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9" name="Google Shape;1029;p6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0" name="Google Shape;1030;p68"/>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31" name="Google Shape;1031;p68"/>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數據調整</a:t>
            </a:r>
            <a:endParaRPr b="1" sz="333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模型推論與動態遮罩超參數實驗設定</a:t>
            </a:r>
            <a:endParaRPr b="0" sz="1100">
              <a:solidFill>
                <a:srgbClr val="64748B"/>
              </a:solidFill>
              <a:latin typeface="Inter"/>
              <a:ea typeface="Inter"/>
              <a:cs typeface="Inter"/>
              <a:sym typeface="Inter"/>
            </a:endParaRPr>
          </a:p>
        </p:txBody>
      </p:sp>
      <p:sp>
        <p:nvSpPr>
          <p:cNvPr id="1032" name="Google Shape;1032;p68"/>
          <p:cNvSpPr txBox="1"/>
          <p:nvPr>
            <p:ph idx="1" type="body"/>
          </p:nvPr>
        </p:nvSpPr>
        <p:spPr>
          <a:xfrm>
            <a:off x="571500" y="1381125"/>
            <a:ext cx="40005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66700" lIns="266700" spcFirstLastPara="1" rIns="266700" wrap="square" tIns="266700">
            <a:normAutofit lnSpcReduction="10000"/>
          </a:bodyPr>
          <a:lstStyle/>
          <a:p>
            <a:pPr indent="0" lvl="0" marL="0" rtl="0" algn="l">
              <a:spcBef>
                <a:spcPts val="0"/>
              </a:spcBef>
              <a:spcAft>
                <a:spcPts val="0"/>
              </a:spcAft>
              <a:buNone/>
            </a:pPr>
            <a:r>
              <a:rPr b="1" lang="zh-TW" sz="1500">
                <a:solidFill>
                  <a:srgbClr val="3B82F6"/>
                </a:solidFill>
                <a:latin typeface="Material Icons"/>
                <a:ea typeface="Material Icons"/>
                <a:cs typeface="Material Icons"/>
                <a:sym typeface="Material Icons"/>
              </a:rPr>
              <a:t>tune</a:t>
            </a:r>
            <a:r>
              <a:rPr b="1" lang="zh-TW" sz="1300">
                <a:solidFill>
                  <a:srgbClr val="1E293B"/>
                </a:solidFill>
                <a:highlight>
                  <a:srgbClr val="F8FAFC"/>
                </a:highlight>
                <a:latin typeface="Inter"/>
                <a:ea typeface="Inter"/>
                <a:cs typeface="Inter"/>
                <a:sym typeface="Inter"/>
              </a:rPr>
              <a:t> 遮罩 Threshold</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0"/>
              </a:spcAft>
              <a:buNone/>
            </a:pPr>
            <a:r>
              <a:rPr b="1" lang="zh-TW" sz="1200">
                <a:solidFill>
                  <a:srgbClr val="2563EB"/>
                </a:solidFill>
                <a:latin typeface="Courier New"/>
                <a:ea typeface="Courier New"/>
                <a:cs typeface="Courier New"/>
                <a:sym typeface="Courier New"/>
              </a:rPr>
              <a:t>10,15,20</a:t>
            </a:r>
            <a:endParaRPr sz="1200">
              <a:solidFill>
                <a:srgbClr val="0F172A"/>
              </a:solidFill>
              <a:highlight>
                <a:srgbClr val="E2E8F0"/>
              </a:highlight>
              <a:latin typeface="Courier New"/>
              <a:ea typeface="Courier New"/>
              <a:cs typeface="Courier New"/>
              <a:sym typeface="Courier New"/>
            </a:endParaRPr>
          </a:p>
          <a:p>
            <a:pPr indent="0" lvl="0" marL="0" rtl="0" algn="l">
              <a:spcBef>
                <a:spcPts val="1500"/>
              </a:spcBef>
              <a:spcAft>
                <a:spcPts val="0"/>
              </a:spcAft>
              <a:buNone/>
            </a:pPr>
            <a:r>
              <a:rPr b="1" lang="zh-TW" sz="1500">
                <a:solidFill>
                  <a:srgbClr val="3B82F6"/>
                </a:solidFill>
                <a:latin typeface="Material Icons"/>
                <a:ea typeface="Material Icons"/>
                <a:cs typeface="Material Icons"/>
                <a:sym typeface="Material Icons"/>
              </a:rPr>
              <a:t>center_focus_weak</a:t>
            </a:r>
            <a:r>
              <a:rPr b="1" lang="zh-TW" sz="1300">
                <a:solidFill>
                  <a:srgbClr val="1E293B"/>
                </a:solidFill>
                <a:highlight>
                  <a:srgbClr val="F8FAFC"/>
                </a:highlight>
                <a:latin typeface="Inter"/>
                <a:ea typeface="Inter"/>
                <a:cs typeface="Inter"/>
                <a:sym typeface="Inter"/>
              </a:rPr>
              <a:t> 區域推論信心度設置</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0"/>
              </a:spcAft>
              <a:buNone/>
            </a:pPr>
            <a:r>
              <a:rPr b="1" lang="zh-TW" sz="1200">
                <a:solidFill>
                  <a:srgbClr val="2563EB"/>
                </a:solidFill>
                <a:latin typeface="Courier New"/>
                <a:ea typeface="Courier New"/>
                <a:cs typeface="Courier New"/>
                <a:sym typeface="Courier New"/>
              </a:rPr>
              <a:t>0.45,0.55,0.65</a:t>
            </a:r>
            <a:endParaRPr sz="1200">
              <a:solidFill>
                <a:srgbClr val="0F172A"/>
              </a:solidFill>
              <a:highlight>
                <a:srgbClr val="E2E8F0"/>
              </a:highlight>
              <a:latin typeface="Courier New"/>
              <a:ea typeface="Courier New"/>
              <a:cs typeface="Courier New"/>
              <a:sym typeface="Courier New"/>
            </a:endParaRPr>
          </a:p>
          <a:p>
            <a:pPr indent="0" lvl="0" marL="0" rtl="0" algn="l">
              <a:spcBef>
                <a:spcPts val="1500"/>
              </a:spcBef>
              <a:spcAft>
                <a:spcPts val="0"/>
              </a:spcAft>
              <a:buNone/>
            </a:pPr>
            <a:r>
              <a:rPr b="1" lang="zh-TW" sz="1500">
                <a:solidFill>
                  <a:srgbClr val="3B82F6"/>
                </a:solidFill>
                <a:latin typeface="Material Icons"/>
                <a:ea typeface="Material Icons"/>
                <a:cs typeface="Material Icons"/>
                <a:sym typeface="Material Icons"/>
              </a:rPr>
              <a:t>public</a:t>
            </a:r>
            <a:r>
              <a:rPr b="1" lang="zh-TW" sz="1300">
                <a:solidFill>
                  <a:srgbClr val="1E293B"/>
                </a:solidFill>
                <a:highlight>
                  <a:srgbClr val="F8FAFC"/>
                </a:highlight>
                <a:latin typeface="Inter"/>
                <a:ea typeface="Inter"/>
                <a:cs typeface="Inter"/>
                <a:sym typeface="Inter"/>
              </a:rPr>
              <a:t> 全域推論信心度設置</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0"/>
              </a:spcAft>
              <a:buNone/>
            </a:pPr>
            <a:r>
              <a:rPr b="1" lang="zh-TW" sz="1200">
                <a:solidFill>
                  <a:srgbClr val="2563EB"/>
                </a:solidFill>
                <a:latin typeface="Courier New"/>
                <a:ea typeface="Courier New"/>
                <a:cs typeface="Courier New"/>
                <a:sym typeface="Courier New"/>
              </a:rPr>
              <a:t>0.55,0.62,0.70</a:t>
            </a:r>
            <a:endParaRPr sz="1200">
              <a:solidFill>
                <a:srgbClr val="0F172A"/>
              </a:solidFill>
              <a:highlight>
                <a:srgbClr val="E2E8F0"/>
              </a:highlight>
              <a:latin typeface="Courier New"/>
              <a:ea typeface="Courier New"/>
              <a:cs typeface="Courier New"/>
              <a:sym typeface="Courier New"/>
            </a:endParaRPr>
          </a:p>
          <a:p>
            <a:pPr indent="0" lvl="0" marL="0" rtl="0" algn="l">
              <a:spcBef>
                <a:spcPts val="1500"/>
              </a:spcBef>
              <a:spcAft>
                <a:spcPts val="0"/>
              </a:spcAft>
              <a:buNone/>
            </a:pPr>
            <a:r>
              <a:rPr b="1" lang="zh-TW" sz="1500">
                <a:solidFill>
                  <a:srgbClr val="3B82F6"/>
                </a:solidFill>
                <a:latin typeface="Material Icons"/>
                <a:ea typeface="Material Icons"/>
                <a:cs typeface="Material Icons"/>
                <a:sym typeface="Material Icons"/>
              </a:rPr>
              <a:t>trending_down</a:t>
            </a:r>
            <a:r>
              <a:rPr b="1" lang="zh-TW" sz="1300">
                <a:solidFill>
                  <a:srgbClr val="1E293B"/>
                </a:solidFill>
                <a:highlight>
                  <a:srgbClr val="F8FAFC"/>
                </a:highlight>
                <a:latin typeface="Inter"/>
                <a:ea typeface="Inter"/>
                <a:cs typeface="Inter"/>
                <a:sym typeface="Inter"/>
              </a:rPr>
              <a:t> 丟失 Derating</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1200"/>
              </a:spcAft>
              <a:buNone/>
            </a:pPr>
            <a:r>
              <a:rPr b="1" lang="zh-TW" sz="1200">
                <a:solidFill>
                  <a:srgbClr val="2563EB"/>
                </a:solidFill>
                <a:latin typeface="Courier New"/>
                <a:ea typeface="Courier New"/>
                <a:cs typeface="Courier New"/>
                <a:sym typeface="Courier New"/>
              </a:rPr>
              <a:t>1,2,3</a:t>
            </a:r>
            <a:endParaRPr sz="1200">
              <a:solidFill>
                <a:srgbClr val="0F172A"/>
              </a:solidFill>
              <a:highlight>
                <a:srgbClr val="E2E8F0"/>
              </a:highlight>
              <a:latin typeface="Courier New"/>
              <a:ea typeface="Courier New"/>
              <a:cs typeface="Courier New"/>
              <a:sym typeface="Courier New"/>
            </a:endParaRPr>
          </a:p>
        </p:txBody>
      </p:sp>
      <p:sp>
        <p:nvSpPr>
          <p:cNvPr id="1033" name="Google Shape;1033;p68"/>
          <p:cNvSpPr txBox="1"/>
          <p:nvPr>
            <p:ph idx="1" type="body"/>
          </p:nvPr>
        </p:nvSpPr>
        <p:spPr>
          <a:xfrm>
            <a:off x="4612625" y="1381125"/>
            <a:ext cx="40005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66700" lIns="266700" spcFirstLastPara="1" rIns="266700" wrap="square" tIns="266700">
            <a:normAutofit/>
          </a:bodyPr>
          <a:lstStyle/>
          <a:p>
            <a:pPr indent="0" lvl="0" marL="0" rtl="0" algn="l">
              <a:spcBef>
                <a:spcPts val="0"/>
              </a:spcBef>
              <a:spcAft>
                <a:spcPts val="0"/>
              </a:spcAft>
              <a:buNone/>
            </a:pPr>
            <a:r>
              <a:rPr b="1" lang="zh-TW" sz="1500">
                <a:solidFill>
                  <a:srgbClr val="3B82F6"/>
                </a:solidFill>
                <a:latin typeface="Material Icons"/>
                <a:ea typeface="Material Icons"/>
                <a:cs typeface="Material Icons"/>
                <a:sym typeface="Material Icons"/>
              </a:rPr>
              <a:t>tune</a:t>
            </a:r>
            <a:r>
              <a:rPr b="1" lang="zh-TW" sz="1300">
                <a:solidFill>
                  <a:srgbClr val="1E293B"/>
                </a:solidFill>
                <a:highlight>
                  <a:srgbClr val="F8FAFC"/>
                </a:highlight>
                <a:latin typeface="Inter"/>
                <a:ea typeface="Inter"/>
                <a:cs typeface="Inter"/>
                <a:sym typeface="Inter"/>
              </a:rPr>
              <a:t>總共81組測試</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750"/>
              </a:spcAft>
              <a:buClr>
                <a:schemeClr val="dk1"/>
              </a:buClr>
              <a:buSzPts val="1100"/>
              <a:buFont typeface="Arial"/>
              <a:buNone/>
            </a:pPr>
            <a:r>
              <a:rPr b="1" lang="zh-TW" sz="1500">
                <a:solidFill>
                  <a:srgbClr val="3B82F6"/>
                </a:solidFill>
                <a:latin typeface="Material Icons"/>
                <a:ea typeface="Material Icons"/>
                <a:cs typeface="Material Icons"/>
                <a:sym typeface="Material Icons"/>
              </a:rPr>
              <a:t>center_focus_weak</a:t>
            </a:r>
            <a:r>
              <a:rPr b="1" lang="zh-TW" sz="1300">
                <a:solidFill>
                  <a:srgbClr val="1E293B"/>
                </a:solidFill>
                <a:highlight>
                  <a:srgbClr val="F8FAFC"/>
                </a:highlight>
                <a:latin typeface="Inter"/>
                <a:ea typeface="Inter"/>
                <a:cs typeface="Inter"/>
                <a:sym typeface="Inter"/>
              </a:rPr>
              <a:t> 23場測試影片,共147個影片片段</a:t>
            </a:r>
            <a:endParaRPr b="1" sz="1300">
              <a:solidFill>
                <a:srgbClr val="1E293B"/>
              </a:solidFill>
              <a:highlight>
                <a:srgbClr val="F8FAFC"/>
              </a:highlight>
              <a:latin typeface="Inter"/>
              <a:ea typeface="Inter"/>
              <a:cs typeface="Inter"/>
              <a:sym typeface="Inte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grpSp>
        <p:nvGrpSpPr>
          <p:cNvPr id="1038" name="Google Shape;1038;p69"/>
          <p:cNvGrpSpPr/>
          <p:nvPr/>
        </p:nvGrpSpPr>
        <p:grpSpPr>
          <a:xfrm>
            <a:off x="-476250" y="-857250"/>
            <a:ext cx="10477500" cy="6381750"/>
            <a:chOff x="-476250" y="-857250"/>
            <a:chExt cx="10477500" cy="6381750"/>
          </a:xfrm>
        </p:grpSpPr>
        <p:sp>
          <p:nvSpPr>
            <p:cNvPr id="1039" name="Google Shape;1039;p6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0" name="Google Shape;1040;p6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1" name="Google Shape;1041;p6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2" name="Google Shape;1042;p69"/>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43" name="Google Shape;1043;p69"/>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800">
                <a:solidFill>
                  <a:srgbClr val="1E293B"/>
                </a:solidFill>
                <a:latin typeface="Inter"/>
                <a:ea typeface="Inter"/>
                <a:cs typeface="Inter"/>
                <a:sym typeface="Inter"/>
              </a:rPr>
              <a:t>數據比較</a:t>
            </a:r>
            <a:endParaRPr b="1" sz="28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128x128 與 64x64 模型效能與改進幅度對照</a:t>
            </a:r>
            <a:endParaRPr b="0" sz="1100">
              <a:solidFill>
                <a:srgbClr val="64748B"/>
              </a:solidFill>
              <a:latin typeface="Inter"/>
              <a:ea typeface="Inter"/>
              <a:cs typeface="Inter"/>
              <a:sym typeface="Inter"/>
            </a:endParaRPr>
          </a:p>
        </p:txBody>
      </p:sp>
      <p:graphicFrame>
        <p:nvGraphicFramePr>
          <p:cNvPr id="1044" name="Google Shape;1044;p69"/>
          <p:cNvGraphicFramePr/>
          <p:nvPr/>
        </p:nvGraphicFramePr>
        <p:xfrm>
          <a:off x="571500" y="1238250"/>
          <a:ext cx="3000000" cy="3000000"/>
        </p:xfrm>
        <a:graphic>
          <a:graphicData uri="http://schemas.openxmlformats.org/drawingml/2006/table">
            <a:tbl>
              <a:tblPr>
                <a:noFill/>
                <a:tableStyleId>{711371B8-0F67-4F3D-9DD3-952783FBF680}</a:tableStyleId>
              </a:tblPr>
              <a:tblGrid>
                <a:gridCol w="2000250"/>
                <a:gridCol w="2000250"/>
                <a:gridCol w="2000250"/>
                <a:gridCol w="2000250"/>
              </a:tblGrid>
              <a:tr h="503450">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評估指標</a:t>
                      </a:r>
                      <a:endParaRPr b="1" sz="1100">
                        <a:solidFill>
                          <a:srgbClr val="475569"/>
                        </a:solidFill>
                        <a:latin typeface="Inter"/>
                        <a:ea typeface="Inter"/>
                        <a:cs typeface="Inter"/>
                        <a:sym typeface="Inter"/>
                      </a:endParaRPr>
                    </a:p>
                  </a:txBody>
                  <a:tcPr marT="95250" marB="95250" marR="114300" marL="114300"/>
                </a:tc>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128x128 最佳表現</a:t>
                      </a:r>
                      <a:endParaRPr b="1" sz="1100">
                        <a:solidFill>
                          <a:srgbClr val="475569"/>
                        </a:solidFill>
                        <a:latin typeface="Inter"/>
                        <a:ea typeface="Inter"/>
                        <a:cs typeface="Inter"/>
                        <a:sym typeface="Inter"/>
                      </a:endParaRPr>
                    </a:p>
                  </a:txBody>
                  <a:tcPr marT="95250" marB="95250" marR="114300" marL="114300"/>
                </a:tc>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64x64 最佳表現</a:t>
                      </a:r>
                      <a:endParaRPr b="1" sz="1100">
                        <a:solidFill>
                          <a:srgbClr val="475569"/>
                        </a:solidFill>
                        <a:latin typeface="Inter"/>
                        <a:ea typeface="Inter"/>
                        <a:cs typeface="Inter"/>
                        <a:sym typeface="Inter"/>
                      </a:endParaRPr>
                    </a:p>
                  </a:txBody>
                  <a:tcPr marT="95250" marB="95250" marR="114300" marL="114300"/>
                </a:tc>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64x64 改進幅度</a:t>
                      </a:r>
                      <a:endParaRPr b="1" sz="1100">
                        <a:solidFill>
                          <a:srgbClr val="475569"/>
                        </a:solidFill>
                        <a:latin typeface="Inter"/>
                        <a:ea typeface="Inter"/>
                        <a:cs typeface="Inter"/>
                        <a:sym typeface="Inter"/>
                      </a:endParaRPr>
                    </a:p>
                  </a:txBody>
                  <a:tcPr marT="95250" marB="95250" marR="114300" marL="114300"/>
                </a:tc>
              </a:tr>
              <a:tr h="50347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超參數組合</a:t>
                      </a:r>
                      <a:endParaRPr b="0" sz="1100">
                        <a:solidFill>
                          <a:srgbClr val="1E293B"/>
                        </a:solidFill>
                        <a:latin typeface="Inter SemiBold"/>
                        <a:ea typeface="Inter SemiBold"/>
                        <a:cs typeface="Inter SemiBold"/>
                        <a:sym typeface="Inter SemiBold"/>
                      </a:endParaRPr>
                    </a:p>
                    <a:p>
                      <a:pPr indent="0" lvl="0" marL="0" rtl="0" algn="l">
                        <a:spcBef>
                          <a:spcPts val="0"/>
                        </a:spcBef>
                        <a:spcAft>
                          <a:spcPts val="0"/>
                        </a:spcAft>
                        <a:buNone/>
                      </a:pPr>
                      <a:r>
                        <a:rPr lang="zh-TW" sz="1100">
                          <a:solidFill>
                            <a:srgbClr val="1E293B"/>
                          </a:solidFill>
                          <a:latin typeface="Inter SemiBold"/>
                          <a:ea typeface="Inter SemiBold"/>
                          <a:cs typeface="Inter SemiBold"/>
                          <a:sym typeface="Inter SemiBold"/>
                        </a:rPr>
                        <a:t>(遮罩/區域信心度/全域信心度/丟失 Derating)</a:t>
                      </a:r>
                      <a:endParaRPr sz="1100">
                        <a:solidFill>
                          <a:srgbClr val="1E293B"/>
                        </a:solidFill>
                        <a:latin typeface="Inter SemiBold"/>
                        <a:ea typeface="Inter SemiBold"/>
                        <a:cs typeface="Inter SemiBold"/>
                        <a:sym typeface="Inter SemiBold"/>
                      </a:endParaRPr>
                    </a:p>
                  </a:txBody>
                  <a:tcPr marT="95250" marB="95250" marR="114300" marL="114300">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50">
                          <a:solidFill>
                            <a:srgbClr val="334155"/>
                          </a:solidFill>
                          <a:latin typeface="Arial"/>
                          <a:ea typeface="Arial"/>
                          <a:cs typeface="Arial"/>
                          <a:sym typeface="Arial"/>
                        </a:rPr>
                        <a:t>10 / 0.55 / 0.55 / 3</a:t>
                      </a:r>
                      <a:endParaRPr sz="1050">
                        <a:solidFill>
                          <a:srgbClr val="334155"/>
                        </a:solidFill>
                        <a:latin typeface="Arial"/>
                        <a:ea typeface="Arial"/>
                        <a:cs typeface="Arial"/>
                        <a:sym typeface="Arial"/>
                      </a:endParaRPr>
                    </a:p>
                  </a:txBody>
                  <a:tcPr marT="95250" marB="95250" marR="114300" marL="114300">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50">
                          <a:solidFill>
                            <a:srgbClr val="334155"/>
                          </a:solidFill>
                          <a:latin typeface="Arial"/>
                          <a:ea typeface="Arial"/>
                          <a:cs typeface="Arial"/>
                          <a:sym typeface="Arial"/>
                        </a:rPr>
                        <a:t>10 / 0.55 / 0.55 / 3</a:t>
                      </a:r>
                      <a:endParaRPr sz="1050">
                        <a:solidFill>
                          <a:srgbClr val="334155"/>
                        </a:solidFill>
                        <a:latin typeface="Arial"/>
                        <a:ea typeface="Arial"/>
                        <a:cs typeface="Arial"/>
                        <a:sym typeface="Arial"/>
                      </a:endParaRPr>
                    </a:p>
                  </a:txBody>
                  <a:tcPr marT="95250" marB="95250" marR="114300" marL="114300">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lang="zh-TW" sz="1000">
                          <a:solidFill>
                            <a:srgbClr val="64748B"/>
                          </a:solidFill>
                          <a:latin typeface="Inter Medium"/>
                          <a:ea typeface="Inter Medium"/>
                          <a:cs typeface="Inter Medium"/>
                          <a:sym typeface="Inter Medium"/>
                        </a:rPr>
                        <a:t>相同條件</a:t>
                      </a:r>
                      <a:endParaRPr>
                        <a:latin typeface="Inter"/>
                        <a:ea typeface="Inter"/>
                        <a:cs typeface="Inter"/>
                        <a:sym typeface="Inter"/>
                      </a:endParaRPr>
                    </a:p>
                  </a:txBody>
                  <a:tcPr marT="95250" marB="95250" marR="114300" marL="114300">
                    <a:lnB cap="flat" cmpd="sng" w="9525">
                      <a:solidFill>
                        <a:srgbClr val="F1F5F9"/>
                      </a:solidFill>
                      <a:prstDash val="solid"/>
                      <a:round/>
                      <a:headEnd len="sm" w="sm" type="none"/>
                      <a:tailEnd len="sm" w="sm" type="none"/>
                    </a:lnB>
                  </a:tcPr>
                </a:tc>
              </a:tr>
              <a:tr h="503450">
                <a:tc>
                  <a:txBody>
                    <a:bodyPr/>
                    <a:lstStyle/>
                    <a:p>
                      <a:pPr indent="0" lvl="0" marL="0" rtl="0" algn="l">
                        <a:spcBef>
                          <a:spcPts val="0"/>
                        </a:spcBef>
                        <a:spcAft>
                          <a:spcPts val="0"/>
                        </a:spcAft>
                        <a:buNone/>
                      </a:pPr>
                      <a:r>
                        <a:rPr b="1" lang="zh-TW" sz="1100">
                          <a:solidFill>
                            <a:srgbClr val="0F172A"/>
                          </a:solidFill>
                          <a:latin typeface="Inter"/>
                          <a:ea typeface="Inter"/>
                          <a:cs typeface="Inter"/>
                          <a:sym typeface="Inter"/>
                        </a:rPr>
                        <a:t>平均 FPS</a:t>
                      </a:r>
                      <a:endParaRPr b="1" sz="1100">
                        <a:solidFill>
                          <a:srgbClr val="0F172A"/>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20.38</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200">
                          <a:solidFill>
                            <a:srgbClr val="166534"/>
                          </a:solidFill>
                          <a:latin typeface="Inter"/>
                          <a:ea typeface="Inter"/>
                          <a:cs typeface="Inter"/>
                          <a:sym typeface="Inter"/>
                        </a:rPr>
                        <a:t>30.62</a:t>
                      </a:r>
                      <a:endParaRPr b="1" sz="1200">
                        <a:solidFill>
                          <a:srgbClr val="166534"/>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050">
                          <a:solidFill>
                            <a:srgbClr val="15803D"/>
                          </a:solidFill>
                          <a:latin typeface="Inter"/>
                          <a:ea typeface="Inter"/>
                          <a:cs typeface="Inter"/>
                          <a:sym typeface="Inter"/>
                        </a:rPr>
                        <a:t>▲ 提升 +50.2%</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7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準確率 (Precision)</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87.02%</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100">
                          <a:solidFill>
                            <a:srgbClr val="0F172A"/>
                          </a:solidFill>
                          <a:latin typeface="Inter"/>
                          <a:ea typeface="Inter"/>
                          <a:cs typeface="Inter"/>
                          <a:sym typeface="Inter"/>
                        </a:rPr>
                        <a:t>87.87%</a:t>
                      </a:r>
                      <a:endParaRPr b="1" sz="1100">
                        <a:solidFill>
                          <a:srgbClr val="0F172A"/>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00">
                          <a:solidFill>
                            <a:srgbClr val="16A34A"/>
                          </a:solidFill>
                          <a:latin typeface="Inter SemiBold"/>
                          <a:ea typeface="Inter SemiBold"/>
                          <a:cs typeface="Inter SemiBold"/>
                          <a:sym typeface="Inter SemiBold"/>
                        </a:rPr>
                        <a:t>微幅</a:t>
                      </a:r>
                      <a:r>
                        <a:rPr b="0" lang="zh-TW" sz="1000">
                          <a:solidFill>
                            <a:srgbClr val="16A34A"/>
                          </a:solidFill>
                          <a:latin typeface="Inter SemiBold"/>
                          <a:ea typeface="Inter SemiBold"/>
                          <a:cs typeface="Inter SemiBold"/>
                          <a:sym typeface="Inter SemiBold"/>
                        </a:rPr>
                        <a:t>提升</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50">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召回率 (Recall)</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67.73%</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100">
                          <a:solidFill>
                            <a:srgbClr val="0F172A"/>
                          </a:solidFill>
                          <a:latin typeface="Inter"/>
                          <a:ea typeface="Inter"/>
                          <a:cs typeface="Inter"/>
                          <a:sym typeface="Inter"/>
                        </a:rPr>
                        <a:t>67.91%</a:t>
                      </a:r>
                      <a:endParaRPr b="1" sz="1100">
                        <a:solidFill>
                          <a:srgbClr val="0F172A"/>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zh-TW" sz="1000">
                          <a:solidFill>
                            <a:srgbClr val="16A34A"/>
                          </a:solidFill>
                          <a:latin typeface="Inter SemiBold"/>
                          <a:ea typeface="Inter SemiBold"/>
                          <a:cs typeface="Inter SemiBold"/>
                          <a:sym typeface="Inter SemiBold"/>
                        </a:rPr>
                        <a:t>微幅提升</a:t>
                      </a:r>
                      <a:endParaRPr>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rgbClr val="16A34A"/>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7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局部引擎佔比</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64.2%</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334155"/>
                          </a:solidFill>
                          <a:latin typeface="Inter"/>
                          <a:ea typeface="Inter"/>
                          <a:cs typeface="Inter"/>
                          <a:sym typeface="Inter"/>
                        </a:rPr>
                        <a:t>63.2%</a:t>
                      </a:r>
                      <a:endParaRPr sz="1100">
                        <a:solidFill>
                          <a:srgbClr val="334155"/>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00">
                          <a:solidFill>
                            <a:srgbClr val="64748B"/>
                          </a:solidFill>
                          <a:latin typeface="Inter"/>
                          <a:ea typeface="Inter"/>
                          <a:cs typeface="Inter"/>
                          <a:sym typeface="Inter"/>
                        </a:rPr>
                        <a:t>相當 (-1.0%)</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347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全域救援佔比</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26.2%</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tcPr>
                </a:tc>
                <a:tc>
                  <a:txBody>
                    <a:bodyPr/>
                    <a:lstStyle/>
                    <a:p>
                      <a:pPr indent="0" lvl="0" marL="0" rtl="0" algn="l">
                        <a:spcBef>
                          <a:spcPts val="0"/>
                        </a:spcBef>
                        <a:spcAft>
                          <a:spcPts val="0"/>
                        </a:spcAft>
                        <a:buNone/>
                      </a:pPr>
                      <a:r>
                        <a:rPr lang="zh-TW" sz="1100">
                          <a:solidFill>
                            <a:srgbClr val="334155"/>
                          </a:solidFill>
                          <a:latin typeface="Inter"/>
                          <a:ea typeface="Inter"/>
                          <a:cs typeface="Inter"/>
                          <a:sym typeface="Inter"/>
                        </a:rPr>
                        <a:t>26.8%</a:t>
                      </a:r>
                      <a:endParaRPr sz="1100">
                        <a:solidFill>
                          <a:srgbClr val="334155"/>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tcPr>
                </a:tc>
                <a:tc>
                  <a:txBody>
                    <a:bodyPr/>
                    <a:lstStyle/>
                    <a:p>
                      <a:pPr indent="0" lvl="0" marL="0" rtl="0" algn="l">
                        <a:spcBef>
                          <a:spcPts val="0"/>
                        </a:spcBef>
                        <a:spcAft>
                          <a:spcPts val="0"/>
                        </a:spcAft>
                        <a:buNone/>
                      </a:pPr>
                      <a:r>
                        <a:rPr lang="zh-TW" sz="1000">
                          <a:solidFill>
                            <a:srgbClr val="64748B"/>
                          </a:solidFill>
                          <a:latin typeface="Inter"/>
                          <a:ea typeface="Inter"/>
                          <a:cs typeface="Inter"/>
                          <a:sym typeface="Inter"/>
                        </a:rPr>
                        <a:t>相當 (+0.6%)</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grpSp>
        <p:nvGrpSpPr>
          <p:cNvPr id="1049" name="Google Shape;1049;p70"/>
          <p:cNvGrpSpPr/>
          <p:nvPr/>
        </p:nvGrpSpPr>
        <p:grpSpPr>
          <a:xfrm>
            <a:off x="-476250" y="-857250"/>
            <a:ext cx="10477500" cy="6381750"/>
            <a:chOff x="-476250" y="-857250"/>
            <a:chExt cx="10477500" cy="6381750"/>
          </a:xfrm>
        </p:grpSpPr>
        <p:sp>
          <p:nvSpPr>
            <p:cNvPr id="1050" name="Google Shape;1050;p7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1" name="Google Shape;1051;p7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2" name="Google Shape;1052;p7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3" name="Google Shape;1053;p70"/>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54" name="Google Shape;1054;p70"/>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800">
                <a:solidFill>
                  <a:srgbClr val="1E293B"/>
                </a:solidFill>
                <a:latin typeface="Inter"/>
                <a:ea typeface="Inter"/>
                <a:cs typeface="Inter"/>
                <a:sym typeface="Inter"/>
              </a:rPr>
              <a:t>64x64 模型評估：優勢與物理極限</a:t>
            </a:r>
            <a:endParaRPr b="1" sz="28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全資料集平均數據表現與極端即時情境下的限制分析</a:t>
            </a:r>
            <a:endParaRPr b="0" sz="1100">
              <a:solidFill>
                <a:srgbClr val="64748B"/>
              </a:solidFill>
              <a:latin typeface="Inter"/>
              <a:ea typeface="Inter"/>
              <a:cs typeface="Inter"/>
              <a:sym typeface="Inter"/>
            </a:endParaRPr>
          </a:p>
        </p:txBody>
      </p:sp>
      <p:sp>
        <p:nvSpPr>
          <p:cNvPr id="1055" name="Google Shape;1055;p70"/>
          <p:cNvSpPr txBox="1"/>
          <p:nvPr>
            <p:ph idx="1" type="body"/>
          </p:nvPr>
        </p:nvSpPr>
        <p:spPr>
          <a:xfrm>
            <a:off x="571500" y="1381125"/>
            <a:ext cx="3857700" cy="32385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28600" lIns="228600" spcFirstLastPara="1" rIns="228600" wrap="square" tIns="228600">
            <a:normAutofit/>
          </a:bodyPr>
          <a:lstStyle/>
          <a:p>
            <a:pPr indent="0" lvl="0" marL="0" rtl="0" algn="l">
              <a:spcBef>
                <a:spcPts val="0"/>
              </a:spcBef>
              <a:spcAft>
                <a:spcPts val="0"/>
              </a:spcAft>
              <a:buNone/>
            </a:pPr>
            <a:r>
              <a:rPr lang="zh-TW" sz="2000">
                <a:solidFill>
                  <a:srgbClr val="2563EB"/>
                </a:solidFill>
                <a:latin typeface="Material Icons"/>
                <a:ea typeface="Material Icons"/>
                <a:cs typeface="Material Icons"/>
                <a:sym typeface="Material Icons"/>
              </a:rPr>
              <a:t>analytics</a:t>
            </a:r>
            <a:r>
              <a:rPr lang="zh-TW" sz="1100">
                <a:solidFill>
                  <a:srgbClr val="334155"/>
                </a:solidFill>
                <a:latin typeface="Inter"/>
                <a:ea typeface="Inter"/>
                <a:cs typeface="Inter"/>
                <a:sym typeface="Inter"/>
              </a:rPr>
              <a:t> </a:t>
            </a:r>
            <a:r>
              <a:rPr b="1" lang="zh-TW" sz="1400">
                <a:solidFill>
                  <a:srgbClr val="1E293B"/>
                </a:solidFill>
                <a:latin typeface="Inter"/>
                <a:ea typeface="Inter"/>
                <a:cs typeface="Inter"/>
                <a:sym typeface="Inter"/>
              </a:rPr>
              <a:t>1. 數據表象（平均優勢）</a:t>
            </a:r>
            <a:endParaRPr sz="1100">
              <a:solidFill>
                <a:srgbClr val="334155"/>
              </a:solidFill>
              <a:latin typeface="Inter"/>
              <a:ea typeface="Inter"/>
              <a:cs typeface="Inter"/>
              <a:sym typeface="Inter"/>
            </a:endParaRPr>
          </a:p>
          <a:p>
            <a:pPr indent="0" lvl="0" marL="0" rtl="0" algn="l">
              <a:spcBef>
                <a:spcPts val="1200"/>
              </a:spcBef>
              <a:spcAft>
                <a:spcPts val="0"/>
              </a:spcAft>
              <a:buNone/>
            </a:pPr>
            <a:r>
              <a:rPr b="0" lang="zh-TW" sz="1100">
                <a:solidFill>
                  <a:srgbClr val="2563EB"/>
                </a:solidFill>
                <a:latin typeface="Inter SemiBold"/>
                <a:ea typeface="Inter SemiBold"/>
                <a:cs typeface="Inter SemiBold"/>
                <a:sym typeface="Inter SemiBold"/>
              </a:rPr>
              <a:t>指標檢視：準確率與召回率相當，FPS 顯著提升</a:t>
            </a:r>
            <a:endParaRPr b="0" sz="1100">
              <a:solidFill>
                <a:srgbClr val="2563EB"/>
              </a:solidFill>
              <a:latin typeface="Inter SemiBold"/>
              <a:ea typeface="Inter SemiBold"/>
              <a:cs typeface="Inter SemiBold"/>
              <a:sym typeface="Inter SemiBold"/>
            </a:endParaRPr>
          </a:p>
          <a:p>
            <a:pPr indent="0" lvl="0" marL="0" rtl="0" algn="l">
              <a:spcBef>
                <a:spcPts val="900"/>
              </a:spcBef>
              <a:spcAft>
                <a:spcPts val="0"/>
              </a:spcAft>
              <a:buNone/>
            </a:pPr>
            <a:r>
              <a:rPr lang="zh-TW" sz="1050">
                <a:solidFill>
                  <a:srgbClr val="475569"/>
                </a:solidFill>
                <a:latin typeface="Inter"/>
                <a:ea typeface="Inter"/>
                <a:cs typeface="Inter"/>
                <a:sym typeface="Inter"/>
              </a:rPr>
              <a:t>「從全資料集的『平均數據』來看，64x64 與 128x128 的準確率（Precision）與召回率（Recall）差異不大，但 64x64 的 FPS 卻有顯著提升。」</a:t>
            </a:r>
            <a:endParaRPr sz="1050">
              <a:solidFill>
                <a:srgbClr val="475569"/>
              </a:solidFill>
              <a:latin typeface="Inter"/>
              <a:ea typeface="Inter"/>
              <a:cs typeface="Inter"/>
              <a:sym typeface="Inter"/>
            </a:endParaRPr>
          </a:p>
          <a:p>
            <a:pPr indent="0" lvl="0" marL="0" rtl="0" algn="l">
              <a:spcBef>
                <a:spcPts val="1200"/>
              </a:spcBef>
              <a:spcAft>
                <a:spcPts val="1200"/>
              </a:spcAft>
              <a:buNone/>
            </a:pPr>
            <a:r>
              <a:rPr lang="zh-TW" sz="1000">
                <a:solidFill>
                  <a:srgbClr val="64748B"/>
                </a:solidFill>
                <a:highlight>
                  <a:srgbClr val="F8FAFC"/>
                </a:highlight>
                <a:latin typeface="Inter"/>
                <a:ea typeface="Inter"/>
                <a:cs typeface="Inter"/>
                <a:sym typeface="Inter"/>
              </a:rPr>
              <a:t>結論：單看整體統計平均指標時，64x64 似乎是最佳選擇。</a:t>
            </a:r>
            <a:endParaRPr sz="1000">
              <a:solidFill>
                <a:srgbClr val="64748B"/>
              </a:solidFill>
              <a:highlight>
                <a:srgbClr val="F8FAFC"/>
              </a:highlight>
              <a:latin typeface="Inter"/>
              <a:ea typeface="Inter"/>
              <a:cs typeface="Inter"/>
              <a:sym typeface="Inter"/>
            </a:endParaRPr>
          </a:p>
        </p:txBody>
      </p:sp>
      <p:sp>
        <p:nvSpPr>
          <p:cNvPr id="1056" name="Google Shape;1056;p70"/>
          <p:cNvSpPr txBox="1"/>
          <p:nvPr/>
        </p:nvSpPr>
        <p:spPr>
          <a:xfrm>
            <a:off x="4714875" y="1381125"/>
            <a:ext cx="3857700" cy="3238500"/>
          </a:xfrm>
          <a:prstGeom prst="rect">
            <a:avLst/>
          </a:prstGeom>
          <a:solidFill>
            <a:srgbClr val="FFFFFF"/>
          </a:solidFill>
          <a:ln cap="flat" cmpd="sng" w="9525">
            <a:solidFill>
              <a:srgbClr val="FECACA"/>
            </a:solidFill>
            <a:prstDash val="solid"/>
            <a:round/>
            <a:headEnd len="sm" w="sm" type="none"/>
            <a:tailEnd len="sm" w="sm" type="none"/>
          </a:ln>
        </p:spPr>
        <p:txBody>
          <a:bodyPr anchorCtr="0" anchor="t" bIns="228600" lIns="228600" spcFirstLastPara="1" rIns="228600" wrap="square" tIns="228600">
            <a:noAutofit/>
          </a:bodyPr>
          <a:lstStyle/>
          <a:p>
            <a:pPr indent="0" lvl="0" marL="0" rtl="0" algn="l">
              <a:spcBef>
                <a:spcPts val="0"/>
              </a:spcBef>
              <a:spcAft>
                <a:spcPts val="0"/>
              </a:spcAft>
              <a:buNone/>
            </a:pPr>
            <a:r>
              <a:rPr lang="zh-TW" sz="2000">
                <a:solidFill>
                  <a:srgbClr val="DC2626"/>
                </a:solidFill>
                <a:latin typeface="Material Icons"/>
                <a:ea typeface="Material Icons"/>
                <a:cs typeface="Material Icons"/>
                <a:sym typeface="Material Icons"/>
              </a:rPr>
              <a:t>warning</a:t>
            </a:r>
            <a:r>
              <a:rPr lang="zh-TW" sz="1100">
                <a:solidFill>
                  <a:srgbClr val="334155"/>
                </a:solidFill>
                <a:latin typeface="Inter"/>
                <a:ea typeface="Inter"/>
                <a:cs typeface="Inter"/>
                <a:sym typeface="Inter"/>
              </a:rPr>
              <a:t> </a:t>
            </a:r>
            <a:r>
              <a:rPr b="1" lang="zh-TW" sz="1400">
                <a:solidFill>
                  <a:srgbClr val="1E293B"/>
                </a:solidFill>
                <a:latin typeface="Inter"/>
                <a:ea typeface="Inter"/>
                <a:cs typeface="Inter"/>
                <a:sym typeface="Inter"/>
              </a:rPr>
              <a:t>2. 極端情況（物理極限）</a:t>
            </a:r>
            <a:endParaRPr sz="1100">
              <a:solidFill>
                <a:srgbClr val="334155"/>
              </a:solidFill>
              <a:latin typeface="Inter"/>
              <a:ea typeface="Inter"/>
              <a:cs typeface="Inter"/>
              <a:sym typeface="Inter"/>
            </a:endParaRPr>
          </a:p>
          <a:p>
            <a:pPr indent="0" lvl="0" marL="0" rtl="0" algn="l">
              <a:spcBef>
                <a:spcPts val="1200"/>
              </a:spcBef>
              <a:spcAft>
                <a:spcPts val="0"/>
              </a:spcAft>
              <a:buNone/>
            </a:pPr>
            <a:r>
              <a:rPr b="0" lang="zh-TW" sz="1100">
                <a:solidFill>
                  <a:srgbClr val="DC2626"/>
                </a:solidFill>
                <a:latin typeface="Inter SemiBold"/>
                <a:ea typeface="Inter SemiBold"/>
                <a:cs typeface="Inter SemiBold"/>
                <a:sym typeface="Inter SemiBold"/>
              </a:rPr>
              <a:t>實務困境：『出框困境（Out-of-bounds Dilemma）』</a:t>
            </a:r>
            <a:endParaRPr b="0" sz="1100">
              <a:solidFill>
                <a:srgbClr val="DC2626"/>
              </a:solidFill>
              <a:latin typeface="Inter SemiBold"/>
              <a:ea typeface="Inter SemiBold"/>
              <a:cs typeface="Inter SemiBold"/>
              <a:sym typeface="Inter SemiBold"/>
            </a:endParaRPr>
          </a:p>
          <a:p>
            <a:pPr indent="-292100" lvl="0" marL="457200" rtl="0" algn="l">
              <a:spcBef>
                <a:spcPts val="750"/>
              </a:spcBef>
              <a:spcAft>
                <a:spcPts val="0"/>
              </a:spcAft>
              <a:buClr>
                <a:srgbClr val="475569"/>
              </a:buClr>
              <a:buSzPts val="1000"/>
              <a:buFont typeface="Inter"/>
              <a:buChar char="●"/>
            </a:pPr>
            <a:r>
              <a:rPr b="1" lang="zh-TW" sz="1000">
                <a:solidFill>
                  <a:srgbClr val="475569"/>
                </a:solidFill>
                <a:latin typeface="Inter"/>
                <a:ea typeface="Inter"/>
                <a:cs typeface="Inter"/>
                <a:sym typeface="Inter"/>
              </a:rPr>
              <a:t>視野半徑受限：</a:t>
            </a:r>
            <a:r>
              <a:rPr lang="zh-TW" sz="1000">
                <a:solidFill>
                  <a:srgbClr val="475569"/>
                </a:solidFill>
                <a:latin typeface="Inter"/>
                <a:ea typeface="Inter"/>
                <a:cs typeface="Inter"/>
                <a:sym typeface="Inter"/>
              </a:rPr>
              <a:t> 64x64 視野半徑僅有 32 像素。</a:t>
            </a:r>
            <a:endParaRPr sz="1000">
              <a:solidFill>
                <a:srgbClr val="475569"/>
              </a:solidFill>
              <a:latin typeface="Inter"/>
              <a:ea typeface="Inter"/>
              <a:cs typeface="Inter"/>
              <a:sym typeface="Inter"/>
            </a:endParaRPr>
          </a:p>
          <a:p>
            <a:pPr indent="-292100" lvl="0" marL="457200" rtl="0" algn="l">
              <a:spcBef>
                <a:spcPts val="600"/>
              </a:spcBef>
              <a:spcAft>
                <a:spcPts val="0"/>
              </a:spcAft>
              <a:buClr>
                <a:srgbClr val="475569"/>
              </a:buClr>
              <a:buSzPts val="1000"/>
              <a:buFont typeface="Inter"/>
              <a:buChar char="●"/>
            </a:pPr>
            <a:r>
              <a:rPr b="1" lang="zh-TW" sz="1000">
                <a:solidFill>
                  <a:srgbClr val="475569"/>
                </a:solidFill>
                <a:latin typeface="Inter"/>
                <a:ea typeface="Inter"/>
                <a:cs typeface="Inter"/>
                <a:sym typeface="Inter"/>
              </a:rPr>
              <a:t>高速位移超越極限：</a:t>
            </a:r>
            <a:r>
              <a:rPr lang="zh-TW" sz="1000">
                <a:solidFill>
                  <a:srgbClr val="475569"/>
                </a:solidFill>
                <a:latin typeface="Inter"/>
                <a:ea typeface="Inter"/>
                <a:cs typeface="Inter"/>
                <a:sym typeface="Inter"/>
              </a:rPr>
              <a:t> 時速 200~300 km/h 高速殺球時，單幀物理位移易超過 32 像素。</a:t>
            </a:r>
            <a:endParaRPr sz="1000">
              <a:solidFill>
                <a:srgbClr val="475569"/>
              </a:solidFill>
              <a:latin typeface="Inter"/>
              <a:ea typeface="Inter"/>
              <a:cs typeface="Inter"/>
              <a:sym typeface="Inter"/>
            </a:endParaRPr>
          </a:p>
          <a:p>
            <a:pPr indent="-292100" lvl="0" marL="457200" rtl="0" algn="l">
              <a:spcBef>
                <a:spcPts val="600"/>
              </a:spcBef>
              <a:spcAft>
                <a:spcPts val="0"/>
              </a:spcAft>
              <a:buClr>
                <a:srgbClr val="475569"/>
              </a:buClr>
              <a:buSzPts val="1000"/>
              <a:buFont typeface="Inter"/>
              <a:buChar char="●"/>
            </a:pPr>
            <a:r>
              <a:rPr b="1" lang="zh-TW" sz="1000">
                <a:solidFill>
                  <a:srgbClr val="475569"/>
                </a:solidFill>
                <a:latin typeface="Inter"/>
                <a:ea typeface="Inter"/>
                <a:cs typeface="Inter"/>
                <a:sym typeface="Inter"/>
              </a:rPr>
              <a:t>效能嚴重懲罰：</a:t>
            </a:r>
            <a:r>
              <a:rPr lang="zh-TW" sz="1000">
                <a:solidFill>
                  <a:srgbClr val="475569"/>
                </a:solidFill>
                <a:latin typeface="Inter"/>
                <a:ea typeface="Inter"/>
                <a:cs typeface="Inter"/>
                <a:sym typeface="Inter"/>
              </a:rPr>
              <a:t> 頻繁丟失目標並觸發耗時的</a:t>
            </a:r>
            <a:r>
              <a:rPr b="1" lang="zh-TW" sz="1000">
                <a:solidFill>
                  <a:srgbClr val="475569"/>
                </a:solidFill>
                <a:latin typeface="Inter"/>
                <a:ea typeface="Inter"/>
                <a:cs typeface="Inter"/>
                <a:sym typeface="Inter"/>
              </a:rPr>
              <a:t>全域搜尋（Global Search）</a:t>
            </a:r>
            <a:r>
              <a:rPr lang="zh-TW" sz="1000">
                <a:solidFill>
                  <a:srgbClr val="475569"/>
                </a:solidFill>
                <a:latin typeface="Inter"/>
                <a:ea typeface="Inter"/>
                <a:cs typeface="Inter"/>
                <a:sym typeface="Inter"/>
              </a:rPr>
              <a:t>。</a:t>
            </a:r>
            <a:endParaRPr sz="1000">
              <a:solidFill>
                <a:srgbClr val="475569"/>
              </a:solidFill>
              <a:latin typeface="Inter"/>
              <a:ea typeface="Inter"/>
              <a:cs typeface="Inter"/>
              <a:sym typeface="Inter"/>
            </a:endParaRPr>
          </a:p>
          <a:p>
            <a:pPr indent="0" lvl="0" marL="0" rtl="0" algn="l">
              <a:spcBef>
                <a:spcPts val="900"/>
              </a:spcBef>
              <a:spcAft>
                <a:spcPts val="0"/>
              </a:spcAft>
              <a:buNone/>
            </a:pPr>
            <a:r>
              <a:rPr lang="zh-TW" sz="950">
                <a:solidFill>
                  <a:srgbClr val="991B1B"/>
                </a:solidFill>
                <a:highlight>
                  <a:srgbClr val="FEF2F2"/>
                </a:highlight>
                <a:latin typeface="Inter"/>
                <a:ea typeface="Inter"/>
                <a:cs typeface="Inter"/>
                <a:sym typeface="Inter"/>
              </a:rPr>
              <a:t>影響：即時非同步系統中會造成畫面嚴重視覺延遲與跳幀。</a:t>
            </a:r>
            <a:endParaRPr sz="950">
              <a:solidFill>
                <a:srgbClr val="991B1B"/>
              </a:solidFill>
              <a:highlight>
                <a:srgbClr val="FEF2F2"/>
              </a:highlight>
              <a:latin typeface="Inter"/>
              <a:ea typeface="Inter"/>
              <a:cs typeface="Inter"/>
              <a:sym typeface="Inte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grpSp>
        <p:nvGrpSpPr>
          <p:cNvPr id="1061" name="Google Shape;1061;p71"/>
          <p:cNvGrpSpPr/>
          <p:nvPr/>
        </p:nvGrpSpPr>
        <p:grpSpPr>
          <a:xfrm>
            <a:off x="-476250" y="-857250"/>
            <a:ext cx="10477500" cy="6381750"/>
            <a:chOff x="-476250" y="-857250"/>
            <a:chExt cx="10477500" cy="6381750"/>
          </a:xfrm>
        </p:grpSpPr>
        <p:sp>
          <p:nvSpPr>
            <p:cNvPr id="1062" name="Google Shape;1062;p7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3" name="Google Shape;1063;p7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4" name="Google Shape;1064;p7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5" name="Google Shape;1065;p71"/>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66" name="Google Shape;1066;p71"/>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64*64 在最佳數據下的表現</a:t>
            </a:r>
            <a:endParaRPr b="1" sz="2960">
              <a:solidFill>
                <a:srgbClr val="1E293B"/>
              </a:solidFill>
              <a:latin typeface="Inter"/>
              <a:ea typeface="Inter"/>
              <a:cs typeface="Inter"/>
              <a:sym typeface="Inter"/>
            </a:endParaRPr>
          </a:p>
          <a:p>
            <a:pPr indent="0" lvl="0" marL="0" rtl="0" algn="l">
              <a:spcBef>
                <a:spcPts val="300"/>
              </a:spcBef>
              <a:spcAft>
                <a:spcPts val="0"/>
              </a:spcAft>
              <a:buNone/>
            </a:pPr>
            <a:r>
              <a:t/>
            </a:r>
            <a:endParaRPr b="0" sz="1018">
              <a:solidFill>
                <a:srgbClr val="64748B"/>
              </a:solidFill>
              <a:latin typeface="Inter"/>
              <a:ea typeface="Inter"/>
              <a:cs typeface="Inter"/>
              <a:sym typeface="Inter"/>
            </a:endParaRPr>
          </a:p>
        </p:txBody>
      </p:sp>
      <p:pic>
        <p:nvPicPr>
          <p:cNvPr id="1067" name="Google Shape;1067;p71" title="realtime_64_smooth_1_10_12.mp4">
            <a:hlinkClick r:id="rId3"/>
          </p:cNvPr>
          <p:cNvPicPr preferRelativeResize="0"/>
          <p:nvPr/>
        </p:nvPicPr>
        <p:blipFill>
          <a:blip r:embed="rId4">
            <a:alphaModFix/>
          </a:blip>
          <a:stretch>
            <a:fillRect/>
          </a:stretch>
        </p:blipFill>
        <p:spPr>
          <a:xfrm>
            <a:off x="1339200" y="1244275"/>
            <a:ext cx="6465600" cy="36207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1000"/>
                                        <p:tgtEl>
                                          <p:spTgt spid="10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grpSp>
        <p:nvGrpSpPr>
          <p:cNvPr id="1072" name="Google Shape;1072;p72"/>
          <p:cNvGrpSpPr/>
          <p:nvPr/>
        </p:nvGrpSpPr>
        <p:grpSpPr>
          <a:xfrm>
            <a:off x="-476250" y="-857250"/>
            <a:ext cx="10477500" cy="6381750"/>
            <a:chOff x="-476250" y="-857250"/>
            <a:chExt cx="10477500" cy="6381750"/>
          </a:xfrm>
        </p:grpSpPr>
        <p:sp>
          <p:nvSpPr>
            <p:cNvPr id="1073" name="Google Shape;1073;p7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4" name="Google Shape;1074;p7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5" name="Google Shape;1075;p7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6" name="Google Shape;1076;p72"/>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77" name="Google Shape;1077;p72"/>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128*128 在最佳數據下的表現</a:t>
            </a:r>
            <a:endParaRPr b="1" sz="2960">
              <a:solidFill>
                <a:srgbClr val="1E293B"/>
              </a:solidFill>
              <a:latin typeface="Inter"/>
              <a:ea typeface="Inter"/>
              <a:cs typeface="Inter"/>
              <a:sym typeface="Inter"/>
            </a:endParaRPr>
          </a:p>
          <a:p>
            <a:pPr indent="0" lvl="0" marL="0" rtl="0" algn="l">
              <a:spcBef>
                <a:spcPts val="300"/>
              </a:spcBef>
              <a:spcAft>
                <a:spcPts val="0"/>
              </a:spcAft>
              <a:buNone/>
            </a:pPr>
            <a:r>
              <a:t/>
            </a:r>
            <a:endParaRPr b="0" sz="1018">
              <a:solidFill>
                <a:srgbClr val="64748B"/>
              </a:solidFill>
              <a:latin typeface="Inter"/>
              <a:ea typeface="Inter"/>
              <a:cs typeface="Inter"/>
              <a:sym typeface="Inter"/>
            </a:endParaRPr>
          </a:p>
        </p:txBody>
      </p:sp>
      <p:pic>
        <p:nvPicPr>
          <p:cNvPr id="1078" name="Google Shape;1078;p72" title="realtime_128_lag_1_10_12.mp4">
            <a:hlinkClick r:id="rId3"/>
          </p:cNvPr>
          <p:cNvPicPr preferRelativeResize="0"/>
          <p:nvPr/>
        </p:nvPicPr>
        <p:blipFill>
          <a:blip r:embed="rId4">
            <a:alphaModFix/>
          </a:blip>
          <a:stretch>
            <a:fillRect/>
          </a:stretch>
        </p:blipFill>
        <p:spPr>
          <a:xfrm>
            <a:off x="1339563" y="1250075"/>
            <a:ext cx="6464874" cy="363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1000"/>
                                        <p:tgtEl>
                                          <p:spTgt spid="10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7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a:t>以下為第一版</a:t>
            </a:r>
            <a:endParaRPr/>
          </a:p>
        </p:txBody>
      </p:sp>
      <p:sp>
        <p:nvSpPr>
          <p:cNvPr id="1084" name="Google Shape;1084;p7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8" name="Shape 1088"/>
        <p:cNvGrpSpPr/>
        <p:nvPr/>
      </p:nvGrpSpPr>
      <p:grpSpPr>
        <a:xfrm>
          <a:off x="0" y="0"/>
          <a:ext cx="0" cy="0"/>
          <a:chOff x="0" y="0"/>
          <a:chExt cx="0" cy="0"/>
        </a:xfrm>
      </p:grpSpPr>
      <p:grpSp>
        <p:nvGrpSpPr>
          <p:cNvPr id="1089" name="Google Shape;1089;p74"/>
          <p:cNvGrpSpPr/>
          <p:nvPr/>
        </p:nvGrpSpPr>
        <p:grpSpPr>
          <a:xfrm>
            <a:off x="-476250" y="-857250"/>
            <a:ext cx="10477500" cy="6381750"/>
            <a:chOff x="-476250" y="-857250"/>
            <a:chExt cx="10477500" cy="6381750"/>
          </a:xfrm>
        </p:grpSpPr>
        <p:pic>
          <p:nvPicPr>
            <p:cNvPr id="1090" name="Google Shape;1090;p74"/>
            <p:cNvPicPr preferRelativeResize="0"/>
            <p:nvPr/>
          </p:nvPicPr>
          <p:blipFill rotWithShape="1">
            <a:blip r:embed="rId4">
              <a:alphaModFix/>
            </a:blip>
            <a:srcRect b="0" l="0" r="0" t="0"/>
            <a:stretch/>
          </p:blipFill>
          <p:spPr>
            <a:xfrm>
              <a:off x="0" y="0"/>
              <a:ext cx="9144000" cy="1428900"/>
            </a:xfrm>
            <a:prstGeom prst="rect">
              <a:avLst/>
            </a:prstGeom>
            <a:noFill/>
            <a:ln>
              <a:noFill/>
            </a:ln>
          </p:spPr>
        </p:pic>
        <p:sp>
          <p:nvSpPr>
            <p:cNvPr id="1091" name="Google Shape;1091;p74"/>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2" name="Google Shape;1092;p7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093" name="Google Shape;1093;p74"/>
          <p:cNvGrpSpPr/>
          <p:nvPr/>
        </p:nvGrpSpPr>
        <p:grpSpPr>
          <a:xfrm>
            <a:off x="4333875" y="571500"/>
            <a:ext cx="476400" cy="511452"/>
            <a:chOff x="4333875" y="571500"/>
            <a:chExt cx="476400" cy="511452"/>
          </a:xfrm>
        </p:grpSpPr>
        <p:sp>
          <p:nvSpPr>
            <p:cNvPr id="1094" name="Google Shape;1094;p74"/>
            <p:cNvSpPr/>
            <p:nvPr/>
          </p:nvSpPr>
          <p:spPr>
            <a:xfrm>
              <a:off x="4333875" y="571500"/>
              <a:ext cx="476400" cy="476400"/>
            </a:xfrm>
            <a:prstGeom prst="roundRect">
              <a:avLst>
                <a:gd fmla="val 2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p74"/>
            <p:cNvSpPr txBox="1"/>
            <p:nvPr/>
          </p:nvSpPr>
          <p:spPr>
            <a:xfrm>
              <a:off x="4333875" y="606552"/>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600">
                  <a:solidFill>
                    <a:srgbClr val="FFFFFF"/>
                  </a:solidFill>
                  <a:latin typeface="Material Icons"/>
                  <a:ea typeface="Material Icons"/>
                  <a:cs typeface="Material Icons"/>
                  <a:sym typeface="Material Icons"/>
                </a:rPr>
                <a:t>shuttlecock</a:t>
              </a:r>
              <a:endParaRPr sz="600">
                <a:solidFill>
                  <a:srgbClr val="FFFFFF"/>
                </a:solidFill>
                <a:latin typeface="Material Icons"/>
                <a:ea typeface="Material Icons"/>
                <a:cs typeface="Material Icons"/>
                <a:sym typeface="Material Icons"/>
              </a:endParaRPr>
            </a:p>
          </p:txBody>
        </p:sp>
      </p:grpSp>
      <p:sp>
        <p:nvSpPr>
          <p:cNvPr id="1096" name="Google Shape;1096;p74"/>
          <p:cNvSpPr txBox="1"/>
          <p:nvPr>
            <p:ph type="ctrTitle"/>
          </p:nvPr>
        </p:nvSpPr>
        <p:spPr>
          <a:xfrm>
            <a:off x="571500" y="1333500"/>
            <a:ext cx="8001000" cy="17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zh-TW" sz="3570">
                <a:solidFill>
                  <a:srgbClr val="1E293B"/>
                </a:solidFill>
                <a:latin typeface="Oswald"/>
                <a:ea typeface="Oswald"/>
                <a:cs typeface="Oswald"/>
                <a:sym typeface="Oswald"/>
              </a:rPr>
              <a:t>Real-Time Badminton Tracking on Edge Devices</a:t>
            </a:r>
            <a:endParaRPr b="1" i="0" sz="3570">
              <a:solidFill>
                <a:srgbClr val="1E293B"/>
              </a:solidFill>
              <a:latin typeface="Oswald"/>
              <a:ea typeface="Oswald"/>
              <a:cs typeface="Oswald"/>
              <a:sym typeface="Oswald"/>
            </a:endParaRPr>
          </a:p>
          <a:p>
            <a:pPr indent="0" lvl="0" marL="0" rtl="0" algn="ctr">
              <a:spcBef>
                <a:spcPts val="750"/>
              </a:spcBef>
              <a:spcAft>
                <a:spcPts val="0"/>
              </a:spcAft>
              <a:buNone/>
            </a:pPr>
            <a:r>
              <a:rPr b="0" i="0" lang="zh-TW" sz="2720">
                <a:solidFill>
                  <a:srgbClr val="3B82F6"/>
                </a:solidFill>
                <a:latin typeface="Oswald"/>
                <a:ea typeface="Oswald"/>
                <a:cs typeface="Oswald"/>
                <a:sym typeface="Oswald"/>
              </a:rPr>
              <a:t>A Lightweight ROI-based Architecture</a:t>
            </a:r>
            <a:endParaRPr b="0" i="0" sz="2720">
              <a:solidFill>
                <a:srgbClr val="3B82F6"/>
              </a:solidFill>
              <a:latin typeface="Oswald"/>
              <a:ea typeface="Oswald"/>
              <a:cs typeface="Oswald"/>
              <a:sym typeface="Oswald"/>
            </a:endParaRPr>
          </a:p>
        </p:txBody>
      </p:sp>
      <p:sp>
        <p:nvSpPr>
          <p:cNvPr id="1097" name="Google Shape;1097;p74"/>
          <p:cNvSpPr/>
          <p:nvPr/>
        </p:nvSpPr>
        <p:spPr>
          <a:xfrm>
            <a:off x="3143250" y="3238500"/>
            <a:ext cx="2857500" cy="38100"/>
          </a:xfrm>
          <a:prstGeom prst="roundRect">
            <a:avLst>
              <a:gd fmla="val 50000" name="adj"/>
            </a:avLst>
          </a:prstGeom>
          <a:solidFill>
            <a:srgbClr val="3B82F6">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8" name="Google Shape;1098;p74"/>
          <p:cNvSpPr txBox="1"/>
          <p:nvPr>
            <p:ph idx="1" type="subTitle"/>
          </p:nvPr>
        </p:nvSpPr>
        <p:spPr>
          <a:xfrm>
            <a:off x="762000" y="3524250"/>
            <a:ext cx="7620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ctr">
              <a:spcBef>
                <a:spcPts val="0"/>
              </a:spcBef>
              <a:spcAft>
                <a:spcPts val="0"/>
              </a:spcAft>
              <a:buNone/>
            </a:pPr>
            <a:r>
              <a:rPr b="0" i="0" lang="zh-TW" sz="1800">
                <a:solidFill>
                  <a:srgbClr val="64748B"/>
                </a:solidFill>
                <a:latin typeface="Inter Medium"/>
                <a:ea typeface="Inter Medium"/>
                <a:cs typeface="Inter Medium"/>
                <a:sym typeface="Inter Medium"/>
              </a:rPr>
              <a:t>Overcoming Compute Limitations of TrackNet on </a:t>
            </a:r>
            <a:r>
              <a:rPr b="1" i="0" lang="zh-TW" sz="1800">
                <a:solidFill>
                  <a:srgbClr val="334155"/>
                </a:solidFill>
                <a:latin typeface="Inter"/>
                <a:ea typeface="Inter"/>
                <a:cs typeface="Inter"/>
                <a:sym typeface="Inter"/>
              </a:rPr>
              <a:t>Jetson Nano</a:t>
            </a:r>
            <a:endParaRPr b="0" i="0" sz="1800">
              <a:solidFill>
                <a:srgbClr val="64748B"/>
              </a:solidFill>
              <a:latin typeface="Inter Medium"/>
              <a:ea typeface="Inter Medium"/>
              <a:cs typeface="Inter Medium"/>
              <a:sym typeface="Inter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2" name="Shape 1102"/>
        <p:cNvGrpSpPr/>
        <p:nvPr/>
      </p:nvGrpSpPr>
      <p:grpSpPr>
        <a:xfrm>
          <a:off x="0" y="0"/>
          <a:ext cx="0" cy="0"/>
          <a:chOff x="0" y="0"/>
          <a:chExt cx="0" cy="0"/>
        </a:xfrm>
      </p:grpSpPr>
      <p:grpSp>
        <p:nvGrpSpPr>
          <p:cNvPr id="1103" name="Google Shape;1103;p75"/>
          <p:cNvGrpSpPr/>
          <p:nvPr/>
        </p:nvGrpSpPr>
        <p:grpSpPr>
          <a:xfrm>
            <a:off x="-476250" y="-857250"/>
            <a:ext cx="10477500" cy="6381750"/>
            <a:chOff x="-476250" y="-857250"/>
            <a:chExt cx="10477500" cy="6381750"/>
          </a:xfrm>
        </p:grpSpPr>
        <p:sp>
          <p:nvSpPr>
            <p:cNvPr id="1104" name="Google Shape;1104;p7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5" name="Google Shape;1105;p7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6" name="Google Shape;1106;p7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07" name="Google Shape;1107;p75"/>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研究動機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(Motivation)</a:t>
            </a:r>
            <a:endParaRPr b="1" sz="4400">
              <a:solidFill>
                <a:srgbClr val="1E293B"/>
              </a:solidFill>
              <a:latin typeface="Oswald"/>
              <a:ea typeface="Oswald"/>
              <a:cs typeface="Oswald"/>
              <a:sym typeface="Oswald"/>
            </a:endParaRPr>
          </a:p>
        </p:txBody>
      </p:sp>
      <p:sp>
        <p:nvSpPr>
          <p:cNvPr id="1108" name="Google Shape;1108;p75"/>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2" name="Shape 1112"/>
        <p:cNvGrpSpPr/>
        <p:nvPr/>
      </p:nvGrpSpPr>
      <p:grpSpPr>
        <a:xfrm>
          <a:off x="0" y="0"/>
          <a:ext cx="0" cy="0"/>
          <a:chOff x="0" y="0"/>
          <a:chExt cx="0" cy="0"/>
        </a:xfrm>
      </p:grpSpPr>
      <p:grpSp>
        <p:nvGrpSpPr>
          <p:cNvPr id="1113" name="Google Shape;1113;p76"/>
          <p:cNvGrpSpPr/>
          <p:nvPr/>
        </p:nvGrpSpPr>
        <p:grpSpPr>
          <a:xfrm>
            <a:off x="-476250" y="-857250"/>
            <a:ext cx="10477500" cy="6381750"/>
            <a:chOff x="-476250" y="-857250"/>
            <a:chExt cx="10477500" cy="6381750"/>
          </a:xfrm>
        </p:grpSpPr>
        <p:sp>
          <p:nvSpPr>
            <p:cNvPr id="1114" name="Google Shape;1114;p7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5" name="Google Shape;1115;p7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6" name="Google Shape;1116;p7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17" name="Google Shape;1117;p76"/>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研究動機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(Motivation)</a:t>
            </a:r>
            <a:endParaRPr b="1" sz="4400">
              <a:solidFill>
                <a:srgbClr val="1E293B"/>
              </a:solidFill>
              <a:latin typeface="Oswald"/>
              <a:ea typeface="Oswald"/>
              <a:cs typeface="Oswald"/>
              <a:sym typeface="Oswald"/>
            </a:endParaRPr>
          </a:p>
        </p:txBody>
      </p:sp>
      <p:sp>
        <p:nvSpPr>
          <p:cNvPr id="1118" name="Google Shape;1118;p76"/>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19" name="Google Shape;1119;p76"/>
          <p:cNvPicPr preferRelativeResize="0"/>
          <p:nvPr/>
        </p:nvPicPr>
        <p:blipFill>
          <a:blip r:embed="rId4">
            <a:alphaModFix/>
          </a:blip>
          <a:stretch>
            <a:fillRect/>
          </a:stretch>
        </p:blipFill>
        <p:spPr>
          <a:xfrm>
            <a:off x="3135605" y="0"/>
            <a:ext cx="2872791" cy="51435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3" name="Shape 1123"/>
        <p:cNvGrpSpPr/>
        <p:nvPr/>
      </p:nvGrpSpPr>
      <p:grpSpPr>
        <a:xfrm>
          <a:off x="0" y="0"/>
          <a:ext cx="0" cy="0"/>
          <a:chOff x="0" y="0"/>
          <a:chExt cx="0" cy="0"/>
        </a:xfrm>
      </p:grpSpPr>
      <p:grpSp>
        <p:nvGrpSpPr>
          <p:cNvPr id="1124" name="Google Shape;1124;p77"/>
          <p:cNvGrpSpPr/>
          <p:nvPr/>
        </p:nvGrpSpPr>
        <p:grpSpPr>
          <a:xfrm>
            <a:off x="-476250" y="-857250"/>
            <a:ext cx="10477500" cy="6381750"/>
            <a:chOff x="-476250" y="-857250"/>
            <a:chExt cx="10477500" cy="6381750"/>
          </a:xfrm>
        </p:grpSpPr>
        <p:sp>
          <p:nvSpPr>
            <p:cNvPr id="1125" name="Google Shape;1125;p7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6" name="Google Shape;1126;p7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7" name="Google Shape;1127;p7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28" name="Google Shape;1128;p77"/>
          <p:cNvGrpSpPr/>
          <p:nvPr/>
        </p:nvGrpSpPr>
        <p:grpSpPr>
          <a:xfrm>
            <a:off x="571500" y="381000"/>
            <a:ext cx="8001000" cy="762000"/>
            <a:chOff x="571500" y="381000"/>
            <a:chExt cx="8001000" cy="762000"/>
          </a:xfrm>
        </p:grpSpPr>
        <p:sp>
          <p:nvSpPr>
            <p:cNvPr id="1129" name="Google Shape;1129;p77"/>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研究動機 </a:t>
              </a:r>
              <a:r>
                <a:rPr b="0" lang="zh-TW" sz="2400">
                  <a:solidFill>
                    <a:srgbClr val="3B82F6"/>
                  </a:solidFill>
                  <a:latin typeface="Inter"/>
                  <a:ea typeface="Inter"/>
                  <a:cs typeface="Inter"/>
                  <a:sym typeface="Inter"/>
                </a:rPr>
                <a:t>(Motivation)</a:t>
              </a:r>
              <a:endParaRPr b="1" sz="3600">
                <a:solidFill>
                  <a:srgbClr val="1E293B"/>
                </a:solidFill>
                <a:latin typeface="Oswald"/>
                <a:ea typeface="Oswald"/>
                <a:cs typeface="Oswald"/>
                <a:sym typeface="Oswald"/>
              </a:endParaRPr>
            </a:p>
          </p:txBody>
        </p:sp>
        <p:sp>
          <p:nvSpPr>
            <p:cNvPr id="1130" name="Google Shape;1130;p77"/>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31" name="Google Shape;1131;p77"/>
          <p:cNvGrpSpPr/>
          <p:nvPr/>
        </p:nvGrpSpPr>
        <p:grpSpPr>
          <a:xfrm>
            <a:off x="571500" y="1190625"/>
            <a:ext cx="8001000" cy="952500"/>
            <a:chOff x="0" y="0"/>
            <a:chExt cx="8001000" cy="952500"/>
          </a:xfrm>
        </p:grpSpPr>
        <p:sp>
          <p:nvSpPr>
            <p:cNvPr id="1132" name="Google Shape;1132;p77"/>
            <p:cNvSpPr/>
            <p:nvPr/>
          </p:nvSpPr>
          <p:spPr>
            <a:xfrm>
              <a:off x="0" y="0"/>
              <a:ext cx="8001000" cy="952500"/>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3" name="Google Shape;1133;p77"/>
            <p:cNvSpPr/>
            <p:nvPr/>
          </p:nvSpPr>
          <p:spPr>
            <a:xfrm>
              <a:off x="0" y="0"/>
              <a:ext cx="57300" cy="952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p77"/>
            <p:cNvSpPr txBox="1"/>
            <p:nvPr/>
          </p:nvSpPr>
          <p:spPr>
            <a:xfrm>
              <a:off x="190500" y="0"/>
              <a:ext cx="762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zh-TW" sz="1395">
                  <a:solidFill>
                    <a:srgbClr val="3B82F6"/>
                  </a:solidFill>
                  <a:latin typeface="Material Icons"/>
                  <a:ea typeface="Material Icons"/>
                  <a:cs typeface="Material Icons"/>
                  <a:sym typeface="Material Icons"/>
                </a:rPr>
                <a:t>trending_up </a:t>
              </a:r>
              <a:r>
                <a:rPr b="1" i="0" lang="zh-TW" sz="1085">
                  <a:solidFill>
                    <a:srgbClr val="1E293B"/>
                  </a:solidFill>
                  <a:latin typeface="Inter"/>
                  <a:ea typeface="Inter"/>
                  <a:cs typeface="Inter"/>
                  <a:sym typeface="Inter"/>
                </a:rPr>
                <a:t>數據價值</a:t>
              </a:r>
              <a:r>
                <a:rPr b="0" i="0" lang="zh-TW" sz="1395">
                  <a:solidFill>
                    <a:srgbClr val="3B82F6"/>
                  </a:solidFill>
                  <a:latin typeface="Material Icons"/>
                  <a:ea typeface="Material Icons"/>
                  <a:cs typeface="Material Icons"/>
                  <a:sym typeface="Material Icons"/>
                </a:rPr>
                <a:t> </a:t>
              </a:r>
              <a:r>
                <a:rPr b="0" i="0" lang="zh-TW" sz="814">
                  <a:solidFill>
                    <a:srgbClr val="475569"/>
                  </a:solidFill>
                  <a:latin typeface="Inter"/>
                  <a:ea typeface="Inter"/>
                  <a:cs typeface="Inter"/>
                  <a:sym typeface="Inter"/>
                </a:rPr>
                <a:t>運動科技與數據分析在羽球中扮演關鍵角色：</a:t>
              </a:r>
              <a:endParaRPr b="0" i="0" sz="1395">
                <a:solidFill>
                  <a:srgbClr val="3B82F6"/>
                </a:solidFill>
                <a:latin typeface="Material Icons"/>
                <a:ea typeface="Material Icons"/>
                <a:cs typeface="Material Icons"/>
                <a:sym typeface="Material Icons"/>
              </a:endParaRPr>
            </a:p>
            <a:p>
              <a:pPr indent="-317183" lvl="0" marL="457200" rtl="0" algn="l">
                <a:spcBef>
                  <a:spcPts val="300"/>
                </a:spcBef>
                <a:spcAft>
                  <a:spcPts val="0"/>
                </a:spcAft>
                <a:buClr>
                  <a:srgbClr val="3B82F6"/>
                </a:buClr>
                <a:buSzPts val="1395"/>
                <a:buFont typeface="Material Icons"/>
                <a:buChar char="●"/>
              </a:pPr>
              <a:r>
                <a:rPr b="0" i="0" lang="zh-TW" sz="775">
                  <a:solidFill>
                    <a:srgbClr val="64748B"/>
                  </a:solidFill>
                  <a:latin typeface="Inter"/>
                  <a:ea typeface="Inter"/>
                  <a:cs typeface="Inter"/>
                  <a:sym typeface="Inter"/>
                </a:rPr>
                <a:t>輔助裁判進行精準的邊線判決</a:t>
              </a:r>
              <a:endParaRPr b="0" i="0" sz="1395">
                <a:solidFill>
                  <a:srgbClr val="3B82F6"/>
                </a:solidFill>
                <a:latin typeface="Material Icons"/>
                <a:ea typeface="Material Icons"/>
                <a:cs typeface="Material Icons"/>
                <a:sym typeface="Material Icons"/>
              </a:endParaRPr>
            </a:p>
            <a:p>
              <a:pPr indent="-317183" lvl="0" marL="457200" rtl="0" algn="l">
                <a:spcBef>
                  <a:spcPts val="200"/>
                </a:spcBef>
                <a:spcAft>
                  <a:spcPts val="0"/>
                </a:spcAft>
                <a:buClr>
                  <a:srgbClr val="3B82F6"/>
                </a:buClr>
                <a:buSzPts val="1395"/>
                <a:buFont typeface="Material Icons"/>
                <a:buChar char="●"/>
              </a:pPr>
              <a:r>
                <a:rPr b="0" i="0" lang="zh-TW" sz="775">
                  <a:solidFill>
                    <a:srgbClr val="64748B"/>
                  </a:solidFill>
                  <a:latin typeface="Inter"/>
                  <a:ea typeface="Inter"/>
                  <a:cs typeface="Inter"/>
                  <a:sym typeface="Inter"/>
                </a:rPr>
                <a:t>提供落點、球速與飛行拋物線等指標</a:t>
              </a:r>
              <a:endParaRPr b="0" i="0" sz="1395">
                <a:solidFill>
                  <a:srgbClr val="3B82F6"/>
                </a:solidFill>
                <a:latin typeface="Material Icons"/>
                <a:ea typeface="Material Icons"/>
                <a:cs typeface="Material Icons"/>
                <a:sym typeface="Material Icons"/>
              </a:endParaRPr>
            </a:p>
            <a:p>
              <a:pPr indent="-317183" lvl="0" marL="457200" rtl="0" algn="l">
                <a:spcBef>
                  <a:spcPts val="200"/>
                </a:spcBef>
                <a:spcAft>
                  <a:spcPts val="0"/>
                </a:spcAft>
                <a:buClr>
                  <a:srgbClr val="3B82F6"/>
                </a:buClr>
                <a:buSzPts val="1395"/>
                <a:buFont typeface="Material Icons"/>
                <a:buChar char="●"/>
              </a:pPr>
              <a:r>
                <a:rPr b="0" i="0" lang="zh-TW" sz="775">
                  <a:solidFill>
                    <a:srgbClr val="64748B"/>
                  </a:solidFill>
                  <a:latin typeface="Inter"/>
                  <a:ea typeface="Inter"/>
                  <a:cs typeface="Inter"/>
                  <a:sym typeface="Inter"/>
                </a:rPr>
                <a:t>供教練與選手分析戰術習慣，進而改善個人缺點（例如：</a:t>
              </a:r>
              <a:r>
                <a:rPr b="1" i="0" lang="zh-TW" sz="775">
                  <a:solidFill>
                    <a:srgbClr val="64748B"/>
                  </a:solidFill>
                  <a:latin typeface="Inter"/>
                  <a:ea typeface="Inter"/>
                  <a:cs typeface="Inter"/>
                  <a:sym typeface="Inter"/>
                </a:rPr>
                <a:t>計算面對反手殺球時的失分機率</a:t>
              </a:r>
              <a:r>
                <a:rPr b="0" i="0" lang="zh-TW" sz="775">
                  <a:solidFill>
                    <a:srgbClr val="64748B"/>
                  </a:solidFill>
                  <a:latin typeface="Inter"/>
                  <a:ea typeface="Inter"/>
                  <a:cs typeface="Inter"/>
                  <a:sym typeface="Inter"/>
                </a:rPr>
                <a:t>）</a:t>
              </a:r>
              <a:endParaRPr b="0" i="0" sz="1395">
                <a:solidFill>
                  <a:srgbClr val="3B82F6"/>
                </a:solidFill>
                <a:latin typeface="Material Icons"/>
                <a:ea typeface="Material Icons"/>
                <a:cs typeface="Material Icons"/>
                <a:sym typeface="Material Icons"/>
              </a:endParaRPr>
            </a:p>
          </p:txBody>
        </p:sp>
      </p:grpSp>
      <p:pic>
        <p:nvPicPr>
          <p:cNvPr id="1135" name="Google Shape;1135;p77"/>
          <p:cNvPicPr preferRelativeResize="0"/>
          <p:nvPr/>
        </p:nvPicPr>
        <p:blipFill rotWithShape="1">
          <a:blip r:embed="rId4">
            <a:alphaModFix/>
          </a:blip>
          <a:srcRect b="0" l="0" r="0" t="0"/>
          <a:stretch/>
        </p:blipFill>
        <p:spPr>
          <a:xfrm>
            <a:off x="942975" y="2143125"/>
            <a:ext cx="19200" cy="142800"/>
          </a:xfrm>
          <a:prstGeom prst="rect">
            <a:avLst/>
          </a:prstGeom>
          <a:noFill/>
          <a:ln>
            <a:noFill/>
          </a:ln>
        </p:spPr>
      </p:pic>
      <p:grpSp>
        <p:nvGrpSpPr>
          <p:cNvPr id="1136" name="Google Shape;1136;p77"/>
          <p:cNvGrpSpPr/>
          <p:nvPr/>
        </p:nvGrpSpPr>
        <p:grpSpPr>
          <a:xfrm>
            <a:off x="571500" y="2305050"/>
            <a:ext cx="8001000" cy="952500"/>
            <a:chOff x="0" y="0"/>
            <a:chExt cx="8001000" cy="952500"/>
          </a:xfrm>
        </p:grpSpPr>
        <p:sp>
          <p:nvSpPr>
            <p:cNvPr id="1137" name="Google Shape;1137;p77"/>
            <p:cNvSpPr/>
            <p:nvPr/>
          </p:nvSpPr>
          <p:spPr>
            <a:xfrm>
              <a:off x="0" y="0"/>
              <a:ext cx="8001000" cy="952500"/>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8" name="Google Shape;1138;p77"/>
            <p:cNvSpPr/>
            <p:nvPr/>
          </p:nvSpPr>
          <p:spPr>
            <a:xfrm>
              <a:off x="0" y="0"/>
              <a:ext cx="57300" cy="952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9" name="Google Shape;1139;p77"/>
            <p:cNvSpPr txBox="1"/>
            <p:nvPr/>
          </p:nvSpPr>
          <p:spPr>
            <a:xfrm>
              <a:off x="190500" y="0"/>
              <a:ext cx="7620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800">
                  <a:solidFill>
                    <a:srgbClr val="EF4444"/>
                  </a:solidFill>
                  <a:latin typeface="Material Icons"/>
                  <a:ea typeface="Material Icons"/>
                  <a:cs typeface="Material Icons"/>
                  <a:sym typeface="Material Icons"/>
                </a:rPr>
                <a:t>report_problem </a:t>
              </a:r>
              <a:r>
                <a:rPr b="1" lang="zh-TW" sz="1400">
                  <a:solidFill>
                    <a:srgbClr val="1E293B"/>
                  </a:solidFill>
                  <a:latin typeface="Inter"/>
                  <a:ea typeface="Inter"/>
                  <a:cs typeface="Inter"/>
                  <a:sym typeface="Inter"/>
                </a:rPr>
                <a:t>傳統瓶頸</a:t>
              </a:r>
              <a:r>
                <a:rPr b="0" lang="zh-TW" sz="1800">
                  <a:solidFill>
                    <a:srgbClr val="EF4444"/>
                  </a:solidFill>
                  <a:latin typeface="Material Icons"/>
                  <a:ea typeface="Material Icons"/>
                  <a:cs typeface="Material Icons"/>
                  <a:sym typeface="Material Icons"/>
                </a:rPr>
                <a:t> </a:t>
              </a:r>
              <a:r>
                <a:rPr b="0" lang="zh-TW" sz="1050">
                  <a:solidFill>
                    <a:srgbClr val="475569"/>
                  </a:solidFill>
                  <a:latin typeface="Inter"/>
                  <a:ea typeface="Inter"/>
                  <a:cs typeface="Inter"/>
                  <a:sym typeface="Inter"/>
                </a:rPr>
                <a:t>現有軌跡系統難以在基層與大眾球館推廣：</a:t>
              </a:r>
              <a:endParaRPr b="0" sz="1800">
                <a:solidFill>
                  <a:srgbClr val="EF4444"/>
                </a:solidFill>
                <a:latin typeface="Material Icons"/>
                <a:ea typeface="Material Icons"/>
                <a:cs typeface="Material Icons"/>
                <a:sym typeface="Material Icons"/>
              </a:endParaRPr>
            </a:p>
            <a:p>
              <a:pPr indent="-342900" lvl="0" marL="457200" rtl="0" algn="l">
                <a:spcBef>
                  <a:spcPts val="300"/>
                </a:spcBef>
                <a:spcAft>
                  <a:spcPts val="0"/>
                </a:spcAft>
                <a:buClr>
                  <a:srgbClr val="EF4444"/>
                </a:buClr>
                <a:buSzPts val="1800"/>
                <a:buFont typeface="Material Icons"/>
                <a:buChar char="●"/>
              </a:pPr>
              <a:r>
                <a:rPr b="0" lang="zh-TW" sz="1000">
                  <a:solidFill>
                    <a:srgbClr val="64748B"/>
                  </a:solidFill>
                  <a:latin typeface="Inter"/>
                  <a:ea typeface="Inter"/>
                  <a:cs typeface="Inter"/>
                  <a:sym typeface="Inter"/>
                </a:rPr>
                <a:t>鷹眼等系統建置與維護成本極其高昂</a:t>
              </a:r>
              <a:endParaRPr b="0" sz="1800">
                <a:solidFill>
                  <a:srgbClr val="EF4444"/>
                </a:solidFill>
                <a:latin typeface="Material Icons"/>
                <a:ea typeface="Material Icons"/>
                <a:cs typeface="Material Icons"/>
                <a:sym typeface="Material Icons"/>
              </a:endParaRPr>
            </a:p>
            <a:p>
              <a:pPr indent="-342900" lvl="0" marL="457200" rtl="0" algn="l">
                <a:spcBef>
                  <a:spcPts val="200"/>
                </a:spcBef>
                <a:spcAft>
                  <a:spcPts val="0"/>
                </a:spcAft>
                <a:buClr>
                  <a:srgbClr val="EF4444"/>
                </a:buClr>
                <a:buSzPts val="1800"/>
                <a:buFont typeface="Material Icons"/>
                <a:buChar char="●"/>
              </a:pPr>
              <a:r>
                <a:rPr b="0" lang="zh-TW" sz="1000">
                  <a:solidFill>
                    <a:srgbClr val="64748B"/>
                  </a:solidFill>
                  <a:latin typeface="Inter"/>
                  <a:ea typeface="Inter"/>
                  <a:cs typeface="Inter"/>
                  <a:sym typeface="Inter"/>
                </a:rPr>
                <a:t>對場地空間與光源環境要求過於苛刻</a:t>
              </a:r>
              <a:endParaRPr b="0" sz="1800">
                <a:solidFill>
                  <a:srgbClr val="EF4444"/>
                </a:solidFill>
                <a:latin typeface="Material Icons"/>
                <a:ea typeface="Material Icons"/>
                <a:cs typeface="Material Icons"/>
                <a:sym typeface="Material Icons"/>
              </a:endParaRPr>
            </a:p>
          </p:txBody>
        </p:sp>
      </p:grpSp>
      <p:pic>
        <p:nvPicPr>
          <p:cNvPr id="1140" name="Google Shape;1140;p77"/>
          <p:cNvPicPr preferRelativeResize="0"/>
          <p:nvPr/>
        </p:nvPicPr>
        <p:blipFill rotWithShape="1">
          <a:blip r:embed="rId5">
            <a:alphaModFix/>
          </a:blip>
          <a:srcRect b="0" l="0" r="0" t="0"/>
          <a:stretch/>
        </p:blipFill>
        <p:spPr>
          <a:xfrm>
            <a:off x="942975" y="3257550"/>
            <a:ext cx="19200" cy="142800"/>
          </a:xfrm>
          <a:prstGeom prst="rect">
            <a:avLst/>
          </a:prstGeom>
          <a:noFill/>
          <a:ln>
            <a:noFill/>
          </a:ln>
        </p:spPr>
      </p:pic>
      <p:grpSp>
        <p:nvGrpSpPr>
          <p:cNvPr id="1141" name="Google Shape;1141;p77"/>
          <p:cNvGrpSpPr/>
          <p:nvPr/>
        </p:nvGrpSpPr>
        <p:grpSpPr>
          <a:xfrm>
            <a:off x="571500" y="3419475"/>
            <a:ext cx="8001000" cy="1000200"/>
            <a:chOff x="0" y="0"/>
            <a:chExt cx="8001000" cy="1000200"/>
          </a:xfrm>
        </p:grpSpPr>
        <p:sp>
          <p:nvSpPr>
            <p:cNvPr id="1142" name="Google Shape;1142;p77"/>
            <p:cNvSpPr/>
            <p:nvPr/>
          </p:nvSpPr>
          <p:spPr>
            <a:xfrm>
              <a:off x="0" y="0"/>
              <a:ext cx="8001000" cy="1000200"/>
            </a:xfrm>
            <a:prstGeom prst="roundRect">
              <a:avLst>
                <a:gd fmla="val 9523"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3" name="Google Shape;1143;p77"/>
            <p:cNvSpPr txBox="1"/>
            <p:nvPr/>
          </p:nvSpPr>
          <p:spPr>
            <a:xfrm>
              <a:off x="190500" y="0"/>
              <a:ext cx="76200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800">
                  <a:solidFill>
                    <a:srgbClr val="FFFFFF"/>
                  </a:solidFill>
                  <a:latin typeface="Material Icons"/>
                  <a:ea typeface="Material Icons"/>
                  <a:cs typeface="Material Icons"/>
                  <a:sym typeface="Material Icons"/>
                </a:rPr>
                <a:t>emoji_objects </a:t>
              </a:r>
              <a:r>
                <a:rPr b="1" lang="zh-TW" sz="1400">
                  <a:solidFill>
                    <a:srgbClr val="FFFFFF"/>
                  </a:solidFill>
                  <a:latin typeface="Inter"/>
                  <a:ea typeface="Inter"/>
                  <a:cs typeface="Inter"/>
                  <a:sym typeface="Inter"/>
                </a:rPr>
                <a:t>研究目的</a:t>
              </a:r>
              <a:r>
                <a:rPr b="0" lang="zh-TW" sz="1800">
                  <a:solidFill>
                    <a:srgbClr val="FFFFFF"/>
                  </a:solidFill>
                  <a:latin typeface="Material Icons"/>
                  <a:ea typeface="Material Icons"/>
                  <a:cs typeface="Material Icons"/>
                  <a:sym typeface="Material Icons"/>
                </a:rPr>
                <a:t> </a:t>
              </a:r>
              <a:r>
                <a:rPr b="0" lang="zh-TW" sz="1050">
                  <a:solidFill>
                    <a:srgbClr val="DBEAFE"/>
                  </a:solidFill>
                  <a:latin typeface="Inter"/>
                  <a:ea typeface="Inter"/>
                  <a:cs typeface="Inter"/>
                  <a:sym typeface="Inter"/>
                </a:rPr>
                <a:t>本研究核心目標與解決方案：</a:t>
              </a:r>
              <a:endParaRPr b="0" sz="1800">
                <a:solidFill>
                  <a:srgbClr val="FFFFFF"/>
                </a:solidFill>
                <a:latin typeface="Material Icons"/>
                <a:ea typeface="Material Icons"/>
                <a:cs typeface="Material Icons"/>
                <a:sym typeface="Material Icons"/>
              </a:endParaRPr>
            </a:p>
            <a:p>
              <a:pPr indent="-342900" lvl="0" marL="457200" rtl="0" algn="l">
                <a:spcBef>
                  <a:spcPts val="300"/>
                </a:spcBef>
                <a:spcAft>
                  <a:spcPts val="0"/>
                </a:spcAft>
                <a:buClr>
                  <a:srgbClr val="FFFFFF"/>
                </a:buClr>
                <a:buSzPts val="1800"/>
                <a:buFont typeface="Material Icons"/>
                <a:buChar char="●"/>
              </a:pPr>
              <a:r>
                <a:rPr b="0" lang="zh-TW" sz="1050">
                  <a:solidFill>
                    <a:srgbClr val="FFFFFF"/>
                  </a:solidFill>
                  <a:latin typeface="Inter"/>
                  <a:ea typeface="Inter"/>
                  <a:cs typeface="Inter"/>
                  <a:sym typeface="Inter"/>
                </a:rPr>
                <a:t>開發僅基於</a:t>
              </a:r>
              <a:r>
                <a:rPr b="1" lang="zh-TW" sz="1050">
                  <a:solidFill>
                    <a:srgbClr val="FFFFFF"/>
                  </a:solidFill>
                  <a:latin typeface="Inter"/>
                  <a:ea typeface="Inter"/>
                  <a:cs typeface="Inter"/>
                  <a:sym typeface="Inter"/>
                </a:rPr>
                <a:t>單一攝影機</a:t>
              </a:r>
              <a:r>
                <a:rPr b="0" lang="zh-TW" sz="1050">
                  <a:solidFill>
                    <a:srgbClr val="FFFFFF"/>
                  </a:solidFill>
                  <a:latin typeface="Inter"/>
                  <a:ea typeface="Inter"/>
                  <a:cs typeface="Inter"/>
                  <a:sym typeface="Inter"/>
                </a:rPr>
                <a:t>的追蹤系統</a:t>
              </a:r>
              <a:endParaRPr b="0" sz="1800">
                <a:solidFill>
                  <a:srgbClr val="FFFFFF"/>
                </a:solidFill>
                <a:latin typeface="Material Icons"/>
                <a:ea typeface="Material Icons"/>
                <a:cs typeface="Material Icons"/>
                <a:sym typeface="Material Icons"/>
              </a:endParaRPr>
            </a:p>
            <a:p>
              <a:pPr indent="-342900" lvl="0" marL="457200" rtl="0" algn="l">
                <a:spcBef>
                  <a:spcPts val="200"/>
                </a:spcBef>
                <a:spcAft>
                  <a:spcPts val="0"/>
                </a:spcAft>
                <a:buClr>
                  <a:srgbClr val="FFFFFF"/>
                </a:buClr>
                <a:buSzPts val="1800"/>
                <a:buFont typeface="Material Icons"/>
                <a:buChar char="●"/>
              </a:pPr>
              <a:r>
                <a:rPr b="0" lang="zh-TW" sz="1050">
                  <a:solidFill>
                    <a:srgbClr val="FFFFFF"/>
                  </a:solidFill>
                  <a:latin typeface="Inter"/>
                  <a:ea typeface="Inter"/>
                  <a:cs typeface="Inter"/>
                  <a:sym typeface="Inter"/>
                </a:rPr>
                <a:t>運行於</a:t>
              </a:r>
              <a:r>
                <a:rPr b="1" lang="zh-TW" sz="1050">
                  <a:solidFill>
                    <a:srgbClr val="FFFFFF"/>
                  </a:solidFill>
                  <a:latin typeface="Inter"/>
                  <a:ea typeface="Inter"/>
                  <a:cs typeface="Inter"/>
                  <a:sym typeface="Inter"/>
                </a:rPr>
                <a:t>平價邊緣設備</a:t>
              </a:r>
              <a:r>
                <a:rPr b="0" lang="zh-TW" sz="1050">
                  <a:solidFill>
                    <a:srgbClr val="FFFFFF"/>
                  </a:solidFill>
                  <a:latin typeface="Inter"/>
                  <a:ea typeface="Inter"/>
                  <a:cs typeface="Inter"/>
                  <a:sym typeface="Inter"/>
                </a:rPr>
                <a:t>，落實大眾普及</a:t>
              </a:r>
              <a:endParaRPr b="0" sz="1800">
                <a:solidFill>
                  <a:srgbClr val="FFFFFF"/>
                </a:solidFill>
                <a:latin typeface="Material Icons"/>
                <a:ea typeface="Material Icons"/>
                <a:cs typeface="Material Icons"/>
                <a:sym typeface="Material Icons"/>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7" name="Shape 1147"/>
        <p:cNvGrpSpPr/>
        <p:nvPr/>
      </p:nvGrpSpPr>
      <p:grpSpPr>
        <a:xfrm>
          <a:off x="0" y="0"/>
          <a:ext cx="0" cy="0"/>
          <a:chOff x="0" y="0"/>
          <a:chExt cx="0" cy="0"/>
        </a:xfrm>
      </p:grpSpPr>
      <p:grpSp>
        <p:nvGrpSpPr>
          <p:cNvPr id="1148" name="Google Shape;1148;p78"/>
          <p:cNvGrpSpPr/>
          <p:nvPr/>
        </p:nvGrpSpPr>
        <p:grpSpPr>
          <a:xfrm>
            <a:off x="-476250" y="-857250"/>
            <a:ext cx="10477500" cy="6381750"/>
            <a:chOff x="-476250" y="-857250"/>
            <a:chExt cx="10477500" cy="6381750"/>
          </a:xfrm>
        </p:grpSpPr>
        <p:sp>
          <p:nvSpPr>
            <p:cNvPr id="1149" name="Google Shape;1149;p7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0" name="Google Shape;1150;p7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1" name="Google Shape;1151;p7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52" name="Google Shape;1152;p78"/>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介紹</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Introduction</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1153" name="Google Shape;1153;p78"/>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grpSp>
        <p:nvGrpSpPr>
          <p:cNvPr id="1158" name="Google Shape;1158;p79"/>
          <p:cNvGrpSpPr/>
          <p:nvPr/>
        </p:nvGrpSpPr>
        <p:grpSpPr>
          <a:xfrm>
            <a:off x="-476250" y="-857250"/>
            <a:ext cx="10477500" cy="6381750"/>
            <a:chOff x="-476250" y="-857250"/>
            <a:chExt cx="10477500" cy="6381750"/>
          </a:xfrm>
        </p:grpSpPr>
        <p:sp>
          <p:nvSpPr>
            <p:cNvPr id="1159" name="Google Shape;1159;p7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0" name="Google Shape;1160;p7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1" name="Google Shape;1161;p7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62" name="Google Shape;1162;p79"/>
          <p:cNvGrpSpPr/>
          <p:nvPr/>
        </p:nvGrpSpPr>
        <p:grpSpPr>
          <a:xfrm>
            <a:off x="571500" y="381000"/>
            <a:ext cx="8001000" cy="762000"/>
            <a:chOff x="571500" y="381000"/>
            <a:chExt cx="8001000" cy="762000"/>
          </a:xfrm>
        </p:grpSpPr>
        <p:sp>
          <p:nvSpPr>
            <p:cNvPr id="1163" name="Google Shape;1163;p79"/>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介紹(1) </a:t>
              </a:r>
              <a:r>
                <a:rPr b="0" lang="zh-TW" sz="2400">
                  <a:solidFill>
                    <a:srgbClr val="3B82F6"/>
                  </a:solidFill>
                  <a:latin typeface="Inter"/>
                  <a:ea typeface="Inter"/>
                  <a:cs typeface="Inter"/>
                  <a:sym typeface="Inter"/>
                </a:rPr>
                <a:t>(TrackNet)</a:t>
              </a:r>
              <a:endParaRPr b="1" sz="3600">
                <a:solidFill>
                  <a:srgbClr val="1E293B"/>
                </a:solidFill>
                <a:latin typeface="Oswald"/>
                <a:ea typeface="Oswald"/>
                <a:cs typeface="Oswald"/>
                <a:sym typeface="Oswald"/>
              </a:endParaRPr>
            </a:p>
          </p:txBody>
        </p:sp>
        <p:sp>
          <p:nvSpPr>
            <p:cNvPr id="1164" name="Google Shape;1164;p79"/>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65" name="Google Shape;1165;p79"/>
          <p:cNvGrpSpPr/>
          <p:nvPr/>
        </p:nvGrpSpPr>
        <p:grpSpPr>
          <a:xfrm>
            <a:off x="571500" y="1190625"/>
            <a:ext cx="8001000" cy="971700"/>
            <a:chOff x="0" y="0"/>
            <a:chExt cx="8001000" cy="971700"/>
          </a:xfrm>
        </p:grpSpPr>
        <p:sp>
          <p:nvSpPr>
            <p:cNvPr id="1166" name="Google Shape;1166;p79"/>
            <p:cNvSpPr/>
            <p:nvPr/>
          </p:nvSpPr>
          <p:spPr>
            <a:xfrm>
              <a:off x="0" y="0"/>
              <a:ext cx="8001000" cy="971700"/>
            </a:xfrm>
            <a:prstGeom prst="roundRect">
              <a:avLst>
                <a:gd fmla="val 980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7" name="Google Shape;1167;p79"/>
            <p:cNvSpPr/>
            <p:nvPr/>
          </p:nvSpPr>
          <p:spPr>
            <a:xfrm>
              <a:off x="0" y="0"/>
              <a:ext cx="57300" cy="9717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8" name="Google Shape;1168;p79"/>
            <p:cNvSpPr txBox="1"/>
            <p:nvPr/>
          </p:nvSpPr>
          <p:spPr>
            <a:xfrm>
              <a:off x="190500" y="0"/>
              <a:ext cx="7620000" cy="97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TW" sz="1800">
                  <a:solidFill>
                    <a:srgbClr val="3B82F6"/>
                  </a:solidFill>
                  <a:latin typeface="Material Icons"/>
                  <a:ea typeface="Material Icons"/>
                  <a:cs typeface="Material Icons"/>
                  <a:sym typeface="Material Icons"/>
                </a:rPr>
                <a:t>star</a:t>
              </a:r>
              <a:r>
                <a:rPr lang="zh-TW">
                  <a:latin typeface="Inter"/>
                  <a:ea typeface="Inter"/>
                  <a:cs typeface="Inter"/>
                  <a:sym typeface="Inter"/>
                </a:rPr>
                <a:t> </a:t>
              </a:r>
              <a:r>
                <a:rPr b="1" lang="zh-TW" sz="1400">
                  <a:solidFill>
                    <a:srgbClr val="1E293B"/>
                  </a:solidFill>
                  <a:latin typeface="Inter"/>
                  <a:ea typeface="Inter"/>
                  <a:cs typeface="Inter"/>
                  <a:sym typeface="Inter"/>
                </a:rPr>
                <a:t>技術標竿</a:t>
              </a:r>
              <a:r>
                <a:rPr lang="zh-TW">
                  <a:latin typeface="Inter"/>
                  <a:ea typeface="Inter"/>
                  <a:cs typeface="Inter"/>
                  <a:sym typeface="Inter"/>
                </a:rPr>
                <a:t> </a:t>
              </a:r>
              <a:r>
                <a:rPr lang="zh-TW" sz="1050">
                  <a:solidFill>
                    <a:srgbClr val="475569"/>
                  </a:solidFill>
                  <a:latin typeface="Inter"/>
                  <a:ea typeface="Inter"/>
                  <a:cs typeface="Inter"/>
                  <a:sym typeface="Inter"/>
                </a:rPr>
                <a:t>TrackNet 系列模型在單鏡頭羽球追蹤領域已成為學術界技術標竿：</a:t>
              </a:r>
              <a:endParaRPr>
                <a:latin typeface="Inter"/>
                <a:ea typeface="Inter"/>
                <a:cs typeface="Inter"/>
                <a:sym typeface="Inter"/>
              </a:endParaRPr>
            </a:p>
            <a:p>
              <a:pPr indent="-292100" lvl="0" marL="457200" rtl="0" algn="l">
                <a:spcBef>
                  <a:spcPts val="300"/>
                </a:spcBef>
                <a:spcAft>
                  <a:spcPts val="0"/>
                </a:spcAft>
                <a:buClr>
                  <a:srgbClr val="64748B"/>
                </a:buClr>
                <a:buSzPts val="1000"/>
                <a:buFont typeface="Inter"/>
                <a:buChar char="●"/>
              </a:pPr>
              <a:r>
                <a:rPr lang="zh-TW" sz="1000">
                  <a:solidFill>
                    <a:srgbClr val="64748B"/>
                  </a:solidFill>
                  <a:latin typeface="Inter"/>
                  <a:ea typeface="Inter"/>
                  <a:cs typeface="Inter"/>
                  <a:sym typeface="Inter"/>
                </a:rPr>
                <a:t>針對高速、微小物件優化</a:t>
              </a:r>
              <a:endParaRPr sz="1000">
                <a:solidFill>
                  <a:srgbClr val="64748B"/>
                </a:solidFill>
                <a:latin typeface="Inter"/>
                <a:ea typeface="Inter"/>
                <a:cs typeface="Inter"/>
                <a:sym typeface="Inter"/>
              </a:endParaRPr>
            </a:p>
            <a:p>
              <a:pPr indent="-292100" lvl="0" marL="457200" rtl="0" algn="l">
                <a:spcBef>
                  <a:spcPts val="150"/>
                </a:spcBef>
                <a:spcAft>
                  <a:spcPts val="0"/>
                </a:spcAft>
                <a:buClr>
                  <a:srgbClr val="64748B"/>
                </a:buClr>
                <a:buSzPts val="1000"/>
                <a:buFont typeface="Inter"/>
                <a:buChar char="●"/>
              </a:pPr>
              <a:r>
                <a:rPr lang="zh-TW" sz="1000">
                  <a:solidFill>
                    <a:srgbClr val="64748B"/>
                  </a:solidFill>
                  <a:latin typeface="Inter"/>
                  <a:ea typeface="Inter"/>
                  <a:cs typeface="Inter"/>
                  <a:sym typeface="Inter"/>
                </a:rPr>
                <a:t>特殊的網路感受野設計</a:t>
              </a:r>
              <a:endParaRPr sz="1000">
                <a:solidFill>
                  <a:srgbClr val="64748B"/>
                </a:solidFill>
                <a:latin typeface="Inter"/>
                <a:ea typeface="Inter"/>
                <a:cs typeface="Inter"/>
                <a:sym typeface="Inter"/>
              </a:endParaRPr>
            </a:p>
          </p:txBody>
        </p:sp>
      </p:grpSp>
      <p:pic>
        <p:nvPicPr>
          <p:cNvPr id="1169" name="Google Shape;1169;p79"/>
          <p:cNvPicPr preferRelativeResize="0"/>
          <p:nvPr/>
        </p:nvPicPr>
        <p:blipFill rotWithShape="1">
          <a:blip r:embed="rId3">
            <a:alphaModFix/>
          </a:blip>
          <a:srcRect b="0" l="0" r="0" t="0"/>
          <a:stretch/>
        </p:blipFill>
        <p:spPr>
          <a:xfrm>
            <a:off x="942975" y="2162175"/>
            <a:ext cx="19200" cy="133500"/>
          </a:xfrm>
          <a:prstGeom prst="rect">
            <a:avLst/>
          </a:prstGeom>
          <a:noFill/>
          <a:ln>
            <a:noFill/>
          </a:ln>
        </p:spPr>
      </p:pic>
      <p:grpSp>
        <p:nvGrpSpPr>
          <p:cNvPr id="1170" name="Google Shape;1170;p79"/>
          <p:cNvGrpSpPr/>
          <p:nvPr/>
        </p:nvGrpSpPr>
        <p:grpSpPr>
          <a:xfrm>
            <a:off x="571500" y="2305050"/>
            <a:ext cx="8001000" cy="971700"/>
            <a:chOff x="0" y="0"/>
            <a:chExt cx="8001000" cy="971700"/>
          </a:xfrm>
        </p:grpSpPr>
        <p:sp>
          <p:nvSpPr>
            <p:cNvPr id="1171" name="Google Shape;1171;p79"/>
            <p:cNvSpPr/>
            <p:nvPr/>
          </p:nvSpPr>
          <p:spPr>
            <a:xfrm>
              <a:off x="0" y="0"/>
              <a:ext cx="8001000" cy="971700"/>
            </a:xfrm>
            <a:prstGeom prst="roundRect">
              <a:avLst>
                <a:gd fmla="val 980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2" name="Google Shape;1172;p79"/>
            <p:cNvSpPr/>
            <p:nvPr/>
          </p:nvSpPr>
          <p:spPr>
            <a:xfrm>
              <a:off x="0" y="0"/>
              <a:ext cx="57300" cy="9717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3" name="Google Shape;1173;p79"/>
            <p:cNvSpPr txBox="1"/>
            <p:nvPr/>
          </p:nvSpPr>
          <p:spPr>
            <a:xfrm>
              <a:off x="190500" y="0"/>
              <a:ext cx="7620000" cy="97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TW" sz="1800">
                  <a:solidFill>
                    <a:srgbClr val="3B82F6"/>
                  </a:solidFill>
                  <a:latin typeface="Material Icons"/>
                  <a:ea typeface="Material Icons"/>
                  <a:cs typeface="Material Icons"/>
                  <a:sym typeface="Material Icons"/>
                </a:rPr>
                <a:t>psychology</a:t>
              </a:r>
              <a:r>
                <a:rPr lang="zh-TW">
                  <a:latin typeface="Inter"/>
                  <a:ea typeface="Inter"/>
                  <a:cs typeface="Inter"/>
                  <a:sym typeface="Inter"/>
                </a:rPr>
                <a:t> </a:t>
              </a:r>
              <a:r>
                <a:rPr b="1" lang="zh-TW" sz="1400">
                  <a:solidFill>
                    <a:srgbClr val="1E293B"/>
                  </a:solidFill>
                  <a:latin typeface="Inter"/>
                  <a:ea typeface="Inter"/>
                  <a:cs typeface="Inter"/>
                  <a:sym typeface="Inter"/>
                </a:rPr>
                <a:t>技術突破</a:t>
              </a:r>
              <a:r>
                <a:rPr lang="zh-TW">
                  <a:latin typeface="Inter"/>
                  <a:ea typeface="Inter"/>
                  <a:cs typeface="Inter"/>
                  <a:sym typeface="Inter"/>
                </a:rPr>
                <a:t> </a:t>
              </a:r>
              <a:r>
                <a:rPr lang="zh-TW" sz="1050">
                  <a:solidFill>
                    <a:srgbClr val="475569"/>
                  </a:solidFill>
                  <a:latin typeface="Inter"/>
                  <a:ea typeface="Inter"/>
                  <a:cs typeface="Inter"/>
                  <a:sym typeface="Inter"/>
                </a:rPr>
                <a:t>TrackNetV4 透過架構升級大幅強化追蹤效能：</a:t>
              </a:r>
              <a:endParaRPr>
                <a:latin typeface="Inter"/>
                <a:ea typeface="Inter"/>
                <a:cs typeface="Inter"/>
                <a:sym typeface="Inter"/>
              </a:endParaRPr>
            </a:p>
            <a:p>
              <a:pPr indent="-292100" lvl="0" marL="457200" rtl="0" algn="l">
                <a:spcBef>
                  <a:spcPts val="300"/>
                </a:spcBef>
                <a:spcAft>
                  <a:spcPts val="0"/>
                </a:spcAft>
                <a:buClr>
                  <a:srgbClr val="64748B"/>
                </a:buClr>
                <a:buSzPts val="1000"/>
                <a:buFont typeface="Inter"/>
                <a:buChar char="●"/>
              </a:pPr>
              <a:r>
                <a:rPr lang="zh-TW" sz="1000">
                  <a:solidFill>
                    <a:srgbClr val="64748B"/>
                  </a:solidFill>
                  <a:latin typeface="Inter"/>
                  <a:ea typeface="Inter"/>
                  <a:cs typeface="Inter"/>
                  <a:sym typeface="Inter"/>
                </a:rPr>
                <a:t>引入動態注意力機制</a:t>
              </a:r>
              <a:endParaRPr sz="1000">
                <a:solidFill>
                  <a:srgbClr val="64748B"/>
                </a:solidFill>
                <a:latin typeface="Inter"/>
                <a:ea typeface="Inter"/>
                <a:cs typeface="Inter"/>
                <a:sym typeface="Inter"/>
              </a:endParaRPr>
            </a:p>
            <a:p>
              <a:pPr indent="-292100" lvl="0" marL="457200" rtl="0" algn="l">
                <a:spcBef>
                  <a:spcPts val="150"/>
                </a:spcBef>
                <a:spcAft>
                  <a:spcPts val="0"/>
                </a:spcAft>
                <a:buClr>
                  <a:srgbClr val="64748B"/>
                </a:buClr>
                <a:buSzPts val="1000"/>
                <a:buFont typeface="Inter"/>
                <a:buChar char="●"/>
              </a:pPr>
              <a:r>
                <a:rPr lang="zh-TW" sz="1000">
                  <a:solidFill>
                    <a:srgbClr val="64748B"/>
                  </a:solidFill>
                  <a:latin typeface="Inter"/>
                  <a:ea typeface="Inter"/>
                  <a:cs typeface="Inter"/>
                  <a:sym typeface="Inter"/>
                </a:rPr>
                <a:t>大幅提升複雜背景下的抗雜訊能力</a:t>
              </a:r>
              <a:endParaRPr sz="1000">
                <a:solidFill>
                  <a:srgbClr val="64748B"/>
                </a:solidFill>
                <a:latin typeface="Inter"/>
                <a:ea typeface="Inter"/>
                <a:cs typeface="Inter"/>
                <a:sym typeface="Inter"/>
              </a:endParaRPr>
            </a:p>
          </p:txBody>
        </p:sp>
      </p:grpSp>
      <p:pic>
        <p:nvPicPr>
          <p:cNvPr id="1174" name="Google Shape;1174;p79"/>
          <p:cNvPicPr preferRelativeResize="0"/>
          <p:nvPr/>
        </p:nvPicPr>
        <p:blipFill rotWithShape="1">
          <a:blip r:embed="rId4">
            <a:alphaModFix/>
          </a:blip>
          <a:srcRect b="0" l="0" r="0" t="0"/>
          <a:stretch/>
        </p:blipFill>
        <p:spPr>
          <a:xfrm>
            <a:off x="942975" y="3276600"/>
            <a:ext cx="19200" cy="133500"/>
          </a:xfrm>
          <a:prstGeom prst="rect">
            <a:avLst/>
          </a:prstGeom>
          <a:noFill/>
          <a:ln>
            <a:noFill/>
          </a:ln>
        </p:spPr>
      </p:pic>
      <p:grpSp>
        <p:nvGrpSpPr>
          <p:cNvPr id="1175" name="Google Shape;1175;p79"/>
          <p:cNvGrpSpPr/>
          <p:nvPr/>
        </p:nvGrpSpPr>
        <p:grpSpPr>
          <a:xfrm>
            <a:off x="571500" y="3419475"/>
            <a:ext cx="8001000" cy="1190700"/>
            <a:chOff x="0" y="0"/>
            <a:chExt cx="8001000" cy="1190700"/>
          </a:xfrm>
        </p:grpSpPr>
        <p:sp>
          <p:nvSpPr>
            <p:cNvPr id="1176" name="Google Shape;1176;p79"/>
            <p:cNvSpPr/>
            <p:nvPr/>
          </p:nvSpPr>
          <p:spPr>
            <a:xfrm>
              <a:off x="0" y="0"/>
              <a:ext cx="8001000" cy="1190700"/>
            </a:xfrm>
            <a:prstGeom prst="roundRect">
              <a:avLst>
                <a:gd fmla="val 8000"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79"/>
            <p:cNvSpPr/>
            <p:nvPr/>
          </p:nvSpPr>
          <p:spPr>
            <a:xfrm>
              <a:off x="0" y="0"/>
              <a:ext cx="57300" cy="11907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8" name="Google Shape;1178;p79"/>
            <p:cNvSpPr txBox="1"/>
            <p:nvPr/>
          </p:nvSpPr>
          <p:spPr>
            <a:xfrm>
              <a:off x="190500" y="0"/>
              <a:ext cx="76200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TW" sz="1800">
                  <a:solidFill>
                    <a:srgbClr val="EF4444"/>
                  </a:solidFill>
                  <a:latin typeface="Material Icons"/>
                  <a:ea typeface="Material Icons"/>
                  <a:cs typeface="Material Icons"/>
                  <a:sym typeface="Material Icons"/>
                </a:rPr>
                <a:t>report_problem</a:t>
              </a:r>
              <a:r>
                <a:rPr lang="zh-TW">
                  <a:latin typeface="Inter"/>
                  <a:ea typeface="Inter"/>
                  <a:cs typeface="Inter"/>
                  <a:sym typeface="Inter"/>
                </a:rPr>
                <a:t> </a:t>
              </a:r>
              <a:r>
                <a:rPr b="1" lang="zh-TW" sz="1400">
                  <a:solidFill>
                    <a:srgbClr val="991B1B"/>
                  </a:solidFill>
                  <a:latin typeface="Inter"/>
                  <a:ea typeface="Inter"/>
                  <a:cs typeface="Inter"/>
                  <a:sym typeface="Inter"/>
                </a:rPr>
                <a:t>面臨挑戰</a:t>
              </a:r>
              <a:r>
                <a:rPr lang="zh-TW">
                  <a:latin typeface="Inter"/>
                  <a:ea typeface="Inter"/>
                  <a:cs typeface="Inter"/>
                  <a:sym typeface="Inter"/>
                </a:rPr>
                <a:t> </a:t>
              </a:r>
              <a:r>
                <a:rPr lang="zh-TW" sz="1050">
                  <a:solidFill>
                    <a:srgbClr val="991B1B"/>
                  </a:solidFill>
                  <a:latin typeface="Inter"/>
                  <a:ea typeface="Inter"/>
                  <a:cs typeface="Inter"/>
                  <a:sym typeface="Inter"/>
                </a:rPr>
                <a:t>優異的準確度背後伴隨著沉重的運算負擔，難以在輕量邊緣設備實現：</a:t>
              </a:r>
              <a:endParaRPr>
                <a:latin typeface="Inter"/>
                <a:ea typeface="Inter"/>
                <a:cs typeface="Inter"/>
                <a:sym typeface="Inter"/>
              </a:endParaRPr>
            </a:p>
            <a:p>
              <a:pPr indent="-292100" lvl="0" marL="457200" rtl="0" algn="l">
                <a:spcBef>
                  <a:spcPts val="300"/>
                </a:spcBef>
                <a:spcAft>
                  <a:spcPts val="0"/>
                </a:spcAft>
                <a:buClr>
                  <a:srgbClr val="7F1D1D"/>
                </a:buClr>
                <a:buSzPts val="1000"/>
                <a:buFont typeface="Inter"/>
                <a:buChar char="●"/>
              </a:pPr>
              <a:r>
                <a:rPr lang="zh-TW" sz="1000">
                  <a:solidFill>
                    <a:srgbClr val="7F1D1D"/>
                  </a:solidFill>
                  <a:latin typeface="Inter"/>
                  <a:ea typeface="Inter"/>
                  <a:cs typeface="Inter"/>
                  <a:sym typeface="Inter"/>
                </a:rPr>
                <a:t>龐大的模型參數量</a:t>
              </a:r>
              <a:endParaRPr sz="1000">
                <a:solidFill>
                  <a:srgbClr val="7F1D1D"/>
                </a:solidFill>
                <a:latin typeface="Inter"/>
                <a:ea typeface="Inter"/>
                <a:cs typeface="Inter"/>
                <a:sym typeface="Inter"/>
              </a:endParaRPr>
            </a:p>
            <a:p>
              <a:pPr indent="-292100" lvl="0" marL="457200" rtl="0" algn="l">
                <a:spcBef>
                  <a:spcPts val="150"/>
                </a:spcBef>
                <a:spcAft>
                  <a:spcPts val="0"/>
                </a:spcAft>
                <a:buClr>
                  <a:srgbClr val="7F1D1D"/>
                </a:buClr>
                <a:buSzPts val="1000"/>
                <a:buFont typeface="Inter"/>
                <a:buChar char="●"/>
              </a:pPr>
              <a:r>
                <a:rPr lang="zh-TW" sz="1000">
                  <a:solidFill>
                    <a:srgbClr val="7F1D1D"/>
                  </a:solidFill>
                  <a:latin typeface="Inter"/>
                  <a:ea typeface="Inter"/>
                  <a:cs typeface="Inter"/>
                  <a:sym typeface="Inter"/>
                </a:rPr>
                <a:t>深層且複雜的卷積運算</a:t>
              </a:r>
              <a:endParaRPr sz="1000">
                <a:solidFill>
                  <a:srgbClr val="7F1D1D"/>
                </a:solidFill>
                <a:latin typeface="Inter"/>
                <a:ea typeface="Inter"/>
                <a:cs typeface="Inter"/>
                <a:sym typeface="Inter"/>
              </a:endParaRPr>
            </a:p>
            <a:p>
              <a:pPr indent="0" lvl="0" marL="0" rtl="0" algn="l">
                <a:spcBef>
                  <a:spcPts val="450"/>
                </a:spcBef>
                <a:spcAft>
                  <a:spcPts val="0"/>
                </a:spcAft>
                <a:buNone/>
              </a:pPr>
              <a:r>
                <a:rPr b="1" lang="zh-TW" sz="1000">
                  <a:solidFill>
                    <a:srgbClr val="B91C1C"/>
                  </a:solidFill>
                  <a:latin typeface="Inter"/>
                  <a:ea typeface="Inter"/>
                  <a:cs typeface="Inter"/>
                  <a:sym typeface="Inter"/>
                </a:rPr>
                <a:t>👉 既然已知Tracknet系列的沉重運算負擔，那如果實際將其部屬到Jetson Nano上會有什麼表現呢？</a:t>
              </a:r>
              <a:endParaRPr b="1" sz="1000">
                <a:solidFill>
                  <a:srgbClr val="B91C1C"/>
                </a:solidFill>
                <a:latin typeface="Inter"/>
                <a:ea typeface="Inter"/>
                <a:cs typeface="Inter"/>
                <a:sym typeface="Inter"/>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grpSp>
        <p:nvGrpSpPr>
          <p:cNvPr id="1183" name="Google Shape;1183;p80"/>
          <p:cNvGrpSpPr/>
          <p:nvPr/>
        </p:nvGrpSpPr>
        <p:grpSpPr>
          <a:xfrm>
            <a:off x="-476250" y="-857250"/>
            <a:ext cx="10477500" cy="6381750"/>
            <a:chOff x="-476250" y="-857250"/>
            <a:chExt cx="10477500" cy="6381750"/>
          </a:xfrm>
        </p:grpSpPr>
        <p:sp>
          <p:nvSpPr>
            <p:cNvPr id="1184" name="Google Shape;1184;p8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5" name="Google Shape;1185;p8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8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7" name="Google Shape;1187;p80"/>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88" name="Google Shape;1188;p80"/>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Nano端測試 realtime mode (TracknetV4)</a:t>
            </a:r>
            <a:endParaRPr b="1" sz="24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pic>
        <p:nvPicPr>
          <p:cNvPr id="1189" name="Google Shape;1189;p80" title="teacher_realtime_nano (1).mp4">
            <a:hlinkClick r:id="rId3"/>
          </p:cNvPr>
          <p:cNvPicPr preferRelativeResize="0"/>
          <p:nvPr/>
        </p:nvPicPr>
        <p:blipFill>
          <a:blip r:embed="rId4">
            <a:alphaModFix/>
          </a:blip>
          <a:stretch>
            <a:fillRect/>
          </a:stretch>
        </p:blipFill>
        <p:spPr>
          <a:xfrm>
            <a:off x="1746950" y="1358400"/>
            <a:ext cx="6031101" cy="339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1000"/>
                                        <p:tgtEl>
                                          <p:spTgt spid="1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grpSp>
        <p:nvGrpSpPr>
          <p:cNvPr id="1194" name="Google Shape;1194;p81"/>
          <p:cNvGrpSpPr/>
          <p:nvPr/>
        </p:nvGrpSpPr>
        <p:grpSpPr>
          <a:xfrm>
            <a:off x="-476250" y="-857250"/>
            <a:ext cx="10477500" cy="6381750"/>
            <a:chOff x="-476250" y="-857250"/>
            <a:chExt cx="10477500" cy="6381750"/>
          </a:xfrm>
        </p:grpSpPr>
        <p:sp>
          <p:nvSpPr>
            <p:cNvPr id="1195" name="Google Shape;1195;p8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6" name="Google Shape;1196;p8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7" name="Google Shape;1197;p8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98" name="Google Shape;1198;p81"/>
          <p:cNvGrpSpPr/>
          <p:nvPr/>
        </p:nvGrpSpPr>
        <p:grpSpPr>
          <a:xfrm>
            <a:off x="571500" y="381000"/>
            <a:ext cx="8001000" cy="762000"/>
            <a:chOff x="571500" y="381000"/>
            <a:chExt cx="8001000" cy="762000"/>
          </a:xfrm>
        </p:grpSpPr>
        <p:sp>
          <p:nvSpPr>
            <p:cNvPr id="1199" name="Google Shape;1199;p81"/>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介紹(2) </a:t>
              </a:r>
              <a:r>
                <a:rPr b="0" lang="zh-TW" sz="2400">
                  <a:solidFill>
                    <a:srgbClr val="3B82F6"/>
                  </a:solidFill>
                  <a:latin typeface="Inter"/>
                  <a:ea typeface="Inter"/>
                  <a:cs typeface="Inter"/>
                  <a:sym typeface="Inter"/>
                </a:rPr>
                <a:t>(挑戰與瓶頸)</a:t>
              </a:r>
              <a:endParaRPr b="1" sz="3600">
                <a:solidFill>
                  <a:srgbClr val="1E293B"/>
                </a:solidFill>
                <a:latin typeface="Oswald"/>
                <a:ea typeface="Oswald"/>
                <a:cs typeface="Oswald"/>
                <a:sym typeface="Oswald"/>
              </a:endParaRPr>
            </a:p>
          </p:txBody>
        </p:sp>
        <p:sp>
          <p:nvSpPr>
            <p:cNvPr id="1200" name="Google Shape;1200;p81"/>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01" name="Google Shape;1201;p81"/>
          <p:cNvGrpSpPr/>
          <p:nvPr/>
        </p:nvGrpSpPr>
        <p:grpSpPr>
          <a:xfrm>
            <a:off x="571500" y="1238250"/>
            <a:ext cx="8001000" cy="1047900"/>
            <a:chOff x="0" y="0"/>
            <a:chExt cx="8001000" cy="1047900"/>
          </a:xfrm>
        </p:grpSpPr>
        <p:sp>
          <p:nvSpPr>
            <p:cNvPr id="1202" name="Google Shape;1202;p81"/>
            <p:cNvSpPr/>
            <p:nvPr/>
          </p:nvSpPr>
          <p:spPr>
            <a:xfrm>
              <a:off x="0" y="0"/>
              <a:ext cx="8001000" cy="1047900"/>
            </a:xfrm>
            <a:prstGeom prst="roundRect">
              <a:avLst>
                <a:gd fmla="val 9090"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3" name="Google Shape;1203;p81"/>
            <p:cNvSpPr/>
            <p:nvPr/>
          </p:nvSpPr>
          <p:spPr>
            <a:xfrm>
              <a:off x="0" y="0"/>
              <a:ext cx="57300" cy="1047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4" name="Google Shape;1204;p81"/>
            <p:cNvSpPr txBox="1"/>
            <p:nvPr/>
          </p:nvSpPr>
          <p:spPr>
            <a:xfrm>
              <a:off x="190500" y="0"/>
              <a:ext cx="76200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zh-TW" sz="1530">
                  <a:solidFill>
                    <a:srgbClr val="EF4444"/>
                  </a:solidFill>
                  <a:latin typeface="Material Icons"/>
                  <a:ea typeface="Material Icons"/>
                  <a:cs typeface="Material Icons"/>
                  <a:sym typeface="Material Icons"/>
                </a:rPr>
                <a:t>report_problem </a:t>
              </a:r>
              <a:r>
                <a:rPr b="1" lang="zh-TW" sz="1190">
                  <a:solidFill>
                    <a:srgbClr val="991B1B"/>
                  </a:solidFill>
                  <a:latin typeface="Inter"/>
                  <a:ea typeface="Inter"/>
                  <a:cs typeface="Inter"/>
                  <a:sym typeface="Inter"/>
                </a:rPr>
                <a:t>實測效能瓶頸</a:t>
              </a:r>
              <a:r>
                <a:rPr b="0" lang="zh-TW" sz="1530">
                  <a:solidFill>
                    <a:srgbClr val="EF4444"/>
                  </a:solidFill>
                  <a:latin typeface="Material Icons"/>
                  <a:ea typeface="Material Icons"/>
                  <a:cs typeface="Material Icons"/>
                  <a:sym typeface="Material Icons"/>
                </a:rPr>
                <a:t> </a:t>
              </a:r>
              <a:r>
                <a:rPr b="0" lang="zh-TW" sz="893">
                  <a:solidFill>
                    <a:srgbClr val="991B1B"/>
                  </a:solidFill>
                  <a:latin typeface="Inter"/>
                  <a:ea typeface="Inter"/>
                  <a:cs typeface="Inter"/>
                  <a:sym typeface="Inter"/>
                </a:rPr>
                <a:t>實際部署於邊緣運算平台時，系統面臨嚴重算力限制：</a:t>
              </a:r>
              <a:endParaRPr b="0" sz="1530">
                <a:solidFill>
                  <a:srgbClr val="EF4444"/>
                </a:solidFill>
                <a:latin typeface="Material Icons"/>
                <a:ea typeface="Material Icons"/>
                <a:cs typeface="Material Icons"/>
                <a:sym typeface="Material Icons"/>
              </a:endParaRPr>
            </a:p>
            <a:p>
              <a:pPr indent="-325755" lvl="0" marL="457200" rtl="0" algn="l">
                <a:spcBef>
                  <a:spcPts val="400"/>
                </a:spcBef>
                <a:spcAft>
                  <a:spcPts val="0"/>
                </a:spcAft>
                <a:buClr>
                  <a:srgbClr val="EF4444"/>
                </a:buClr>
                <a:buSzPts val="1530"/>
                <a:buFont typeface="Material Icons"/>
                <a:buChar char="●"/>
              </a:pPr>
              <a:r>
                <a:rPr b="0" lang="zh-TW" sz="850">
                  <a:solidFill>
                    <a:srgbClr val="7F1D1D"/>
                  </a:solidFill>
                  <a:latin typeface="Inter"/>
                  <a:ea typeface="Inter"/>
                  <a:cs typeface="Inter"/>
                  <a:sym typeface="Inter"/>
                </a:rPr>
                <a:t>NVIDIA Jetson Nano 極度缺乏運算資源</a:t>
              </a:r>
              <a:endParaRPr b="0" sz="1530">
                <a:solidFill>
                  <a:srgbClr val="EF4444"/>
                </a:solidFill>
                <a:latin typeface="Material Icons"/>
                <a:ea typeface="Material Icons"/>
                <a:cs typeface="Material Icons"/>
                <a:sym typeface="Material Icons"/>
              </a:endParaRPr>
            </a:p>
            <a:p>
              <a:pPr indent="-325755" lvl="0" marL="457200" rtl="0" algn="l">
                <a:spcBef>
                  <a:spcPts val="200"/>
                </a:spcBef>
                <a:spcAft>
                  <a:spcPts val="0"/>
                </a:spcAft>
                <a:buClr>
                  <a:srgbClr val="EF4444"/>
                </a:buClr>
                <a:buSzPts val="1530"/>
                <a:buFont typeface="Material Icons"/>
                <a:buChar char="●"/>
              </a:pPr>
              <a:r>
                <a:rPr b="0" lang="zh-TW" sz="850">
                  <a:solidFill>
                    <a:srgbClr val="7F1D1D"/>
                  </a:solidFill>
                  <a:latin typeface="Inter"/>
                  <a:ea typeface="Inter"/>
                  <a:cs typeface="Inter"/>
                  <a:sym typeface="Inter"/>
                </a:rPr>
                <a:t>單幀推論延遲高達 1100 毫秒</a:t>
              </a:r>
              <a:endParaRPr b="0" sz="1530">
                <a:solidFill>
                  <a:srgbClr val="EF4444"/>
                </a:solidFill>
                <a:latin typeface="Material Icons"/>
                <a:ea typeface="Material Icons"/>
                <a:cs typeface="Material Icons"/>
                <a:sym typeface="Material Icons"/>
              </a:endParaRPr>
            </a:p>
            <a:p>
              <a:pPr indent="-325755" lvl="0" marL="457200" rtl="0" algn="l">
                <a:spcBef>
                  <a:spcPts val="200"/>
                </a:spcBef>
                <a:spcAft>
                  <a:spcPts val="0"/>
                </a:spcAft>
                <a:buClr>
                  <a:srgbClr val="EF4444"/>
                </a:buClr>
                <a:buSzPts val="1530"/>
                <a:buFont typeface="Material Icons"/>
                <a:buChar char="●"/>
              </a:pPr>
              <a:r>
                <a:rPr b="0" lang="zh-TW" sz="850">
                  <a:solidFill>
                    <a:srgbClr val="7F1D1D"/>
                  </a:solidFill>
                  <a:latin typeface="Inter"/>
                  <a:ea typeface="Inter"/>
                  <a:cs typeface="Inter"/>
                  <a:sym typeface="Inter"/>
                </a:rPr>
                <a:t>約 0.9 FPS，完全無法滿足即時賽事分析</a:t>
              </a:r>
              <a:endParaRPr b="0" sz="1530">
                <a:solidFill>
                  <a:srgbClr val="EF4444"/>
                </a:solidFill>
                <a:latin typeface="Material Icons"/>
                <a:ea typeface="Material Icons"/>
                <a:cs typeface="Material Icons"/>
                <a:sym typeface="Material Icons"/>
              </a:endParaRPr>
            </a:p>
          </p:txBody>
        </p:sp>
      </p:grpSp>
      <p:grpSp>
        <p:nvGrpSpPr>
          <p:cNvPr id="1205" name="Google Shape;1205;p81"/>
          <p:cNvGrpSpPr/>
          <p:nvPr/>
        </p:nvGrpSpPr>
        <p:grpSpPr>
          <a:xfrm>
            <a:off x="571500" y="2381250"/>
            <a:ext cx="8001000" cy="1047900"/>
            <a:chOff x="0" y="0"/>
            <a:chExt cx="8001000" cy="1047900"/>
          </a:xfrm>
        </p:grpSpPr>
        <p:sp>
          <p:nvSpPr>
            <p:cNvPr id="1206" name="Google Shape;1206;p81"/>
            <p:cNvSpPr/>
            <p:nvPr/>
          </p:nvSpPr>
          <p:spPr>
            <a:xfrm>
              <a:off x="0" y="0"/>
              <a:ext cx="8001000" cy="1047900"/>
            </a:xfrm>
            <a:prstGeom prst="roundRect">
              <a:avLst>
                <a:gd fmla="val 909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7" name="Google Shape;1207;p81"/>
            <p:cNvSpPr/>
            <p:nvPr/>
          </p:nvSpPr>
          <p:spPr>
            <a:xfrm>
              <a:off x="0" y="0"/>
              <a:ext cx="57300" cy="10479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8" name="Google Shape;1208;p81"/>
            <p:cNvSpPr txBox="1"/>
            <p:nvPr/>
          </p:nvSpPr>
          <p:spPr>
            <a:xfrm>
              <a:off x="190500" y="0"/>
              <a:ext cx="76200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zh-TW" sz="1530">
                  <a:solidFill>
                    <a:srgbClr val="3B82F6"/>
                  </a:solidFill>
                  <a:latin typeface="Material Icons"/>
                  <a:ea typeface="Material Icons"/>
                  <a:cs typeface="Material Icons"/>
                  <a:sym typeface="Material Icons"/>
                </a:rPr>
                <a:t>settings_suggest </a:t>
              </a:r>
              <a:r>
                <a:rPr b="1" lang="zh-TW" sz="1190">
                  <a:solidFill>
                    <a:srgbClr val="1E293B"/>
                  </a:solidFill>
                  <a:latin typeface="Inter"/>
                  <a:ea typeface="Inter"/>
                  <a:cs typeface="Inter"/>
                  <a:sym typeface="Inter"/>
                </a:rPr>
                <a:t>常見解決方案</a:t>
              </a:r>
              <a:r>
                <a:rPr b="0" lang="zh-TW" sz="1530">
                  <a:solidFill>
                    <a:srgbClr val="3B82F6"/>
                  </a:solidFill>
                  <a:latin typeface="Material Icons"/>
                  <a:ea typeface="Material Icons"/>
                  <a:cs typeface="Material Icons"/>
                  <a:sym typeface="Material Icons"/>
                </a:rPr>
                <a:t> </a:t>
              </a:r>
              <a:r>
                <a:rPr b="0" lang="zh-TW" sz="893">
                  <a:solidFill>
                    <a:srgbClr val="475569"/>
                  </a:solidFill>
                  <a:latin typeface="Inter"/>
                  <a:ea typeface="Inter"/>
                  <a:cs typeface="Inter"/>
                  <a:sym typeface="Inter"/>
                </a:rPr>
                <a:t>學術與工業界針對邊緣運算算力不足的典型策略：</a:t>
              </a:r>
              <a:endParaRPr b="0" sz="1530">
                <a:solidFill>
                  <a:srgbClr val="3B82F6"/>
                </a:solidFill>
                <a:latin typeface="Material Icons"/>
                <a:ea typeface="Material Icons"/>
                <a:cs typeface="Material Icons"/>
                <a:sym typeface="Material Icons"/>
              </a:endParaRPr>
            </a:p>
            <a:p>
              <a:pPr indent="-325755" lvl="0" marL="457200" rtl="0" algn="l">
                <a:spcBef>
                  <a:spcPts val="400"/>
                </a:spcBef>
                <a:spcAft>
                  <a:spcPts val="0"/>
                </a:spcAft>
                <a:buClr>
                  <a:srgbClr val="3B82F6"/>
                </a:buClr>
                <a:buSzPts val="1530"/>
                <a:buFont typeface="Material Icons"/>
                <a:buChar char="●"/>
              </a:pPr>
              <a:r>
                <a:rPr b="1" lang="zh-TW" sz="850">
                  <a:solidFill>
                    <a:srgbClr val="3B82F6"/>
                  </a:solidFill>
                  <a:latin typeface="Inter"/>
                  <a:ea typeface="Inter"/>
                  <a:cs typeface="Inter"/>
                  <a:sym typeface="Inter"/>
                </a:rPr>
                <a:t>Model Quantization</a:t>
              </a:r>
              <a:r>
                <a:rPr b="0" lang="zh-TW" sz="850">
                  <a:solidFill>
                    <a:srgbClr val="64748B"/>
                  </a:solidFill>
                  <a:latin typeface="Inter"/>
                  <a:ea typeface="Inter"/>
                  <a:cs typeface="Inter"/>
                  <a:sym typeface="Inter"/>
                </a:rPr>
                <a:t> (模型量化技術)</a:t>
              </a:r>
              <a:endParaRPr b="0" sz="1530">
                <a:solidFill>
                  <a:srgbClr val="3B82F6"/>
                </a:solidFill>
                <a:latin typeface="Material Icons"/>
                <a:ea typeface="Material Icons"/>
                <a:cs typeface="Material Icons"/>
                <a:sym typeface="Material Icons"/>
              </a:endParaRPr>
            </a:p>
            <a:p>
              <a:pPr indent="-325755" lvl="0" marL="457200" rtl="0" algn="l">
                <a:spcBef>
                  <a:spcPts val="200"/>
                </a:spcBef>
                <a:spcAft>
                  <a:spcPts val="0"/>
                </a:spcAft>
                <a:buClr>
                  <a:srgbClr val="3B82F6"/>
                </a:buClr>
                <a:buSzPts val="1530"/>
                <a:buFont typeface="Material Icons"/>
                <a:buChar char="●"/>
              </a:pPr>
              <a:r>
                <a:rPr b="1" lang="zh-TW" sz="850">
                  <a:solidFill>
                    <a:srgbClr val="3B82F6"/>
                  </a:solidFill>
                  <a:latin typeface="Inter"/>
                  <a:ea typeface="Inter"/>
                  <a:cs typeface="Inter"/>
                  <a:sym typeface="Inter"/>
                </a:rPr>
                <a:t>Lightweight Backbones</a:t>
              </a:r>
              <a:r>
                <a:rPr b="0" lang="zh-TW" sz="850">
                  <a:solidFill>
                    <a:srgbClr val="64748B"/>
                  </a:solidFill>
                  <a:latin typeface="Inter"/>
                  <a:ea typeface="Inter"/>
                  <a:cs typeface="Inter"/>
                  <a:sym typeface="Inter"/>
                </a:rPr>
                <a:t> (採用輕量化骨幹)</a:t>
              </a:r>
              <a:endParaRPr b="0" sz="1530">
                <a:solidFill>
                  <a:srgbClr val="3B82F6"/>
                </a:solidFill>
                <a:latin typeface="Material Icons"/>
                <a:ea typeface="Material Icons"/>
                <a:cs typeface="Material Icons"/>
                <a:sym typeface="Material Icons"/>
              </a:endParaRPr>
            </a:p>
            <a:p>
              <a:pPr indent="-325755" lvl="0" marL="457200" rtl="0" algn="l">
                <a:spcBef>
                  <a:spcPts val="200"/>
                </a:spcBef>
                <a:spcAft>
                  <a:spcPts val="0"/>
                </a:spcAft>
                <a:buClr>
                  <a:srgbClr val="3B82F6"/>
                </a:buClr>
                <a:buSzPts val="1530"/>
                <a:buFont typeface="Material Icons"/>
                <a:buChar char="●"/>
              </a:pPr>
              <a:r>
                <a:rPr b="0" lang="zh-TW" sz="850">
                  <a:solidFill>
                    <a:srgbClr val="64748B"/>
                  </a:solidFill>
                  <a:latin typeface="Inter"/>
                  <a:ea typeface="Inter"/>
                  <a:cs typeface="Inter"/>
                  <a:sym typeface="Inter"/>
                </a:rPr>
                <a:t>主要目的在於降低模型參數量</a:t>
              </a:r>
              <a:endParaRPr b="0" sz="1530">
                <a:solidFill>
                  <a:srgbClr val="3B82F6"/>
                </a:solidFill>
                <a:latin typeface="Material Icons"/>
                <a:ea typeface="Material Icons"/>
                <a:cs typeface="Material Icons"/>
                <a:sym typeface="Material Icons"/>
              </a:endParaRPr>
            </a:p>
          </p:txBody>
        </p:sp>
      </p:grpSp>
      <p:grpSp>
        <p:nvGrpSpPr>
          <p:cNvPr id="1209" name="Google Shape;1209;p81"/>
          <p:cNvGrpSpPr/>
          <p:nvPr/>
        </p:nvGrpSpPr>
        <p:grpSpPr>
          <a:xfrm>
            <a:off x="571500" y="2356975"/>
            <a:ext cx="8001000" cy="2262561"/>
            <a:chOff x="0" y="0"/>
            <a:chExt cx="8001000" cy="1095300"/>
          </a:xfrm>
        </p:grpSpPr>
        <p:sp>
          <p:nvSpPr>
            <p:cNvPr id="1210" name="Google Shape;1210;p81"/>
            <p:cNvSpPr/>
            <p:nvPr/>
          </p:nvSpPr>
          <p:spPr>
            <a:xfrm>
              <a:off x="0" y="0"/>
              <a:ext cx="8001000" cy="1095300"/>
            </a:xfrm>
            <a:prstGeom prst="roundRect">
              <a:avLst>
                <a:gd fmla="val 8695"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1" name="Google Shape;1211;p81"/>
            <p:cNvSpPr/>
            <p:nvPr/>
          </p:nvSpPr>
          <p:spPr>
            <a:xfrm>
              <a:off x="0" y="0"/>
              <a:ext cx="57300" cy="1095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2" name="Google Shape;1212;p81"/>
            <p:cNvSpPr txBox="1"/>
            <p:nvPr/>
          </p:nvSpPr>
          <p:spPr>
            <a:xfrm>
              <a:off x="190500" y="0"/>
              <a:ext cx="7620000" cy="10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zh-TW" sz="1530">
                  <a:solidFill>
                    <a:srgbClr val="EF4444"/>
                  </a:solidFill>
                  <a:latin typeface="Material Icons"/>
                  <a:ea typeface="Material Icons"/>
                  <a:cs typeface="Material Icons"/>
                  <a:sym typeface="Material Icons"/>
                </a:rPr>
                <a:t>blur_on </a:t>
              </a:r>
              <a:r>
                <a:rPr b="1" lang="zh-TW" sz="1190">
                  <a:solidFill>
                    <a:srgbClr val="1E293B"/>
                  </a:solidFill>
                  <a:latin typeface="Inter"/>
                  <a:ea typeface="Inter"/>
                  <a:cs typeface="Inter"/>
                  <a:sym typeface="Inter"/>
                </a:rPr>
                <a:t>面臨物理挑戰</a:t>
              </a:r>
              <a:r>
                <a:rPr b="0" lang="zh-TW" sz="1530">
                  <a:solidFill>
                    <a:srgbClr val="EF4444"/>
                  </a:solidFill>
                  <a:latin typeface="Material Icons"/>
                  <a:ea typeface="Material Icons"/>
                  <a:cs typeface="Material Icons"/>
                  <a:sym typeface="Material Icons"/>
                </a:rPr>
                <a:t> </a:t>
              </a:r>
              <a:r>
                <a:rPr b="0" lang="zh-TW" sz="893">
                  <a:solidFill>
                    <a:srgbClr val="475569"/>
                  </a:solidFill>
                  <a:latin typeface="Inter"/>
                  <a:ea typeface="Inter"/>
                  <a:cs typeface="Inter"/>
                  <a:sym typeface="Inter"/>
                </a:rPr>
                <a:t>羽球運動之獨特性，使得極端輕量化帶來副作用：</a:t>
              </a:r>
              <a:endParaRPr b="0" sz="1530">
                <a:solidFill>
                  <a:srgbClr val="EF4444"/>
                </a:solidFill>
                <a:latin typeface="Material Icons"/>
                <a:ea typeface="Material Icons"/>
                <a:cs typeface="Material Icons"/>
                <a:sym typeface="Material Icons"/>
              </a:endParaRPr>
            </a:p>
            <a:p>
              <a:pPr indent="-325755" lvl="0" marL="457200" rtl="0" algn="l">
                <a:spcBef>
                  <a:spcPts val="400"/>
                </a:spcBef>
                <a:spcAft>
                  <a:spcPts val="0"/>
                </a:spcAft>
                <a:buClr>
                  <a:srgbClr val="EF4444"/>
                </a:buClr>
                <a:buSzPts val="1530"/>
                <a:buFont typeface="Material Icons"/>
                <a:buChar char="●"/>
              </a:pPr>
              <a:r>
                <a:rPr b="0" lang="zh-TW" sz="850">
                  <a:solidFill>
                    <a:srgbClr val="64748B"/>
                  </a:solidFill>
                  <a:latin typeface="Inter"/>
                  <a:ea typeface="Inter"/>
                  <a:cs typeface="Inter"/>
                  <a:sym typeface="Inter"/>
                </a:rPr>
                <a:t>羽球目標極度微小，且高速移動中常伴隨殘影</a:t>
              </a:r>
              <a:endParaRPr b="0" sz="1530">
                <a:solidFill>
                  <a:srgbClr val="EF4444"/>
                </a:solidFill>
                <a:latin typeface="Material Icons"/>
                <a:ea typeface="Material Icons"/>
                <a:cs typeface="Material Icons"/>
                <a:sym typeface="Material Icons"/>
              </a:endParaRPr>
            </a:p>
            <a:p>
              <a:pPr indent="-325755" lvl="0" marL="457200" rtl="0" algn="l">
                <a:spcBef>
                  <a:spcPts val="200"/>
                </a:spcBef>
                <a:spcAft>
                  <a:spcPts val="0"/>
                </a:spcAft>
                <a:buClr>
                  <a:srgbClr val="EF4444"/>
                </a:buClr>
                <a:buSzPts val="1530"/>
                <a:buFont typeface="Material Icons"/>
                <a:buChar char="●"/>
              </a:pPr>
              <a:r>
                <a:rPr b="0" lang="zh-TW" sz="850">
                  <a:solidFill>
                    <a:srgbClr val="64748B"/>
                  </a:solidFill>
                  <a:latin typeface="Inter"/>
                  <a:ea typeface="Inter"/>
                  <a:cs typeface="Inter"/>
                  <a:sym typeface="Inter"/>
                </a:rPr>
                <a:t>極端量化極易抹平特徵梯度 (Gradient Flat)</a:t>
              </a:r>
              <a:endParaRPr b="0" sz="1530">
                <a:solidFill>
                  <a:srgbClr val="EF4444"/>
                </a:solidFill>
                <a:latin typeface="Material Icons"/>
                <a:ea typeface="Material Icons"/>
                <a:cs typeface="Material Icons"/>
                <a:sym typeface="Material Icons"/>
              </a:endParaRPr>
            </a:p>
            <a:p>
              <a:pPr indent="-325755" lvl="0" marL="457200" rtl="0" algn="l">
                <a:spcBef>
                  <a:spcPts val="200"/>
                </a:spcBef>
                <a:spcAft>
                  <a:spcPts val="0"/>
                </a:spcAft>
                <a:buClr>
                  <a:srgbClr val="EF4444"/>
                </a:buClr>
                <a:buSzPts val="1530"/>
                <a:buFont typeface="Material Icons"/>
                <a:buChar char="●"/>
              </a:pPr>
              <a:r>
                <a:rPr b="1" lang="zh-TW" sz="850">
                  <a:solidFill>
                    <a:srgbClr val="B91C1C"/>
                  </a:solidFill>
                  <a:latin typeface="Inter"/>
                  <a:ea typeface="Inter"/>
                  <a:cs typeface="Inter"/>
                  <a:sym typeface="Inter"/>
                </a:rPr>
                <a:t>導致 </a:t>
              </a:r>
              <a:r>
                <a:rPr b="1" lang="zh-TW" sz="850" u="sng">
                  <a:solidFill>
                    <a:srgbClr val="B91C1C"/>
                  </a:solidFill>
                  <a:latin typeface="Inter"/>
                  <a:ea typeface="Inter"/>
                  <a:cs typeface="Inter"/>
                  <a:sym typeface="Inter"/>
                </a:rPr>
                <a:t>Recall (召回率) 大幅下降</a:t>
              </a:r>
              <a:endParaRPr b="0" sz="1530">
                <a:solidFill>
                  <a:srgbClr val="EF4444"/>
                </a:solidFill>
                <a:latin typeface="Material Icons"/>
                <a:ea typeface="Material Icons"/>
                <a:cs typeface="Material Icons"/>
                <a:sym typeface="Material Icons"/>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grpSp>
        <p:nvGrpSpPr>
          <p:cNvPr id="1217" name="Google Shape;1217;p82"/>
          <p:cNvGrpSpPr/>
          <p:nvPr/>
        </p:nvGrpSpPr>
        <p:grpSpPr>
          <a:xfrm>
            <a:off x="-476250" y="-857250"/>
            <a:ext cx="10477500" cy="6381750"/>
            <a:chOff x="-476250" y="-857250"/>
            <a:chExt cx="10477500" cy="6381750"/>
          </a:xfrm>
        </p:grpSpPr>
        <p:sp>
          <p:nvSpPr>
            <p:cNvPr id="1218" name="Google Shape;1218;p8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9" name="Google Shape;1219;p8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0" name="Google Shape;1220;p8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21" name="Google Shape;1221;p82"/>
          <p:cNvGrpSpPr/>
          <p:nvPr/>
        </p:nvGrpSpPr>
        <p:grpSpPr>
          <a:xfrm>
            <a:off x="571500" y="381000"/>
            <a:ext cx="8001000" cy="762000"/>
            <a:chOff x="571500" y="381000"/>
            <a:chExt cx="8001000" cy="762000"/>
          </a:xfrm>
        </p:grpSpPr>
        <p:sp>
          <p:nvSpPr>
            <p:cNvPr id="1222" name="Google Shape;1222;p82"/>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介紹(3) </a:t>
              </a:r>
              <a:r>
                <a:rPr b="0" lang="zh-TW" sz="2400">
                  <a:solidFill>
                    <a:srgbClr val="3B82F6"/>
                  </a:solidFill>
                  <a:latin typeface="Inter"/>
                  <a:ea typeface="Inter"/>
                  <a:cs typeface="Inter"/>
                  <a:sym typeface="Inter"/>
                </a:rPr>
                <a:t>(系統基準架構)</a:t>
              </a:r>
              <a:endParaRPr b="1" sz="3600">
                <a:solidFill>
                  <a:srgbClr val="1E293B"/>
                </a:solidFill>
                <a:latin typeface="Oswald"/>
                <a:ea typeface="Oswald"/>
                <a:cs typeface="Oswald"/>
                <a:sym typeface="Oswald"/>
              </a:endParaRPr>
            </a:p>
          </p:txBody>
        </p:sp>
        <p:sp>
          <p:nvSpPr>
            <p:cNvPr id="1223" name="Google Shape;1223;p82"/>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24" name="Google Shape;1224;p82"/>
          <p:cNvSpPr txBox="1"/>
          <p:nvPr/>
        </p:nvSpPr>
        <p:spPr>
          <a:xfrm>
            <a:off x="571500" y="1238250"/>
            <a:ext cx="8001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為在不犧牲原始像素解析度的前提下達成即時運算，</a:t>
            </a:r>
            <a:r>
              <a:rPr b="1" lang="zh-TW" sz="1300">
                <a:solidFill>
                  <a:srgbClr val="1E293B"/>
                </a:solidFill>
                <a:latin typeface="Inter"/>
                <a:ea typeface="Inter"/>
                <a:cs typeface="Inter"/>
                <a:sym typeface="Inter"/>
              </a:rPr>
              <a:t>我嘗試</a:t>
            </a:r>
            <a:r>
              <a:rPr b="1" lang="zh-TW" sz="1300">
                <a:solidFill>
                  <a:srgbClr val="1E293B"/>
                </a:solidFill>
                <a:latin typeface="Inter"/>
                <a:ea typeface="Inter"/>
                <a:cs typeface="Inter"/>
                <a:sym typeface="Inter"/>
              </a:rPr>
              <a:t>結合了兩項核心技術：</a:t>
            </a:r>
            <a:endParaRPr b="1" sz="1300">
              <a:solidFill>
                <a:srgbClr val="1E293B"/>
              </a:solidFill>
              <a:latin typeface="Inter"/>
              <a:ea typeface="Inter"/>
              <a:cs typeface="Inter"/>
              <a:sym typeface="Inter"/>
            </a:endParaRPr>
          </a:p>
        </p:txBody>
      </p:sp>
      <p:grpSp>
        <p:nvGrpSpPr>
          <p:cNvPr id="1225" name="Google Shape;1225;p82"/>
          <p:cNvGrpSpPr/>
          <p:nvPr/>
        </p:nvGrpSpPr>
        <p:grpSpPr>
          <a:xfrm>
            <a:off x="571500" y="1763421"/>
            <a:ext cx="8001000" cy="1252277"/>
            <a:chOff x="571500" y="1619236"/>
            <a:chExt cx="8001000" cy="1396539"/>
          </a:xfrm>
        </p:grpSpPr>
        <p:sp>
          <p:nvSpPr>
            <p:cNvPr id="1226" name="Google Shape;1226;p82"/>
            <p:cNvSpPr/>
            <p:nvPr/>
          </p:nvSpPr>
          <p:spPr>
            <a:xfrm>
              <a:off x="571500" y="1619236"/>
              <a:ext cx="8001000" cy="1396500"/>
            </a:xfrm>
            <a:prstGeom prst="roundRect">
              <a:avLst>
                <a:gd fmla="val 1263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7" name="Google Shape;1227;p82"/>
            <p:cNvSpPr txBox="1"/>
            <p:nvPr/>
          </p:nvSpPr>
          <p:spPr>
            <a:xfrm>
              <a:off x="571500" y="1697875"/>
              <a:ext cx="8001000" cy="13179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0" i="0" lang="zh-TW" sz="2000">
                  <a:solidFill>
                    <a:srgbClr val="3B82F6"/>
                  </a:solidFill>
                  <a:latin typeface="Material Icons"/>
                  <a:ea typeface="Material Icons"/>
                  <a:cs typeface="Material Icons"/>
                  <a:sym typeface="Material Icons"/>
                </a:rPr>
                <a:t>psychology </a:t>
              </a:r>
              <a:r>
                <a:rPr b="1" i="0" lang="zh-TW" sz="1350">
                  <a:solidFill>
                    <a:srgbClr val="1E293B"/>
                  </a:solidFill>
                  <a:latin typeface="Inter"/>
                  <a:ea typeface="Inter"/>
                  <a:cs typeface="Inter"/>
                  <a:sym typeface="Inter"/>
                </a:rPr>
                <a:t>1. 知識蒸餾</a:t>
              </a:r>
              <a:endParaRPr b="0" i="0" sz="2000">
                <a:solidFill>
                  <a:srgbClr val="3B82F6"/>
                </a:solidFill>
                <a:latin typeface="Material Icons"/>
                <a:ea typeface="Material Icons"/>
                <a:cs typeface="Material Icons"/>
                <a:sym typeface="Material Icons"/>
              </a:endParaRPr>
            </a:p>
            <a:p>
              <a:pPr indent="0" lvl="0" marL="0" rtl="0" algn="l">
                <a:spcBef>
                  <a:spcPts val="300"/>
                </a:spcBef>
                <a:spcAft>
                  <a:spcPts val="0"/>
                </a:spcAft>
                <a:buNone/>
              </a:pPr>
              <a:r>
                <a:rPr b="0" i="0" lang="zh-TW" sz="1050">
                  <a:solidFill>
                    <a:srgbClr val="475569"/>
                  </a:solidFill>
                  <a:latin typeface="Inter"/>
                  <a:ea typeface="Inter"/>
                  <a:cs typeface="Inter"/>
                  <a:sym typeface="Inter"/>
                </a:rPr>
                <a:t>透過教師模型（TrackNetV4）特徵傳承，引導輕量化學生模型學習羽球的二維高斯熱力圖分佈。</a:t>
              </a:r>
              <a:endParaRPr b="0" i="0" sz="1050">
                <a:solidFill>
                  <a:srgbClr val="3B82F6"/>
                </a:solidFill>
                <a:latin typeface="Material Icons"/>
                <a:ea typeface="Material Icons"/>
                <a:cs typeface="Material Icons"/>
                <a:sym typeface="Material Icons"/>
              </a:endParaRPr>
            </a:p>
            <a:p>
              <a:pPr indent="0" lvl="0" marL="0" rtl="0" algn="l">
                <a:spcBef>
                  <a:spcPts val="300"/>
                </a:spcBef>
                <a:spcAft>
                  <a:spcPts val="0"/>
                </a:spcAft>
                <a:buNone/>
              </a:pPr>
              <a:r>
                <a:rPr b="0" i="0" lang="zh-TW" sz="950">
                  <a:solidFill>
                    <a:srgbClr val="64748B"/>
                  </a:solidFill>
                  <a:latin typeface="Inter"/>
                  <a:ea typeface="Inter"/>
                  <a:cs typeface="Inter"/>
                  <a:sym typeface="Inter"/>
                </a:rPr>
                <a:t>• 大幅縮減模型深度     </a:t>
              </a:r>
              <a:endParaRPr b="0" i="0" sz="950">
                <a:solidFill>
                  <a:srgbClr val="64748B"/>
                </a:solidFill>
                <a:latin typeface="Inter"/>
                <a:ea typeface="Inter"/>
                <a:cs typeface="Inter"/>
                <a:sym typeface="Inter"/>
              </a:endParaRPr>
            </a:p>
            <a:p>
              <a:pPr indent="0" lvl="0" marL="0" rtl="0" algn="l">
                <a:spcBef>
                  <a:spcPts val="0"/>
                </a:spcBef>
                <a:spcAft>
                  <a:spcPts val="0"/>
                </a:spcAft>
                <a:buNone/>
              </a:pPr>
              <a:r>
                <a:rPr b="0" i="0" lang="zh-TW" sz="950">
                  <a:solidFill>
                    <a:srgbClr val="64748B"/>
                  </a:solidFill>
                  <a:latin typeface="Inter"/>
                  <a:ea typeface="Inter"/>
                  <a:cs typeface="Inter"/>
                  <a:sym typeface="Inter"/>
                </a:rPr>
                <a:t>• 完整保留預測精準度     </a:t>
              </a:r>
              <a:endParaRPr b="0" i="0" sz="950">
                <a:solidFill>
                  <a:srgbClr val="64748B"/>
                </a:solidFill>
                <a:latin typeface="Inter"/>
                <a:ea typeface="Inter"/>
                <a:cs typeface="Inter"/>
                <a:sym typeface="Inter"/>
              </a:endParaRPr>
            </a:p>
            <a:p>
              <a:pPr indent="0" lvl="0" marL="0" rtl="0" algn="l">
                <a:spcBef>
                  <a:spcPts val="0"/>
                </a:spcBef>
                <a:spcAft>
                  <a:spcPts val="0"/>
                </a:spcAft>
                <a:buNone/>
              </a:pPr>
              <a:r>
                <a:rPr b="0" i="0" lang="zh-TW" sz="950">
                  <a:solidFill>
                    <a:srgbClr val="64748B"/>
                  </a:solidFill>
                  <a:latin typeface="Inter"/>
                  <a:ea typeface="Inter"/>
                  <a:cs typeface="Inter"/>
                  <a:sym typeface="Inter"/>
                </a:rPr>
                <a:t>• 維持軟標籤空間資訊</a:t>
              </a:r>
              <a:endParaRPr b="0" i="0" sz="950">
                <a:solidFill>
                  <a:srgbClr val="64748B"/>
                </a:solidFill>
                <a:latin typeface="Inter"/>
                <a:ea typeface="Inter"/>
                <a:cs typeface="Inter"/>
                <a:sym typeface="Inter"/>
              </a:endParaRPr>
            </a:p>
          </p:txBody>
        </p:sp>
      </p:grpSp>
      <p:grpSp>
        <p:nvGrpSpPr>
          <p:cNvPr id="1228" name="Google Shape;1228;p82"/>
          <p:cNvGrpSpPr/>
          <p:nvPr/>
        </p:nvGrpSpPr>
        <p:grpSpPr>
          <a:xfrm>
            <a:off x="571500" y="3085275"/>
            <a:ext cx="8001000" cy="904800"/>
            <a:chOff x="571500" y="2667000"/>
            <a:chExt cx="8001000" cy="904800"/>
          </a:xfrm>
        </p:grpSpPr>
        <p:sp>
          <p:nvSpPr>
            <p:cNvPr id="1229" name="Google Shape;1229;p82"/>
            <p:cNvSpPr/>
            <p:nvPr/>
          </p:nvSpPr>
          <p:spPr>
            <a:xfrm>
              <a:off x="571500" y="2667000"/>
              <a:ext cx="8001000" cy="904800"/>
            </a:xfrm>
            <a:prstGeom prst="roundRect">
              <a:avLst>
                <a:gd fmla="val 1263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0" name="Google Shape;1230;p82"/>
            <p:cNvSpPr txBox="1"/>
            <p:nvPr/>
          </p:nvSpPr>
          <p:spPr>
            <a:xfrm>
              <a:off x="571500" y="2667000"/>
              <a:ext cx="8001000" cy="9048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0" i="0" lang="zh-TW" sz="2000">
                  <a:solidFill>
                    <a:srgbClr val="3B82F6"/>
                  </a:solidFill>
                  <a:latin typeface="Material Icons"/>
                  <a:ea typeface="Material Icons"/>
                  <a:cs typeface="Material Icons"/>
                  <a:sym typeface="Material Icons"/>
                </a:rPr>
                <a:t>track_changes </a:t>
              </a:r>
              <a:r>
                <a:rPr b="1" i="0" lang="zh-TW" sz="1350">
                  <a:solidFill>
                    <a:srgbClr val="1E293B"/>
                  </a:solidFill>
                  <a:latin typeface="Inter"/>
                  <a:ea typeface="Inter"/>
                  <a:cs typeface="Inter"/>
                  <a:sym typeface="Inter"/>
                </a:rPr>
                <a:t>2. 局部區域追蹤 (ROI)</a:t>
              </a:r>
              <a:endParaRPr b="0" i="0" sz="2000">
                <a:solidFill>
                  <a:srgbClr val="3B82F6"/>
                </a:solidFill>
                <a:latin typeface="Material Icons"/>
                <a:ea typeface="Material Icons"/>
                <a:cs typeface="Material Icons"/>
                <a:sym typeface="Material Icons"/>
              </a:endParaRPr>
            </a:p>
            <a:p>
              <a:pPr indent="0" lvl="0" marL="0" rtl="0" algn="l">
                <a:spcBef>
                  <a:spcPts val="300"/>
                </a:spcBef>
                <a:spcAft>
                  <a:spcPts val="0"/>
                </a:spcAft>
                <a:buNone/>
              </a:pPr>
              <a:r>
                <a:rPr b="0" i="0" lang="zh-TW" sz="1050">
                  <a:solidFill>
                    <a:srgbClr val="475569"/>
                  </a:solidFill>
                  <a:latin typeface="Inter"/>
                  <a:ea typeface="Inter"/>
                  <a:cs typeface="Inter"/>
                  <a:sym typeface="Inter"/>
                </a:rPr>
                <a:t>參考擊劍軌跡系統，捨棄全圖運算並限縮切片。未採用極小視窗（如 64×64 或 32×32）。</a:t>
              </a:r>
              <a:endParaRPr b="0" i="0" sz="1050">
                <a:solidFill>
                  <a:srgbClr val="3B82F6"/>
                </a:solidFill>
                <a:latin typeface="Material Icons"/>
                <a:ea typeface="Material Icons"/>
                <a:cs typeface="Material Icons"/>
                <a:sym typeface="Material Icons"/>
              </a:endParaRPr>
            </a:p>
            <a:p>
              <a:pPr indent="0" lvl="0" marL="0" rtl="0" algn="l">
                <a:spcBef>
                  <a:spcPts val="300"/>
                </a:spcBef>
                <a:spcAft>
                  <a:spcPts val="300"/>
                </a:spcAft>
                <a:buNone/>
              </a:pPr>
              <a:r>
                <a:rPr b="0" i="0" lang="zh-TW" sz="950">
                  <a:solidFill>
                    <a:srgbClr val="64748B"/>
                  </a:solidFill>
                  <a:latin typeface="Inter"/>
                  <a:ea typeface="Inter"/>
                  <a:cs typeface="Inter"/>
                  <a:sym typeface="Inter"/>
                </a:rPr>
                <a:t>• 定位 128 × 128 視野：運算效能 (FLOPs) 與高速飛行位移涵蓋率之最佳平衡點</a:t>
              </a:r>
              <a:endParaRPr b="0" i="0" sz="950">
                <a:solidFill>
                  <a:srgbClr val="3B82F6"/>
                </a:solidFill>
                <a:latin typeface="Material Icons"/>
                <a:ea typeface="Material Icons"/>
                <a:cs typeface="Material Icons"/>
                <a:sym typeface="Material Icons"/>
              </a:endParaRPr>
            </a:p>
          </p:txBody>
        </p:sp>
      </p:grpSp>
      <p:grpSp>
        <p:nvGrpSpPr>
          <p:cNvPr id="1231" name="Google Shape;1231;p82"/>
          <p:cNvGrpSpPr/>
          <p:nvPr/>
        </p:nvGrpSpPr>
        <p:grpSpPr>
          <a:xfrm>
            <a:off x="571500" y="4059525"/>
            <a:ext cx="8001000" cy="714300"/>
            <a:chOff x="571500" y="4059525"/>
            <a:chExt cx="8001000" cy="714300"/>
          </a:xfrm>
        </p:grpSpPr>
        <p:sp>
          <p:nvSpPr>
            <p:cNvPr id="1232" name="Google Shape;1232;p82"/>
            <p:cNvSpPr/>
            <p:nvPr/>
          </p:nvSpPr>
          <p:spPr>
            <a:xfrm>
              <a:off x="571500" y="4059525"/>
              <a:ext cx="8001000" cy="714300"/>
            </a:xfrm>
            <a:prstGeom prst="roundRect">
              <a:avLst>
                <a:gd fmla="val 16000" name="adj"/>
              </a:avLst>
            </a:prstGeom>
            <a:solidFill>
              <a:srgbClr val="EFF6FF"/>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3" name="Google Shape;1233;p82"/>
            <p:cNvSpPr txBox="1"/>
            <p:nvPr/>
          </p:nvSpPr>
          <p:spPr>
            <a:xfrm>
              <a:off x="571500" y="4059525"/>
              <a:ext cx="8001000" cy="7143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l">
                <a:spcBef>
                  <a:spcPts val="0"/>
                </a:spcBef>
                <a:spcAft>
                  <a:spcPts val="0"/>
                </a:spcAft>
                <a:buNone/>
              </a:pPr>
              <a:r>
                <a:rPr b="1" i="0" lang="zh-TW" sz="1250">
                  <a:solidFill>
                    <a:srgbClr val="1E3A8A"/>
                  </a:solidFill>
                  <a:latin typeface="Inter"/>
                  <a:ea typeface="Inter"/>
                  <a:cs typeface="Inter"/>
                  <a:sym typeface="Inter"/>
                </a:rPr>
                <a:t>上述基準架構搭配客製化機制將推論延遲壓縮至 </a:t>
              </a:r>
              <a:r>
                <a:rPr b="1" i="0" lang="zh-TW" sz="1700">
                  <a:solidFill>
                    <a:srgbClr val="3B82F6"/>
                  </a:solidFill>
                  <a:latin typeface="Oswald"/>
                  <a:ea typeface="Oswald"/>
                  <a:cs typeface="Oswald"/>
                  <a:sym typeface="Oswald"/>
                </a:rPr>
                <a:t>33 毫秒</a:t>
              </a:r>
              <a:r>
                <a:rPr b="1" i="0" lang="zh-TW" sz="1250">
                  <a:solidFill>
                    <a:srgbClr val="1E3A8A"/>
                  </a:solidFill>
                  <a:latin typeface="Inter"/>
                  <a:ea typeface="Inter"/>
                  <a:cs typeface="Inter"/>
                  <a:sym typeface="Inter"/>
                </a:rPr>
                <a:t>，順利跨越了 </a:t>
              </a:r>
              <a:r>
                <a:rPr b="1" i="0" lang="zh-TW" sz="1700">
                  <a:solidFill>
                    <a:srgbClr val="22C55E"/>
                  </a:solidFill>
                  <a:latin typeface="Oswald"/>
                  <a:ea typeface="Oswald"/>
                  <a:cs typeface="Oswald"/>
                  <a:sym typeface="Oswald"/>
                </a:rPr>
                <a:t>30 FPS</a:t>
              </a:r>
              <a:r>
                <a:rPr b="1" i="0" lang="zh-TW" sz="1250">
                  <a:solidFill>
                    <a:srgbClr val="1E3A8A"/>
                  </a:solidFill>
                  <a:latin typeface="Inter"/>
                  <a:ea typeface="Inter"/>
                  <a:cs typeface="Inter"/>
                  <a:sym typeface="Inter"/>
                </a:rPr>
                <a:t> 的硬體算力門檻。</a:t>
              </a:r>
              <a:endParaRPr b="1" i="0" sz="1250">
                <a:solidFill>
                  <a:srgbClr val="1E3A8A"/>
                </a:solidFill>
                <a:latin typeface="Inter"/>
                <a:ea typeface="Inter"/>
                <a:cs typeface="Inter"/>
                <a:sym typeface="Inter"/>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grpSp>
        <p:nvGrpSpPr>
          <p:cNvPr id="1238" name="Google Shape;1238;p83"/>
          <p:cNvGrpSpPr/>
          <p:nvPr/>
        </p:nvGrpSpPr>
        <p:grpSpPr>
          <a:xfrm>
            <a:off x="-476250" y="-857250"/>
            <a:ext cx="10477500" cy="6381750"/>
            <a:chOff x="-476250" y="-857250"/>
            <a:chExt cx="10477500" cy="6381750"/>
          </a:xfrm>
        </p:grpSpPr>
        <p:sp>
          <p:nvSpPr>
            <p:cNvPr id="1239" name="Google Shape;1239;p8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0" name="Google Shape;1240;p8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1" name="Google Shape;1241;p8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42" name="Google Shape;1242;p83"/>
          <p:cNvGrpSpPr/>
          <p:nvPr/>
        </p:nvGrpSpPr>
        <p:grpSpPr>
          <a:xfrm>
            <a:off x="571500" y="381000"/>
            <a:ext cx="8001000" cy="762000"/>
            <a:chOff x="571500" y="381000"/>
            <a:chExt cx="8001000" cy="762000"/>
          </a:xfrm>
        </p:grpSpPr>
        <p:sp>
          <p:nvSpPr>
            <p:cNvPr id="1243" name="Google Shape;1243;p83"/>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800">
                  <a:solidFill>
                    <a:srgbClr val="1E293B"/>
                  </a:solidFill>
                  <a:latin typeface="Inter"/>
                  <a:ea typeface="Inter"/>
                  <a:cs typeface="Inter"/>
                  <a:sym typeface="Inter"/>
                </a:rPr>
                <a:t>ROI 模型實際部署 </a:t>
              </a:r>
              <a:r>
                <a:rPr b="0" lang="zh-TW" sz="2000">
                  <a:solidFill>
                    <a:srgbClr val="3B82F6"/>
                  </a:solidFill>
                  <a:latin typeface="Inter"/>
                  <a:ea typeface="Inter"/>
                  <a:cs typeface="Inter"/>
                  <a:sym typeface="Inter"/>
                </a:rPr>
                <a:t>(Jetson Nano 實機運行效果)</a:t>
              </a:r>
              <a:endParaRPr b="1" sz="2800">
                <a:solidFill>
                  <a:srgbClr val="1E293B"/>
                </a:solidFill>
                <a:latin typeface="Inter"/>
                <a:ea typeface="Inter"/>
                <a:cs typeface="Inter"/>
                <a:sym typeface="Inter"/>
              </a:endParaRPr>
            </a:p>
          </p:txBody>
        </p:sp>
        <p:sp>
          <p:nvSpPr>
            <p:cNvPr id="1244" name="Google Shape;1244;p83"/>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45" name="Google Shape;1245;p83"/>
          <p:cNvGrpSpPr/>
          <p:nvPr/>
        </p:nvGrpSpPr>
        <p:grpSpPr>
          <a:xfrm>
            <a:off x="571500" y="1333500"/>
            <a:ext cx="3619500" cy="2428800"/>
            <a:chOff x="571500" y="1333500"/>
            <a:chExt cx="3619500" cy="2428800"/>
          </a:xfrm>
        </p:grpSpPr>
        <p:sp>
          <p:nvSpPr>
            <p:cNvPr id="1246" name="Google Shape;1246;p83"/>
            <p:cNvSpPr/>
            <p:nvPr/>
          </p:nvSpPr>
          <p:spPr>
            <a:xfrm>
              <a:off x="571500" y="1333500"/>
              <a:ext cx="3619500" cy="24288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7" name="Google Shape;1247;p83"/>
            <p:cNvSpPr txBox="1"/>
            <p:nvPr/>
          </p:nvSpPr>
          <p:spPr>
            <a:xfrm>
              <a:off x="571500" y="1333500"/>
              <a:ext cx="3619500" cy="24288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zh-TW" sz="1500">
                  <a:solidFill>
                    <a:srgbClr val="1E293B"/>
                  </a:solidFill>
                  <a:latin typeface="Inter"/>
                  <a:ea typeface="Inter"/>
                  <a:cs typeface="Inter"/>
                  <a:sym typeface="Inter"/>
                </a:rPr>
                <a:t>實機部署技術參數</a:t>
              </a:r>
              <a:endParaRPr b="1" sz="1500">
                <a:solidFill>
                  <a:srgbClr val="1E293B"/>
                </a:solidFill>
                <a:latin typeface="Inter"/>
                <a:ea typeface="Inter"/>
                <a:cs typeface="Inter"/>
                <a:sym typeface="Inter"/>
              </a:endParaRPr>
            </a:p>
            <a:p>
              <a:pPr indent="0" lvl="0" marL="0" rtl="0" algn="l">
                <a:spcBef>
                  <a:spcPts val="1000"/>
                </a:spcBef>
                <a:spcAft>
                  <a:spcPts val="0"/>
                </a:spcAft>
                <a:buNone/>
              </a:pPr>
              <a:r>
                <a:rPr b="1" lang="zh-TW" sz="1600">
                  <a:solidFill>
                    <a:srgbClr val="3B82F6"/>
                  </a:solidFill>
                  <a:latin typeface="Material Icons"/>
                  <a:ea typeface="Material Icons"/>
                  <a:cs typeface="Material Icons"/>
                  <a:sym typeface="Material Icons"/>
                </a:rPr>
                <a:t>developer_board </a:t>
              </a:r>
              <a:r>
                <a:rPr b="1" lang="zh-TW" sz="1200">
                  <a:solidFill>
                    <a:srgbClr val="1E293B"/>
                  </a:solidFill>
                  <a:latin typeface="Inter"/>
                  <a:ea typeface="Inter"/>
                  <a:cs typeface="Inter"/>
                  <a:sym typeface="Inter"/>
                </a:rPr>
                <a:t>硬體平台</a:t>
              </a:r>
              <a:endParaRPr b="1" sz="1400">
                <a:solidFill>
                  <a:srgbClr val="1E293B"/>
                </a:solidFill>
                <a:latin typeface="Inter"/>
                <a:ea typeface="Inter"/>
                <a:cs typeface="Inter"/>
                <a:sym typeface="Inter"/>
              </a:endParaRPr>
            </a:p>
            <a:p>
              <a:pPr indent="0" lvl="0" marL="209550" marR="0" rtl="0" algn="l">
                <a:spcBef>
                  <a:spcPts val="200"/>
                </a:spcBef>
                <a:spcAft>
                  <a:spcPts val="0"/>
                </a:spcAft>
                <a:buNone/>
              </a:pPr>
              <a:r>
                <a:rPr b="0" lang="zh-TW" sz="1050">
                  <a:solidFill>
                    <a:srgbClr val="64748B"/>
                  </a:solidFill>
                  <a:latin typeface="Inter"/>
                  <a:ea typeface="Inter"/>
                  <a:cs typeface="Inter"/>
                  <a:sym typeface="Inter"/>
                </a:rPr>
                <a:t>NVIDIA Jetson Nano 邊緣運算裝置</a:t>
              </a:r>
              <a:endParaRPr b="0" sz="1050">
                <a:solidFill>
                  <a:srgbClr val="64748B"/>
                </a:solidFill>
                <a:latin typeface="Inter"/>
                <a:ea typeface="Inter"/>
                <a:cs typeface="Inter"/>
                <a:sym typeface="Inter"/>
              </a:endParaRPr>
            </a:p>
            <a:p>
              <a:pPr indent="0" lvl="0" marL="0" rtl="0" algn="l">
                <a:spcBef>
                  <a:spcPts val="800"/>
                </a:spcBef>
                <a:spcAft>
                  <a:spcPts val="0"/>
                </a:spcAft>
                <a:buNone/>
              </a:pPr>
              <a:r>
                <a:rPr b="1" lang="zh-TW" sz="1600">
                  <a:solidFill>
                    <a:srgbClr val="3B82F6"/>
                  </a:solidFill>
                  <a:latin typeface="Material Icons"/>
                  <a:ea typeface="Material Icons"/>
                  <a:cs typeface="Material Icons"/>
                  <a:sym typeface="Material Icons"/>
                </a:rPr>
                <a:t>center_focus_strong </a:t>
              </a:r>
              <a:r>
                <a:rPr b="1" lang="zh-TW" sz="1200">
                  <a:solidFill>
                    <a:srgbClr val="1E293B"/>
                  </a:solidFill>
                  <a:latin typeface="Inter"/>
                  <a:ea typeface="Inter"/>
                  <a:cs typeface="Inter"/>
                  <a:sym typeface="Inter"/>
                </a:rPr>
                <a:t>核心定位機制</a:t>
              </a:r>
              <a:endParaRPr b="1" sz="1400">
                <a:solidFill>
                  <a:srgbClr val="1E293B"/>
                </a:solidFill>
                <a:latin typeface="Inter"/>
                <a:ea typeface="Inter"/>
                <a:cs typeface="Inter"/>
                <a:sym typeface="Inter"/>
              </a:endParaRPr>
            </a:p>
            <a:p>
              <a:pPr indent="0" lvl="0" marL="209550" marR="0" rtl="0" algn="l">
                <a:spcBef>
                  <a:spcPts val="200"/>
                </a:spcBef>
                <a:spcAft>
                  <a:spcPts val="0"/>
                </a:spcAft>
                <a:buNone/>
              </a:pPr>
              <a:r>
                <a:rPr b="0" lang="zh-TW" sz="1050">
                  <a:solidFill>
                    <a:srgbClr val="64748B"/>
                  </a:solidFill>
                  <a:latin typeface="Inter"/>
                  <a:ea typeface="Inter"/>
                  <a:cs typeface="Inter"/>
                  <a:sym typeface="Inter"/>
                </a:rPr>
                <a:t>128 × 128 局部區域追蹤 (MiniROI)</a:t>
              </a:r>
              <a:endParaRPr b="0" sz="1050">
                <a:solidFill>
                  <a:srgbClr val="64748B"/>
                </a:solidFill>
                <a:latin typeface="Inter"/>
                <a:ea typeface="Inter"/>
                <a:cs typeface="Inter"/>
                <a:sym typeface="Inter"/>
              </a:endParaRPr>
            </a:p>
            <a:p>
              <a:pPr indent="0" lvl="0" marL="0" rtl="0" algn="l">
                <a:spcBef>
                  <a:spcPts val="800"/>
                </a:spcBef>
                <a:spcAft>
                  <a:spcPts val="0"/>
                </a:spcAft>
                <a:buNone/>
              </a:pPr>
              <a:r>
                <a:rPr b="1" lang="zh-TW" sz="1600">
                  <a:solidFill>
                    <a:srgbClr val="3B82F6"/>
                  </a:solidFill>
                  <a:latin typeface="Material Icons"/>
                  <a:ea typeface="Material Icons"/>
                  <a:cs typeface="Material Icons"/>
                  <a:sym typeface="Material Icons"/>
                </a:rPr>
                <a:t>bolt </a:t>
              </a:r>
              <a:r>
                <a:rPr b="1" lang="zh-TW" sz="1200">
                  <a:solidFill>
                    <a:srgbClr val="1E293B"/>
                  </a:solidFill>
                  <a:latin typeface="Inter"/>
                  <a:ea typeface="Inter"/>
                  <a:cs typeface="Inter"/>
                  <a:sym typeface="Inter"/>
                </a:rPr>
                <a:t>推論效能表現</a:t>
              </a:r>
              <a:endParaRPr b="1" sz="1400">
                <a:solidFill>
                  <a:srgbClr val="1E293B"/>
                </a:solidFill>
                <a:latin typeface="Inter"/>
                <a:ea typeface="Inter"/>
                <a:cs typeface="Inter"/>
                <a:sym typeface="Inter"/>
              </a:endParaRPr>
            </a:p>
            <a:p>
              <a:pPr indent="0" lvl="0" marL="209550" marR="0" rtl="0" algn="l">
                <a:spcBef>
                  <a:spcPts val="200"/>
                </a:spcBef>
                <a:spcAft>
                  <a:spcPts val="0"/>
                </a:spcAft>
                <a:buNone/>
              </a:pPr>
              <a:r>
                <a:rPr b="0" lang="zh-TW" sz="1050">
                  <a:solidFill>
                    <a:srgbClr val="64748B"/>
                  </a:solidFill>
                  <a:latin typeface="Inter"/>
                  <a:ea typeface="Inter"/>
                  <a:cs typeface="Inter"/>
                  <a:sym typeface="Inter"/>
                </a:rPr>
                <a:t>推論延遲 33 毫秒，流暢達到 30 FPS 即時要求</a:t>
              </a:r>
              <a:endParaRPr b="0" sz="1050">
                <a:solidFill>
                  <a:srgbClr val="64748B"/>
                </a:solidFill>
                <a:latin typeface="Inter"/>
                <a:ea typeface="Inter"/>
                <a:cs typeface="Inter"/>
                <a:sym typeface="Inter"/>
              </a:endParaRPr>
            </a:p>
          </p:txBody>
        </p:sp>
      </p:grpSp>
      <p:grpSp>
        <p:nvGrpSpPr>
          <p:cNvPr id="1248" name="Google Shape;1248;p83"/>
          <p:cNvGrpSpPr/>
          <p:nvPr/>
        </p:nvGrpSpPr>
        <p:grpSpPr>
          <a:xfrm>
            <a:off x="4476750" y="1333500"/>
            <a:ext cx="4095900" cy="2428800"/>
            <a:chOff x="4476750" y="1333500"/>
            <a:chExt cx="4095900" cy="2428800"/>
          </a:xfrm>
        </p:grpSpPr>
        <p:pic>
          <p:nvPicPr>
            <p:cNvPr id="1249" name="Google Shape;1249;p83"/>
            <p:cNvPicPr preferRelativeResize="0"/>
            <p:nvPr/>
          </p:nvPicPr>
          <p:blipFill rotWithShape="1">
            <a:blip r:embed="rId3">
              <a:alphaModFix/>
            </a:blip>
            <a:srcRect b="11390" l="0" r="0" t="11390"/>
            <a:stretch/>
          </p:blipFill>
          <p:spPr>
            <a:xfrm>
              <a:off x="4476750" y="1333500"/>
              <a:ext cx="4095900" cy="2428800"/>
            </a:xfrm>
            <a:prstGeom prst="rect">
              <a:avLst/>
            </a:prstGeom>
            <a:noFill/>
            <a:ln>
              <a:noFill/>
            </a:ln>
          </p:spPr>
        </p:pic>
        <p:pic>
          <p:nvPicPr>
            <p:cNvPr id="1250" name="Google Shape;1250;p83"/>
            <p:cNvPicPr preferRelativeResize="0"/>
            <p:nvPr/>
          </p:nvPicPr>
          <p:blipFill rotWithShape="1">
            <a:blip r:embed="rId4">
              <a:alphaModFix/>
            </a:blip>
            <a:srcRect b="23524" l="0" r="0" t="0"/>
            <a:stretch/>
          </p:blipFill>
          <p:spPr>
            <a:xfrm>
              <a:off x="4476750" y="1333500"/>
              <a:ext cx="4095900" cy="2428800"/>
            </a:xfrm>
            <a:prstGeom prst="roundRect">
              <a:avLst>
                <a:gd fmla="val 4705" name="adj"/>
              </a:avLst>
            </a:prstGeom>
            <a:noFill/>
            <a:ln>
              <a:noFill/>
            </a:ln>
          </p:spPr>
        </p:pic>
      </p:grpSp>
      <p:grpSp>
        <p:nvGrpSpPr>
          <p:cNvPr id="1251" name="Google Shape;1251;p83"/>
          <p:cNvGrpSpPr/>
          <p:nvPr/>
        </p:nvGrpSpPr>
        <p:grpSpPr>
          <a:xfrm>
            <a:off x="571500" y="3905250"/>
            <a:ext cx="8001000" cy="762000"/>
            <a:chOff x="0" y="0"/>
            <a:chExt cx="8001000" cy="762000"/>
          </a:xfrm>
        </p:grpSpPr>
        <p:sp>
          <p:nvSpPr>
            <p:cNvPr id="1252" name="Google Shape;1252;p83"/>
            <p:cNvSpPr/>
            <p:nvPr/>
          </p:nvSpPr>
          <p:spPr>
            <a:xfrm>
              <a:off x="0" y="0"/>
              <a:ext cx="8001000" cy="762000"/>
            </a:xfrm>
            <a:prstGeom prst="roundRect">
              <a:avLst>
                <a:gd fmla="val 12500"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3" name="Google Shape;1253;p83"/>
            <p:cNvSpPr/>
            <p:nvPr/>
          </p:nvSpPr>
          <p:spPr>
            <a:xfrm>
              <a:off x="0" y="0"/>
              <a:ext cx="57300" cy="7620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4" name="Google Shape;1254;p83"/>
            <p:cNvSpPr txBox="1"/>
            <p:nvPr/>
          </p:nvSpPr>
          <p:spPr>
            <a:xfrm>
              <a:off x="190500" y="0"/>
              <a:ext cx="7620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TW" sz="1500">
                  <a:solidFill>
                    <a:srgbClr val="EF4444"/>
                  </a:solidFill>
                  <a:latin typeface="Material Icons"/>
                  <a:ea typeface="Material Icons"/>
                  <a:cs typeface="Material Icons"/>
                  <a:sym typeface="Material Icons"/>
                </a:rPr>
                <a:t>report_problem </a:t>
              </a:r>
              <a:r>
                <a:rPr b="1" lang="zh-TW" sz="1200">
                  <a:solidFill>
                    <a:srgbClr val="991B1B"/>
                  </a:solidFill>
                  <a:latin typeface="Inter"/>
                  <a:ea typeface="Inter"/>
                  <a:cs typeface="Inter"/>
                  <a:sym typeface="Inter"/>
                </a:rPr>
                <a:t>實測畫面局限說明</a:t>
              </a:r>
              <a:endParaRPr b="0" sz="1500">
                <a:solidFill>
                  <a:srgbClr val="EF4444"/>
                </a:solidFill>
                <a:latin typeface="Material Icons"/>
                <a:ea typeface="Material Icons"/>
                <a:cs typeface="Material Icons"/>
                <a:sym typeface="Material Icons"/>
              </a:endParaRPr>
            </a:p>
            <a:p>
              <a:pPr indent="0" lvl="0" marL="0" rtl="0" algn="l">
                <a:spcBef>
                  <a:spcPts val="300"/>
                </a:spcBef>
                <a:spcAft>
                  <a:spcPts val="0"/>
                </a:spcAft>
                <a:buNone/>
              </a:pPr>
              <a:r>
                <a:rPr b="0" lang="zh-TW" sz="1050">
                  <a:solidFill>
                    <a:srgbClr val="7F1D1D"/>
                  </a:solidFill>
                  <a:latin typeface="Inter"/>
                  <a:ea typeface="Inter"/>
                  <a:cs typeface="Inter"/>
                  <a:sym typeface="Inter"/>
                </a:rPr>
                <a:t>雖然推論效能達 30 FPS 即時標準，但畫面中可觀察到「</a:t>
              </a:r>
              <a:r>
                <a:rPr b="1" lang="zh-TW" sz="1050">
                  <a:solidFill>
                    <a:srgbClr val="B91C1C"/>
                  </a:solidFill>
                  <a:latin typeface="Inter"/>
                  <a:ea typeface="Inter"/>
                  <a:cs typeface="Inter"/>
                  <a:sym typeface="Inter"/>
                </a:rPr>
                <a:t>視野出框</a:t>
              </a:r>
              <a:r>
                <a:rPr b="0" lang="zh-TW" sz="1050">
                  <a:solidFill>
                    <a:srgbClr val="7F1D1D"/>
                  </a:solidFill>
                  <a:latin typeface="Inter"/>
                  <a:ea typeface="Inter"/>
                  <a:cs typeface="Inter"/>
                  <a:sym typeface="Inter"/>
                </a:rPr>
                <a:t>」與「</a:t>
              </a:r>
              <a:r>
                <a:rPr b="1" lang="zh-TW" sz="1050">
                  <a:solidFill>
                    <a:srgbClr val="B91C1C"/>
                  </a:solidFill>
                  <a:latin typeface="Inter"/>
                  <a:ea typeface="Inter"/>
                  <a:cs typeface="Inter"/>
                  <a:sym typeface="Inter"/>
                </a:rPr>
                <a:t>雜訊綁架</a:t>
              </a:r>
              <a:r>
                <a:rPr b="0" lang="zh-TW" sz="1050">
                  <a:solidFill>
                    <a:srgbClr val="7F1D1D"/>
                  </a:solidFill>
                  <a:latin typeface="Inter"/>
                  <a:ea typeface="Inter"/>
                  <a:cs typeface="Inter"/>
                  <a:sym typeface="Inter"/>
                </a:rPr>
                <a:t>」現象。</a:t>
              </a:r>
              <a:endParaRPr b="0" sz="1050">
                <a:solidFill>
                  <a:srgbClr val="7F1D1D"/>
                </a:solidFill>
                <a:latin typeface="Inter"/>
                <a:ea typeface="Inter"/>
                <a:cs typeface="Inter"/>
                <a:sym typeface="Inter"/>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grpSp>
        <p:nvGrpSpPr>
          <p:cNvPr id="1259" name="Google Shape;1259;p84"/>
          <p:cNvGrpSpPr/>
          <p:nvPr/>
        </p:nvGrpSpPr>
        <p:grpSpPr>
          <a:xfrm>
            <a:off x="-476250" y="-857250"/>
            <a:ext cx="10477500" cy="6381750"/>
            <a:chOff x="-476250" y="-857250"/>
            <a:chExt cx="10477500" cy="6381750"/>
          </a:xfrm>
        </p:grpSpPr>
        <p:sp>
          <p:nvSpPr>
            <p:cNvPr id="1260" name="Google Shape;1260;p8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1" name="Google Shape;1261;p8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2" name="Google Shape;1262;p8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63" name="Google Shape;1263;p84"/>
          <p:cNvGrpSpPr/>
          <p:nvPr/>
        </p:nvGrpSpPr>
        <p:grpSpPr>
          <a:xfrm>
            <a:off x="571500" y="381000"/>
            <a:ext cx="8001000" cy="762000"/>
            <a:chOff x="571500" y="381000"/>
            <a:chExt cx="8001000" cy="762000"/>
          </a:xfrm>
        </p:grpSpPr>
        <p:sp>
          <p:nvSpPr>
            <p:cNvPr id="1264" name="Google Shape;1264;p84"/>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介紹(4) </a:t>
              </a:r>
              <a:r>
                <a:rPr b="0" lang="zh-TW" sz="2400">
                  <a:solidFill>
                    <a:srgbClr val="3B82F6"/>
                  </a:solidFill>
                  <a:latin typeface="Inter"/>
                  <a:ea typeface="Inter"/>
                  <a:cs typeface="Inter"/>
                  <a:sym typeface="Inter"/>
                </a:rPr>
                <a:t>(面臨之關鍵問題)</a:t>
              </a:r>
              <a:endParaRPr b="1" sz="3600">
                <a:solidFill>
                  <a:srgbClr val="1E293B"/>
                </a:solidFill>
                <a:latin typeface="Oswald"/>
                <a:ea typeface="Oswald"/>
                <a:cs typeface="Oswald"/>
                <a:sym typeface="Oswald"/>
              </a:endParaRPr>
            </a:p>
          </p:txBody>
        </p:sp>
        <p:sp>
          <p:nvSpPr>
            <p:cNvPr id="1265" name="Google Shape;1265;p84"/>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66" name="Google Shape;1266;p84"/>
          <p:cNvSpPr txBox="1"/>
          <p:nvPr/>
        </p:nvSpPr>
        <p:spPr>
          <a:xfrm>
            <a:off x="571500" y="1238250"/>
            <a:ext cx="8001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zh-TW" sz="1250">
                <a:solidFill>
                  <a:srgbClr val="475569"/>
                </a:solidFill>
                <a:latin typeface="Inter"/>
                <a:ea typeface="Inter"/>
                <a:cs typeface="Inter"/>
                <a:sym typeface="Inter"/>
              </a:rPr>
              <a:t>實際應用於真實羽球賽事後，受限於羽球極端的物理特性與邊緣硬體限制，系統延伸出以下兩項必須解決的關鍵瓶頸：</a:t>
            </a:r>
            <a:endParaRPr b="0" sz="1250">
              <a:solidFill>
                <a:srgbClr val="475569"/>
              </a:solidFill>
              <a:latin typeface="Inter"/>
              <a:ea typeface="Inter"/>
              <a:cs typeface="Inter"/>
              <a:sym typeface="Inter"/>
            </a:endParaRPr>
          </a:p>
        </p:txBody>
      </p:sp>
      <p:grpSp>
        <p:nvGrpSpPr>
          <p:cNvPr id="1267" name="Google Shape;1267;p84"/>
          <p:cNvGrpSpPr/>
          <p:nvPr/>
        </p:nvGrpSpPr>
        <p:grpSpPr>
          <a:xfrm>
            <a:off x="571500" y="1714500"/>
            <a:ext cx="8001000" cy="1476300"/>
            <a:chOff x="571500" y="1714500"/>
            <a:chExt cx="8001000" cy="1476300"/>
          </a:xfrm>
        </p:grpSpPr>
        <p:sp>
          <p:nvSpPr>
            <p:cNvPr id="1268" name="Google Shape;1268;p84"/>
            <p:cNvSpPr/>
            <p:nvPr/>
          </p:nvSpPr>
          <p:spPr>
            <a:xfrm>
              <a:off x="571500" y="1714500"/>
              <a:ext cx="8001000" cy="1476300"/>
            </a:xfrm>
            <a:prstGeom prst="roundRect">
              <a:avLst>
                <a:gd fmla="val 7741"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9" name="Google Shape;1269;p84"/>
            <p:cNvSpPr txBox="1"/>
            <p:nvPr/>
          </p:nvSpPr>
          <p:spPr>
            <a:xfrm>
              <a:off x="571500" y="1714500"/>
              <a:ext cx="8001000" cy="14763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l">
                <a:spcBef>
                  <a:spcPts val="0"/>
                </a:spcBef>
                <a:spcAft>
                  <a:spcPts val="0"/>
                </a:spcAft>
                <a:buNone/>
              </a:pPr>
              <a:r>
                <a:rPr b="0" lang="zh-TW" sz="1550">
                  <a:solidFill>
                    <a:srgbClr val="EF4444"/>
                  </a:solidFill>
                  <a:latin typeface="Material Icons"/>
                  <a:ea typeface="Material Icons"/>
                  <a:cs typeface="Material Icons"/>
                  <a:sym typeface="Material Icons"/>
                </a:rPr>
                <a:t>report_problem </a:t>
              </a:r>
              <a:r>
                <a:rPr b="1" lang="zh-TW" sz="1350">
                  <a:solidFill>
                    <a:srgbClr val="991B1B"/>
                  </a:solidFill>
                  <a:latin typeface="Inter"/>
                  <a:ea typeface="Inter"/>
                  <a:cs typeface="Inter"/>
                  <a:sym typeface="Inter"/>
                </a:rPr>
                <a:t>1. 視野狹隘導致之出框</a:t>
              </a:r>
              <a:r>
                <a:rPr lang="zh-TW" sz="1100">
                  <a:solidFill>
                    <a:srgbClr val="B91C1C"/>
                  </a:solidFill>
                  <a:latin typeface="Inter SemiBold"/>
                  <a:ea typeface="Inter SemiBold"/>
                  <a:cs typeface="Inter SemiBold"/>
                  <a:sym typeface="Inter SemiBold"/>
                </a:rPr>
                <a:t> (Out-of-Bounds Tracking Drift)</a:t>
              </a:r>
              <a:endParaRPr b="0" sz="1550">
                <a:solidFill>
                  <a:srgbClr val="EF4444"/>
                </a:solidFill>
                <a:latin typeface="Material Icons"/>
                <a:ea typeface="Material Icons"/>
                <a:cs typeface="Material Icons"/>
                <a:sym typeface="Material Icons"/>
              </a:endParaRPr>
            </a:p>
            <a:p>
              <a:pPr indent="-327025" lvl="0" marL="457200" rtl="0" algn="l">
                <a:spcBef>
                  <a:spcPts val="600"/>
                </a:spcBef>
                <a:spcAft>
                  <a:spcPts val="0"/>
                </a:spcAft>
                <a:buClr>
                  <a:srgbClr val="EF4444"/>
                </a:buClr>
                <a:buSzPts val="1550"/>
                <a:buFont typeface="Material Icons"/>
                <a:buChar char="●"/>
              </a:pPr>
              <a:r>
                <a:rPr lang="zh-TW" sz="1050">
                  <a:solidFill>
                    <a:srgbClr val="7F1D1D"/>
                  </a:solidFill>
                  <a:latin typeface="Inter"/>
                  <a:ea typeface="Inter"/>
                  <a:cs typeface="Inter"/>
                  <a:sym typeface="Inter"/>
                </a:rPr>
                <a:t>相較於擊劍，羽球殺球時具備</a:t>
              </a:r>
              <a:r>
                <a:rPr b="1" lang="zh-TW" sz="1050">
                  <a:solidFill>
                    <a:srgbClr val="7F1D1D"/>
                  </a:solidFill>
                  <a:latin typeface="Inter"/>
                  <a:ea typeface="Inter"/>
                  <a:cs typeface="Inter"/>
                  <a:sym typeface="Inter"/>
                </a:rPr>
                <a:t>極高初速</a:t>
              </a:r>
              <a:r>
                <a:rPr lang="zh-TW" sz="1050">
                  <a:solidFill>
                    <a:srgbClr val="7F1D1D"/>
                  </a:solidFill>
                  <a:latin typeface="Inter"/>
                  <a:ea typeface="Inter"/>
                  <a:cs typeface="Inter"/>
                  <a:sym typeface="Inter"/>
                </a:rPr>
                <a:t>與不規則飛行軌跡。</a:t>
              </a:r>
              <a:endParaRPr sz="1050">
                <a:solidFill>
                  <a:srgbClr val="7F1D1D"/>
                </a:solidFill>
                <a:latin typeface="Inter"/>
                <a:ea typeface="Inter"/>
                <a:cs typeface="Inter"/>
                <a:sym typeface="Inter"/>
              </a:endParaRPr>
            </a:p>
            <a:p>
              <a:pPr indent="-327025" lvl="0" marL="457200" rtl="0" algn="l">
                <a:spcBef>
                  <a:spcPts val="300"/>
                </a:spcBef>
                <a:spcAft>
                  <a:spcPts val="0"/>
                </a:spcAft>
                <a:buClr>
                  <a:srgbClr val="EF4444"/>
                </a:buClr>
                <a:buSzPts val="1550"/>
                <a:buFont typeface="Material Icons"/>
                <a:buChar char="●"/>
              </a:pPr>
              <a:r>
                <a:rPr lang="zh-TW" sz="1050">
                  <a:solidFill>
                    <a:srgbClr val="7F1D1D"/>
                  </a:solidFill>
                  <a:latin typeface="Inter"/>
                  <a:ea typeface="Inter"/>
                  <a:cs typeface="Inter"/>
                  <a:sym typeface="Inter"/>
                </a:rPr>
                <a:t>受限於攝像頭，連續幀間的巨大像素位移，容易</a:t>
              </a:r>
              <a:r>
                <a:rPr b="1" lang="zh-TW" sz="1050">
                  <a:solidFill>
                    <a:srgbClr val="7F1D1D"/>
                  </a:solidFill>
                  <a:latin typeface="Inter"/>
                  <a:ea typeface="Inter"/>
                  <a:cs typeface="Inter"/>
                  <a:sym typeface="Inter"/>
                </a:rPr>
                <a:t>突破局部視窗</a:t>
              </a:r>
              <a:r>
                <a:rPr lang="zh-TW" sz="1050">
                  <a:solidFill>
                    <a:srgbClr val="7F1D1D"/>
                  </a:solidFill>
                  <a:latin typeface="Inter"/>
                  <a:ea typeface="Inter"/>
                  <a:cs typeface="Inter"/>
                  <a:sym typeface="Inter"/>
                </a:rPr>
                <a:t>的範圍。</a:t>
              </a:r>
              <a:endParaRPr sz="1050">
                <a:solidFill>
                  <a:srgbClr val="7F1D1D"/>
                </a:solidFill>
                <a:latin typeface="Inter"/>
                <a:ea typeface="Inter"/>
                <a:cs typeface="Inter"/>
                <a:sym typeface="Inter"/>
              </a:endParaRPr>
            </a:p>
            <a:p>
              <a:pPr indent="-327025" lvl="0" marL="457200" rtl="0" algn="l">
                <a:spcBef>
                  <a:spcPts val="300"/>
                </a:spcBef>
                <a:spcAft>
                  <a:spcPts val="0"/>
                </a:spcAft>
                <a:buClr>
                  <a:srgbClr val="EF4444"/>
                </a:buClr>
                <a:buSzPts val="1550"/>
                <a:buFont typeface="Material Icons"/>
                <a:buChar char="●"/>
              </a:pPr>
              <a:r>
                <a:rPr lang="zh-TW" sz="1050">
                  <a:solidFill>
                    <a:srgbClr val="7F1D1D"/>
                  </a:solidFill>
                  <a:latin typeface="Inter"/>
                  <a:ea typeface="Inter"/>
                  <a:cs typeface="Inter"/>
                  <a:sym typeface="Inter"/>
                </a:rPr>
                <a:t>一旦脫框，會導致系統召回率（Recall）災難性崩跌。</a:t>
              </a:r>
              <a:endParaRPr b="0" sz="1550">
                <a:solidFill>
                  <a:srgbClr val="EF4444"/>
                </a:solidFill>
                <a:latin typeface="Material Icons"/>
                <a:ea typeface="Material Icons"/>
                <a:cs typeface="Material Icons"/>
                <a:sym typeface="Material Icons"/>
              </a:endParaRPr>
            </a:p>
          </p:txBody>
        </p:sp>
      </p:grpSp>
      <p:grpSp>
        <p:nvGrpSpPr>
          <p:cNvPr id="1270" name="Google Shape;1270;p84"/>
          <p:cNvGrpSpPr/>
          <p:nvPr/>
        </p:nvGrpSpPr>
        <p:grpSpPr>
          <a:xfrm>
            <a:off x="571500" y="3333750"/>
            <a:ext cx="8001000" cy="1476300"/>
            <a:chOff x="571500" y="3333750"/>
            <a:chExt cx="8001000" cy="1476300"/>
          </a:xfrm>
        </p:grpSpPr>
        <p:sp>
          <p:nvSpPr>
            <p:cNvPr id="1271" name="Google Shape;1271;p84"/>
            <p:cNvSpPr/>
            <p:nvPr/>
          </p:nvSpPr>
          <p:spPr>
            <a:xfrm>
              <a:off x="571500" y="3333750"/>
              <a:ext cx="8001000" cy="1476300"/>
            </a:xfrm>
            <a:prstGeom prst="roundRect">
              <a:avLst>
                <a:gd fmla="val 7741" name="adj"/>
              </a:avLst>
            </a:prstGeom>
            <a:solidFill>
              <a:srgbClr val="FFF5F5"/>
            </a:solidFill>
            <a:ln cap="flat" cmpd="sng" w="1430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2" name="Google Shape;1272;p84"/>
            <p:cNvSpPr txBox="1"/>
            <p:nvPr/>
          </p:nvSpPr>
          <p:spPr>
            <a:xfrm>
              <a:off x="571500" y="3333750"/>
              <a:ext cx="8001000" cy="14763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l">
                <a:spcBef>
                  <a:spcPts val="0"/>
                </a:spcBef>
                <a:spcAft>
                  <a:spcPts val="0"/>
                </a:spcAft>
                <a:buNone/>
              </a:pPr>
              <a:r>
                <a:rPr b="0" lang="zh-TW" sz="2000">
                  <a:solidFill>
                    <a:srgbClr val="EF4444"/>
                  </a:solidFill>
                  <a:latin typeface="Material Icons"/>
                  <a:ea typeface="Material Icons"/>
                  <a:cs typeface="Material Icons"/>
                  <a:sym typeface="Material Icons"/>
                </a:rPr>
                <a:t>blur_on </a:t>
              </a:r>
              <a:r>
                <a:rPr b="1" lang="zh-TW" sz="1350">
                  <a:solidFill>
                    <a:srgbClr val="991B1B"/>
                  </a:solidFill>
                  <a:latin typeface="Inter"/>
                  <a:ea typeface="Inter"/>
                  <a:cs typeface="Inter"/>
                  <a:sym typeface="Inter"/>
                </a:rPr>
                <a:t>2. 無狀態偵測之雜訊綁架</a:t>
              </a:r>
              <a:r>
                <a:rPr b="0" lang="zh-TW" sz="2000">
                  <a:solidFill>
                    <a:srgbClr val="EF4444"/>
                  </a:solidFill>
                  <a:latin typeface="Material Icons"/>
                  <a:ea typeface="Material Icons"/>
                  <a:cs typeface="Material Icons"/>
                  <a:sym typeface="Material Icons"/>
                </a:rPr>
                <a:t> </a:t>
              </a:r>
              <a:r>
                <a:rPr b="0" lang="zh-TW" sz="1100">
                  <a:solidFill>
                    <a:srgbClr val="B91C1C"/>
                  </a:solidFill>
                  <a:latin typeface="Inter SemiBold"/>
                  <a:ea typeface="Inter SemiBold"/>
                  <a:cs typeface="Inter SemiBold"/>
                  <a:sym typeface="Inter SemiBold"/>
                </a:rPr>
                <a:t>(Stateless Noise Hijacking)</a:t>
              </a:r>
              <a:endParaRPr b="0" sz="2000">
                <a:solidFill>
                  <a:srgbClr val="EF4444"/>
                </a:solidFill>
                <a:latin typeface="Material Icons"/>
                <a:ea typeface="Material Icons"/>
                <a:cs typeface="Material Icons"/>
                <a:sym typeface="Material Icons"/>
              </a:endParaRPr>
            </a:p>
            <a:p>
              <a:pPr indent="-355600" lvl="0" marL="457200" rtl="0" algn="l">
                <a:spcBef>
                  <a:spcPts val="600"/>
                </a:spcBef>
                <a:spcAft>
                  <a:spcPts val="0"/>
                </a:spcAft>
                <a:buClr>
                  <a:srgbClr val="EF4444"/>
                </a:buClr>
                <a:buSzPts val="2000"/>
                <a:buFont typeface="Material Icons"/>
                <a:buChar char="●"/>
              </a:pPr>
              <a:r>
                <a:rPr b="0" lang="zh-TW" sz="1050">
                  <a:solidFill>
                    <a:srgbClr val="7F1D1D"/>
                  </a:solidFill>
                  <a:latin typeface="Inter"/>
                  <a:ea typeface="Inter"/>
                  <a:cs typeface="Inter"/>
                  <a:sym typeface="Inter"/>
                </a:rPr>
                <a:t>為適應邊緣端算力，被迫</a:t>
              </a:r>
              <a:r>
                <a:rPr b="1" lang="zh-TW" sz="1050">
                  <a:solidFill>
                    <a:srgbClr val="7F1D1D"/>
                  </a:solidFill>
                  <a:latin typeface="Inter"/>
                  <a:ea typeface="Inter"/>
                  <a:cs typeface="Inter"/>
                  <a:sym typeface="Inter"/>
                </a:rPr>
                <a:t>捨棄動態注意力機制</a:t>
              </a:r>
              <a:r>
                <a:rPr b="0" lang="zh-TW" sz="1050">
                  <a:solidFill>
                    <a:srgbClr val="7F1D1D"/>
                  </a:solidFill>
                  <a:latin typeface="Inter"/>
                  <a:ea typeface="Inter"/>
                  <a:cs typeface="Inter"/>
                  <a:sym typeface="Inter"/>
                </a:rPr>
                <a:t>。</a:t>
              </a:r>
              <a:endParaRPr b="0" sz="2000">
                <a:solidFill>
                  <a:srgbClr val="EF4444"/>
                </a:solidFill>
                <a:latin typeface="Material Icons"/>
                <a:ea typeface="Material Icons"/>
                <a:cs typeface="Material Icons"/>
                <a:sym typeface="Material Icons"/>
              </a:endParaRPr>
            </a:p>
            <a:p>
              <a:pPr indent="-355600" lvl="0" marL="457200" rtl="0" algn="l">
                <a:spcBef>
                  <a:spcPts val="400"/>
                </a:spcBef>
                <a:spcAft>
                  <a:spcPts val="0"/>
                </a:spcAft>
                <a:buClr>
                  <a:srgbClr val="EF4444"/>
                </a:buClr>
                <a:buSzPts val="2000"/>
                <a:buFont typeface="Material Icons"/>
                <a:buChar char="●"/>
              </a:pPr>
              <a:r>
                <a:rPr b="0" lang="zh-TW" sz="1050">
                  <a:solidFill>
                    <a:srgbClr val="7F1D1D"/>
                  </a:solidFill>
                  <a:latin typeface="Inter"/>
                  <a:ea typeface="Inter"/>
                  <a:cs typeface="Inter"/>
                  <a:sym typeface="Inter"/>
                </a:rPr>
                <a:t>極易被球員</a:t>
              </a:r>
              <a:r>
                <a:rPr b="1" lang="zh-TW" sz="1050">
                  <a:solidFill>
                    <a:srgbClr val="7F1D1D"/>
                  </a:solidFill>
                  <a:latin typeface="Inter"/>
                  <a:ea typeface="Inter"/>
                  <a:cs typeface="Inter"/>
                  <a:sym typeface="Inter"/>
                </a:rPr>
                <a:t>高速白鞋、場邊高對比標誌</a:t>
              </a:r>
              <a:r>
                <a:rPr b="0" lang="zh-TW" sz="1050">
                  <a:solidFill>
                    <a:srgbClr val="7F1D1D"/>
                  </a:solidFill>
                  <a:latin typeface="Inter"/>
                  <a:ea typeface="Inter"/>
                  <a:cs typeface="Inter"/>
                  <a:sym typeface="Inter"/>
                </a:rPr>
                <a:t>等偽動態雜訊欺騙。</a:t>
              </a:r>
              <a:endParaRPr b="0" sz="2000">
                <a:solidFill>
                  <a:srgbClr val="EF4444"/>
                </a:solidFill>
                <a:latin typeface="Material Icons"/>
                <a:ea typeface="Material Icons"/>
                <a:cs typeface="Material Icons"/>
                <a:sym typeface="Material Icon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6" name="Shape 1276"/>
        <p:cNvGrpSpPr/>
        <p:nvPr/>
      </p:nvGrpSpPr>
      <p:grpSpPr>
        <a:xfrm>
          <a:off x="0" y="0"/>
          <a:ext cx="0" cy="0"/>
          <a:chOff x="0" y="0"/>
          <a:chExt cx="0" cy="0"/>
        </a:xfrm>
      </p:grpSpPr>
      <p:grpSp>
        <p:nvGrpSpPr>
          <p:cNvPr id="1277" name="Google Shape;1277;p85"/>
          <p:cNvGrpSpPr/>
          <p:nvPr/>
        </p:nvGrpSpPr>
        <p:grpSpPr>
          <a:xfrm>
            <a:off x="-476250" y="-857250"/>
            <a:ext cx="10477500" cy="6381750"/>
            <a:chOff x="-476250" y="-857250"/>
            <a:chExt cx="10477500" cy="6381750"/>
          </a:xfrm>
        </p:grpSpPr>
        <p:sp>
          <p:nvSpPr>
            <p:cNvPr id="1278" name="Google Shape;1278;p8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9" name="Google Shape;1279;p8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0" name="Google Shape;1280;p8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81" name="Google Shape;1281;p85"/>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視野狹隘導致之出框</a:t>
            </a:r>
            <a:r>
              <a:rPr b="1" lang="zh-TW" sz="4400">
                <a:solidFill>
                  <a:srgbClr val="1E293B"/>
                </a:solidFill>
                <a:latin typeface="Oswald"/>
                <a:ea typeface="Oswald"/>
                <a:cs typeface="Oswald"/>
                <a:sym typeface="Oswald"/>
              </a:rPr>
              <a:t>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Out-of-Bounds Tracking Drift</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1282" name="Google Shape;1282;p85"/>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6" name="Shape 1286"/>
        <p:cNvGrpSpPr/>
        <p:nvPr/>
      </p:nvGrpSpPr>
      <p:grpSpPr>
        <a:xfrm>
          <a:off x="0" y="0"/>
          <a:ext cx="0" cy="0"/>
          <a:chOff x="0" y="0"/>
          <a:chExt cx="0" cy="0"/>
        </a:xfrm>
      </p:grpSpPr>
      <p:grpSp>
        <p:nvGrpSpPr>
          <p:cNvPr id="1287" name="Google Shape;1287;p86"/>
          <p:cNvGrpSpPr/>
          <p:nvPr/>
        </p:nvGrpSpPr>
        <p:grpSpPr>
          <a:xfrm>
            <a:off x="-476250" y="-857250"/>
            <a:ext cx="10477500" cy="6381750"/>
            <a:chOff x="-476250" y="-857250"/>
            <a:chExt cx="10477500" cy="6381750"/>
          </a:xfrm>
        </p:grpSpPr>
        <p:sp>
          <p:nvSpPr>
            <p:cNvPr id="1288" name="Google Shape;1288;p8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9" name="Google Shape;1289;p8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0" name="Google Shape;1290;p8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1" name="Google Shape;1291;p86"/>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92" name="Google Shape;1292;p86"/>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000">
                <a:solidFill>
                  <a:srgbClr val="1E293B"/>
                </a:solidFill>
                <a:latin typeface="Inter"/>
                <a:ea typeface="Inter"/>
                <a:cs typeface="Inter"/>
                <a:sym typeface="Inter"/>
              </a:rPr>
              <a:t>羽球出框情況 </a:t>
            </a:r>
            <a:r>
              <a:rPr b="0" lang="zh-TW" sz="1800">
                <a:solidFill>
                  <a:srgbClr val="3B82F6"/>
                </a:solidFill>
                <a:latin typeface="Inter"/>
                <a:ea typeface="Inter"/>
                <a:cs typeface="Inter"/>
                <a:sym typeface="Inter"/>
              </a:rPr>
              <a:t>(相機幀率與高速運動衝突)</a:t>
            </a:r>
            <a:endParaRPr b="1" sz="3000">
              <a:solidFill>
                <a:srgbClr val="1E293B"/>
              </a:solidFill>
              <a:latin typeface="Inter"/>
              <a:ea typeface="Inter"/>
              <a:cs typeface="Inter"/>
              <a:sym typeface="Inter"/>
            </a:endParaRPr>
          </a:p>
        </p:txBody>
      </p:sp>
      <p:grpSp>
        <p:nvGrpSpPr>
          <p:cNvPr id="1293" name="Google Shape;1293;p86"/>
          <p:cNvGrpSpPr/>
          <p:nvPr/>
        </p:nvGrpSpPr>
        <p:grpSpPr>
          <a:xfrm>
            <a:off x="552450" y="1219200"/>
            <a:ext cx="2705100" cy="3638625"/>
            <a:chOff x="552450" y="1219200"/>
            <a:chExt cx="2705100" cy="3638625"/>
          </a:xfrm>
        </p:grpSpPr>
        <p:sp>
          <p:nvSpPr>
            <p:cNvPr id="1294" name="Google Shape;1294;p86"/>
            <p:cNvSpPr/>
            <p:nvPr/>
          </p:nvSpPr>
          <p:spPr>
            <a:xfrm>
              <a:off x="552450" y="1219200"/>
              <a:ext cx="2705100" cy="2705100"/>
            </a:xfrm>
            <a:prstGeom prst="roundRect">
              <a:avLst>
                <a:gd fmla="val 4929" name="adj"/>
              </a:avLst>
            </a:prstGeom>
            <a:solidFill>
              <a:srgbClr val="000000">
                <a:alpha val="0"/>
              </a:srgbClr>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95" name="Google Shape;1295;p86"/>
            <p:cNvPicPr preferRelativeResize="0"/>
            <p:nvPr/>
          </p:nvPicPr>
          <p:blipFill rotWithShape="1">
            <a:blip r:embed="rId4">
              <a:alphaModFix/>
            </a:blip>
            <a:srcRect b="-949" l="0" r="0" t="0"/>
            <a:stretch/>
          </p:blipFill>
          <p:spPr>
            <a:xfrm>
              <a:off x="571500" y="1238250"/>
              <a:ext cx="2667000" cy="2667000"/>
            </a:xfrm>
            <a:prstGeom prst="roundRect">
              <a:avLst>
                <a:gd fmla="val 4285" name="adj"/>
              </a:avLst>
            </a:prstGeom>
            <a:noFill/>
            <a:ln>
              <a:noFill/>
            </a:ln>
          </p:spPr>
        </p:pic>
        <p:sp>
          <p:nvSpPr>
            <p:cNvPr id="1296" name="Google Shape;1296;p86"/>
            <p:cNvSpPr txBox="1"/>
            <p:nvPr/>
          </p:nvSpPr>
          <p:spPr>
            <a:xfrm>
              <a:off x="571500" y="4048125"/>
              <a:ext cx="2667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01. 羽球初始位置</a:t>
              </a:r>
              <a:endParaRPr b="1" sz="1300">
                <a:solidFill>
                  <a:srgbClr val="1E293B"/>
                </a:solidFill>
                <a:latin typeface="Inter"/>
                <a:ea typeface="Inter"/>
                <a:cs typeface="Inter"/>
                <a:sym typeface="Inter"/>
              </a:endParaRPr>
            </a:p>
            <a:p>
              <a:pPr indent="0" lvl="0" marL="0" rtl="0" algn="l">
                <a:spcBef>
                  <a:spcPts val="450"/>
                </a:spcBef>
                <a:spcAft>
                  <a:spcPts val="0"/>
                </a:spcAft>
                <a:buNone/>
              </a:pPr>
              <a:r>
                <a:rPr b="0" lang="zh-TW" sz="1100">
                  <a:solidFill>
                    <a:srgbClr val="64748B"/>
                  </a:solidFill>
                  <a:latin typeface="Inter"/>
                  <a:ea typeface="Inter"/>
                  <a:cs typeface="Inter"/>
                  <a:sym typeface="Inter"/>
                </a:rPr>
                <a:t>在最開始未發生極端位移前，系統能於局部視窗中精準鎖定並標記羽球座標位置。</a:t>
              </a:r>
              <a:endParaRPr b="0" sz="1100">
                <a:solidFill>
                  <a:srgbClr val="64748B"/>
                </a:solidFill>
                <a:latin typeface="Inter"/>
                <a:ea typeface="Inter"/>
                <a:cs typeface="Inter"/>
                <a:sym typeface="Inter"/>
              </a:endParaRPr>
            </a:p>
          </p:txBody>
        </p:sp>
      </p:grpSp>
      <p:grpSp>
        <p:nvGrpSpPr>
          <p:cNvPr id="1297" name="Google Shape;1297;p86"/>
          <p:cNvGrpSpPr/>
          <p:nvPr/>
        </p:nvGrpSpPr>
        <p:grpSpPr>
          <a:xfrm>
            <a:off x="3409950" y="1219200"/>
            <a:ext cx="5181600" cy="3638625"/>
            <a:chOff x="3409950" y="1219200"/>
            <a:chExt cx="5181600" cy="3638625"/>
          </a:xfrm>
        </p:grpSpPr>
        <p:sp>
          <p:nvSpPr>
            <p:cNvPr id="1298" name="Google Shape;1298;p86"/>
            <p:cNvSpPr/>
            <p:nvPr/>
          </p:nvSpPr>
          <p:spPr>
            <a:xfrm>
              <a:off x="3409950" y="1219200"/>
              <a:ext cx="5181600" cy="2705100"/>
            </a:xfrm>
            <a:prstGeom prst="roundRect">
              <a:avLst>
                <a:gd fmla="val 4929" name="adj"/>
              </a:avLst>
            </a:prstGeom>
            <a:solidFill>
              <a:srgbClr val="000000">
                <a:alpha val="0"/>
              </a:srgbClr>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99" name="Google Shape;1299;p86"/>
            <p:cNvPicPr preferRelativeResize="0"/>
            <p:nvPr/>
          </p:nvPicPr>
          <p:blipFill rotWithShape="1">
            <a:blip r:embed="rId5">
              <a:alphaModFix/>
            </a:blip>
            <a:srcRect b="-772" l="0" r="0" t="-813"/>
            <a:stretch/>
          </p:blipFill>
          <p:spPr>
            <a:xfrm>
              <a:off x="3429000" y="1238250"/>
              <a:ext cx="5143500" cy="2667000"/>
            </a:xfrm>
            <a:prstGeom prst="roundRect">
              <a:avLst>
                <a:gd fmla="val 4285" name="adj"/>
              </a:avLst>
            </a:prstGeom>
            <a:noFill/>
            <a:ln>
              <a:noFill/>
            </a:ln>
          </p:spPr>
        </p:pic>
        <p:sp>
          <p:nvSpPr>
            <p:cNvPr id="1300" name="Google Shape;1300;p86"/>
            <p:cNvSpPr txBox="1"/>
            <p:nvPr/>
          </p:nvSpPr>
          <p:spPr>
            <a:xfrm>
              <a:off x="3429000" y="4048125"/>
              <a:ext cx="5143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EF4444"/>
                  </a:solidFill>
                  <a:latin typeface="Inter"/>
                  <a:ea typeface="Inter"/>
                  <a:cs typeface="Inter"/>
                  <a:sym typeface="Inter"/>
                </a:rPr>
                <a:t>02. 殺球瞬間高速出框</a:t>
              </a:r>
              <a:endParaRPr b="1" sz="1300">
                <a:solidFill>
                  <a:srgbClr val="EF4444"/>
                </a:solidFill>
                <a:latin typeface="Inter"/>
                <a:ea typeface="Inter"/>
                <a:cs typeface="Inter"/>
                <a:sym typeface="Inter"/>
              </a:endParaRPr>
            </a:p>
            <a:p>
              <a:pPr indent="0" lvl="0" marL="0" rtl="0" algn="l">
                <a:spcBef>
                  <a:spcPts val="450"/>
                </a:spcBef>
                <a:spcAft>
                  <a:spcPts val="0"/>
                </a:spcAft>
                <a:buNone/>
              </a:pPr>
              <a:r>
                <a:rPr b="0" lang="zh-TW" sz="1100">
                  <a:solidFill>
                    <a:srgbClr val="64748B"/>
                  </a:solidFill>
                  <a:latin typeface="Inter"/>
                  <a:ea typeface="Inter"/>
                  <a:cs typeface="Inter"/>
                  <a:sym typeface="Inter"/>
                </a:rPr>
                <a:t>當遭遇殺球極高初速時，受限於相機幀率（FPS）過低，相鄰幀間產生巨大像素位移，導致羽球瞬間跳出局部搜索視窗。</a:t>
              </a:r>
              <a:endParaRPr b="0" sz="1100">
                <a:solidFill>
                  <a:srgbClr val="64748B"/>
                </a:solidFill>
                <a:latin typeface="Inter"/>
                <a:ea typeface="Inter"/>
                <a:cs typeface="Inter"/>
                <a:sym typeface="Inter"/>
              </a:endParaRPr>
            </a:p>
          </p:txBody>
        </p:sp>
      </p:grpSp>
      <p:grpSp>
        <p:nvGrpSpPr>
          <p:cNvPr id="1301" name="Google Shape;1301;p86"/>
          <p:cNvGrpSpPr/>
          <p:nvPr/>
        </p:nvGrpSpPr>
        <p:grpSpPr>
          <a:xfrm>
            <a:off x="552450" y="4725223"/>
            <a:ext cx="8039100" cy="271308"/>
            <a:chOff x="0" y="0"/>
            <a:chExt cx="8039100" cy="438300"/>
          </a:xfrm>
        </p:grpSpPr>
        <p:sp>
          <p:nvSpPr>
            <p:cNvPr id="1302" name="Google Shape;1302;p86"/>
            <p:cNvSpPr/>
            <p:nvPr/>
          </p:nvSpPr>
          <p:spPr>
            <a:xfrm>
              <a:off x="0" y="0"/>
              <a:ext cx="8039100" cy="438300"/>
            </a:xfrm>
            <a:prstGeom prst="roundRect">
              <a:avLst>
                <a:gd fmla="val 21739"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3" name="Google Shape;1303;p86"/>
            <p:cNvSpPr txBox="1"/>
            <p:nvPr/>
          </p:nvSpPr>
          <p:spPr>
            <a:xfrm>
              <a:off x="0" y="0"/>
              <a:ext cx="8039100" cy="438300"/>
            </a:xfrm>
            <a:prstGeom prst="rect">
              <a:avLst/>
            </a:prstGeom>
            <a:noFill/>
            <a:ln>
              <a:noFill/>
            </a:ln>
          </p:spPr>
          <p:txBody>
            <a:bodyPr anchorCtr="0" anchor="ctr" bIns="0" lIns="171450" spcFirstLastPara="1" rIns="171450" wrap="square" tIns="0">
              <a:noAutofit/>
            </a:bodyPr>
            <a:lstStyle/>
            <a:p>
              <a:pPr indent="0" lvl="0" marL="0" rtl="0" algn="ctr">
                <a:spcBef>
                  <a:spcPts val="0"/>
                </a:spcBef>
                <a:spcAft>
                  <a:spcPts val="0"/>
                </a:spcAft>
                <a:buNone/>
              </a:pPr>
              <a:r>
                <a:rPr b="1" lang="zh-TW" sz="1100">
                  <a:solidFill>
                    <a:srgbClr val="1E40AF"/>
                  </a:solidFill>
                  <a:latin typeface="Inter"/>
                  <a:ea typeface="Inter"/>
                  <a:cs typeface="Inter"/>
                  <a:sym typeface="Inter"/>
                </a:rPr>
                <a:t>💡 </a:t>
              </a:r>
              <a:r>
                <a:rPr b="0" lang="zh-TW" sz="1100">
                  <a:solidFill>
                    <a:srgbClr val="1E3A8A"/>
                  </a:solidFill>
                  <a:latin typeface="Inter Medium"/>
                  <a:ea typeface="Inter Medium"/>
                  <a:cs typeface="Inter Medium"/>
                  <a:sym typeface="Inter Medium"/>
                </a:rPr>
                <a:t>必須要有一個全域搜尋機制，重新獲得羽球位置</a:t>
              </a:r>
              <a:endParaRPr b="1" sz="1100">
                <a:solidFill>
                  <a:srgbClr val="1E40AF"/>
                </a:solidFill>
                <a:latin typeface="Inter"/>
                <a:ea typeface="Inter"/>
                <a:cs typeface="Inter"/>
                <a:sym typeface="Inter"/>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grpSp>
        <p:nvGrpSpPr>
          <p:cNvPr id="1308" name="Google Shape;1308;p87"/>
          <p:cNvGrpSpPr/>
          <p:nvPr/>
        </p:nvGrpSpPr>
        <p:grpSpPr>
          <a:xfrm>
            <a:off x="-476250" y="-857250"/>
            <a:ext cx="10477500" cy="6381750"/>
            <a:chOff x="-476250" y="-857250"/>
            <a:chExt cx="10477500" cy="6381750"/>
          </a:xfrm>
        </p:grpSpPr>
        <p:sp>
          <p:nvSpPr>
            <p:cNvPr id="1309" name="Google Shape;1309;p8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0" name="Google Shape;1310;p8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1" name="Google Shape;1311;p8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2" name="Google Shape;1312;p87"/>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13" name="Google Shape;1313;p87"/>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zh-TW" sz="3000">
                <a:solidFill>
                  <a:srgbClr val="1E293B"/>
                </a:solidFill>
                <a:latin typeface="Inter"/>
                <a:ea typeface="Inter"/>
                <a:cs typeface="Inter"/>
                <a:sym typeface="Inter"/>
              </a:rPr>
              <a:t>視野狹隘導致之出框 </a:t>
            </a:r>
            <a:r>
              <a:rPr lang="zh-TW" sz="1800">
                <a:solidFill>
                  <a:srgbClr val="3B82F6"/>
                </a:solidFill>
                <a:latin typeface="Inter"/>
                <a:ea typeface="Inter"/>
                <a:cs typeface="Inter"/>
                <a:sym typeface="Inter"/>
              </a:rPr>
              <a:t>(全域與局部搜索切換機制)</a:t>
            </a:r>
            <a:endParaRPr b="1" sz="3330">
              <a:solidFill>
                <a:srgbClr val="1E293B"/>
              </a:solidFill>
              <a:latin typeface="Inter"/>
              <a:ea typeface="Inter"/>
              <a:cs typeface="Inter"/>
              <a:sym typeface="Inter"/>
            </a:endParaRPr>
          </a:p>
        </p:txBody>
      </p:sp>
      <p:sp>
        <p:nvSpPr>
          <p:cNvPr id="1314" name="Google Shape;1314;p87"/>
          <p:cNvSpPr txBox="1"/>
          <p:nvPr/>
        </p:nvSpPr>
        <p:spPr>
          <a:xfrm>
            <a:off x="571500" y="1238250"/>
            <a:ext cx="80010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200">
                <a:solidFill>
                  <a:srgbClr val="1E293B"/>
                </a:solidFill>
                <a:latin typeface="Inter"/>
                <a:ea typeface="Inter"/>
                <a:cs typeface="Inter"/>
                <a:sym typeface="Inter"/>
              </a:rPr>
              <a:t>128 x 128 MiniROI 雖突破算力瓶頸，但羽球遭遇殺球時的劇烈變向極易突破局部視野，導致系統陷入盲推死鎖。</a:t>
            </a:r>
            <a:endParaRPr b="1" sz="1200">
              <a:solidFill>
                <a:srgbClr val="1E293B"/>
              </a:solidFill>
              <a:latin typeface="Inter"/>
              <a:ea typeface="Inter"/>
              <a:cs typeface="Inter"/>
              <a:sym typeface="Inter"/>
            </a:endParaRPr>
          </a:p>
          <a:p>
            <a:pPr indent="0" lvl="0" marL="0" rtl="0" algn="l">
              <a:spcBef>
                <a:spcPts val="450"/>
              </a:spcBef>
              <a:spcAft>
                <a:spcPts val="0"/>
              </a:spcAft>
              <a:buNone/>
            </a:pPr>
            <a:r>
              <a:rPr lang="zh-TW" sz="1200">
                <a:solidFill>
                  <a:srgbClr val="64748B"/>
                </a:solidFill>
                <a:latin typeface="Inter"/>
                <a:ea typeface="Inter"/>
                <a:cs typeface="Inter"/>
                <a:sym typeface="Inter"/>
              </a:rPr>
              <a:t>為此系統需導入「全域重獲機制（Global Recovery）」，但在資源極度受限的 Jetson Nano 上強行導入，面臨以下三項嚴峻的工程挑戰：</a:t>
            </a:r>
            <a:endParaRPr sz="1200">
              <a:solidFill>
                <a:srgbClr val="64748B"/>
              </a:solidFill>
              <a:latin typeface="Inter"/>
              <a:ea typeface="Inter"/>
              <a:cs typeface="Inter"/>
              <a:sym typeface="Inter"/>
            </a:endParaRPr>
          </a:p>
        </p:txBody>
      </p:sp>
      <p:grpSp>
        <p:nvGrpSpPr>
          <p:cNvPr id="1315" name="Google Shape;1315;p87"/>
          <p:cNvGrpSpPr/>
          <p:nvPr/>
        </p:nvGrpSpPr>
        <p:grpSpPr>
          <a:xfrm>
            <a:off x="571500" y="2000250"/>
            <a:ext cx="8001000" cy="762000"/>
            <a:chOff x="571500" y="2000250"/>
            <a:chExt cx="8001000" cy="762000"/>
          </a:xfrm>
        </p:grpSpPr>
        <p:sp>
          <p:nvSpPr>
            <p:cNvPr id="1316" name="Google Shape;1316;p87"/>
            <p:cNvSpPr/>
            <p:nvPr/>
          </p:nvSpPr>
          <p:spPr>
            <a:xfrm>
              <a:off x="571500" y="2000250"/>
              <a:ext cx="8001000" cy="762000"/>
            </a:xfrm>
            <a:prstGeom prst="roundRect">
              <a:avLst>
                <a:gd fmla="val 1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7" name="Google Shape;1317;p87"/>
            <p:cNvSpPr txBox="1"/>
            <p:nvPr/>
          </p:nvSpPr>
          <p:spPr>
            <a:xfrm>
              <a:off x="571500" y="2000250"/>
              <a:ext cx="8001000" cy="7620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0" i="0" lang="zh-TW" sz="2000">
                  <a:solidFill>
                    <a:srgbClr val="3B82F6"/>
                  </a:solidFill>
                  <a:latin typeface="Material Icons"/>
                  <a:ea typeface="Material Icons"/>
                  <a:cs typeface="Material Icons"/>
                  <a:sym typeface="Material Icons"/>
                </a:rPr>
                <a:t>layers</a:t>
              </a:r>
              <a:r>
                <a:rPr b="1" i="0" lang="zh-TW" sz="1300">
                  <a:solidFill>
                    <a:srgbClr val="1E293B"/>
                  </a:solidFill>
                  <a:latin typeface="Inter"/>
                  <a:ea typeface="Inter"/>
                  <a:cs typeface="Inter"/>
                  <a:sym typeface="Inter"/>
                </a:rPr>
                <a:t> 1. 模型來源與建構</a:t>
              </a:r>
              <a:endParaRPr b="0" i="0" sz="2000">
                <a:solidFill>
                  <a:srgbClr val="3B82F6"/>
                </a:solidFill>
                <a:latin typeface="Material Icons"/>
                <a:ea typeface="Material Icons"/>
                <a:cs typeface="Material Icons"/>
                <a:sym typeface="Material Icons"/>
              </a:endParaRPr>
            </a:p>
            <a:p>
              <a:pPr indent="0" lvl="0" marL="0" rtl="0" algn="l">
                <a:spcBef>
                  <a:spcPts val="400"/>
                </a:spcBef>
                <a:spcAft>
                  <a:spcPts val="0"/>
                </a:spcAft>
                <a:buNone/>
              </a:pPr>
              <a:r>
                <a:rPr b="0" i="0" lang="zh-TW" sz="1050">
                  <a:solidFill>
                    <a:srgbClr val="64748B"/>
                  </a:solidFill>
                  <a:latin typeface="Inter"/>
                  <a:ea typeface="Inter"/>
                  <a:cs typeface="Inter"/>
                  <a:sym typeface="Inter"/>
                </a:rPr>
                <a:t>初始位置以及丟失的重新獲取機制；全域搜索與局部搜索的切換機制。</a:t>
              </a:r>
              <a:endParaRPr b="0" i="0" sz="1050">
                <a:solidFill>
                  <a:srgbClr val="64748B"/>
                </a:solidFill>
                <a:latin typeface="Inter"/>
                <a:ea typeface="Inter"/>
                <a:cs typeface="Inter"/>
                <a:sym typeface="Inter"/>
              </a:endParaRPr>
            </a:p>
          </p:txBody>
        </p:sp>
      </p:grpSp>
      <p:grpSp>
        <p:nvGrpSpPr>
          <p:cNvPr id="1318" name="Google Shape;1318;p87"/>
          <p:cNvGrpSpPr/>
          <p:nvPr/>
        </p:nvGrpSpPr>
        <p:grpSpPr>
          <a:xfrm>
            <a:off x="571500" y="2905125"/>
            <a:ext cx="8001000" cy="762000"/>
            <a:chOff x="571500" y="2905125"/>
            <a:chExt cx="8001000" cy="762000"/>
          </a:xfrm>
        </p:grpSpPr>
        <p:sp>
          <p:nvSpPr>
            <p:cNvPr id="1319" name="Google Shape;1319;p87"/>
            <p:cNvSpPr/>
            <p:nvPr/>
          </p:nvSpPr>
          <p:spPr>
            <a:xfrm>
              <a:off x="571500" y="2905125"/>
              <a:ext cx="8001000" cy="762000"/>
            </a:xfrm>
            <a:prstGeom prst="roundRect">
              <a:avLst>
                <a:gd fmla="val 1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0" name="Google Shape;1320;p87"/>
            <p:cNvSpPr txBox="1"/>
            <p:nvPr/>
          </p:nvSpPr>
          <p:spPr>
            <a:xfrm>
              <a:off x="571500" y="2905125"/>
              <a:ext cx="8001000" cy="7620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0" i="0" lang="zh-TW" sz="2000">
                  <a:solidFill>
                    <a:srgbClr val="3B82F6"/>
                  </a:solidFill>
                  <a:latin typeface="Material Icons"/>
                  <a:ea typeface="Material Icons"/>
                  <a:cs typeface="Material Icons"/>
                  <a:sym typeface="Material Icons"/>
                </a:rPr>
                <a:t>insights</a:t>
              </a:r>
              <a:r>
                <a:rPr b="1" i="0" lang="zh-TW" sz="1300">
                  <a:solidFill>
                    <a:srgbClr val="1E293B"/>
                  </a:solidFill>
                  <a:latin typeface="Inter"/>
                  <a:ea typeface="Inter"/>
                  <a:cs typeface="Inter"/>
                  <a:sym typeface="Inter"/>
                </a:rPr>
                <a:t> 2. 全域搜索效能震盪</a:t>
              </a:r>
              <a:endParaRPr b="0" i="0" sz="2000">
                <a:solidFill>
                  <a:srgbClr val="3B82F6"/>
                </a:solidFill>
                <a:latin typeface="Material Icons"/>
                <a:ea typeface="Material Icons"/>
                <a:cs typeface="Material Icons"/>
                <a:sym typeface="Material Icons"/>
              </a:endParaRPr>
            </a:p>
            <a:p>
              <a:pPr indent="0" lvl="0" marL="0" rtl="0" algn="l">
                <a:spcBef>
                  <a:spcPts val="400"/>
                </a:spcBef>
                <a:spcAft>
                  <a:spcPts val="0"/>
                </a:spcAft>
                <a:buNone/>
              </a:pPr>
              <a:r>
                <a:rPr b="0" i="0" lang="zh-TW" sz="1050">
                  <a:solidFill>
                    <a:srgbClr val="64748B"/>
                  </a:solidFill>
                  <a:latin typeface="Inter"/>
                  <a:ea typeface="Inter"/>
                  <a:cs typeface="Inter"/>
                  <a:sym typeface="Inter"/>
                </a:rPr>
                <a:t>當局部追蹤失效並切換至全域大視野掃描時，運算複雜度暴增，易引發顯著的 FPS 瞬時震盪與丟幀。</a:t>
              </a:r>
              <a:endParaRPr b="0" i="0" sz="1050">
                <a:solidFill>
                  <a:srgbClr val="64748B"/>
                </a:solidFill>
                <a:latin typeface="Inter"/>
                <a:ea typeface="Inter"/>
                <a:cs typeface="Inter"/>
                <a:sym typeface="Inter"/>
              </a:endParaRPr>
            </a:p>
          </p:txBody>
        </p:sp>
      </p:grpSp>
      <p:grpSp>
        <p:nvGrpSpPr>
          <p:cNvPr id="1321" name="Google Shape;1321;p87"/>
          <p:cNvGrpSpPr/>
          <p:nvPr/>
        </p:nvGrpSpPr>
        <p:grpSpPr>
          <a:xfrm>
            <a:off x="571500" y="3810000"/>
            <a:ext cx="8001000" cy="762000"/>
            <a:chOff x="571500" y="3810000"/>
            <a:chExt cx="8001000" cy="762000"/>
          </a:xfrm>
        </p:grpSpPr>
        <p:sp>
          <p:nvSpPr>
            <p:cNvPr id="1322" name="Google Shape;1322;p87"/>
            <p:cNvSpPr/>
            <p:nvPr/>
          </p:nvSpPr>
          <p:spPr>
            <a:xfrm>
              <a:off x="571500" y="3810000"/>
              <a:ext cx="8001000" cy="762000"/>
            </a:xfrm>
            <a:prstGeom prst="roundRect">
              <a:avLst>
                <a:gd fmla="val 1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3" name="Google Shape;1323;p87"/>
            <p:cNvSpPr txBox="1"/>
            <p:nvPr/>
          </p:nvSpPr>
          <p:spPr>
            <a:xfrm>
              <a:off x="571500" y="3810000"/>
              <a:ext cx="8001000" cy="7620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0" i="0" lang="zh-TW" sz="2000">
                  <a:solidFill>
                    <a:srgbClr val="3B82F6"/>
                  </a:solidFill>
                  <a:latin typeface="Material Icons"/>
                  <a:ea typeface="Material Icons"/>
                  <a:cs typeface="Material Icons"/>
                  <a:sym typeface="Material Icons"/>
                </a:rPr>
                <a:t>schedule</a:t>
              </a:r>
              <a:r>
                <a:rPr b="1" i="0" lang="zh-TW" sz="1300">
                  <a:solidFill>
                    <a:srgbClr val="1E293B"/>
                  </a:solidFill>
                  <a:latin typeface="Inter"/>
                  <a:ea typeface="Inter"/>
                  <a:cs typeface="Inter"/>
                  <a:sym typeface="Inter"/>
                </a:rPr>
                <a:t> 3. 硬體切換延遲</a:t>
              </a:r>
              <a:endParaRPr b="0" i="0" sz="2000">
                <a:solidFill>
                  <a:srgbClr val="3B82F6"/>
                </a:solidFill>
                <a:latin typeface="Material Icons"/>
                <a:ea typeface="Material Icons"/>
                <a:cs typeface="Material Icons"/>
                <a:sym typeface="Material Icons"/>
              </a:endParaRPr>
            </a:p>
            <a:p>
              <a:pPr indent="0" lvl="0" marL="0" rtl="0" algn="l">
                <a:spcBef>
                  <a:spcPts val="400"/>
                </a:spcBef>
                <a:spcAft>
                  <a:spcPts val="0"/>
                </a:spcAft>
                <a:buNone/>
              </a:pPr>
              <a:r>
                <a:rPr b="0" i="0" lang="zh-TW" sz="1050">
                  <a:solidFill>
                    <a:srgbClr val="64748B"/>
                  </a:solidFill>
                  <a:latin typeface="Inter"/>
                  <a:ea typeface="Inter"/>
                  <a:cs typeface="Inter"/>
                  <a:sym typeface="Inter"/>
                </a:rPr>
                <a:t>底層硬體在局部引擎與全域引擎切換時，涉及記憶體重新分配與資料流交接，極易產生無法忽視的硬體層級調度延遲。</a:t>
              </a:r>
              <a:endParaRPr b="0" i="0" sz="1050">
                <a:solidFill>
                  <a:srgbClr val="64748B"/>
                </a:solidFill>
                <a:latin typeface="Inter"/>
                <a:ea typeface="Inter"/>
                <a:cs typeface="Inter"/>
                <a:sym typeface="Inter"/>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grpSp>
        <p:nvGrpSpPr>
          <p:cNvPr id="1328" name="Google Shape;1328;p88"/>
          <p:cNvGrpSpPr/>
          <p:nvPr/>
        </p:nvGrpSpPr>
        <p:grpSpPr>
          <a:xfrm>
            <a:off x="-476250" y="-857250"/>
            <a:ext cx="10477500" cy="6381750"/>
            <a:chOff x="-476250" y="-857250"/>
            <a:chExt cx="10477500" cy="6381750"/>
          </a:xfrm>
        </p:grpSpPr>
        <p:sp>
          <p:nvSpPr>
            <p:cNvPr id="1329" name="Google Shape;1329;p8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0" name="Google Shape;1330;p8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1" name="Google Shape;1331;p8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2" name="Google Shape;1332;p88"/>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33" name="Google Shape;1333;p88"/>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000">
                <a:solidFill>
                  <a:srgbClr val="1E293B"/>
                </a:solidFill>
                <a:latin typeface="Inter"/>
                <a:ea typeface="Inter"/>
                <a:cs typeface="Inter"/>
                <a:sym typeface="Inter"/>
              </a:rPr>
              <a:t>視野狹隘導致之出框 </a:t>
            </a:r>
            <a:r>
              <a:rPr b="0" lang="zh-TW" sz="1800">
                <a:solidFill>
                  <a:srgbClr val="3B82F6"/>
                </a:solidFill>
                <a:latin typeface="Inter"/>
                <a:ea typeface="Inter"/>
                <a:cs typeface="Inter"/>
                <a:sym typeface="Inter"/>
              </a:rPr>
              <a:t>(全域</a:t>
            </a:r>
            <a:r>
              <a:rPr b="0" lang="zh-TW" sz="1800">
                <a:solidFill>
                  <a:srgbClr val="3B82F6"/>
                </a:solidFill>
                <a:latin typeface="Inter"/>
                <a:ea typeface="Inter"/>
                <a:cs typeface="Inter"/>
                <a:sym typeface="Inter"/>
              </a:rPr>
              <a:t>與局部搜索切換機制</a:t>
            </a:r>
            <a:r>
              <a:rPr b="0" lang="zh-TW" sz="1800">
                <a:solidFill>
                  <a:srgbClr val="3B82F6"/>
                </a:solidFill>
                <a:latin typeface="Inter"/>
                <a:ea typeface="Inter"/>
                <a:cs typeface="Inter"/>
                <a:sym typeface="Inter"/>
              </a:rPr>
              <a:t>)</a:t>
            </a:r>
            <a:endParaRPr b="1" sz="3000">
              <a:solidFill>
                <a:srgbClr val="1E293B"/>
              </a:solidFill>
              <a:latin typeface="Inter"/>
              <a:ea typeface="Inter"/>
              <a:cs typeface="Inter"/>
              <a:sym typeface="Inter"/>
            </a:endParaRPr>
          </a:p>
        </p:txBody>
      </p:sp>
      <p:sp>
        <p:nvSpPr>
          <p:cNvPr id="1334" name="Google Shape;1334;p88"/>
          <p:cNvSpPr txBox="1"/>
          <p:nvPr>
            <p:ph idx="1" type="body"/>
          </p:nvPr>
        </p:nvSpPr>
        <p:spPr>
          <a:xfrm>
            <a:off x="585625" y="1244700"/>
            <a:ext cx="8001000" cy="4287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zh-TW" sz="1100">
                <a:solidFill>
                  <a:srgbClr val="475569"/>
                </a:solidFill>
                <a:latin typeface="Inter"/>
                <a:ea typeface="Inter"/>
                <a:cs typeface="Inter"/>
                <a:sym typeface="Inter"/>
              </a:rPr>
              <a:t>當 MiniROI 因超高速移動或扣殺突變而目標脫框時，系統需依賴「全域重獲機制」進行重定位。</a:t>
            </a:r>
            <a:endParaRPr b="0" sz="1100">
              <a:solidFill>
                <a:srgbClr val="475569"/>
              </a:solidFill>
              <a:latin typeface="Inter"/>
              <a:ea typeface="Inter"/>
              <a:cs typeface="Inter"/>
              <a:sym typeface="Inter"/>
            </a:endParaRPr>
          </a:p>
          <a:p>
            <a:pPr indent="0" lvl="0" marL="0" rtl="0" algn="l">
              <a:spcBef>
                <a:spcPts val="300"/>
              </a:spcBef>
              <a:spcAft>
                <a:spcPts val="1200"/>
              </a:spcAft>
              <a:buNone/>
            </a:pPr>
            <a:r>
              <a:rPr b="0" lang="zh-TW" sz="1100">
                <a:solidFill>
                  <a:srgbClr val="64748B"/>
                </a:solidFill>
                <a:latin typeface="Inter"/>
                <a:ea typeface="Inter"/>
                <a:cs typeface="Inter"/>
                <a:sym typeface="Inter"/>
              </a:rPr>
              <a:t>本研究在算力與記憶體受限的 NVIDIA Jetson Nano 平台上，完美兼顧全域搜索能力與記憶體開銷。</a:t>
            </a:r>
            <a:endParaRPr b="0" sz="1100">
              <a:solidFill>
                <a:srgbClr val="64748B"/>
              </a:solidFill>
              <a:latin typeface="Inter"/>
              <a:ea typeface="Inter"/>
              <a:cs typeface="Inter"/>
              <a:sym typeface="Inter"/>
            </a:endParaRPr>
          </a:p>
        </p:txBody>
      </p:sp>
      <p:grpSp>
        <p:nvGrpSpPr>
          <p:cNvPr id="1335" name="Google Shape;1335;p88"/>
          <p:cNvGrpSpPr/>
          <p:nvPr/>
        </p:nvGrpSpPr>
        <p:grpSpPr>
          <a:xfrm>
            <a:off x="571500" y="1775100"/>
            <a:ext cx="8029250" cy="1285800"/>
            <a:chOff x="0" y="203475"/>
            <a:chExt cx="8029250" cy="1285800"/>
          </a:xfrm>
        </p:grpSpPr>
        <p:sp>
          <p:nvSpPr>
            <p:cNvPr id="1336" name="Google Shape;1336;p88"/>
            <p:cNvSpPr/>
            <p:nvPr/>
          </p:nvSpPr>
          <p:spPr>
            <a:xfrm>
              <a:off x="28250" y="203475"/>
              <a:ext cx="8001000" cy="1285800"/>
            </a:xfrm>
            <a:prstGeom prst="roundRect">
              <a:avLst>
                <a:gd fmla="val 740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7" name="Google Shape;1337;p88"/>
            <p:cNvSpPr txBox="1"/>
            <p:nvPr/>
          </p:nvSpPr>
          <p:spPr>
            <a:xfrm>
              <a:off x="0" y="203475"/>
              <a:ext cx="8001000" cy="1285800"/>
            </a:xfrm>
            <a:prstGeom prst="rect">
              <a:avLst/>
            </a:prstGeom>
            <a:noFill/>
            <a:ln>
              <a:noFill/>
            </a:ln>
          </p:spPr>
          <p:txBody>
            <a:bodyPr anchorCtr="0" anchor="ctr" bIns="152400" lIns="190500" spcFirstLastPara="1" rIns="190500" wrap="square" tIns="152400">
              <a:noAutofit/>
            </a:bodyPr>
            <a:lstStyle/>
            <a:p>
              <a:pPr indent="0" lvl="0" marL="0" rtl="0" algn="l">
                <a:spcBef>
                  <a:spcPts val="0"/>
                </a:spcBef>
                <a:spcAft>
                  <a:spcPts val="0"/>
                </a:spcAft>
                <a:buNone/>
              </a:pPr>
              <a:r>
                <a:rPr b="0" lang="zh-TW" sz="1600">
                  <a:solidFill>
                    <a:srgbClr val="3B82F6"/>
                  </a:solidFill>
                  <a:latin typeface="Material Icons"/>
                  <a:ea typeface="Material Icons"/>
                  <a:cs typeface="Material Icons"/>
                  <a:sym typeface="Material Icons"/>
                </a:rPr>
                <a:t>layers</a:t>
              </a:r>
              <a:r>
                <a:rPr b="1" lang="zh-TW" sz="1300">
                  <a:solidFill>
                    <a:srgbClr val="1E293B"/>
                  </a:solidFill>
                  <a:latin typeface="Inter"/>
                  <a:ea typeface="Inter"/>
                  <a:cs typeface="Inter"/>
                  <a:sym typeface="Inter"/>
                </a:rPr>
                <a:t> 1. FCN 動態張量輸入 </a:t>
              </a:r>
              <a:r>
                <a:rPr b="1" lang="zh-TW" sz="950">
                  <a:solidFill>
                    <a:srgbClr val="3B82F6"/>
                  </a:solidFill>
                  <a:latin typeface="Inter"/>
                  <a:ea typeface="Inter"/>
                  <a:cs typeface="Inter"/>
                  <a:sym typeface="Inter"/>
                </a:rPr>
                <a:t>RESOLUTION-INVARIANT INFERENCE</a:t>
              </a:r>
              <a:endParaRPr b="1" sz="1300">
                <a:solidFill>
                  <a:srgbClr val="1E293B"/>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利用全卷積網路 (FCN) 完全不包含固定維度全連接層的物理特性，使模型具備動態輸入尺寸的能力。</a:t>
              </a:r>
              <a:endParaRPr sz="1000">
                <a:solidFill>
                  <a:srgbClr val="475569"/>
                </a:solidFill>
                <a:latin typeface="Inter"/>
                <a:ea typeface="Inter"/>
                <a:cs typeface="Inter"/>
                <a:sym typeface="Inter"/>
              </a:endParaRPr>
            </a:p>
            <a:p>
              <a:pPr indent="0" lvl="0" marL="0" rtl="0" algn="l">
                <a:spcBef>
                  <a:spcPts val="600"/>
                </a:spcBef>
                <a:spcAft>
                  <a:spcPts val="0"/>
                </a:spcAft>
                <a:buNone/>
              </a:pPr>
              <a:r>
                <a:rPr b="1" lang="zh-TW" sz="950">
                  <a:solidFill>
                    <a:srgbClr val="3B82F6"/>
                  </a:solidFill>
                  <a:latin typeface="Inter"/>
                  <a:ea typeface="Inter"/>
                  <a:cs typeface="Inter"/>
                  <a:sym typeface="Inter"/>
                </a:rPr>
                <a:t>• 單一模型權重：</a:t>
              </a:r>
              <a:r>
                <a:rPr lang="zh-TW" sz="950">
                  <a:solidFill>
                    <a:srgbClr val="475569"/>
                  </a:solidFill>
                  <a:latin typeface="Inter"/>
                  <a:ea typeface="Inter"/>
                  <a:cs typeface="Inter"/>
                  <a:sym typeface="Inter"/>
                </a:rPr>
                <a:t>同時適應 128 x 128 局部切片與 512 x 288 全視野。</a:t>
              </a:r>
              <a:endParaRPr sz="950">
                <a:solidFill>
                  <a:srgbClr val="1E293B"/>
                </a:solidFill>
                <a:latin typeface="Inter"/>
                <a:ea typeface="Inter"/>
                <a:cs typeface="Inter"/>
                <a:sym typeface="Inter"/>
              </a:endParaRPr>
            </a:p>
            <a:p>
              <a:pPr indent="0" lvl="0" marL="0" rtl="0" algn="l">
                <a:spcBef>
                  <a:spcPts val="300"/>
                </a:spcBef>
                <a:spcAft>
                  <a:spcPts val="0"/>
                </a:spcAft>
                <a:buNone/>
              </a:pPr>
              <a:r>
                <a:rPr b="1" lang="zh-TW" sz="950">
                  <a:solidFill>
                    <a:srgbClr val="3B82F6"/>
                  </a:solidFill>
                  <a:latin typeface="Inter"/>
                  <a:ea typeface="Inter"/>
                  <a:cs typeface="Inter"/>
                  <a:sym typeface="Inter"/>
                </a:rPr>
                <a:t>• 零額外記憶體開銷：</a:t>
              </a:r>
              <a:r>
                <a:rPr lang="zh-TW" sz="950">
                  <a:solidFill>
                    <a:srgbClr val="475569"/>
                  </a:solidFill>
                  <a:latin typeface="Inter"/>
                  <a:ea typeface="Inter"/>
                  <a:cs typeface="Inter"/>
                  <a:sym typeface="Inter"/>
                </a:rPr>
                <a:t>無須同時載入兩組獨立網路，避免 Jetson Nano (4GB) 崩潰。</a:t>
              </a:r>
              <a:endParaRPr sz="950">
                <a:solidFill>
                  <a:srgbClr val="1E293B"/>
                </a:solidFill>
                <a:latin typeface="Inter"/>
                <a:ea typeface="Inter"/>
                <a:cs typeface="Inter"/>
                <a:sym typeface="Inter"/>
              </a:endParaRPr>
            </a:p>
          </p:txBody>
        </p:sp>
      </p:grpSp>
      <p:grpSp>
        <p:nvGrpSpPr>
          <p:cNvPr id="1338" name="Google Shape;1338;p88"/>
          <p:cNvGrpSpPr/>
          <p:nvPr/>
        </p:nvGrpSpPr>
        <p:grpSpPr>
          <a:xfrm>
            <a:off x="571500" y="3108695"/>
            <a:ext cx="8001000" cy="1384717"/>
            <a:chOff x="0" y="108325"/>
            <a:chExt cx="8001000" cy="1796700"/>
          </a:xfrm>
        </p:grpSpPr>
        <p:sp>
          <p:nvSpPr>
            <p:cNvPr id="1339" name="Google Shape;1339;p88"/>
            <p:cNvSpPr/>
            <p:nvPr/>
          </p:nvSpPr>
          <p:spPr>
            <a:xfrm>
              <a:off x="0" y="181800"/>
              <a:ext cx="8001000" cy="17232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0" name="Google Shape;1340;p88"/>
            <p:cNvSpPr txBox="1"/>
            <p:nvPr/>
          </p:nvSpPr>
          <p:spPr>
            <a:xfrm>
              <a:off x="0" y="108325"/>
              <a:ext cx="8001000" cy="1796700"/>
            </a:xfrm>
            <a:prstGeom prst="rect">
              <a:avLst/>
            </a:prstGeom>
            <a:noFill/>
            <a:ln>
              <a:noFill/>
            </a:ln>
          </p:spPr>
          <p:txBody>
            <a:bodyPr anchorCtr="0" anchor="t" bIns="152400" lIns="190500" spcFirstLastPara="1" rIns="190500" wrap="square" tIns="152400">
              <a:noAutofit/>
            </a:bodyPr>
            <a:lstStyle/>
            <a:p>
              <a:pPr indent="0" lvl="0" marL="0" rtl="0" algn="l">
                <a:spcBef>
                  <a:spcPts val="0"/>
                </a:spcBef>
                <a:spcAft>
                  <a:spcPts val="0"/>
                </a:spcAft>
                <a:buNone/>
              </a:pPr>
              <a:r>
                <a:rPr b="0" lang="zh-TW" sz="1600">
                  <a:solidFill>
                    <a:srgbClr val="3B82F6"/>
                  </a:solidFill>
                  <a:latin typeface="Material Icons"/>
                  <a:ea typeface="Material Icons"/>
                  <a:cs typeface="Material Icons"/>
                  <a:sym typeface="Material Icons"/>
                </a:rPr>
                <a:t>settings_backup_restore</a:t>
              </a:r>
              <a:r>
                <a:rPr b="1" lang="zh-TW" sz="1300">
                  <a:solidFill>
                    <a:srgbClr val="1E293B"/>
                  </a:solidFill>
                  <a:latin typeface="Inter"/>
                  <a:ea typeface="Inter"/>
                  <a:cs typeface="Inter"/>
                  <a:sym typeface="Inter"/>
                </a:rPr>
                <a:t> 2. 雙引擎狀態切換 (FSM) </a:t>
              </a:r>
              <a:r>
                <a:rPr b="1" lang="zh-TW" sz="950">
                  <a:solidFill>
                    <a:srgbClr val="3B82F6"/>
                  </a:solidFill>
                  <a:latin typeface="Inter"/>
                  <a:ea typeface="Inter"/>
                  <a:cs typeface="Inter"/>
                  <a:sym typeface="Inter"/>
                </a:rPr>
                <a:t>FINITE STATE MACHINE PROCESS</a:t>
              </a:r>
              <a:endParaRPr b="1" sz="1300">
                <a:solidFill>
                  <a:srgbClr val="1E293B"/>
                </a:solidFill>
                <a:latin typeface="Inter"/>
                <a:ea typeface="Inter"/>
                <a:cs typeface="Inter"/>
                <a:sym typeface="Inter"/>
              </a:endParaRPr>
            </a:p>
            <a:p>
              <a:pPr indent="0" lvl="0" marL="0" rtl="0" algn="l">
                <a:spcBef>
                  <a:spcPts val="900"/>
                </a:spcBef>
                <a:spcAft>
                  <a:spcPts val="0"/>
                </a:spcAft>
                <a:buNone/>
              </a:pPr>
              <a:r>
                <a:rPr b="1" lang="zh-TW" sz="950">
                  <a:solidFill>
                    <a:srgbClr val="1E293B"/>
                  </a:solidFill>
                  <a:highlight>
                    <a:srgbClr val="EFF6FF"/>
                  </a:highlight>
                  <a:latin typeface="Inter"/>
                  <a:ea typeface="Inter"/>
                  <a:cs typeface="Inter"/>
                  <a:sym typeface="Inter"/>
                </a:rPr>
                <a:t>階段零：全域獲取初始羽球點</a:t>
              </a:r>
              <a:r>
                <a:rPr lang="zh-TW" sz="950">
                  <a:solidFill>
                    <a:srgbClr val="1E293B"/>
                  </a:solidFill>
                  <a:latin typeface="Inter"/>
                  <a:ea typeface="Inter"/>
                  <a:cs typeface="Inter"/>
                  <a:sym typeface="Inter"/>
                </a:rPr>
                <a:t> </a:t>
              </a:r>
              <a:r>
                <a:rPr lang="zh-TW" sz="950">
                  <a:solidFill>
                    <a:srgbClr val="475569"/>
                  </a:solidFill>
                  <a:latin typeface="Inter"/>
                  <a:ea typeface="Inter"/>
                  <a:cs typeface="Inter"/>
                  <a:sym typeface="Inter"/>
                </a:rPr>
                <a:t>— 在最一開始沒有羽球座標時，先行使用全域搜尋獲取第一個羽球座標</a:t>
              </a:r>
              <a:endParaRPr sz="950">
                <a:solidFill>
                  <a:srgbClr val="1E293B"/>
                </a:solidFill>
                <a:latin typeface="Inter"/>
                <a:ea typeface="Inter"/>
                <a:cs typeface="Inter"/>
                <a:sym typeface="Inter"/>
              </a:endParaRPr>
            </a:p>
            <a:p>
              <a:pPr indent="0" lvl="0" marL="0" rtl="0" algn="l">
                <a:spcBef>
                  <a:spcPts val="450"/>
                </a:spcBef>
                <a:spcAft>
                  <a:spcPts val="0"/>
                </a:spcAft>
                <a:buNone/>
              </a:pPr>
              <a:r>
                <a:rPr b="1" lang="zh-TW" sz="950">
                  <a:solidFill>
                    <a:srgbClr val="1E293B"/>
                  </a:solidFill>
                  <a:highlight>
                    <a:srgbClr val="EFF6FF"/>
                  </a:highlight>
                  <a:latin typeface="Inter"/>
                  <a:ea typeface="Inter"/>
                  <a:cs typeface="Inter"/>
                  <a:sym typeface="Inter"/>
                </a:rPr>
                <a:t>階段一：局部巡航與信心監測</a:t>
              </a:r>
              <a:r>
                <a:rPr lang="zh-TW" sz="950">
                  <a:solidFill>
                    <a:srgbClr val="1E293B"/>
                  </a:solidFill>
                  <a:latin typeface="Inter"/>
                  <a:ea typeface="Inter"/>
                  <a:cs typeface="Inter"/>
                  <a:sym typeface="Inter"/>
                </a:rPr>
                <a:t> </a:t>
              </a:r>
              <a:r>
                <a:rPr lang="zh-TW" sz="950">
                  <a:solidFill>
                    <a:srgbClr val="475569"/>
                  </a:solidFill>
                  <a:latin typeface="Inter"/>
                  <a:ea typeface="Inter"/>
                  <a:cs typeface="Inter"/>
                  <a:sym typeface="Inter"/>
                </a:rPr>
                <a:t>— 執行 128 x 128 局部推論。若熱力圖最大峰值信心度 &gt;= 設定之 Threshold，則維持局部追蹤。</a:t>
              </a:r>
              <a:endParaRPr sz="950">
                <a:solidFill>
                  <a:srgbClr val="1E293B"/>
                </a:solidFill>
                <a:latin typeface="Inter"/>
                <a:ea typeface="Inter"/>
                <a:cs typeface="Inter"/>
                <a:sym typeface="Inter"/>
              </a:endParaRPr>
            </a:p>
            <a:p>
              <a:pPr indent="0" lvl="0" marL="0" rtl="0" algn="l">
                <a:spcBef>
                  <a:spcPts val="450"/>
                </a:spcBef>
                <a:spcAft>
                  <a:spcPts val="0"/>
                </a:spcAft>
                <a:buNone/>
              </a:pPr>
              <a:r>
                <a:rPr b="1" lang="zh-TW" sz="950">
                  <a:solidFill>
                    <a:srgbClr val="1E293B"/>
                  </a:solidFill>
                  <a:highlight>
                    <a:srgbClr val="EFF6FF"/>
                  </a:highlight>
                  <a:latin typeface="Inter"/>
                  <a:ea typeface="Inter"/>
                  <a:cs typeface="Inter"/>
                  <a:sym typeface="Inter"/>
                </a:rPr>
                <a:t>階段二：脫框判定與救援觸發</a:t>
              </a:r>
              <a:r>
                <a:rPr lang="zh-TW" sz="950">
                  <a:solidFill>
                    <a:srgbClr val="1E293B"/>
                  </a:solidFill>
                  <a:latin typeface="Inter"/>
                  <a:ea typeface="Inter"/>
                  <a:cs typeface="Inter"/>
                  <a:sym typeface="Inter"/>
                </a:rPr>
                <a:t> </a:t>
              </a:r>
              <a:r>
                <a:rPr lang="zh-TW" sz="950">
                  <a:solidFill>
                    <a:srgbClr val="475569"/>
                  </a:solidFill>
                  <a:latin typeface="Inter"/>
                  <a:ea typeface="Inter"/>
                  <a:cs typeface="Inter"/>
                  <a:sym typeface="Inter"/>
                </a:rPr>
                <a:t>— 當信心度 &lt; Threshold 時累加失追幀數。達到上限則判定脫框死鎖，將輸入擴張至全域啟動救援。</a:t>
              </a:r>
              <a:endParaRPr sz="950">
                <a:solidFill>
                  <a:srgbClr val="1E293B"/>
                </a:solidFill>
                <a:latin typeface="Inter"/>
                <a:ea typeface="Inter"/>
                <a:cs typeface="Inter"/>
                <a:sym typeface="Inter"/>
              </a:endParaRPr>
            </a:p>
            <a:p>
              <a:pPr indent="0" lvl="0" marL="0" rtl="0" algn="l">
                <a:spcBef>
                  <a:spcPts val="450"/>
                </a:spcBef>
                <a:spcAft>
                  <a:spcPts val="0"/>
                </a:spcAft>
                <a:buNone/>
              </a:pPr>
              <a:r>
                <a:rPr b="1" lang="zh-TW" sz="950">
                  <a:solidFill>
                    <a:srgbClr val="1E293B"/>
                  </a:solidFill>
                  <a:highlight>
                    <a:srgbClr val="EFF6FF"/>
                  </a:highlight>
                  <a:latin typeface="Inter"/>
                  <a:ea typeface="Inter"/>
                  <a:cs typeface="Inter"/>
                  <a:sym typeface="Inter"/>
                </a:rPr>
                <a:t>階段三：目標重獲與物理交接</a:t>
              </a:r>
              <a:r>
                <a:rPr lang="zh-TW" sz="950">
                  <a:solidFill>
                    <a:srgbClr val="1E293B"/>
                  </a:solidFill>
                  <a:latin typeface="Inter"/>
                  <a:ea typeface="Inter"/>
                  <a:cs typeface="Inter"/>
                  <a:sym typeface="Inter"/>
                </a:rPr>
                <a:t> </a:t>
              </a:r>
              <a:r>
                <a:rPr lang="zh-TW" sz="950">
                  <a:solidFill>
                    <a:srgbClr val="475569"/>
                  </a:solidFill>
                  <a:latin typeface="Inter"/>
                  <a:ea typeface="Inter"/>
                  <a:cs typeface="Inter"/>
                  <a:sym typeface="Inter"/>
                </a:rPr>
                <a:t>— 於全圖搜索，當信心度回升時，精準提取最高機率像素座標，並切回局部模式。</a:t>
              </a:r>
              <a:endParaRPr sz="950">
                <a:solidFill>
                  <a:srgbClr val="1E293B"/>
                </a:solidFill>
                <a:latin typeface="Inter"/>
                <a:ea typeface="Inter"/>
                <a:cs typeface="Inter"/>
                <a:sym typeface="Inter"/>
              </a:endParaRPr>
            </a:p>
          </p:txBody>
        </p:sp>
      </p:grpSp>
      <p:sp>
        <p:nvSpPr>
          <p:cNvPr id="1341" name="Google Shape;1341;p88"/>
          <p:cNvSpPr txBox="1"/>
          <p:nvPr/>
        </p:nvSpPr>
        <p:spPr>
          <a:xfrm>
            <a:off x="585625" y="4541200"/>
            <a:ext cx="7986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900">
                <a:solidFill>
                  <a:srgbClr val="DC2626"/>
                </a:solidFill>
                <a:latin typeface="Material Icons"/>
                <a:ea typeface="Material Icons"/>
                <a:cs typeface="Material Icons"/>
                <a:sym typeface="Material Icons"/>
              </a:rPr>
              <a:t>⚠️ 切換效能衝擊：</a:t>
            </a:r>
            <a:r>
              <a:rPr lang="zh-TW" sz="900">
                <a:solidFill>
                  <a:srgbClr val="991B1B"/>
                </a:solidFill>
                <a:highlight>
                  <a:srgbClr val="FEF2F2"/>
                </a:highlight>
                <a:latin typeface="Material Icons"/>
                <a:ea typeface="Material Icons"/>
                <a:cs typeface="Material Icons"/>
                <a:sym typeface="Material Icons"/>
              </a:rPr>
              <a:t>全域搜尋使運算面積暴增(</a:t>
            </a:r>
            <a:r>
              <a:rPr lang="zh-TW" sz="900">
                <a:solidFill>
                  <a:srgbClr val="991B1B"/>
                </a:solidFill>
                <a:highlight>
                  <a:srgbClr val="FEF2F2"/>
                </a:highlight>
                <a:latin typeface="Material Icons"/>
                <a:ea typeface="Material Icons"/>
                <a:cs typeface="Material Icons"/>
                <a:sym typeface="Material Icons"/>
              </a:rPr>
              <a:t>效能</a:t>
            </a:r>
            <a:r>
              <a:rPr lang="zh-TW" sz="900">
                <a:solidFill>
                  <a:srgbClr val="991B1B"/>
                </a:solidFill>
                <a:highlight>
                  <a:srgbClr val="FEF2F2"/>
                </a:highlight>
                <a:latin typeface="Material Icons"/>
                <a:ea typeface="Material Icons"/>
                <a:cs typeface="Material Icons"/>
                <a:sym typeface="Material Icons"/>
              </a:rPr>
              <a:t>由</a:t>
            </a:r>
            <a:r>
              <a:rPr b="1" lang="zh-TW" sz="1100">
                <a:solidFill>
                  <a:srgbClr val="10B981"/>
                </a:solidFill>
                <a:latin typeface="Inter"/>
                <a:ea typeface="Inter"/>
                <a:cs typeface="Inter"/>
                <a:sym typeface="Inter"/>
              </a:rPr>
              <a:t>30.3 FPS</a:t>
            </a:r>
            <a:r>
              <a:rPr lang="zh-TW" sz="900">
                <a:solidFill>
                  <a:srgbClr val="991B1B"/>
                </a:solidFill>
                <a:highlight>
                  <a:srgbClr val="FEF2F2"/>
                </a:highlight>
                <a:latin typeface="Material Icons"/>
                <a:ea typeface="Material Icons"/>
                <a:cs typeface="Material Icons"/>
                <a:sym typeface="Material Icons"/>
              </a:rPr>
              <a:t>跌</a:t>
            </a:r>
            <a:r>
              <a:rPr lang="zh-TW" sz="900">
                <a:solidFill>
                  <a:srgbClr val="991B1B"/>
                </a:solidFill>
                <a:highlight>
                  <a:srgbClr val="FEF2F2"/>
                </a:highlight>
                <a:latin typeface="Material Icons"/>
                <a:ea typeface="Material Icons"/>
                <a:cs typeface="Material Icons"/>
                <a:sym typeface="Material Icons"/>
              </a:rPr>
              <a:t>至</a:t>
            </a:r>
            <a:r>
              <a:rPr b="1" lang="zh-TW" sz="1100">
                <a:solidFill>
                  <a:srgbClr val="EF4444"/>
                </a:solidFill>
                <a:latin typeface="Inter"/>
                <a:ea typeface="Inter"/>
                <a:cs typeface="Inter"/>
                <a:sym typeface="Inter"/>
              </a:rPr>
              <a:t>4.76 FPS</a:t>
            </a:r>
            <a:r>
              <a:rPr lang="zh-TW" sz="900">
                <a:solidFill>
                  <a:srgbClr val="991B1B"/>
                </a:solidFill>
                <a:highlight>
                  <a:srgbClr val="FEF2F2"/>
                </a:highlight>
                <a:latin typeface="Material Icons"/>
                <a:ea typeface="Material Icons"/>
                <a:cs typeface="Material Icons"/>
                <a:sym typeface="Material Icons"/>
              </a:rPr>
              <a:t>)，頻繁切換易致延遲</a:t>
            </a:r>
            <a:r>
              <a:rPr lang="zh-TW" sz="900">
                <a:solidFill>
                  <a:srgbClr val="991B1B"/>
                </a:solidFill>
                <a:highlight>
                  <a:srgbClr val="FEF2F2"/>
                </a:highlight>
                <a:latin typeface="Material Icons"/>
                <a:ea typeface="Material Icons"/>
                <a:cs typeface="Material Icons"/>
                <a:sym typeface="Material Icons"/>
              </a:rPr>
              <a:t>，因此需要額外機制提高局部追蹤使用頻率</a:t>
            </a:r>
            <a:r>
              <a:rPr lang="zh-TW" sz="900">
                <a:solidFill>
                  <a:srgbClr val="991B1B"/>
                </a:solidFill>
                <a:highlight>
                  <a:srgbClr val="FEF2F2"/>
                </a:highlight>
                <a:latin typeface="Material Icons"/>
                <a:ea typeface="Material Icons"/>
                <a:cs typeface="Material Icons"/>
                <a:sym typeface="Material Icons"/>
              </a:rPr>
              <a: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5" name="Shape 1345"/>
        <p:cNvGrpSpPr/>
        <p:nvPr/>
      </p:nvGrpSpPr>
      <p:grpSpPr>
        <a:xfrm>
          <a:off x="0" y="0"/>
          <a:ext cx="0" cy="0"/>
          <a:chOff x="0" y="0"/>
          <a:chExt cx="0" cy="0"/>
        </a:xfrm>
      </p:grpSpPr>
      <p:grpSp>
        <p:nvGrpSpPr>
          <p:cNvPr id="1346" name="Google Shape;1346;p89"/>
          <p:cNvGrpSpPr/>
          <p:nvPr/>
        </p:nvGrpSpPr>
        <p:grpSpPr>
          <a:xfrm>
            <a:off x="-476250" y="-857250"/>
            <a:ext cx="10477500" cy="6381750"/>
            <a:chOff x="-476250" y="-857250"/>
            <a:chExt cx="10477500" cy="6381750"/>
          </a:xfrm>
        </p:grpSpPr>
        <p:sp>
          <p:nvSpPr>
            <p:cNvPr id="1347" name="Google Shape;1347;p8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8" name="Google Shape;1348;p8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9" name="Google Shape;1349;p8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50" name="Google Shape;1350;p89"/>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視野狹隘導致之出框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lang="zh-TW" sz="2800">
                <a:solidFill>
                  <a:srgbClr val="3B82F6"/>
                </a:solidFill>
                <a:latin typeface="Inter"/>
                <a:ea typeface="Inter"/>
                <a:cs typeface="Inter"/>
                <a:sym typeface="Inter"/>
              </a:rPr>
              <a:t>切換引擎之效能衝擊</a:t>
            </a:r>
            <a:endParaRPr sz="2800">
              <a:solidFill>
                <a:srgbClr val="3B82F6"/>
              </a:solidFill>
              <a:latin typeface="Inter"/>
              <a:ea typeface="Inter"/>
              <a:cs typeface="Inter"/>
              <a:sym typeface="Inter"/>
            </a:endParaRPr>
          </a:p>
        </p:txBody>
      </p:sp>
      <p:sp>
        <p:nvSpPr>
          <p:cNvPr id="1351" name="Google Shape;1351;p89"/>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grpSp>
        <p:nvGrpSpPr>
          <p:cNvPr id="1356" name="Google Shape;1356;p90"/>
          <p:cNvGrpSpPr/>
          <p:nvPr/>
        </p:nvGrpSpPr>
        <p:grpSpPr>
          <a:xfrm>
            <a:off x="-476250" y="-857250"/>
            <a:ext cx="10477500" cy="6381750"/>
            <a:chOff x="-476250" y="-857250"/>
            <a:chExt cx="10477500" cy="6381750"/>
          </a:xfrm>
        </p:grpSpPr>
        <p:sp>
          <p:nvSpPr>
            <p:cNvPr id="1357" name="Google Shape;1357;p9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8" name="Google Shape;1358;p9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9" name="Google Shape;1359;p9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0" name="Google Shape;1360;p90"/>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361" name="Google Shape;1361;p90"/>
          <p:cNvPicPr preferRelativeResize="0"/>
          <p:nvPr/>
        </p:nvPicPr>
        <p:blipFill rotWithShape="1">
          <a:blip r:embed="rId3">
            <a:alphaModFix/>
          </a:blip>
          <a:srcRect b="0" l="0" r="0" t="0"/>
          <a:stretch/>
        </p:blipFill>
        <p:spPr>
          <a:xfrm>
            <a:off x="2305050" y="3286125"/>
            <a:ext cx="916200" cy="189000"/>
          </a:xfrm>
          <a:prstGeom prst="rect">
            <a:avLst/>
          </a:prstGeom>
          <a:noFill/>
          <a:ln>
            <a:noFill/>
          </a:ln>
        </p:spPr>
      </p:pic>
      <p:pic>
        <p:nvPicPr>
          <p:cNvPr id="1362" name="Google Shape;1362;p90"/>
          <p:cNvPicPr preferRelativeResize="0"/>
          <p:nvPr/>
        </p:nvPicPr>
        <p:blipFill rotWithShape="1">
          <a:blip r:embed="rId4">
            <a:alphaModFix/>
          </a:blip>
          <a:srcRect b="0" l="0" r="0" t="0"/>
          <a:stretch/>
        </p:blipFill>
        <p:spPr>
          <a:xfrm>
            <a:off x="6191250" y="4114800"/>
            <a:ext cx="485400" cy="189000"/>
          </a:xfrm>
          <a:prstGeom prst="rect">
            <a:avLst/>
          </a:prstGeom>
          <a:noFill/>
          <a:ln>
            <a:noFill/>
          </a:ln>
        </p:spPr>
      </p:pic>
      <p:grpSp>
        <p:nvGrpSpPr>
          <p:cNvPr id="1363" name="Google Shape;1363;p90"/>
          <p:cNvGrpSpPr/>
          <p:nvPr/>
        </p:nvGrpSpPr>
        <p:grpSpPr>
          <a:xfrm>
            <a:off x="571500" y="333375"/>
            <a:ext cx="8001000" cy="476400"/>
            <a:chOff x="571500" y="333375"/>
            <a:chExt cx="8001000" cy="476400"/>
          </a:xfrm>
        </p:grpSpPr>
        <p:sp>
          <p:nvSpPr>
            <p:cNvPr id="1364" name="Google Shape;1364;p90"/>
            <p:cNvSpPr/>
            <p:nvPr/>
          </p:nvSpPr>
          <p:spPr>
            <a:xfrm>
              <a:off x="571500" y="333375"/>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5" name="Google Shape;1365;p90"/>
            <p:cNvSpPr txBox="1"/>
            <p:nvPr/>
          </p:nvSpPr>
          <p:spPr>
            <a:xfrm>
              <a:off x="571500" y="333375"/>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600">
                  <a:solidFill>
                    <a:srgbClr val="1E293B"/>
                  </a:solidFill>
                  <a:latin typeface="Inter"/>
                  <a:ea typeface="Inter"/>
                  <a:cs typeface="Inter"/>
                  <a:sym typeface="Inter"/>
                </a:rPr>
                <a:t>視野狹隘導致之出框 </a:t>
              </a:r>
              <a:r>
                <a:rPr b="0" lang="zh-TW" sz="1600">
                  <a:solidFill>
                    <a:srgbClr val="3B82F6"/>
                  </a:solidFill>
                  <a:latin typeface="Inter"/>
                  <a:ea typeface="Inter"/>
                  <a:cs typeface="Inter"/>
                  <a:sym typeface="Inter"/>
                </a:rPr>
                <a:t>(效能震盪與延遲分析)</a:t>
              </a:r>
              <a:endParaRPr b="1" sz="2600">
                <a:solidFill>
                  <a:srgbClr val="1E293B"/>
                </a:solidFill>
                <a:latin typeface="Inter"/>
                <a:ea typeface="Inter"/>
                <a:cs typeface="Inter"/>
                <a:sym typeface="Inter"/>
              </a:endParaRPr>
            </a:p>
          </p:txBody>
        </p:sp>
      </p:grpSp>
      <p:grpSp>
        <p:nvGrpSpPr>
          <p:cNvPr id="1366" name="Google Shape;1366;p90"/>
          <p:cNvGrpSpPr/>
          <p:nvPr/>
        </p:nvGrpSpPr>
        <p:grpSpPr>
          <a:xfrm>
            <a:off x="571500" y="838200"/>
            <a:ext cx="8001000" cy="381000"/>
            <a:chOff x="571500" y="838200"/>
            <a:chExt cx="8001000" cy="381000"/>
          </a:xfrm>
        </p:grpSpPr>
        <p:sp>
          <p:nvSpPr>
            <p:cNvPr id="1367" name="Google Shape;1367;p90"/>
            <p:cNvSpPr/>
            <p:nvPr/>
          </p:nvSpPr>
          <p:spPr>
            <a:xfrm>
              <a:off x="571500" y="838200"/>
              <a:ext cx="800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8" name="Google Shape;1368;p90"/>
            <p:cNvSpPr txBox="1"/>
            <p:nvPr/>
          </p:nvSpPr>
          <p:spPr>
            <a:xfrm>
              <a:off x="571500" y="838200"/>
              <a:ext cx="8001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zh-TW" sz="1100">
                  <a:solidFill>
                    <a:srgbClr val="475569"/>
                  </a:solidFill>
                  <a:latin typeface="Inter"/>
                  <a:ea typeface="Inter"/>
                  <a:cs typeface="Inter"/>
                  <a:sym typeface="Inter"/>
                </a:rPr>
                <a:t>當目標脫框觸發全域救援時，輸入面積擴張 9 倍，頻繁的局部與全域模式切換，將導致系統產生極其嚴重的效能震盪與延遲突波。</a:t>
              </a:r>
              <a:endParaRPr b="0" sz="1100">
                <a:solidFill>
                  <a:srgbClr val="475569"/>
                </a:solidFill>
                <a:latin typeface="Inter"/>
                <a:ea typeface="Inter"/>
                <a:cs typeface="Inter"/>
                <a:sym typeface="Inter"/>
              </a:endParaRPr>
            </a:p>
          </p:txBody>
        </p:sp>
      </p:grpSp>
      <p:grpSp>
        <p:nvGrpSpPr>
          <p:cNvPr id="1369" name="Google Shape;1369;p90"/>
          <p:cNvGrpSpPr/>
          <p:nvPr/>
        </p:nvGrpSpPr>
        <p:grpSpPr>
          <a:xfrm>
            <a:off x="571500" y="1314450"/>
            <a:ext cx="8001000" cy="1047900"/>
            <a:chOff x="571500" y="1314450"/>
            <a:chExt cx="8001000" cy="1047900"/>
          </a:xfrm>
        </p:grpSpPr>
        <p:sp>
          <p:nvSpPr>
            <p:cNvPr id="1370" name="Google Shape;1370;p90"/>
            <p:cNvSpPr/>
            <p:nvPr/>
          </p:nvSpPr>
          <p:spPr>
            <a:xfrm>
              <a:off x="571500" y="1314450"/>
              <a:ext cx="8001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1" name="Google Shape;1371;p90"/>
            <p:cNvSpPr txBox="1"/>
            <p:nvPr/>
          </p:nvSpPr>
          <p:spPr>
            <a:xfrm>
              <a:off x="571500" y="1314450"/>
              <a:ext cx="8001000" cy="1047900"/>
            </a:xfrm>
            <a:prstGeom prst="rect">
              <a:avLst/>
            </a:prstGeom>
            <a:solidFill>
              <a:srgbClr val="000000">
                <a:alpha val="0"/>
              </a:srgbClr>
            </a:solidFill>
            <a:ln>
              <a:noFill/>
            </a:ln>
          </p:spPr>
          <p:txBody>
            <a:bodyPr anchorCtr="0" anchor="ctr" bIns="152400" lIns="228600" spcFirstLastPara="1" rIns="228600" wrap="square" tIns="152400">
              <a:noAutofit/>
            </a:bodyPr>
            <a:lstStyle/>
            <a:p>
              <a:pPr indent="0" lvl="0" marL="0" rtl="0" algn="l">
                <a:spcBef>
                  <a:spcPts val="0"/>
                </a:spcBef>
                <a:spcAft>
                  <a:spcPts val="0"/>
                </a:spcAft>
                <a:buNone/>
              </a:pPr>
              <a:r>
                <a:rPr b="0" lang="zh-TW" sz="2000">
                  <a:solidFill>
                    <a:srgbClr val="3B82F6"/>
                  </a:solidFill>
                  <a:latin typeface="Material Icons"/>
                  <a:ea typeface="Material Icons"/>
                  <a:cs typeface="Material Icons"/>
                  <a:sym typeface="Material Icons"/>
                </a:rPr>
                <a:t>track_changes</a:t>
              </a:r>
              <a:r>
                <a:rPr b="1" lang="zh-TW" sz="1300">
                  <a:solidFill>
                    <a:srgbClr val="1E293B"/>
                  </a:solidFill>
                  <a:latin typeface="Inter"/>
                  <a:ea typeface="Inter"/>
                  <a:cs typeface="Inter"/>
                  <a:sym typeface="Inter"/>
                </a:rPr>
                <a:t> 主動預測策略 </a:t>
              </a:r>
              <a:r>
                <a:rPr b="1" lang="zh-TW" sz="950">
                  <a:solidFill>
                    <a:srgbClr val="3B82F6"/>
                  </a:solidFill>
                  <a:latin typeface="Inter"/>
                  <a:ea typeface="Inter"/>
                  <a:cs typeface="Inter"/>
                  <a:sym typeface="Inter"/>
                </a:rPr>
                <a:t>MAXIMIZE LOCAL WINDOW HIT RATE</a:t>
              </a:r>
              <a:endParaRPr b="0" sz="1050">
                <a:solidFill>
                  <a:srgbClr val="475569"/>
                </a:solidFill>
                <a:latin typeface="Inter"/>
                <a:ea typeface="Inter"/>
                <a:cs typeface="Inter"/>
                <a:sym typeface="Inter"/>
              </a:endParaRPr>
            </a:p>
            <a:p>
              <a:pPr indent="0" lvl="0" marL="0" rtl="0" algn="l">
                <a:spcBef>
                  <a:spcPts val="300"/>
                </a:spcBef>
                <a:spcAft>
                  <a:spcPts val="0"/>
                </a:spcAft>
                <a:buNone/>
              </a:pPr>
              <a:r>
                <a:rPr b="1" lang="zh-TW" sz="1000">
                  <a:solidFill>
                    <a:srgbClr val="1E293B"/>
                  </a:solidFill>
                  <a:latin typeface="Inter"/>
                  <a:ea typeface="Inter"/>
                  <a:cs typeface="Inter"/>
                  <a:sym typeface="Inter"/>
                </a:rPr>
                <a:t>• 高比例鎖定：</a:t>
              </a:r>
              <a:r>
                <a:rPr b="0" lang="zh-TW" sz="1000">
                  <a:solidFill>
                    <a:srgbClr val="475569"/>
                  </a:solidFill>
                  <a:latin typeface="Inter"/>
                  <a:ea typeface="Inter"/>
                  <a:cs typeface="Inter"/>
                  <a:sym typeface="Inter"/>
                </a:rPr>
                <a:t>確保影格鎖定於 128×128 局部視窗內。          </a:t>
              </a:r>
              <a:endParaRPr b="0" sz="1000">
                <a:solidFill>
                  <a:srgbClr val="475569"/>
                </a:solidFill>
                <a:latin typeface="Inter"/>
                <a:ea typeface="Inter"/>
                <a:cs typeface="Inter"/>
                <a:sym typeface="Inter"/>
              </a:endParaRPr>
            </a:p>
            <a:p>
              <a:pPr indent="0" lvl="0" marL="0" rtl="0" algn="l">
                <a:spcBef>
                  <a:spcPts val="0"/>
                </a:spcBef>
                <a:spcAft>
                  <a:spcPts val="0"/>
                </a:spcAft>
                <a:buNone/>
              </a:pPr>
              <a:r>
                <a:rPr b="1" lang="zh-TW" sz="1000">
                  <a:solidFill>
                    <a:srgbClr val="1E293B"/>
                  </a:solidFill>
                  <a:latin typeface="Inter"/>
                  <a:ea typeface="Inter"/>
                  <a:cs typeface="Inter"/>
                  <a:sym typeface="Inter"/>
                </a:rPr>
                <a:t>• 消除震盪：</a:t>
              </a:r>
              <a:r>
                <a:rPr b="0" lang="zh-TW" sz="1000">
                  <a:solidFill>
                    <a:srgbClr val="475569"/>
                  </a:solidFill>
                  <a:latin typeface="Inter"/>
                  <a:ea typeface="Inter"/>
                  <a:cs typeface="Inter"/>
                  <a:sym typeface="Inter"/>
                </a:rPr>
                <a:t>使系統長期維持高速巡航</a:t>
              </a:r>
              <a:r>
                <a:rPr b="0" lang="zh-TW" sz="1000">
                  <a:solidFill>
                    <a:srgbClr val="475569"/>
                  </a:solidFill>
                  <a:latin typeface="Inter"/>
                  <a:ea typeface="Inter"/>
                  <a:cs typeface="Inter"/>
                  <a:sym typeface="Inter"/>
                </a:rPr>
                <a:t>檔位</a:t>
              </a:r>
              <a:r>
                <a:rPr b="0" lang="zh-TW" sz="1000">
                  <a:solidFill>
                    <a:srgbClr val="475569"/>
                  </a:solidFill>
                  <a:latin typeface="Inter"/>
                  <a:ea typeface="Inter"/>
                  <a:cs typeface="Inter"/>
                  <a:sym typeface="Inter"/>
                </a:rPr>
                <a:t>。</a:t>
              </a:r>
              <a:endParaRPr b="0" sz="1000">
                <a:solidFill>
                  <a:srgbClr val="475569"/>
                </a:solidFill>
                <a:latin typeface="Inter"/>
                <a:ea typeface="Inter"/>
                <a:cs typeface="Inter"/>
                <a:sym typeface="Inter"/>
              </a:endParaRPr>
            </a:p>
          </p:txBody>
        </p:sp>
      </p:grpSp>
      <p:grpSp>
        <p:nvGrpSpPr>
          <p:cNvPr id="1372" name="Google Shape;1372;p90"/>
          <p:cNvGrpSpPr/>
          <p:nvPr/>
        </p:nvGrpSpPr>
        <p:grpSpPr>
          <a:xfrm>
            <a:off x="571500" y="2476500"/>
            <a:ext cx="8001000" cy="2286000"/>
            <a:chOff x="571500" y="2476500"/>
            <a:chExt cx="8001000" cy="2286000"/>
          </a:xfrm>
        </p:grpSpPr>
        <p:sp>
          <p:nvSpPr>
            <p:cNvPr id="1373" name="Google Shape;1373;p90"/>
            <p:cNvSpPr/>
            <p:nvPr/>
          </p:nvSpPr>
          <p:spPr>
            <a:xfrm>
              <a:off x="571500" y="2476500"/>
              <a:ext cx="8001000" cy="2286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4" name="Google Shape;1374;p90"/>
            <p:cNvSpPr txBox="1"/>
            <p:nvPr/>
          </p:nvSpPr>
          <p:spPr>
            <a:xfrm>
              <a:off x="571500" y="2476500"/>
              <a:ext cx="8001000" cy="2286000"/>
            </a:xfrm>
            <a:prstGeom prst="rect">
              <a:avLst/>
            </a:prstGeom>
            <a:solidFill>
              <a:srgbClr val="000000">
                <a:alpha val="0"/>
              </a:srgbClr>
            </a:solidFill>
            <a:ln>
              <a:noFill/>
            </a:ln>
          </p:spPr>
          <p:txBody>
            <a:bodyPr anchorCtr="0" anchor="t" bIns="190500" lIns="228600" spcFirstLastPara="1" rIns="228600" wrap="square" tIns="190500">
              <a:noAutofit/>
            </a:bodyPr>
            <a:lstStyle/>
            <a:p>
              <a:pPr indent="0" lvl="0" marL="0" rtl="0" algn="l">
                <a:spcBef>
                  <a:spcPts val="0"/>
                </a:spcBef>
                <a:spcAft>
                  <a:spcPts val="0"/>
                </a:spcAft>
                <a:buNone/>
              </a:pPr>
              <a:r>
                <a:rPr b="0" lang="zh-TW" sz="2000">
                  <a:solidFill>
                    <a:srgbClr val="3B82F6"/>
                  </a:solidFill>
                  <a:latin typeface="Material Icons"/>
                  <a:ea typeface="Material Icons"/>
                  <a:cs typeface="Material Icons"/>
                  <a:sym typeface="Material Icons"/>
                </a:rPr>
                <a:t>navigation</a:t>
              </a:r>
              <a:r>
                <a:rPr b="1" lang="zh-TW" sz="1300">
                  <a:solidFill>
                    <a:srgbClr val="1E293B"/>
                  </a:solidFill>
                  <a:latin typeface="Inter"/>
                  <a:ea typeface="Inter"/>
                  <a:cs typeface="Inter"/>
                  <a:sym typeface="Inter"/>
                </a:rPr>
                <a:t> 卡爾曼濾波機制 </a:t>
              </a:r>
              <a:r>
                <a:rPr b="1" lang="zh-TW" sz="950">
                  <a:solidFill>
                    <a:srgbClr val="3B82F6"/>
                  </a:solidFill>
                  <a:latin typeface="Inter"/>
                  <a:ea typeface="Inter"/>
                  <a:cs typeface="Inter"/>
                  <a:sym typeface="Inter"/>
                </a:rPr>
                <a:t>LOW-COST PHYSICAL INERTIAL NAVIGATION</a:t>
              </a:r>
              <a:endParaRPr b="0" sz="2000">
                <a:solidFill>
                  <a:srgbClr val="3B82F6"/>
                </a:solidFill>
                <a:latin typeface="Material Icons"/>
                <a:ea typeface="Material Icons"/>
                <a:cs typeface="Material Icons"/>
                <a:sym typeface="Material Icons"/>
              </a:endParaRPr>
            </a:p>
            <a:p>
              <a:pPr indent="0" lvl="0" marL="0" rtl="0" algn="l">
                <a:spcBef>
                  <a:spcPts val="1050"/>
                </a:spcBef>
                <a:spcAft>
                  <a:spcPts val="0"/>
                </a:spcAft>
                <a:buNone/>
              </a:pPr>
              <a:r>
                <a:rPr b="1" lang="zh-TW" sz="1100">
                  <a:solidFill>
                    <a:srgbClr val="1E293B"/>
                  </a:solidFill>
                  <a:latin typeface="Inter"/>
                  <a:ea typeface="Inter"/>
                  <a:cs typeface="Inter"/>
                  <a:sym typeface="Inter"/>
                </a:rPr>
                <a:t>階段一：運動學狀態轉移 (State Matrix)</a:t>
              </a:r>
              <a:endParaRPr b="1" sz="1100">
                <a:solidFill>
                  <a:srgbClr val="1E293B"/>
                </a:solidFill>
                <a:latin typeface="Inter"/>
                <a:ea typeface="Inter"/>
                <a:cs typeface="Inter"/>
                <a:sym typeface="Inter"/>
              </a:endParaRPr>
            </a:p>
            <a:p>
              <a:pPr indent="0" lvl="0" marL="0" rtl="0" algn="l">
                <a:spcBef>
                  <a:spcPts val="300"/>
                </a:spcBef>
                <a:spcAft>
                  <a:spcPts val="0"/>
                </a:spcAft>
                <a:buNone/>
              </a:pPr>
              <a:r>
                <a:rPr b="0" lang="zh-TW" sz="1000">
                  <a:solidFill>
                    <a:srgbClr val="475569"/>
                  </a:solidFill>
                  <a:latin typeface="Inter"/>
                  <a:ea typeface="Inter"/>
                  <a:cs typeface="Inter"/>
                  <a:sym typeface="Inter"/>
                </a:rPr>
                <a:t>將位置與速度封裝為                            ，當預測出羽球座標時，執行狀態更新（Measurement Update）修正向量。</a:t>
              </a:r>
              <a:endParaRPr b="0" sz="1000">
                <a:solidFill>
                  <a:srgbClr val="475569"/>
                </a:solidFill>
                <a:latin typeface="Inter"/>
                <a:ea typeface="Inter"/>
                <a:cs typeface="Inter"/>
                <a:sym typeface="Inter"/>
              </a:endParaRPr>
            </a:p>
            <a:p>
              <a:pPr indent="0" lvl="0" marL="0" rtl="0" algn="l">
                <a:spcBef>
                  <a:spcPts val="1050"/>
                </a:spcBef>
                <a:spcAft>
                  <a:spcPts val="0"/>
                </a:spcAft>
                <a:buNone/>
              </a:pPr>
              <a:r>
                <a:rPr b="1" lang="zh-TW" sz="1100">
                  <a:solidFill>
                    <a:srgbClr val="1E293B"/>
                  </a:solidFill>
                  <a:latin typeface="Inter"/>
                  <a:ea typeface="Inter"/>
                  <a:cs typeface="Inter"/>
                  <a:sym typeface="Inter"/>
                </a:rPr>
                <a:t>階段二：動態視窗預測 (Active Prediction)</a:t>
              </a:r>
              <a:endParaRPr b="1" sz="1100">
                <a:solidFill>
                  <a:srgbClr val="1E293B"/>
                </a:solidFill>
                <a:latin typeface="Inter"/>
                <a:ea typeface="Inter"/>
                <a:cs typeface="Inter"/>
                <a:sym typeface="Inter"/>
              </a:endParaRPr>
            </a:p>
            <a:p>
              <a:pPr indent="0" lvl="0" marL="0" rtl="0" algn="l">
                <a:spcBef>
                  <a:spcPts val="300"/>
                </a:spcBef>
                <a:spcAft>
                  <a:spcPts val="0"/>
                </a:spcAft>
                <a:buNone/>
              </a:pPr>
              <a:r>
                <a:rPr b="0" lang="zh-TW" sz="1000">
                  <a:solidFill>
                    <a:srgbClr val="475569"/>
                  </a:solidFill>
                  <a:latin typeface="Inter"/>
                  <a:ea typeface="Inter"/>
                  <a:cs typeface="Inter"/>
                  <a:sym typeface="Inter"/>
                </a:rPr>
                <a:t>在讀取下一影格前，利用速度向量物理外推，提前將 128×128 局部裁切視窗中心對準預測座標                。</a:t>
              </a:r>
              <a:endParaRPr b="0" sz="1000">
                <a:solidFill>
                  <a:srgbClr val="475569"/>
                </a:solidFill>
                <a:latin typeface="Inter"/>
                <a:ea typeface="Inter"/>
                <a:cs typeface="Inter"/>
                <a:sym typeface="Inter"/>
              </a:endParaRPr>
            </a:p>
            <a:p>
              <a:pPr indent="0" lvl="0" marL="0" rtl="0" algn="l">
                <a:spcBef>
                  <a:spcPts val="0"/>
                </a:spcBef>
                <a:spcAft>
                  <a:spcPts val="0"/>
                </a:spcAft>
                <a:buNone/>
              </a:pPr>
              <a:r>
                <a:rPr lang="zh-TW" sz="1000">
                  <a:solidFill>
                    <a:srgbClr val="475569"/>
                  </a:solidFill>
                  <a:latin typeface="Inter"/>
                  <a:ea typeface="Inter"/>
                  <a:cs typeface="Inter"/>
                  <a:sym typeface="Inter"/>
                </a:rPr>
                <a:t>如果連續丟失</a:t>
              </a:r>
              <a:r>
                <a:rPr b="1" lang="zh-TW" sz="1000">
                  <a:solidFill>
                    <a:srgbClr val="475569"/>
                  </a:solidFill>
                  <a:latin typeface="Inter"/>
                  <a:ea typeface="Inter"/>
                  <a:cs typeface="Inter"/>
                  <a:sym typeface="Inter"/>
                </a:rPr>
                <a:t>三次</a:t>
              </a:r>
              <a:r>
                <a:rPr lang="zh-TW" sz="1000">
                  <a:solidFill>
                    <a:srgbClr val="475569"/>
                  </a:solidFill>
                  <a:latin typeface="Inter"/>
                  <a:ea typeface="Inter"/>
                  <a:cs typeface="Inter"/>
                  <a:sym typeface="Inter"/>
                </a:rPr>
                <a:t>，才真正啟動全域搜尋機制</a:t>
              </a:r>
              <a:endParaRPr sz="1000">
                <a:solidFill>
                  <a:srgbClr val="475569"/>
                </a:solidFill>
                <a:latin typeface="Inter"/>
                <a:ea typeface="Inter"/>
                <a:cs typeface="Inter"/>
                <a:sym typeface="Inter"/>
              </a:endParaRPr>
            </a:p>
          </p:txBody>
        </p:sp>
      </p:grpSp>
      <p:pic>
        <p:nvPicPr>
          <p:cNvPr id="1375" name="Google Shape;1375;p90"/>
          <p:cNvPicPr preferRelativeResize="0"/>
          <p:nvPr/>
        </p:nvPicPr>
        <p:blipFill>
          <a:blip r:embed="rId3">
            <a:alphaModFix/>
          </a:blip>
          <a:stretch>
            <a:fillRect/>
          </a:stretch>
        </p:blipFill>
        <p:spPr>
          <a:xfrm>
            <a:off x="2008653" y="3286162"/>
            <a:ext cx="916247" cy="188925"/>
          </a:xfrm>
          <a:prstGeom prst="rect">
            <a:avLst/>
          </a:prstGeom>
          <a:noFill/>
          <a:ln>
            <a:noFill/>
          </a:ln>
        </p:spPr>
      </p:pic>
      <p:pic>
        <p:nvPicPr>
          <p:cNvPr id="1376" name="Google Shape;1376;p90"/>
          <p:cNvPicPr preferRelativeResize="0"/>
          <p:nvPr/>
        </p:nvPicPr>
        <p:blipFill>
          <a:blip r:embed="rId4">
            <a:alphaModFix/>
          </a:blip>
          <a:stretch>
            <a:fillRect/>
          </a:stretch>
        </p:blipFill>
        <p:spPr>
          <a:xfrm>
            <a:off x="6149223" y="3771125"/>
            <a:ext cx="485350" cy="1889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grpSp>
        <p:nvGrpSpPr>
          <p:cNvPr id="1381" name="Google Shape;1381;p91"/>
          <p:cNvGrpSpPr/>
          <p:nvPr/>
        </p:nvGrpSpPr>
        <p:grpSpPr>
          <a:xfrm>
            <a:off x="-476250" y="-857250"/>
            <a:ext cx="10477500" cy="6381750"/>
            <a:chOff x="-476250" y="-857250"/>
            <a:chExt cx="10477500" cy="6381750"/>
          </a:xfrm>
        </p:grpSpPr>
        <p:sp>
          <p:nvSpPr>
            <p:cNvPr id="1382" name="Google Shape;1382;p9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3" name="Google Shape;1383;p9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4" name="Google Shape;1384;p9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5" name="Google Shape;1385;p91"/>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86" name="Google Shape;1386;p91"/>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000">
                <a:solidFill>
                  <a:srgbClr val="1E293B"/>
                </a:solidFill>
                <a:latin typeface="Inter"/>
                <a:ea typeface="Inter"/>
                <a:cs typeface="Inter"/>
                <a:sym typeface="Inter"/>
              </a:rPr>
              <a:t>視野狹隘導致之出框 </a:t>
            </a:r>
            <a:r>
              <a:rPr b="0" lang="zh-TW" sz="1800">
                <a:solidFill>
                  <a:srgbClr val="3B82F6"/>
                </a:solidFill>
                <a:latin typeface="Inter"/>
                <a:ea typeface="Inter"/>
                <a:cs typeface="Inter"/>
                <a:sym typeface="Inter"/>
              </a:rPr>
              <a:t>(雙尺寸輸入之記憶體碎片化)</a:t>
            </a:r>
            <a:endParaRPr b="1" sz="3000">
              <a:solidFill>
                <a:srgbClr val="1E293B"/>
              </a:solidFill>
              <a:latin typeface="Inter"/>
              <a:ea typeface="Inter"/>
              <a:cs typeface="Inter"/>
              <a:sym typeface="Inter"/>
            </a:endParaRPr>
          </a:p>
        </p:txBody>
      </p:sp>
      <p:sp>
        <p:nvSpPr>
          <p:cNvPr id="1387" name="Google Shape;1387;p91"/>
          <p:cNvSpPr txBox="1"/>
          <p:nvPr/>
        </p:nvSpPr>
        <p:spPr>
          <a:xfrm>
            <a:off x="571500" y="1190625"/>
            <a:ext cx="80010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zh-TW" sz="1100">
                <a:solidFill>
                  <a:srgbClr val="475569"/>
                </a:solidFill>
                <a:latin typeface="Inter"/>
                <a:ea typeface="Inter"/>
                <a:cs typeface="Inter"/>
                <a:sym typeface="Inter"/>
              </a:rPr>
              <a:t>儘管卡爾曼物理預測機制已大幅降低全域搜索的觸發頻率，然而在 Runtime 運行環境 (TensorRT / CUDA) 之底層維度上，</a:t>
            </a:r>
            <a:endParaRPr b="0" sz="1100">
              <a:solidFill>
                <a:srgbClr val="475569"/>
              </a:solidFill>
              <a:latin typeface="Inter"/>
              <a:ea typeface="Inter"/>
              <a:cs typeface="Inter"/>
              <a:sym typeface="Inter"/>
            </a:endParaRPr>
          </a:p>
          <a:p>
            <a:pPr indent="0" lvl="0" marL="0" rtl="0" algn="l">
              <a:spcBef>
                <a:spcPts val="300"/>
              </a:spcBef>
              <a:spcAft>
                <a:spcPts val="0"/>
              </a:spcAft>
              <a:buNone/>
            </a:pPr>
            <a:r>
              <a:rPr b="0" lang="zh-TW" sz="1100">
                <a:solidFill>
                  <a:srgbClr val="475569"/>
                </a:solidFill>
                <a:latin typeface="Inter"/>
                <a:ea typeface="Inter"/>
                <a:cs typeface="Inter"/>
                <a:sym typeface="Inter"/>
              </a:rPr>
              <a:t>「雙尺寸張量切換」依然存在著一項直接影響系統即時性的硬體級瓶頸：</a:t>
            </a:r>
            <a:r>
              <a:rPr b="1" lang="zh-TW" sz="1100">
                <a:solidFill>
                  <a:srgbClr val="EF4444"/>
                </a:solidFill>
                <a:latin typeface="Inter"/>
                <a:ea typeface="Inter"/>
                <a:cs typeface="Inter"/>
                <a:sym typeface="Inter"/>
              </a:rPr>
              <a:t>動態記憶體分配延遲 </a:t>
            </a:r>
            <a:r>
              <a:rPr b="0" lang="zh-TW" sz="1100">
                <a:solidFill>
                  <a:srgbClr val="475569"/>
                </a:solidFill>
                <a:latin typeface="Inter"/>
                <a:ea typeface="Inter"/>
                <a:cs typeface="Inter"/>
                <a:sym typeface="Inter"/>
              </a:rPr>
              <a:t>。</a:t>
            </a:r>
            <a:endParaRPr b="0" sz="1100">
              <a:solidFill>
                <a:srgbClr val="475569"/>
              </a:solidFill>
              <a:latin typeface="Inter"/>
              <a:ea typeface="Inter"/>
              <a:cs typeface="Inter"/>
              <a:sym typeface="Inter"/>
            </a:endParaRPr>
          </a:p>
        </p:txBody>
      </p:sp>
      <p:grpSp>
        <p:nvGrpSpPr>
          <p:cNvPr id="1388" name="Google Shape;1388;p91"/>
          <p:cNvGrpSpPr/>
          <p:nvPr/>
        </p:nvGrpSpPr>
        <p:grpSpPr>
          <a:xfrm>
            <a:off x="571500" y="3333750"/>
            <a:ext cx="8001000" cy="1428900"/>
            <a:chOff x="571500" y="3333750"/>
            <a:chExt cx="8001000" cy="1428900"/>
          </a:xfrm>
        </p:grpSpPr>
        <p:sp>
          <p:nvSpPr>
            <p:cNvPr id="1389" name="Google Shape;1389;p91"/>
            <p:cNvSpPr/>
            <p:nvPr/>
          </p:nvSpPr>
          <p:spPr>
            <a:xfrm>
              <a:off x="571500" y="3333750"/>
              <a:ext cx="80010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0" name="Google Shape;1390;p91"/>
            <p:cNvSpPr txBox="1"/>
            <p:nvPr/>
          </p:nvSpPr>
          <p:spPr>
            <a:xfrm>
              <a:off x="571500" y="3333750"/>
              <a:ext cx="8001000" cy="1428900"/>
            </a:xfrm>
            <a:prstGeom prst="rect">
              <a:avLst/>
            </a:prstGeom>
            <a:solidFill>
              <a:srgbClr val="000000">
                <a:alpha val="0"/>
              </a:srgbClr>
            </a:solidFill>
            <a:ln>
              <a:noFill/>
            </a:ln>
          </p:spPr>
          <p:txBody>
            <a:bodyPr anchorCtr="0" anchor="t" bIns="152400" lIns="228600" spcFirstLastPara="1" rIns="228600" wrap="square" tIns="152400">
              <a:noAutofit/>
            </a:bodyPr>
            <a:lstStyle/>
            <a:p>
              <a:pPr indent="0" lvl="0" marL="0" rtl="0" algn="l">
                <a:spcBef>
                  <a:spcPts val="0"/>
                </a:spcBef>
                <a:spcAft>
                  <a:spcPts val="0"/>
                </a:spcAft>
                <a:buNone/>
              </a:pPr>
              <a:r>
                <a:rPr b="0" i="0" lang="zh-TW" sz="1700">
                  <a:solidFill>
                    <a:srgbClr val="3B82F6"/>
                  </a:solidFill>
                  <a:latin typeface="Material Icons"/>
                  <a:ea typeface="Material Icons"/>
                  <a:cs typeface="Material Icons"/>
                  <a:sym typeface="Material Icons"/>
                </a:rPr>
                <a:t>memory</a:t>
              </a:r>
              <a:r>
                <a:rPr b="1" i="0" lang="zh-TW" sz="1105">
                  <a:solidFill>
                    <a:srgbClr val="1E293B"/>
                  </a:solidFill>
                  <a:latin typeface="Inter"/>
                  <a:ea typeface="Inter"/>
                  <a:cs typeface="Inter"/>
                  <a:sym typeface="Inter"/>
                </a:rPr>
                <a:t> 連續記憶體預分配 </a:t>
              </a:r>
              <a:r>
                <a:rPr b="1" i="0" lang="zh-TW" sz="808">
                  <a:solidFill>
                    <a:srgbClr val="3B82F6"/>
                  </a:solidFill>
                  <a:latin typeface="Inter"/>
                  <a:ea typeface="Inter"/>
                  <a:cs typeface="Inter"/>
                  <a:sym typeface="Inter"/>
                </a:rPr>
                <a:t>PRE-ALLOCATED CONTINUOUS MEMORY POOL</a:t>
              </a:r>
              <a:endParaRPr b="0" i="0" sz="1700">
                <a:solidFill>
                  <a:srgbClr val="3B82F6"/>
                </a:solidFill>
                <a:latin typeface="Material Icons"/>
                <a:ea typeface="Material Icons"/>
                <a:cs typeface="Material Icons"/>
                <a:sym typeface="Material Icons"/>
              </a:endParaRPr>
            </a:p>
            <a:p>
              <a:pPr indent="-336550" lvl="0" marL="457200" rtl="0" algn="l">
                <a:spcBef>
                  <a:spcPts val="400"/>
                </a:spcBef>
                <a:spcAft>
                  <a:spcPts val="0"/>
                </a:spcAft>
                <a:buClr>
                  <a:srgbClr val="3B82F6"/>
                </a:buClr>
                <a:buSzPts val="1700"/>
                <a:buFont typeface="Material Icons"/>
                <a:buChar char="●"/>
              </a:pPr>
              <a:r>
                <a:rPr b="1" i="0" lang="zh-TW" sz="893">
                  <a:solidFill>
                    <a:srgbClr val="1E293B"/>
                  </a:solidFill>
                  <a:latin typeface="Inter"/>
                  <a:ea typeface="Inter"/>
                  <a:cs typeface="Inter"/>
                  <a:sym typeface="Inter"/>
                </a:rPr>
                <a:t>空間換取時間策略：</a:t>
              </a:r>
              <a:r>
                <a:rPr b="0" i="0" lang="zh-TW" sz="893">
                  <a:solidFill>
                    <a:srgbClr val="475569"/>
                  </a:solidFill>
                  <a:latin typeface="Inter"/>
                  <a:ea typeface="Inter"/>
                  <a:cs typeface="Inter"/>
                  <a:sym typeface="Inter"/>
                </a:rPr>
                <a:t>於 TRTWrapperDynamic 模組中，初始化即預先鎖定一塊維度對齊系統最大可能輸入 (512 x 288 x 9 通道) 的連續顯示記憶體。</a:t>
              </a:r>
              <a:endParaRPr b="0" i="0" sz="1700">
                <a:solidFill>
                  <a:srgbClr val="3B82F6"/>
                </a:solidFill>
                <a:latin typeface="Material Icons"/>
                <a:ea typeface="Material Icons"/>
                <a:cs typeface="Material Icons"/>
                <a:sym typeface="Material Icons"/>
              </a:endParaRPr>
            </a:p>
            <a:p>
              <a:pPr indent="-336550" lvl="0" marL="457200" rtl="0" algn="l">
                <a:spcBef>
                  <a:spcPts val="400"/>
                </a:spcBef>
                <a:spcAft>
                  <a:spcPts val="0"/>
                </a:spcAft>
                <a:buClr>
                  <a:srgbClr val="3B82F6"/>
                </a:buClr>
                <a:buSzPts val="1700"/>
                <a:buFont typeface="Material Icons"/>
                <a:buChar char="●"/>
              </a:pPr>
              <a:r>
                <a:rPr b="1" i="0" lang="zh-TW" sz="893">
                  <a:solidFill>
                    <a:srgbClr val="1E293B"/>
                  </a:solidFill>
                  <a:latin typeface="Inter"/>
                  <a:ea typeface="Inter"/>
                  <a:cs typeface="Inter"/>
                  <a:sym typeface="Inter"/>
                </a:rPr>
                <a:t>零分配區塊填補：</a:t>
              </a:r>
              <a:r>
                <a:rPr b="0" i="0" lang="zh-TW" sz="893">
                  <a:solidFill>
                    <a:srgbClr val="475569"/>
                  </a:solidFill>
                  <a:latin typeface="Inter"/>
                  <a:ea typeface="Inter"/>
                  <a:cs typeface="Inter"/>
                  <a:sym typeface="Inter"/>
                </a:rPr>
                <a:t>運行於 128 模式時不申請新空間，直接將張量填入該預配池之特定局部區域，其餘空間則透過指標位移 (Pointer Offset) 進行掩蔽。</a:t>
              </a:r>
              <a:endParaRPr b="0" i="0" sz="1700">
                <a:solidFill>
                  <a:srgbClr val="3B82F6"/>
                </a:solidFill>
                <a:latin typeface="Material Icons"/>
                <a:ea typeface="Material Icons"/>
                <a:cs typeface="Material Icons"/>
                <a:sym typeface="Material Icons"/>
              </a:endParaRPr>
            </a:p>
          </p:txBody>
        </p:sp>
      </p:grpSp>
      <p:grpSp>
        <p:nvGrpSpPr>
          <p:cNvPr id="1391" name="Google Shape;1391;p91"/>
          <p:cNvGrpSpPr/>
          <p:nvPr/>
        </p:nvGrpSpPr>
        <p:grpSpPr>
          <a:xfrm>
            <a:off x="571500" y="1809750"/>
            <a:ext cx="8001000" cy="1381200"/>
            <a:chOff x="571500" y="1809750"/>
            <a:chExt cx="8001000" cy="1381200"/>
          </a:xfrm>
        </p:grpSpPr>
        <p:sp>
          <p:nvSpPr>
            <p:cNvPr id="1392" name="Google Shape;1392;p91"/>
            <p:cNvSpPr/>
            <p:nvPr/>
          </p:nvSpPr>
          <p:spPr>
            <a:xfrm>
              <a:off x="571500" y="1809750"/>
              <a:ext cx="8001000" cy="1381200"/>
            </a:xfrm>
            <a:prstGeom prst="roundRect">
              <a:avLst>
                <a:gd fmla="val 82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3" name="Google Shape;1393;p91"/>
            <p:cNvSpPr txBox="1"/>
            <p:nvPr/>
          </p:nvSpPr>
          <p:spPr>
            <a:xfrm>
              <a:off x="571500" y="1809750"/>
              <a:ext cx="8001000" cy="1381200"/>
            </a:xfrm>
            <a:prstGeom prst="rect">
              <a:avLst/>
            </a:prstGeom>
            <a:solidFill>
              <a:srgbClr val="000000">
                <a:alpha val="0"/>
              </a:srgbClr>
            </a:solidFill>
            <a:ln>
              <a:noFill/>
            </a:ln>
          </p:spPr>
          <p:txBody>
            <a:bodyPr anchorCtr="0" anchor="t" bIns="152400" lIns="228600" spcFirstLastPara="1" rIns="228600" wrap="square" tIns="152400">
              <a:noAutofit/>
            </a:bodyPr>
            <a:lstStyle/>
            <a:p>
              <a:pPr indent="0" lvl="0" marL="0" rtl="0" algn="l">
                <a:spcBef>
                  <a:spcPts val="0"/>
                </a:spcBef>
                <a:spcAft>
                  <a:spcPts val="0"/>
                </a:spcAft>
                <a:buNone/>
              </a:pPr>
              <a:r>
                <a:rPr b="0" i="0" lang="zh-TW" sz="1850">
                  <a:solidFill>
                    <a:srgbClr val="EF4444"/>
                  </a:solidFill>
                  <a:latin typeface="Material Icons"/>
                  <a:ea typeface="Material Icons"/>
                  <a:cs typeface="Material Icons"/>
                  <a:sym typeface="Material Icons"/>
                </a:rPr>
                <a:t>report_problem</a:t>
              </a:r>
              <a:r>
                <a:rPr b="1" i="0" lang="zh-TW" sz="1203">
                  <a:solidFill>
                    <a:srgbClr val="1E293B"/>
                  </a:solidFill>
                  <a:latin typeface="Inter"/>
                  <a:ea typeface="Inter"/>
                  <a:cs typeface="Inter"/>
                  <a:sym typeface="Inter"/>
                </a:rPr>
                <a:t> 張量維度變更 </a:t>
              </a:r>
              <a:r>
                <a:rPr b="1" i="0" lang="zh-TW" sz="879">
                  <a:solidFill>
                    <a:srgbClr val="EF4444"/>
                  </a:solidFill>
                  <a:latin typeface="Inter"/>
                  <a:ea typeface="Inter"/>
                  <a:cs typeface="Inter"/>
                  <a:sym typeface="Inter"/>
                </a:rPr>
                <a:t>DYNAMIC ALLOCATION OVERHEAD</a:t>
              </a:r>
              <a:endParaRPr b="0" i="0" sz="1850">
                <a:solidFill>
                  <a:srgbClr val="EF4444"/>
                </a:solidFill>
                <a:latin typeface="Material Icons"/>
                <a:ea typeface="Material Icons"/>
                <a:cs typeface="Material Icons"/>
                <a:sym typeface="Material Icons"/>
              </a:endParaRPr>
            </a:p>
            <a:p>
              <a:pPr indent="-346075" lvl="0" marL="457200" rtl="0" algn="l">
                <a:spcBef>
                  <a:spcPts val="400"/>
                </a:spcBef>
                <a:spcAft>
                  <a:spcPts val="0"/>
                </a:spcAft>
                <a:buClr>
                  <a:srgbClr val="EF4444"/>
                </a:buClr>
                <a:buSzPts val="1850"/>
                <a:buFont typeface="Material Icons"/>
                <a:buChar char="●"/>
              </a:pPr>
              <a:r>
                <a:rPr b="1" i="0" lang="zh-TW" sz="971">
                  <a:solidFill>
                    <a:srgbClr val="1E293B"/>
                  </a:solidFill>
                  <a:latin typeface="Inter"/>
                  <a:ea typeface="Inter"/>
                  <a:cs typeface="Inter"/>
                  <a:sym typeface="Inter"/>
                </a:rPr>
                <a:t>硬體重新分配開銷極高：</a:t>
              </a:r>
              <a:r>
                <a:rPr b="0" i="0" lang="zh-TW" sz="971">
                  <a:solidFill>
                    <a:srgbClr val="475569"/>
                  </a:solidFill>
                  <a:latin typeface="Inter"/>
                  <a:ea typeface="Inter"/>
                  <a:cs typeface="Inter"/>
                  <a:sym typeface="Inter"/>
                </a:rPr>
                <a:t>由 128 × 128 局部視窗切換至 512 × 288 全圖視野時，引擎必須調用 CUDA API (如 cudaMalloc 與 cudaFree) 重新申請記憶體空間。</a:t>
              </a:r>
              <a:endParaRPr b="0" i="0" sz="1850">
                <a:solidFill>
                  <a:srgbClr val="EF4444"/>
                </a:solidFill>
                <a:latin typeface="Material Icons"/>
                <a:ea typeface="Material Icons"/>
                <a:cs typeface="Material Icons"/>
                <a:sym typeface="Material Icons"/>
              </a:endParaRPr>
            </a:p>
            <a:p>
              <a:pPr indent="-346075" lvl="0" marL="457200" rtl="0" algn="l">
                <a:spcBef>
                  <a:spcPts val="400"/>
                </a:spcBef>
                <a:spcAft>
                  <a:spcPts val="0"/>
                </a:spcAft>
                <a:buClr>
                  <a:srgbClr val="EF4444"/>
                </a:buClr>
                <a:buSzPts val="1850"/>
                <a:buFont typeface="Material Icons"/>
                <a:buChar char="●"/>
              </a:pPr>
              <a:r>
                <a:rPr b="1" i="0" lang="zh-TW" sz="971">
                  <a:solidFill>
                    <a:srgbClr val="1E293B"/>
                  </a:solidFill>
                  <a:latin typeface="Inter"/>
                  <a:ea typeface="Inter"/>
                  <a:cs typeface="Inter"/>
                  <a:sym typeface="Inter"/>
                </a:rPr>
                <a:t>GPU 指令串流阻塞：</a:t>
              </a:r>
              <a:r>
                <a:rPr b="0" i="0" lang="zh-TW" sz="971">
                  <a:solidFill>
                    <a:srgbClr val="475569"/>
                  </a:solidFill>
                  <a:latin typeface="Inter"/>
                  <a:ea typeface="Inter"/>
                  <a:cs typeface="Inter"/>
                  <a:sym typeface="Inter"/>
                </a:rPr>
                <a:t>在 NVIDIA Jetson Nano 等資源有限平台，會造成 CUDA Streams 同步等待，引發數十毫秒的</a:t>
              </a:r>
              <a:r>
                <a:rPr b="1" i="0" lang="zh-TW" sz="971">
                  <a:solidFill>
                    <a:srgbClr val="EF4444"/>
                  </a:solidFill>
                  <a:latin typeface="Inter"/>
                  <a:ea typeface="Inter"/>
                  <a:cs typeface="Inter"/>
                  <a:sym typeface="Inter"/>
                </a:rPr>
                <a:t>非預期延遲</a:t>
              </a:r>
              <a:r>
                <a:rPr b="0" i="0" lang="zh-TW" sz="971">
                  <a:solidFill>
                    <a:srgbClr val="475569"/>
                  </a:solidFill>
                  <a:latin typeface="Inter"/>
                  <a:ea typeface="Inter"/>
                  <a:cs typeface="Inter"/>
                  <a:sym typeface="Inter"/>
                </a:rPr>
                <a:t>。</a:t>
              </a:r>
              <a:endParaRPr b="0" i="0" sz="1850">
                <a:solidFill>
                  <a:srgbClr val="EF4444"/>
                </a:solidFill>
                <a:latin typeface="Material Icons"/>
                <a:ea typeface="Material Icons"/>
                <a:cs typeface="Material Icons"/>
                <a:sym typeface="Material Icons"/>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7" name="Shape 1397"/>
        <p:cNvGrpSpPr/>
        <p:nvPr/>
      </p:nvGrpSpPr>
      <p:grpSpPr>
        <a:xfrm>
          <a:off x="0" y="0"/>
          <a:ext cx="0" cy="0"/>
          <a:chOff x="0" y="0"/>
          <a:chExt cx="0" cy="0"/>
        </a:xfrm>
      </p:grpSpPr>
      <p:grpSp>
        <p:nvGrpSpPr>
          <p:cNvPr id="1398" name="Google Shape;1398;p92"/>
          <p:cNvGrpSpPr/>
          <p:nvPr/>
        </p:nvGrpSpPr>
        <p:grpSpPr>
          <a:xfrm>
            <a:off x="-476250" y="-857250"/>
            <a:ext cx="10477500" cy="6381750"/>
            <a:chOff x="-476250" y="-857250"/>
            <a:chExt cx="10477500" cy="6381750"/>
          </a:xfrm>
        </p:grpSpPr>
        <p:sp>
          <p:nvSpPr>
            <p:cNvPr id="1399" name="Google Shape;1399;p9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0" name="Google Shape;1400;p9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1" name="Google Shape;1401;p9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02" name="Google Shape;1402;p92"/>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無狀態偵測之雜訊綁架</a:t>
            </a:r>
            <a:r>
              <a:rPr b="1" lang="zh-TW" sz="4400">
                <a:solidFill>
                  <a:srgbClr val="1E293B"/>
                </a:solidFill>
                <a:latin typeface="Oswald"/>
                <a:ea typeface="Oswald"/>
                <a:cs typeface="Oswald"/>
                <a:sym typeface="Oswald"/>
              </a:rPr>
              <a:t>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Stateless Noise Hijacking</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1403" name="Google Shape;1403;p92"/>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grpSp>
        <p:nvGrpSpPr>
          <p:cNvPr id="1408" name="Google Shape;1408;p93"/>
          <p:cNvGrpSpPr/>
          <p:nvPr/>
        </p:nvGrpSpPr>
        <p:grpSpPr>
          <a:xfrm>
            <a:off x="-476250" y="-857250"/>
            <a:ext cx="10477500" cy="6381750"/>
            <a:chOff x="-476250" y="-857250"/>
            <a:chExt cx="10477500" cy="6381750"/>
          </a:xfrm>
        </p:grpSpPr>
        <p:sp>
          <p:nvSpPr>
            <p:cNvPr id="1409" name="Google Shape;1409;p9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0" name="Google Shape;1410;p9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1" name="Google Shape;1411;p9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2" name="Google Shape;1412;p93"/>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13" name="Google Shape;1413;p93"/>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缺乏如TracknetN4內的attention機制，無法有效過濾雜訊</a:t>
            </a:r>
            <a:endParaRPr b="1" sz="2400">
              <a:solidFill>
                <a:srgbClr val="1E293B"/>
              </a:solidFill>
              <a:latin typeface="Inter"/>
              <a:ea typeface="Inter"/>
              <a:cs typeface="Inter"/>
              <a:sym typeface="Inter"/>
            </a:endParaRPr>
          </a:p>
          <a:p>
            <a:pPr indent="0" lvl="0" marL="0" rtl="0" algn="l">
              <a:spcBef>
                <a:spcPts val="225"/>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pic>
        <p:nvPicPr>
          <p:cNvPr id="1414" name="Google Shape;1414;p93" title="Stateless Noise Hijacking.mp4">
            <a:hlinkClick r:id="rId3"/>
          </p:cNvPr>
          <p:cNvPicPr preferRelativeResize="0"/>
          <p:nvPr/>
        </p:nvPicPr>
        <p:blipFill>
          <a:blip r:embed="rId4">
            <a:alphaModFix/>
          </a:blip>
          <a:stretch>
            <a:fillRect/>
          </a:stretch>
        </p:blipFill>
        <p:spPr>
          <a:xfrm>
            <a:off x="1452200" y="1231750"/>
            <a:ext cx="6620602" cy="37240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8" name="Shape 1418"/>
        <p:cNvGrpSpPr/>
        <p:nvPr/>
      </p:nvGrpSpPr>
      <p:grpSpPr>
        <a:xfrm>
          <a:off x="0" y="0"/>
          <a:ext cx="0" cy="0"/>
          <a:chOff x="0" y="0"/>
          <a:chExt cx="0" cy="0"/>
        </a:xfrm>
      </p:grpSpPr>
      <p:grpSp>
        <p:nvGrpSpPr>
          <p:cNvPr id="1419" name="Google Shape;1419;p94"/>
          <p:cNvGrpSpPr/>
          <p:nvPr/>
        </p:nvGrpSpPr>
        <p:grpSpPr>
          <a:xfrm>
            <a:off x="-476250" y="-857250"/>
            <a:ext cx="10477500" cy="6381750"/>
            <a:chOff x="-476250" y="-857250"/>
            <a:chExt cx="10477500" cy="6381750"/>
          </a:xfrm>
        </p:grpSpPr>
        <p:sp>
          <p:nvSpPr>
            <p:cNvPr id="1420" name="Google Shape;1420;p9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1" name="Google Shape;1421;p9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2" name="Google Shape;1422;p9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3" name="Google Shape;1423;p94"/>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24" name="Google Shape;1424;p94"/>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000">
                <a:solidFill>
                  <a:srgbClr val="1E293B"/>
                </a:solidFill>
                <a:latin typeface="Inter"/>
                <a:ea typeface="Inter"/>
                <a:cs typeface="Inter"/>
                <a:sym typeface="Inter"/>
              </a:rPr>
              <a:t>雜訊綁架 </a:t>
            </a:r>
            <a:r>
              <a:rPr b="0" lang="zh-TW" sz="1800">
                <a:solidFill>
                  <a:srgbClr val="3B82F6"/>
                </a:solidFill>
                <a:latin typeface="Inter"/>
                <a:ea typeface="Inter"/>
                <a:cs typeface="Inter"/>
                <a:sym typeface="Inter"/>
              </a:rPr>
              <a:t>(時空遮罩防禦機制)</a:t>
            </a:r>
            <a:endParaRPr b="1" sz="3000">
              <a:solidFill>
                <a:srgbClr val="1E293B"/>
              </a:solidFill>
              <a:latin typeface="Inter"/>
              <a:ea typeface="Inter"/>
              <a:cs typeface="Inter"/>
              <a:sym typeface="Inter"/>
            </a:endParaRPr>
          </a:p>
        </p:txBody>
      </p:sp>
      <p:sp>
        <p:nvSpPr>
          <p:cNvPr id="1425" name="Google Shape;1425;p94"/>
          <p:cNvSpPr txBox="1"/>
          <p:nvPr/>
        </p:nvSpPr>
        <p:spPr>
          <a:xfrm>
            <a:off x="571500" y="1190625"/>
            <a:ext cx="80010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zh-TW" sz="1050">
                <a:solidFill>
                  <a:srgbClr val="475569"/>
                </a:solidFill>
                <a:latin typeface="Inter"/>
                <a:ea typeface="Inter"/>
                <a:cs typeface="Inter"/>
                <a:sym typeface="Inter"/>
              </a:rPr>
              <a:t>為解決輕量化模型在邊緣端執行深層注意力抗噪算力不足的問題，本系統將背景過濾任務自神經網路剝離。</a:t>
            </a:r>
            <a:endParaRPr b="0" sz="1050">
              <a:solidFill>
                <a:srgbClr val="475569"/>
              </a:solidFill>
              <a:latin typeface="Inter"/>
              <a:ea typeface="Inter"/>
              <a:cs typeface="Inter"/>
              <a:sym typeface="Inter"/>
            </a:endParaRPr>
          </a:p>
          <a:p>
            <a:pPr indent="0" lvl="0" marL="0" rtl="0" algn="l">
              <a:spcBef>
                <a:spcPts val="300"/>
              </a:spcBef>
              <a:spcAft>
                <a:spcPts val="0"/>
              </a:spcAft>
              <a:buNone/>
            </a:pPr>
            <a:r>
              <a:rPr b="0" lang="zh-TW" sz="1050">
                <a:solidFill>
                  <a:srgbClr val="475569"/>
                </a:solidFill>
                <a:latin typeface="Inter"/>
                <a:ea typeface="Inter"/>
                <a:cs typeface="Inter"/>
                <a:sym typeface="Inter"/>
              </a:rPr>
              <a:t>利用羽球「極高速移動」之物理特性，以極低算力的像素差分提出</a:t>
            </a:r>
            <a:r>
              <a:rPr b="1" lang="zh-TW" sz="1050">
                <a:solidFill>
                  <a:srgbClr val="475569"/>
                </a:solidFill>
                <a:latin typeface="Inter"/>
                <a:ea typeface="Inter"/>
                <a:cs typeface="Inter"/>
                <a:sym typeface="Inter"/>
              </a:rPr>
              <a:t>時空動態遮罩 (Spatiotemporal Motion Mask)</a:t>
            </a:r>
            <a:r>
              <a:rPr b="0" lang="zh-TW"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p:txBody>
      </p:sp>
      <p:grpSp>
        <p:nvGrpSpPr>
          <p:cNvPr id="1426" name="Google Shape;1426;p94"/>
          <p:cNvGrpSpPr/>
          <p:nvPr/>
        </p:nvGrpSpPr>
        <p:grpSpPr>
          <a:xfrm>
            <a:off x="571500" y="1381125"/>
            <a:ext cx="8001000" cy="3381450"/>
            <a:chOff x="571500" y="1381125"/>
            <a:chExt cx="8001000" cy="3381450"/>
          </a:xfrm>
        </p:grpSpPr>
        <p:sp>
          <p:nvSpPr>
            <p:cNvPr id="1427" name="Google Shape;1427;p94"/>
            <p:cNvSpPr/>
            <p:nvPr/>
          </p:nvSpPr>
          <p:spPr>
            <a:xfrm>
              <a:off x="571500" y="1381125"/>
              <a:ext cx="8001000" cy="1571700"/>
            </a:xfrm>
            <a:prstGeom prst="roundRect">
              <a:avLst>
                <a:gd fmla="val 727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8" name="Google Shape;1428;p94"/>
            <p:cNvSpPr/>
            <p:nvPr/>
          </p:nvSpPr>
          <p:spPr>
            <a:xfrm>
              <a:off x="714375" y="1524000"/>
              <a:ext cx="1905000" cy="1285800"/>
            </a:xfrm>
            <a:prstGeom prst="roundRect">
              <a:avLst>
                <a:gd fmla="val 5925" name="adj"/>
              </a:avLst>
            </a:prstGeom>
            <a:solidFill>
              <a:srgbClr val="F0F9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9" name="Google Shape;1429;p94"/>
            <p:cNvSpPr txBox="1"/>
            <p:nvPr/>
          </p:nvSpPr>
          <p:spPr>
            <a:xfrm>
              <a:off x="809625" y="1600200"/>
              <a:ext cx="1714500" cy="11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zh-TW" sz="2200">
                  <a:solidFill>
                    <a:srgbClr val="0284C7"/>
                  </a:solidFill>
                  <a:latin typeface="Material Icons"/>
                  <a:ea typeface="Material Icons"/>
                  <a:cs typeface="Material Icons"/>
                  <a:sym typeface="Material Icons"/>
                </a:rPr>
                <a:t>motion_photos_on</a:t>
              </a:r>
              <a:endParaRPr sz="2200">
                <a:solidFill>
                  <a:srgbClr val="0284C7"/>
                </a:solidFill>
                <a:latin typeface="Material Icons"/>
                <a:ea typeface="Material Icons"/>
                <a:cs typeface="Material Icons"/>
                <a:sym typeface="Material Icons"/>
              </a:endParaRPr>
            </a:p>
            <a:p>
              <a:pPr indent="0" lvl="0" marL="0" rtl="0" algn="l">
                <a:spcBef>
                  <a:spcPts val="300"/>
                </a:spcBef>
                <a:spcAft>
                  <a:spcPts val="0"/>
                </a:spcAft>
                <a:buNone/>
              </a:pPr>
              <a:r>
                <a:rPr b="1" lang="zh-TW" sz="1200">
                  <a:solidFill>
                    <a:srgbClr val="0F172A"/>
                  </a:solidFill>
                  <a:latin typeface="Inter"/>
                  <a:ea typeface="Inter"/>
                  <a:cs typeface="Inter"/>
                  <a:sym typeface="Inter"/>
                </a:rPr>
                <a:t>階段一：極低算力動態萃取</a:t>
              </a:r>
              <a:endParaRPr b="1" sz="1200">
                <a:solidFill>
                  <a:srgbClr val="0F172A"/>
                </a:solidFill>
                <a:latin typeface="Inter"/>
                <a:ea typeface="Inter"/>
                <a:cs typeface="Inter"/>
                <a:sym typeface="Inter"/>
              </a:endParaRPr>
            </a:p>
            <a:p>
              <a:pPr indent="0" lvl="0" marL="0" rtl="0" algn="l">
                <a:spcBef>
                  <a:spcPts val="150"/>
                </a:spcBef>
                <a:spcAft>
                  <a:spcPts val="0"/>
                </a:spcAft>
                <a:buNone/>
              </a:pPr>
              <a:r>
                <a:rPr b="1" lang="zh-TW" sz="800">
                  <a:solidFill>
                    <a:srgbClr val="0284C7"/>
                  </a:solidFill>
                  <a:latin typeface="Inter"/>
                  <a:ea typeface="Inter"/>
                  <a:cs typeface="Inter"/>
                  <a:sym typeface="Inter"/>
                </a:rPr>
                <a:t>MOTION FEATURE EXTRACTION</a:t>
              </a:r>
              <a:endParaRPr b="1" sz="800">
                <a:solidFill>
                  <a:srgbClr val="0284C7"/>
                </a:solidFill>
                <a:latin typeface="Inter"/>
                <a:ea typeface="Inter"/>
                <a:cs typeface="Inter"/>
                <a:sym typeface="Inter"/>
              </a:endParaRPr>
            </a:p>
          </p:txBody>
        </p:sp>
        <p:sp>
          <p:nvSpPr>
            <p:cNvPr id="1430" name="Google Shape;1430;p94"/>
            <p:cNvSpPr txBox="1"/>
            <p:nvPr/>
          </p:nvSpPr>
          <p:spPr>
            <a:xfrm>
              <a:off x="2809875" y="1476375"/>
              <a:ext cx="2524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000">
                  <a:solidFill>
                    <a:srgbClr val="1E293B"/>
                  </a:solidFill>
                  <a:latin typeface="Inter"/>
                  <a:ea typeface="Inter"/>
                  <a:cs typeface="Inter"/>
                  <a:sym typeface="Inter"/>
                </a:rPr>
                <a:t>絕對像素差分</a:t>
              </a:r>
              <a:endParaRPr b="1" sz="10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475569"/>
                  </a:solidFill>
                  <a:latin typeface="Inter"/>
                  <a:ea typeface="Inter"/>
                  <a:cs typeface="Inter"/>
                  <a:sym typeface="Inter"/>
                </a:rPr>
                <a:t>讀取連續兩影格灰階影像，計算差異矩陣：</a:t>
              </a:r>
              <a:endParaRPr b="0" sz="900">
                <a:solidFill>
                  <a:srgbClr val="475569"/>
                </a:solidFill>
                <a:latin typeface="Inter"/>
                <a:ea typeface="Inter"/>
                <a:cs typeface="Inter"/>
                <a:sym typeface="Inter"/>
              </a:endParaRPr>
            </a:p>
          </p:txBody>
        </p:sp>
        <p:pic>
          <p:nvPicPr>
            <p:cNvPr id="1431" name="Google Shape;1431;p94"/>
            <p:cNvPicPr preferRelativeResize="0"/>
            <p:nvPr/>
          </p:nvPicPr>
          <p:blipFill rotWithShape="1">
            <a:blip r:embed="rId4">
              <a:alphaModFix/>
            </a:blip>
            <a:srcRect b="0" l="20" r="20" t="0"/>
            <a:stretch/>
          </p:blipFill>
          <p:spPr>
            <a:xfrm>
              <a:off x="2809875" y="1885950"/>
              <a:ext cx="1619100" cy="292500"/>
            </a:xfrm>
            <a:prstGeom prst="rect">
              <a:avLst/>
            </a:prstGeom>
            <a:noFill/>
            <a:ln>
              <a:noFill/>
            </a:ln>
          </p:spPr>
        </p:pic>
        <p:sp>
          <p:nvSpPr>
            <p:cNvPr id="1432" name="Google Shape;1432;p94"/>
            <p:cNvSpPr txBox="1"/>
            <p:nvPr/>
          </p:nvSpPr>
          <p:spPr>
            <a:xfrm>
              <a:off x="5476875" y="1476375"/>
              <a:ext cx="29529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000">
                  <a:solidFill>
                    <a:srgbClr val="1E293B"/>
                  </a:solidFill>
                  <a:latin typeface="Inter"/>
                  <a:ea typeface="Inter"/>
                  <a:cs typeface="Inter"/>
                  <a:sym typeface="Inter"/>
                </a:rPr>
                <a:t>二值化閾值過濾</a:t>
              </a:r>
              <a:endParaRPr b="1" sz="10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475569"/>
                  </a:solidFill>
                  <a:latin typeface="Inter"/>
                  <a:ea typeface="Inter"/>
                  <a:cs typeface="Inter"/>
                  <a:sym typeface="Inter"/>
                </a:rPr>
                <a:t>藉由閾值 Tmask 過濾噪點，生成時空遮罩 Mt：</a:t>
              </a:r>
              <a:endParaRPr b="0" sz="900">
                <a:solidFill>
                  <a:srgbClr val="475569"/>
                </a:solidFill>
                <a:latin typeface="Inter"/>
                <a:ea typeface="Inter"/>
                <a:cs typeface="Inter"/>
                <a:sym typeface="Inter"/>
              </a:endParaRPr>
            </a:p>
          </p:txBody>
        </p:sp>
        <p:pic>
          <p:nvPicPr>
            <p:cNvPr id="1433" name="Google Shape;1433;p94"/>
            <p:cNvPicPr preferRelativeResize="0"/>
            <p:nvPr/>
          </p:nvPicPr>
          <p:blipFill rotWithShape="1">
            <a:blip r:embed="rId5">
              <a:alphaModFix/>
            </a:blip>
            <a:srcRect b="40" l="0" r="0" t="30"/>
            <a:stretch/>
          </p:blipFill>
          <p:spPr>
            <a:xfrm>
              <a:off x="5476875" y="1885950"/>
              <a:ext cx="1714500" cy="356100"/>
            </a:xfrm>
            <a:prstGeom prst="rect">
              <a:avLst/>
            </a:prstGeom>
            <a:noFill/>
            <a:ln>
              <a:noFill/>
            </a:ln>
          </p:spPr>
        </p:pic>
        <p:sp>
          <p:nvSpPr>
            <p:cNvPr id="1434" name="Google Shape;1434;p94"/>
            <p:cNvSpPr txBox="1"/>
            <p:nvPr/>
          </p:nvSpPr>
          <p:spPr>
            <a:xfrm>
              <a:off x="2809875" y="2400300"/>
              <a:ext cx="56199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950">
                  <a:solidFill>
                    <a:srgbClr val="1E293B"/>
                  </a:solidFill>
                  <a:latin typeface="Inter"/>
                  <a:ea typeface="Inter"/>
                  <a:cs typeface="Inter"/>
                  <a:sym typeface="Inter"/>
                </a:rPr>
                <a:t>極低運算複雜度：</a:t>
              </a:r>
              <a:r>
                <a:rPr b="0" lang="zh-TW" sz="950">
                  <a:solidFill>
                    <a:srgbClr val="475569"/>
                  </a:solidFill>
                  <a:latin typeface="Inter"/>
                  <a:ea typeface="Inter"/>
                  <a:cs typeface="Inter"/>
                  <a:sym typeface="Inter"/>
                </a:rPr>
                <a:t>O(N) 像素級運算，在 Jetson Nano 上耗時趨近於 0 毫秒。</a:t>
              </a:r>
              <a:endParaRPr b="1" sz="950">
                <a:solidFill>
                  <a:srgbClr val="1E293B"/>
                </a:solidFill>
                <a:latin typeface="Inter"/>
                <a:ea typeface="Inter"/>
                <a:cs typeface="Inter"/>
                <a:sym typeface="Inter"/>
              </a:endParaRPr>
            </a:p>
          </p:txBody>
        </p:sp>
        <p:sp>
          <p:nvSpPr>
            <p:cNvPr id="1435" name="Google Shape;1435;p94"/>
            <p:cNvSpPr/>
            <p:nvPr/>
          </p:nvSpPr>
          <p:spPr>
            <a:xfrm>
              <a:off x="1619250" y="2809875"/>
              <a:ext cx="95400" cy="362100"/>
            </a:xfrm>
            <a:custGeom>
              <a:rect b="b" l="l" r="r" t="t"/>
              <a:pathLst>
                <a:path extrusionOk="0" h="120000" w="120000">
                  <a:moveTo>
                    <a:pt x="60000" y="0"/>
                  </a:moveTo>
                  <a:lnTo>
                    <a:pt x="60000" y="120000"/>
                  </a:lnTo>
                  <a:moveTo>
                    <a:pt x="0" y="101053"/>
                  </a:moveTo>
                  <a:lnTo>
                    <a:pt x="60000" y="120000"/>
                  </a:lnTo>
                  <a:lnTo>
                    <a:pt x="120000" y="101053"/>
                  </a:lnTo>
                </a:path>
              </a:pathLst>
            </a:custGeom>
            <a:solidFill>
              <a:srgbClr val="000000">
                <a:alpha val="0"/>
              </a:srgbClr>
            </a:solidFill>
            <a:ln cap="rnd"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6" name="Google Shape;1436;p94"/>
            <p:cNvSpPr/>
            <p:nvPr/>
          </p:nvSpPr>
          <p:spPr>
            <a:xfrm>
              <a:off x="571500" y="3190875"/>
              <a:ext cx="8001000" cy="1571700"/>
            </a:xfrm>
            <a:prstGeom prst="roundRect">
              <a:avLst>
                <a:gd fmla="val 727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7" name="Google Shape;1437;p94"/>
            <p:cNvSpPr/>
            <p:nvPr/>
          </p:nvSpPr>
          <p:spPr>
            <a:xfrm>
              <a:off x="714375" y="3333750"/>
              <a:ext cx="1905000" cy="1285800"/>
            </a:xfrm>
            <a:prstGeom prst="roundRect">
              <a:avLst>
                <a:gd fmla="val 5925"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8" name="Google Shape;1438;p94"/>
            <p:cNvSpPr txBox="1"/>
            <p:nvPr/>
          </p:nvSpPr>
          <p:spPr>
            <a:xfrm>
              <a:off x="809625" y="3409950"/>
              <a:ext cx="1714500" cy="11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zh-TW" sz="2200">
                  <a:solidFill>
                    <a:srgbClr val="16A34A"/>
                  </a:solidFill>
                  <a:latin typeface="Material Icons"/>
                  <a:ea typeface="Material Icons"/>
                  <a:cs typeface="Material Icons"/>
                  <a:sym typeface="Material Icons"/>
                </a:rPr>
                <a:t>shield</a:t>
              </a:r>
              <a:endParaRPr sz="2200">
                <a:solidFill>
                  <a:srgbClr val="16A34A"/>
                </a:solidFill>
                <a:latin typeface="Material Icons"/>
                <a:ea typeface="Material Icons"/>
                <a:cs typeface="Material Icons"/>
                <a:sym typeface="Material Icons"/>
              </a:endParaRPr>
            </a:p>
            <a:p>
              <a:pPr indent="0" lvl="0" marL="0" rtl="0" algn="l">
                <a:spcBef>
                  <a:spcPts val="300"/>
                </a:spcBef>
                <a:spcAft>
                  <a:spcPts val="0"/>
                </a:spcAft>
                <a:buNone/>
              </a:pPr>
              <a:r>
                <a:rPr b="1" lang="zh-TW" sz="1200">
                  <a:solidFill>
                    <a:srgbClr val="0F172A"/>
                  </a:solidFill>
                  <a:latin typeface="Inter"/>
                  <a:ea typeface="Inter"/>
                  <a:cs typeface="Inter"/>
                  <a:sym typeface="Inter"/>
                </a:rPr>
                <a:t>階段二：物理強制歸零防禦</a:t>
              </a:r>
              <a:endParaRPr b="1" sz="1200">
                <a:solidFill>
                  <a:srgbClr val="0F172A"/>
                </a:solidFill>
                <a:latin typeface="Inter"/>
                <a:ea typeface="Inter"/>
                <a:cs typeface="Inter"/>
                <a:sym typeface="Inter"/>
              </a:endParaRPr>
            </a:p>
            <a:p>
              <a:pPr indent="0" lvl="0" marL="0" rtl="0" algn="l">
                <a:spcBef>
                  <a:spcPts val="150"/>
                </a:spcBef>
                <a:spcAft>
                  <a:spcPts val="0"/>
                </a:spcAft>
                <a:buNone/>
              </a:pPr>
              <a:r>
                <a:rPr b="1" lang="zh-TW" sz="800">
                  <a:solidFill>
                    <a:srgbClr val="16A34A"/>
                  </a:solidFill>
                  <a:latin typeface="Inter"/>
                  <a:ea typeface="Inter"/>
                  <a:cs typeface="Inter"/>
                  <a:sym typeface="Inter"/>
                </a:rPr>
                <a:t>PHYSICAL MASKING DEFENSE</a:t>
              </a:r>
              <a:endParaRPr b="1" sz="800">
                <a:solidFill>
                  <a:srgbClr val="16A34A"/>
                </a:solidFill>
                <a:latin typeface="Inter"/>
                <a:ea typeface="Inter"/>
                <a:cs typeface="Inter"/>
                <a:sym typeface="Inter"/>
              </a:endParaRPr>
            </a:p>
          </p:txBody>
        </p:sp>
        <p:sp>
          <p:nvSpPr>
            <p:cNvPr id="1439" name="Google Shape;1439;p94"/>
            <p:cNvSpPr txBox="1"/>
            <p:nvPr/>
          </p:nvSpPr>
          <p:spPr>
            <a:xfrm>
              <a:off x="2809875" y="3286125"/>
              <a:ext cx="2524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925">
                  <a:solidFill>
                    <a:srgbClr val="1E293B"/>
                  </a:solidFill>
                  <a:latin typeface="Inter"/>
                  <a:ea typeface="Inter"/>
                  <a:cs typeface="Inter"/>
                  <a:sym typeface="Inter"/>
                </a:rPr>
                <a:t>哈達瑪積修正</a:t>
              </a:r>
              <a:endParaRPr b="1" sz="925">
                <a:solidFill>
                  <a:srgbClr val="1E293B"/>
                </a:solidFill>
                <a:latin typeface="Inter"/>
                <a:ea typeface="Inter"/>
                <a:cs typeface="Inter"/>
                <a:sym typeface="Inter"/>
              </a:endParaRPr>
            </a:p>
            <a:p>
              <a:pPr indent="0" lvl="0" marL="0" rtl="0" algn="l">
                <a:spcBef>
                  <a:spcPts val="0"/>
                </a:spcBef>
                <a:spcAft>
                  <a:spcPts val="0"/>
                </a:spcAft>
                <a:buNone/>
              </a:pPr>
              <a:r>
                <a:rPr b="0" lang="zh-TW" sz="833">
                  <a:solidFill>
                    <a:srgbClr val="475569"/>
                  </a:solidFill>
                  <a:latin typeface="Inter"/>
                  <a:ea typeface="Inter"/>
                  <a:cs typeface="Inter"/>
                  <a:sym typeface="Inter"/>
                </a:rPr>
                <a:t>將預測熱力圖 Ht 與動態遮罩 Mt 執行元素級相乘，修正輸出：</a:t>
              </a:r>
              <a:endParaRPr b="0" sz="833">
                <a:solidFill>
                  <a:srgbClr val="475569"/>
                </a:solidFill>
                <a:latin typeface="Inter"/>
                <a:ea typeface="Inter"/>
                <a:cs typeface="Inter"/>
                <a:sym typeface="Inter"/>
              </a:endParaRPr>
            </a:p>
          </p:txBody>
        </p:sp>
        <p:pic>
          <p:nvPicPr>
            <p:cNvPr id="1440" name="Google Shape;1440;p94"/>
            <p:cNvPicPr preferRelativeResize="0"/>
            <p:nvPr/>
          </p:nvPicPr>
          <p:blipFill rotWithShape="1">
            <a:blip r:embed="rId6">
              <a:alphaModFix/>
            </a:blip>
            <a:srcRect b="110" l="0" r="0" t="120"/>
            <a:stretch/>
          </p:blipFill>
          <p:spPr>
            <a:xfrm>
              <a:off x="2809875" y="3714750"/>
              <a:ext cx="857400" cy="266700"/>
            </a:xfrm>
            <a:prstGeom prst="rect">
              <a:avLst/>
            </a:prstGeom>
            <a:noFill/>
            <a:ln>
              <a:noFill/>
            </a:ln>
          </p:spPr>
        </p:pic>
        <p:sp>
          <p:nvSpPr>
            <p:cNvPr id="1441" name="Google Shape;1441;p94"/>
            <p:cNvSpPr txBox="1"/>
            <p:nvPr/>
          </p:nvSpPr>
          <p:spPr>
            <a:xfrm>
              <a:off x="5476875" y="3286125"/>
              <a:ext cx="29529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zh-TW" sz="1000">
                  <a:solidFill>
                    <a:srgbClr val="1E293B"/>
                  </a:solidFill>
                  <a:latin typeface="Inter"/>
                  <a:ea typeface="Inter"/>
                  <a:cs typeface="Inter"/>
                  <a:sym typeface="Inter"/>
                </a:rPr>
                <a:t>抑制靜態干擾</a:t>
              </a:r>
              <a:endParaRPr b="1" sz="1000">
                <a:solidFill>
                  <a:srgbClr val="1E293B"/>
                </a:solidFill>
                <a:latin typeface="Inter"/>
                <a:ea typeface="Inter"/>
                <a:cs typeface="Inter"/>
                <a:sym typeface="Inter"/>
              </a:endParaRPr>
            </a:p>
            <a:p>
              <a:pPr indent="0" lvl="0" marL="0" rtl="0" algn="l">
                <a:spcBef>
                  <a:spcPts val="0"/>
                </a:spcBef>
                <a:spcAft>
                  <a:spcPts val="0"/>
                </a:spcAft>
                <a:buNone/>
              </a:pPr>
              <a:r>
                <a:rPr b="0" lang="zh-TW" sz="900">
                  <a:solidFill>
                    <a:srgbClr val="475569"/>
                  </a:solidFill>
                  <a:latin typeface="Inter"/>
                  <a:ea typeface="Inter"/>
                  <a:cs typeface="Inter"/>
                  <a:sym typeface="Inter"/>
                </a:rPr>
                <a:t>防止模型受到靜態白線、高對比廣告牌、緩慢移動球員等高信心度偽陽性干擾。</a:t>
              </a:r>
              <a:endParaRPr b="0" sz="900">
                <a:solidFill>
                  <a:srgbClr val="475569"/>
                </a:solidFill>
                <a:latin typeface="Inter"/>
                <a:ea typeface="Inter"/>
                <a:cs typeface="Inter"/>
                <a:sym typeface="Inter"/>
              </a:endParaRPr>
            </a:p>
          </p:txBody>
        </p:sp>
        <p:sp>
          <p:nvSpPr>
            <p:cNvPr id="1442" name="Google Shape;1442;p94"/>
            <p:cNvSpPr txBox="1"/>
            <p:nvPr/>
          </p:nvSpPr>
          <p:spPr>
            <a:xfrm>
              <a:off x="2809875" y="4210050"/>
              <a:ext cx="56199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950">
                  <a:solidFill>
                    <a:srgbClr val="EF4444"/>
                  </a:solidFill>
                  <a:latin typeface="Inter"/>
                  <a:ea typeface="Inter"/>
                  <a:cs typeface="Inter"/>
                  <a:sym typeface="Inter"/>
                </a:rPr>
                <a:t>物理性強制歸零：</a:t>
              </a:r>
              <a:r>
                <a:rPr b="0" lang="zh-TW" sz="950">
                  <a:solidFill>
                    <a:srgbClr val="475569"/>
                  </a:solidFill>
                  <a:latin typeface="Inter"/>
                  <a:ea typeface="Inter"/>
                  <a:cs typeface="Inter"/>
                  <a:sym typeface="Inter"/>
                </a:rPr>
                <a:t>若影格變化量未跨越閾值（遮罩值為 0），最終信心度在數學上強制歸零！</a:t>
              </a:r>
              <a:endParaRPr b="1" sz="950">
                <a:solidFill>
                  <a:srgbClr val="EF4444"/>
                </a:solidFill>
                <a:latin typeface="Inter"/>
                <a:ea typeface="Inter"/>
                <a:cs typeface="Inter"/>
                <a:sym typeface="Inter"/>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grpSp>
        <p:nvGrpSpPr>
          <p:cNvPr id="1447" name="Google Shape;1447;p95"/>
          <p:cNvGrpSpPr/>
          <p:nvPr/>
        </p:nvGrpSpPr>
        <p:grpSpPr>
          <a:xfrm>
            <a:off x="-476250" y="-857250"/>
            <a:ext cx="10477500" cy="6381750"/>
            <a:chOff x="-476250" y="-857250"/>
            <a:chExt cx="10477500" cy="6381750"/>
          </a:xfrm>
        </p:grpSpPr>
        <p:sp>
          <p:nvSpPr>
            <p:cNvPr id="1448" name="Google Shape;1448;p9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9" name="Google Shape;1449;p9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0" name="Google Shape;1450;p9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1" name="Google Shape;1451;p95"/>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52" name="Google Shape;1452;p95"/>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Nano端測試 realtime mode (雙引擎混合 MiniROI )</a:t>
            </a:r>
            <a:endParaRPr b="1" sz="2400">
              <a:solidFill>
                <a:srgbClr val="1E293B"/>
              </a:solidFill>
              <a:latin typeface="Inter"/>
              <a:ea typeface="Inter"/>
              <a:cs typeface="Inter"/>
              <a:sym typeface="Inter"/>
            </a:endParaRPr>
          </a:p>
          <a:p>
            <a:pPr indent="0" lvl="0" marL="0" rtl="0" algn="l">
              <a:spcBef>
                <a:spcPts val="225"/>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pic>
        <p:nvPicPr>
          <p:cNvPr id="1453" name="Google Shape;1453;p95" title="student_realtime_nano (4).mp4">
            <a:hlinkClick r:id="rId3"/>
          </p:cNvPr>
          <p:cNvPicPr preferRelativeResize="0"/>
          <p:nvPr/>
        </p:nvPicPr>
        <p:blipFill>
          <a:blip r:embed="rId4">
            <a:alphaModFix/>
          </a:blip>
          <a:stretch>
            <a:fillRect/>
          </a:stretch>
        </p:blipFill>
        <p:spPr>
          <a:xfrm>
            <a:off x="1256600" y="1272175"/>
            <a:ext cx="6630800" cy="3729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3"/>
                                        </p:tgtEl>
                                        <p:attrNameLst>
                                          <p:attrName>style.visibility</p:attrName>
                                        </p:attrNameLst>
                                      </p:cBhvr>
                                      <p:to>
                                        <p:strVal val="visible"/>
                                      </p:to>
                                    </p:set>
                                    <p:animEffect filter="fade" transition="in">
                                      <p:cBhvr>
                                        <p:cTn dur="1000"/>
                                        <p:tgtEl>
                                          <p:spTgt spid="1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7" name="Shape 1457"/>
        <p:cNvGrpSpPr/>
        <p:nvPr/>
      </p:nvGrpSpPr>
      <p:grpSpPr>
        <a:xfrm>
          <a:off x="0" y="0"/>
          <a:ext cx="0" cy="0"/>
          <a:chOff x="0" y="0"/>
          <a:chExt cx="0" cy="0"/>
        </a:xfrm>
      </p:grpSpPr>
      <p:grpSp>
        <p:nvGrpSpPr>
          <p:cNvPr id="1458" name="Google Shape;1458;p96"/>
          <p:cNvGrpSpPr/>
          <p:nvPr/>
        </p:nvGrpSpPr>
        <p:grpSpPr>
          <a:xfrm>
            <a:off x="-476250" y="-857250"/>
            <a:ext cx="10477500" cy="6381750"/>
            <a:chOff x="-476250" y="-857250"/>
            <a:chExt cx="10477500" cy="6381750"/>
          </a:xfrm>
        </p:grpSpPr>
        <p:sp>
          <p:nvSpPr>
            <p:cNvPr id="1459" name="Google Shape;1459;p9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0" name="Google Shape;1460;p9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1" name="Google Shape;1461;p9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62" name="Google Shape;1462;p96"/>
          <p:cNvSpPr txBox="1"/>
          <p:nvPr>
            <p:ph type="title"/>
          </p:nvPr>
        </p:nvSpPr>
        <p:spPr>
          <a:xfrm>
            <a:off x="571500" y="1714500"/>
            <a:ext cx="80010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zh-TW" sz="4400">
                <a:solidFill>
                  <a:srgbClr val="1E293B"/>
                </a:solidFill>
                <a:latin typeface="Oswald"/>
                <a:ea typeface="Oswald"/>
                <a:cs typeface="Oswald"/>
                <a:sym typeface="Oswald"/>
              </a:rPr>
              <a:t>ROI 大小選用 </a:t>
            </a:r>
            <a:endParaRPr b="1" sz="4400">
              <a:solidFill>
                <a:srgbClr val="1E293B"/>
              </a:solidFill>
              <a:latin typeface="Oswald"/>
              <a:ea typeface="Oswald"/>
              <a:cs typeface="Oswald"/>
              <a:sym typeface="Oswald"/>
            </a:endParaRPr>
          </a:p>
          <a:p>
            <a:pPr indent="0" lvl="0" marL="0" rtl="0" algn="ctr">
              <a:spcBef>
                <a:spcPts val="0"/>
              </a:spcBef>
              <a:spcAft>
                <a:spcPts val="0"/>
              </a:spcAft>
              <a:buNone/>
            </a:pPr>
            <a:r>
              <a:rPr b="0" lang="zh-TW" sz="2800">
                <a:solidFill>
                  <a:srgbClr val="3B82F6"/>
                </a:solidFill>
                <a:latin typeface="Inter"/>
                <a:ea typeface="Inter"/>
                <a:cs typeface="Inter"/>
                <a:sym typeface="Inter"/>
              </a:rPr>
              <a:t>(</a:t>
            </a:r>
            <a:r>
              <a:rPr lang="zh-TW" sz="2800">
                <a:solidFill>
                  <a:srgbClr val="3B82F6"/>
                </a:solidFill>
                <a:latin typeface="Inter"/>
                <a:ea typeface="Inter"/>
                <a:cs typeface="Inter"/>
                <a:sym typeface="Inter"/>
              </a:rPr>
              <a:t>Select the size of ROI </a:t>
            </a:r>
            <a:r>
              <a:rPr b="0" lang="zh-TW" sz="2800">
                <a:solidFill>
                  <a:srgbClr val="3B82F6"/>
                </a:solidFill>
                <a:latin typeface="Inter"/>
                <a:ea typeface="Inter"/>
                <a:cs typeface="Inter"/>
                <a:sym typeface="Inter"/>
              </a:rPr>
              <a:t>)</a:t>
            </a:r>
            <a:endParaRPr b="1" sz="4400">
              <a:solidFill>
                <a:srgbClr val="1E293B"/>
              </a:solidFill>
              <a:latin typeface="Oswald"/>
              <a:ea typeface="Oswald"/>
              <a:cs typeface="Oswald"/>
              <a:sym typeface="Oswald"/>
            </a:endParaRPr>
          </a:p>
        </p:txBody>
      </p:sp>
      <p:sp>
        <p:nvSpPr>
          <p:cNvPr id="1463" name="Google Shape;1463;p96"/>
          <p:cNvSpPr/>
          <p:nvPr/>
        </p:nvSpPr>
        <p:spPr>
          <a:xfrm>
            <a:off x="4191000" y="3095625"/>
            <a:ext cx="762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grpSp>
        <p:nvGrpSpPr>
          <p:cNvPr id="1468" name="Google Shape;1468;p97"/>
          <p:cNvGrpSpPr/>
          <p:nvPr/>
        </p:nvGrpSpPr>
        <p:grpSpPr>
          <a:xfrm>
            <a:off x="-476250" y="-857250"/>
            <a:ext cx="10477500" cy="6381750"/>
            <a:chOff x="-476250" y="-857250"/>
            <a:chExt cx="10477500" cy="6381750"/>
          </a:xfrm>
        </p:grpSpPr>
        <p:sp>
          <p:nvSpPr>
            <p:cNvPr id="1469" name="Google Shape;1469;p9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0" name="Google Shape;1470;p9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1" name="Google Shape;1471;p9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2" name="Google Shape;1472;p97"/>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73" name="Google Shape;1473;p97"/>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數據調整</a:t>
            </a:r>
            <a:endParaRPr b="1" sz="333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模型推論與動態遮罩超參數實驗設定</a:t>
            </a:r>
            <a:endParaRPr b="0" sz="1100">
              <a:solidFill>
                <a:srgbClr val="64748B"/>
              </a:solidFill>
              <a:latin typeface="Inter"/>
              <a:ea typeface="Inter"/>
              <a:cs typeface="Inter"/>
              <a:sym typeface="Inter"/>
            </a:endParaRPr>
          </a:p>
        </p:txBody>
      </p:sp>
      <p:sp>
        <p:nvSpPr>
          <p:cNvPr id="1474" name="Google Shape;1474;p97"/>
          <p:cNvSpPr txBox="1"/>
          <p:nvPr>
            <p:ph idx="1" type="body"/>
          </p:nvPr>
        </p:nvSpPr>
        <p:spPr>
          <a:xfrm>
            <a:off x="571500" y="1381125"/>
            <a:ext cx="40005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66700" lIns="266700" spcFirstLastPara="1" rIns="266700" wrap="square" tIns="266700">
            <a:normAutofit lnSpcReduction="10000"/>
          </a:bodyPr>
          <a:lstStyle/>
          <a:p>
            <a:pPr indent="0" lvl="0" marL="0" rtl="0" algn="l">
              <a:spcBef>
                <a:spcPts val="0"/>
              </a:spcBef>
              <a:spcAft>
                <a:spcPts val="0"/>
              </a:spcAft>
              <a:buNone/>
            </a:pPr>
            <a:r>
              <a:rPr b="1" lang="zh-TW" sz="1500">
                <a:solidFill>
                  <a:srgbClr val="3B82F6"/>
                </a:solidFill>
                <a:latin typeface="Material Icons"/>
                <a:ea typeface="Material Icons"/>
                <a:cs typeface="Material Icons"/>
                <a:sym typeface="Material Icons"/>
              </a:rPr>
              <a:t>tune</a:t>
            </a:r>
            <a:r>
              <a:rPr b="1" lang="zh-TW" sz="1300">
                <a:solidFill>
                  <a:srgbClr val="1E293B"/>
                </a:solidFill>
                <a:highlight>
                  <a:srgbClr val="F8FAFC"/>
                </a:highlight>
                <a:latin typeface="Inter"/>
                <a:ea typeface="Inter"/>
                <a:cs typeface="Inter"/>
                <a:sym typeface="Inter"/>
              </a:rPr>
              <a:t> 遮罩 Threshold</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0"/>
              </a:spcAft>
              <a:buNone/>
            </a:pPr>
            <a:r>
              <a:rPr b="1" lang="zh-TW" sz="1200">
                <a:solidFill>
                  <a:srgbClr val="2563EB"/>
                </a:solidFill>
                <a:latin typeface="Courier New"/>
                <a:ea typeface="Courier New"/>
                <a:cs typeface="Courier New"/>
                <a:sym typeface="Courier New"/>
              </a:rPr>
              <a:t>10,15</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20</a:t>
            </a:r>
            <a:endParaRPr sz="1200">
              <a:solidFill>
                <a:srgbClr val="0F172A"/>
              </a:solidFill>
              <a:highlight>
                <a:srgbClr val="E2E8F0"/>
              </a:highlight>
              <a:latin typeface="Courier New"/>
              <a:ea typeface="Courier New"/>
              <a:cs typeface="Courier New"/>
              <a:sym typeface="Courier New"/>
            </a:endParaRPr>
          </a:p>
          <a:p>
            <a:pPr indent="0" lvl="0" marL="0" rtl="0" algn="l">
              <a:spcBef>
                <a:spcPts val="1500"/>
              </a:spcBef>
              <a:spcAft>
                <a:spcPts val="0"/>
              </a:spcAft>
              <a:buNone/>
            </a:pPr>
            <a:r>
              <a:rPr b="1" lang="zh-TW" sz="1500">
                <a:solidFill>
                  <a:srgbClr val="3B82F6"/>
                </a:solidFill>
                <a:latin typeface="Material Icons"/>
                <a:ea typeface="Material Icons"/>
                <a:cs typeface="Material Icons"/>
                <a:sym typeface="Material Icons"/>
              </a:rPr>
              <a:t>center_focus_weak</a:t>
            </a:r>
            <a:r>
              <a:rPr b="1" lang="zh-TW" sz="1300">
                <a:solidFill>
                  <a:srgbClr val="1E293B"/>
                </a:solidFill>
                <a:highlight>
                  <a:srgbClr val="F8FAFC"/>
                </a:highlight>
                <a:latin typeface="Inter"/>
                <a:ea typeface="Inter"/>
                <a:cs typeface="Inter"/>
                <a:sym typeface="Inter"/>
              </a:rPr>
              <a:t> 區域推論信心度設置</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0"/>
              </a:spcAft>
              <a:buNone/>
            </a:pPr>
            <a:r>
              <a:rPr b="1" lang="zh-TW" sz="1200">
                <a:solidFill>
                  <a:srgbClr val="2563EB"/>
                </a:solidFill>
                <a:latin typeface="Courier New"/>
                <a:ea typeface="Courier New"/>
                <a:cs typeface="Courier New"/>
                <a:sym typeface="Courier New"/>
              </a:rPr>
              <a:t>0.45</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0.55</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0.65</a:t>
            </a:r>
            <a:endParaRPr sz="1200">
              <a:solidFill>
                <a:srgbClr val="0F172A"/>
              </a:solidFill>
              <a:highlight>
                <a:srgbClr val="E2E8F0"/>
              </a:highlight>
              <a:latin typeface="Courier New"/>
              <a:ea typeface="Courier New"/>
              <a:cs typeface="Courier New"/>
              <a:sym typeface="Courier New"/>
            </a:endParaRPr>
          </a:p>
          <a:p>
            <a:pPr indent="0" lvl="0" marL="0" rtl="0" algn="l">
              <a:spcBef>
                <a:spcPts val="1500"/>
              </a:spcBef>
              <a:spcAft>
                <a:spcPts val="0"/>
              </a:spcAft>
              <a:buNone/>
            </a:pPr>
            <a:r>
              <a:rPr b="1" lang="zh-TW" sz="1500">
                <a:solidFill>
                  <a:srgbClr val="3B82F6"/>
                </a:solidFill>
                <a:latin typeface="Material Icons"/>
                <a:ea typeface="Material Icons"/>
                <a:cs typeface="Material Icons"/>
                <a:sym typeface="Material Icons"/>
              </a:rPr>
              <a:t>public</a:t>
            </a:r>
            <a:r>
              <a:rPr b="1" lang="zh-TW" sz="1300">
                <a:solidFill>
                  <a:srgbClr val="1E293B"/>
                </a:solidFill>
                <a:highlight>
                  <a:srgbClr val="F8FAFC"/>
                </a:highlight>
                <a:latin typeface="Inter"/>
                <a:ea typeface="Inter"/>
                <a:cs typeface="Inter"/>
                <a:sym typeface="Inter"/>
              </a:rPr>
              <a:t> 全域推論信心度設置</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0"/>
              </a:spcAft>
              <a:buNone/>
            </a:pPr>
            <a:r>
              <a:rPr b="1" lang="zh-TW" sz="1200">
                <a:solidFill>
                  <a:srgbClr val="2563EB"/>
                </a:solidFill>
                <a:latin typeface="Courier New"/>
                <a:ea typeface="Courier New"/>
                <a:cs typeface="Courier New"/>
                <a:sym typeface="Courier New"/>
              </a:rPr>
              <a:t>0.55</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0.62</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0.70</a:t>
            </a:r>
            <a:endParaRPr sz="1200">
              <a:solidFill>
                <a:srgbClr val="0F172A"/>
              </a:solidFill>
              <a:highlight>
                <a:srgbClr val="E2E8F0"/>
              </a:highlight>
              <a:latin typeface="Courier New"/>
              <a:ea typeface="Courier New"/>
              <a:cs typeface="Courier New"/>
              <a:sym typeface="Courier New"/>
            </a:endParaRPr>
          </a:p>
          <a:p>
            <a:pPr indent="0" lvl="0" marL="0" rtl="0" algn="l">
              <a:spcBef>
                <a:spcPts val="1500"/>
              </a:spcBef>
              <a:spcAft>
                <a:spcPts val="0"/>
              </a:spcAft>
              <a:buNone/>
            </a:pPr>
            <a:r>
              <a:rPr b="1" lang="zh-TW" sz="1500">
                <a:solidFill>
                  <a:srgbClr val="3B82F6"/>
                </a:solidFill>
                <a:latin typeface="Material Icons"/>
                <a:ea typeface="Material Icons"/>
                <a:cs typeface="Material Icons"/>
                <a:sym typeface="Material Icons"/>
              </a:rPr>
              <a:t>trending_down</a:t>
            </a:r>
            <a:r>
              <a:rPr b="1" lang="zh-TW" sz="1300">
                <a:solidFill>
                  <a:srgbClr val="1E293B"/>
                </a:solidFill>
                <a:highlight>
                  <a:srgbClr val="F8FAFC"/>
                </a:highlight>
                <a:latin typeface="Inter"/>
                <a:ea typeface="Inter"/>
                <a:cs typeface="Inter"/>
                <a:sym typeface="Inter"/>
              </a:rPr>
              <a:t> 丟失 Derating</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1200"/>
              </a:spcAft>
              <a:buNone/>
            </a:pPr>
            <a:r>
              <a:rPr b="1" lang="zh-TW" sz="1200">
                <a:solidFill>
                  <a:srgbClr val="2563EB"/>
                </a:solidFill>
                <a:latin typeface="Courier New"/>
                <a:ea typeface="Courier New"/>
                <a:cs typeface="Courier New"/>
                <a:sym typeface="Courier New"/>
              </a:rPr>
              <a:t>1</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2</a:t>
            </a:r>
            <a:r>
              <a:rPr b="1" lang="zh-TW" sz="1200">
                <a:solidFill>
                  <a:srgbClr val="2563EB"/>
                </a:solidFill>
                <a:latin typeface="Courier New"/>
                <a:ea typeface="Courier New"/>
                <a:cs typeface="Courier New"/>
                <a:sym typeface="Courier New"/>
              </a:rPr>
              <a:t>,</a:t>
            </a:r>
            <a:r>
              <a:rPr b="1" lang="zh-TW" sz="1200">
                <a:solidFill>
                  <a:srgbClr val="2563EB"/>
                </a:solidFill>
                <a:latin typeface="Courier New"/>
                <a:ea typeface="Courier New"/>
                <a:cs typeface="Courier New"/>
                <a:sym typeface="Courier New"/>
              </a:rPr>
              <a:t>3</a:t>
            </a:r>
            <a:endParaRPr sz="1200">
              <a:solidFill>
                <a:srgbClr val="0F172A"/>
              </a:solidFill>
              <a:highlight>
                <a:srgbClr val="E2E8F0"/>
              </a:highlight>
              <a:latin typeface="Courier New"/>
              <a:ea typeface="Courier New"/>
              <a:cs typeface="Courier New"/>
              <a:sym typeface="Courier New"/>
            </a:endParaRPr>
          </a:p>
        </p:txBody>
      </p:sp>
      <p:sp>
        <p:nvSpPr>
          <p:cNvPr id="1475" name="Google Shape;1475;p97"/>
          <p:cNvSpPr txBox="1"/>
          <p:nvPr>
            <p:ph idx="1" type="body"/>
          </p:nvPr>
        </p:nvSpPr>
        <p:spPr>
          <a:xfrm>
            <a:off x="4612625" y="1381125"/>
            <a:ext cx="40005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66700" lIns="266700" spcFirstLastPara="1" rIns="266700" wrap="square" tIns="266700">
            <a:normAutofit/>
          </a:bodyPr>
          <a:lstStyle/>
          <a:p>
            <a:pPr indent="0" lvl="0" marL="0" rtl="0" algn="l">
              <a:spcBef>
                <a:spcPts val="0"/>
              </a:spcBef>
              <a:spcAft>
                <a:spcPts val="0"/>
              </a:spcAft>
              <a:buNone/>
            </a:pPr>
            <a:r>
              <a:rPr b="1" lang="zh-TW" sz="1500">
                <a:solidFill>
                  <a:srgbClr val="3B82F6"/>
                </a:solidFill>
                <a:latin typeface="Material Icons"/>
                <a:ea typeface="Material Icons"/>
                <a:cs typeface="Material Icons"/>
                <a:sym typeface="Material Icons"/>
              </a:rPr>
              <a:t>tune</a:t>
            </a:r>
            <a:r>
              <a:rPr b="1" lang="zh-TW" sz="1300">
                <a:solidFill>
                  <a:srgbClr val="1E293B"/>
                </a:solidFill>
                <a:highlight>
                  <a:srgbClr val="F8FAFC"/>
                </a:highlight>
                <a:latin typeface="Inter"/>
                <a:ea typeface="Inter"/>
                <a:cs typeface="Inter"/>
                <a:sym typeface="Inter"/>
              </a:rPr>
              <a:t>總共81組測試</a:t>
            </a:r>
            <a:endParaRPr b="1" sz="1300">
              <a:solidFill>
                <a:srgbClr val="1E293B"/>
              </a:solidFill>
              <a:highlight>
                <a:srgbClr val="F8FAFC"/>
              </a:highlight>
              <a:latin typeface="Inter"/>
              <a:ea typeface="Inter"/>
              <a:cs typeface="Inter"/>
              <a:sym typeface="Inter"/>
            </a:endParaRPr>
          </a:p>
          <a:p>
            <a:pPr indent="0" lvl="0" marL="0" rtl="0" algn="l">
              <a:spcBef>
                <a:spcPts val="750"/>
              </a:spcBef>
              <a:spcAft>
                <a:spcPts val="750"/>
              </a:spcAft>
              <a:buClr>
                <a:schemeClr val="dk1"/>
              </a:buClr>
              <a:buSzPts val="1100"/>
              <a:buFont typeface="Arial"/>
              <a:buNone/>
            </a:pPr>
            <a:r>
              <a:rPr b="1" lang="zh-TW" sz="1500">
                <a:solidFill>
                  <a:srgbClr val="3B82F6"/>
                </a:solidFill>
                <a:latin typeface="Material Icons"/>
                <a:ea typeface="Material Icons"/>
                <a:cs typeface="Material Icons"/>
                <a:sym typeface="Material Icons"/>
              </a:rPr>
              <a:t>center_focus_weak</a:t>
            </a:r>
            <a:r>
              <a:rPr b="1" lang="zh-TW" sz="1300">
                <a:solidFill>
                  <a:srgbClr val="1E293B"/>
                </a:solidFill>
                <a:highlight>
                  <a:srgbClr val="F8FAFC"/>
                </a:highlight>
                <a:latin typeface="Inter"/>
                <a:ea typeface="Inter"/>
                <a:cs typeface="Inter"/>
                <a:sym typeface="Inter"/>
              </a:rPr>
              <a:t> 23場測試影片,共147個影片片段</a:t>
            </a:r>
            <a:endParaRPr b="1" sz="1300">
              <a:solidFill>
                <a:srgbClr val="1E293B"/>
              </a:solidFill>
              <a:highlight>
                <a:srgbClr val="F8FAFC"/>
              </a:highlight>
              <a:latin typeface="Inter"/>
              <a:ea typeface="Inter"/>
              <a:cs typeface="Inter"/>
              <a:sym typeface="Inte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grpSp>
        <p:nvGrpSpPr>
          <p:cNvPr id="1480" name="Google Shape;1480;p98"/>
          <p:cNvGrpSpPr/>
          <p:nvPr/>
        </p:nvGrpSpPr>
        <p:grpSpPr>
          <a:xfrm>
            <a:off x="-476250" y="-857250"/>
            <a:ext cx="10477500" cy="6381750"/>
            <a:chOff x="-476250" y="-857250"/>
            <a:chExt cx="10477500" cy="6381750"/>
          </a:xfrm>
        </p:grpSpPr>
        <p:sp>
          <p:nvSpPr>
            <p:cNvPr id="1481" name="Google Shape;1481;p9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2" name="Google Shape;1482;p9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3" name="Google Shape;1483;p9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4" name="Google Shape;1484;p98"/>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85" name="Google Shape;1485;p98"/>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800">
                <a:solidFill>
                  <a:srgbClr val="1E293B"/>
                </a:solidFill>
                <a:latin typeface="Inter"/>
                <a:ea typeface="Inter"/>
                <a:cs typeface="Inter"/>
                <a:sym typeface="Inter"/>
              </a:rPr>
              <a:t>數據比較</a:t>
            </a:r>
            <a:endParaRPr b="1" sz="28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128x128 與 64x64 模型效能與改進幅度對照</a:t>
            </a:r>
            <a:endParaRPr b="0" sz="1100">
              <a:solidFill>
                <a:srgbClr val="64748B"/>
              </a:solidFill>
              <a:latin typeface="Inter"/>
              <a:ea typeface="Inter"/>
              <a:cs typeface="Inter"/>
              <a:sym typeface="Inter"/>
            </a:endParaRPr>
          </a:p>
        </p:txBody>
      </p:sp>
      <p:graphicFrame>
        <p:nvGraphicFramePr>
          <p:cNvPr id="1486" name="Google Shape;1486;p98"/>
          <p:cNvGraphicFramePr/>
          <p:nvPr/>
        </p:nvGraphicFramePr>
        <p:xfrm>
          <a:off x="571500" y="1243575"/>
          <a:ext cx="3000000" cy="3000000"/>
        </p:xfrm>
        <a:graphic>
          <a:graphicData uri="http://schemas.openxmlformats.org/drawingml/2006/table">
            <a:tbl>
              <a:tblPr>
                <a:noFill/>
                <a:tableStyleId>{711371B8-0F67-4F3D-9DD3-952783FBF680}</a:tableStyleId>
              </a:tblPr>
              <a:tblGrid>
                <a:gridCol w="2000250"/>
                <a:gridCol w="2000250"/>
                <a:gridCol w="2000250"/>
                <a:gridCol w="2000250"/>
              </a:tblGrid>
              <a:tr h="501900">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評估指標</a:t>
                      </a:r>
                      <a:endParaRPr b="1" sz="1100">
                        <a:solidFill>
                          <a:srgbClr val="475569"/>
                        </a:solidFill>
                        <a:latin typeface="Inter"/>
                        <a:ea typeface="Inter"/>
                        <a:cs typeface="Inter"/>
                        <a:sym typeface="Inter"/>
                      </a:endParaRPr>
                    </a:p>
                  </a:txBody>
                  <a:tcPr marT="95250" marB="95250" marR="114300" marL="114300"/>
                </a:tc>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128x128 最佳表現</a:t>
                      </a:r>
                      <a:endParaRPr b="1" sz="1100">
                        <a:solidFill>
                          <a:srgbClr val="475569"/>
                        </a:solidFill>
                        <a:latin typeface="Inter"/>
                        <a:ea typeface="Inter"/>
                        <a:cs typeface="Inter"/>
                        <a:sym typeface="Inter"/>
                      </a:endParaRPr>
                    </a:p>
                  </a:txBody>
                  <a:tcPr marT="95250" marB="95250" marR="114300" marL="114300"/>
                </a:tc>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64x64 最佳表現</a:t>
                      </a:r>
                      <a:endParaRPr b="1" sz="1100">
                        <a:solidFill>
                          <a:srgbClr val="475569"/>
                        </a:solidFill>
                        <a:latin typeface="Inter"/>
                        <a:ea typeface="Inter"/>
                        <a:cs typeface="Inter"/>
                        <a:sym typeface="Inter"/>
                      </a:endParaRPr>
                    </a:p>
                  </a:txBody>
                  <a:tcPr marT="95250" marB="95250" marR="114300" marL="114300"/>
                </a:tc>
                <a:tc>
                  <a:txBody>
                    <a:bodyPr/>
                    <a:lstStyle/>
                    <a:p>
                      <a:pPr indent="0" lvl="0" marL="0" rtl="0" algn="l">
                        <a:spcBef>
                          <a:spcPts val="0"/>
                        </a:spcBef>
                        <a:spcAft>
                          <a:spcPts val="0"/>
                        </a:spcAft>
                        <a:buNone/>
                      </a:pPr>
                      <a:r>
                        <a:rPr b="1" lang="zh-TW" sz="1100">
                          <a:solidFill>
                            <a:srgbClr val="475569"/>
                          </a:solidFill>
                          <a:latin typeface="Inter"/>
                          <a:ea typeface="Inter"/>
                          <a:cs typeface="Inter"/>
                          <a:sym typeface="Inter"/>
                        </a:rPr>
                        <a:t>64x64 改進幅度</a:t>
                      </a:r>
                      <a:endParaRPr b="1" sz="1100">
                        <a:solidFill>
                          <a:srgbClr val="475569"/>
                        </a:solidFill>
                        <a:latin typeface="Inter"/>
                        <a:ea typeface="Inter"/>
                        <a:cs typeface="Inter"/>
                        <a:sym typeface="Inter"/>
                      </a:endParaRPr>
                    </a:p>
                  </a:txBody>
                  <a:tcPr marT="95250" marB="95250" marR="114300" marL="114300"/>
                </a:tc>
              </a:tr>
              <a:tr h="75842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超參數組合</a:t>
                      </a:r>
                      <a:endParaRPr b="0" sz="1100">
                        <a:solidFill>
                          <a:srgbClr val="1E293B"/>
                        </a:solidFill>
                        <a:latin typeface="Inter SemiBold"/>
                        <a:ea typeface="Inter SemiBold"/>
                        <a:cs typeface="Inter SemiBold"/>
                        <a:sym typeface="Inter SemiBold"/>
                      </a:endParaRPr>
                    </a:p>
                    <a:p>
                      <a:pPr indent="0" lvl="0" marL="0" rtl="0" algn="l">
                        <a:spcBef>
                          <a:spcPts val="0"/>
                        </a:spcBef>
                        <a:spcAft>
                          <a:spcPts val="0"/>
                        </a:spcAft>
                        <a:buNone/>
                      </a:pPr>
                      <a:r>
                        <a:rPr lang="zh-TW" sz="1100">
                          <a:solidFill>
                            <a:srgbClr val="1E293B"/>
                          </a:solidFill>
                          <a:latin typeface="Inter SemiBold"/>
                          <a:ea typeface="Inter SemiBold"/>
                          <a:cs typeface="Inter SemiBold"/>
                          <a:sym typeface="Inter SemiBold"/>
                        </a:rPr>
                        <a:t>(遮罩/區域信心度/全域信心度/丟失 Derating)</a:t>
                      </a:r>
                      <a:endParaRPr sz="1100">
                        <a:solidFill>
                          <a:srgbClr val="1E293B"/>
                        </a:solidFill>
                        <a:latin typeface="Inter SemiBold"/>
                        <a:ea typeface="Inter SemiBold"/>
                        <a:cs typeface="Inter SemiBold"/>
                        <a:sym typeface="Inter SemiBold"/>
                      </a:endParaRPr>
                    </a:p>
                  </a:txBody>
                  <a:tcPr marT="95250" marB="95250" marR="114300" marL="114300">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50">
                          <a:solidFill>
                            <a:srgbClr val="334155"/>
                          </a:solidFill>
                          <a:latin typeface="Arial"/>
                          <a:ea typeface="Arial"/>
                          <a:cs typeface="Arial"/>
                          <a:sym typeface="Arial"/>
                        </a:rPr>
                        <a:t>10 / 0.55 / 0.55 / 3</a:t>
                      </a:r>
                      <a:endParaRPr sz="1050">
                        <a:solidFill>
                          <a:srgbClr val="334155"/>
                        </a:solidFill>
                        <a:latin typeface="Arial"/>
                        <a:ea typeface="Arial"/>
                        <a:cs typeface="Arial"/>
                        <a:sym typeface="Arial"/>
                      </a:endParaRPr>
                    </a:p>
                  </a:txBody>
                  <a:tcPr marT="95250" marB="95250" marR="114300" marL="114300">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50">
                          <a:solidFill>
                            <a:srgbClr val="334155"/>
                          </a:solidFill>
                          <a:latin typeface="Arial"/>
                          <a:ea typeface="Arial"/>
                          <a:cs typeface="Arial"/>
                          <a:sym typeface="Arial"/>
                        </a:rPr>
                        <a:t>10 / 0.55 / 0.55 / 3</a:t>
                      </a:r>
                      <a:endParaRPr sz="1050">
                        <a:solidFill>
                          <a:srgbClr val="334155"/>
                        </a:solidFill>
                        <a:latin typeface="Arial"/>
                        <a:ea typeface="Arial"/>
                        <a:cs typeface="Arial"/>
                        <a:sym typeface="Arial"/>
                      </a:endParaRPr>
                    </a:p>
                  </a:txBody>
                  <a:tcPr marT="95250" marB="95250" marR="114300" marL="114300">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0" lang="zh-TW" sz="1000">
                          <a:solidFill>
                            <a:srgbClr val="64748B"/>
                          </a:solidFill>
                          <a:latin typeface="Inter Medium"/>
                          <a:ea typeface="Inter Medium"/>
                          <a:cs typeface="Inter Medium"/>
                          <a:sym typeface="Inter Medium"/>
                        </a:rPr>
                        <a:t>相同條件</a:t>
                      </a:r>
                      <a:endParaRPr>
                        <a:latin typeface="Inter"/>
                        <a:ea typeface="Inter"/>
                        <a:cs typeface="Inter"/>
                        <a:sym typeface="Inter"/>
                      </a:endParaRPr>
                    </a:p>
                  </a:txBody>
                  <a:tcPr marT="95250" marB="95250" marR="114300" marL="114300">
                    <a:lnB cap="flat" cmpd="sng" w="9525">
                      <a:solidFill>
                        <a:srgbClr val="F1F5F9"/>
                      </a:solidFill>
                      <a:prstDash val="solid"/>
                      <a:round/>
                      <a:headEnd len="sm" w="sm" type="none"/>
                      <a:tailEnd len="sm" w="sm" type="none"/>
                    </a:lnB>
                  </a:tcPr>
                </a:tc>
              </a:tr>
              <a:tr h="501900">
                <a:tc>
                  <a:txBody>
                    <a:bodyPr/>
                    <a:lstStyle/>
                    <a:p>
                      <a:pPr indent="0" lvl="0" marL="0" rtl="0" algn="l">
                        <a:spcBef>
                          <a:spcPts val="0"/>
                        </a:spcBef>
                        <a:spcAft>
                          <a:spcPts val="0"/>
                        </a:spcAft>
                        <a:buNone/>
                      </a:pPr>
                      <a:r>
                        <a:rPr b="1" lang="zh-TW" sz="1100">
                          <a:solidFill>
                            <a:srgbClr val="0F172A"/>
                          </a:solidFill>
                          <a:latin typeface="Inter"/>
                          <a:ea typeface="Inter"/>
                          <a:cs typeface="Inter"/>
                          <a:sym typeface="Inter"/>
                        </a:rPr>
                        <a:t>平均 FPS</a:t>
                      </a:r>
                      <a:endParaRPr b="1" sz="1100">
                        <a:solidFill>
                          <a:srgbClr val="0F172A"/>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20.38</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200">
                          <a:solidFill>
                            <a:srgbClr val="166534"/>
                          </a:solidFill>
                          <a:latin typeface="Inter"/>
                          <a:ea typeface="Inter"/>
                          <a:cs typeface="Inter"/>
                          <a:sym typeface="Inter"/>
                        </a:rPr>
                        <a:t>30.62</a:t>
                      </a:r>
                      <a:endParaRPr b="1" sz="1200">
                        <a:solidFill>
                          <a:srgbClr val="166534"/>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050">
                          <a:solidFill>
                            <a:srgbClr val="15803D"/>
                          </a:solidFill>
                          <a:latin typeface="Inter"/>
                          <a:ea typeface="Inter"/>
                          <a:cs typeface="Inter"/>
                          <a:sym typeface="Inter"/>
                        </a:rPr>
                        <a:t>▲ 提升 +50.2%</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192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準確率 (Precision)</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87</a:t>
                      </a:r>
                      <a:r>
                        <a:rPr lang="zh-TW" sz="1100">
                          <a:solidFill>
                            <a:srgbClr val="475569"/>
                          </a:solidFill>
                          <a:latin typeface="Inter"/>
                          <a:ea typeface="Inter"/>
                          <a:cs typeface="Inter"/>
                          <a:sym typeface="Inter"/>
                        </a:rPr>
                        <a:t>.02%</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100">
                          <a:solidFill>
                            <a:srgbClr val="0F172A"/>
                          </a:solidFill>
                          <a:latin typeface="Inter"/>
                          <a:ea typeface="Inter"/>
                          <a:cs typeface="Inter"/>
                          <a:sym typeface="Inter"/>
                        </a:rPr>
                        <a:t>87</a:t>
                      </a:r>
                      <a:r>
                        <a:rPr b="1" lang="zh-TW" sz="1100">
                          <a:solidFill>
                            <a:srgbClr val="0F172A"/>
                          </a:solidFill>
                          <a:latin typeface="Inter"/>
                          <a:ea typeface="Inter"/>
                          <a:cs typeface="Inter"/>
                          <a:sym typeface="Inter"/>
                        </a:rPr>
                        <a:t>.87%</a:t>
                      </a:r>
                      <a:endParaRPr b="1" sz="1100">
                        <a:solidFill>
                          <a:srgbClr val="0F172A"/>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00">
                          <a:solidFill>
                            <a:srgbClr val="16A34A"/>
                          </a:solidFill>
                          <a:latin typeface="Inter SemiBold"/>
                          <a:ea typeface="Inter SemiBold"/>
                          <a:cs typeface="Inter SemiBold"/>
                          <a:sym typeface="Inter SemiBold"/>
                        </a:rPr>
                        <a:t>微幅</a:t>
                      </a:r>
                      <a:r>
                        <a:rPr b="0" lang="zh-TW" sz="1000">
                          <a:solidFill>
                            <a:srgbClr val="16A34A"/>
                          </a:solidFill>
                          <a:latin typeface="Inter SemiBold"/>
                          <a:ea typeface="Inter SemiBold"/>
                          <a:cs typeface="Inter SemiBold"/>
                          <a:sym typeface="Inter SemiBold"/>
                        </a:rPr>
                        <a:t>提升</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32950">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召回率 (Recall)</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67</a:t>
                      </a:r>
                      <a:r>
                        <a:rPr lang="zh-TW" sz="1100">
                          <a:solidFill>
                            <a:srgbClr val="475569"/>
                          </a:solidFill>
                          <a:latin typeface="Inter"/>
                          <a:ea typeface="Inter"/>
                          <a:cs typeface="Inter"/>
                          <a:sym typeface="Inter"/>
                        </a:rPr>
                        <a:t>.73%</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b="1" lang="zh-TW" sz="1100">
                          <a:solidFill>
                            <a:srgbClr val="0F172A"/>
                          </a:solidFill>
                          <a:latin typeface="Inter"/>
                          <a:ea typeface="Inter"/>
                          <a:cs typeface="Inter"/>
                          <a:sym typeface="Inter"/>
                        </a:rPr>
                        <a:t>67</a:t>
                      </a:r>
                      <a:r>
                        <a:rPr b="1" lang="zh-TW" sz="1100">
                          <a:solidFill>
                            <a:srgbClr val="0F172A"/>
                          </a:solidFill>
                          <a:latin typeface="Inter"/>
                          <a:ea typeface="Inter"/>
                          <a:cs typeface="Inter"/>
                          <a:sym typeface="Inter"/>
                        </a:rPr>
                        <a:t>.91%</a:t>
                      </a:r>
                      <a:endParaRPr b="1" sz="1100">
                        <a:solidFill>
                          <a:srgbClr val="0F172A"/>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zh-TW" sz="1000">
                          <a:solidFill>
                            <a:srgbClr val="16A34A"/>
                          </a:solidFill>
                          <a:latin typeface="Inter SemiBold"/>
                          <a:ea typeface="Inter SemiBold"/>
                          <a:cs typeface="Inter SemiBold"/>
                          <a:sym typeface="Inter SemiBold"/>
                        </a:rPr>
                        <a:t>微幅提升</a:t>
                      </a:r>
                      <a:endParaRPr>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rgbClr val="16A34A"/>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192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局部引擎佔比</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64.2%</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100">
                          <a:solidFill>
                            <a:srgbClr val="334155"/>
                          </a:solidFill>
                          <a:latin typeface="Inter"/>
                          <a:ea typeface="Inter"/>
                          <a:cs typeface="Inter"/>
                          <a:sym typeface="Inter"/>
                        </a:rPr>
                        <a:t>63.2%</a:t>
                      </a:r>
                      <a:endParaRPr sz="1100">
                        <a:solidFill>
                          <a:srgbClr val="334155"/>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c>
                  <a:txBody>
                    <a:bodyPr/>
                    <a:lstStyle/>
                    <a:p>
                      <a:pPr indent="0" lvl="0" marL="0" rtl="0" algn="l">
                        <a:spcBef>
                          <a:spcPts val="0"/>
                        </a:spcBef>
                        <a:spcAft>
                          <a:spcPts val="0"/>
                        </a:spcAft>
                        <a:buNone/>
                      </a:pPr>
                      <a:r>
                        <a:rPr lang="zh-TW" sz="1000">
                          <a:solidFill>
                            <a:srgbClr val="64748B"/>
                          </a:solidFill>
                          <a:latin typeface="Inter"/>
                          <a:ea typeface="Inter"/>
                          <a:cs typeface="Inter"/>
                          <a:sym typeface="Inter"/>
                        </a:rPr>
                        <a:t>相當 (-1.0%)</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lnB cap="flat" cmpd="sng" w="9525">
                      <a:solidFill>
                        <a:srgbClr val="F1F5F9"/>
                      </a:solidFill>
                      <a:prstDash val="solid"/>
                      <a:round/>
                      <a:headEnd len="sm" w="sm" type="none"/>
                      <a:tailEnd len="sm" w="sm" type="none"/>
                    </a:lnB>
                  </a:tcPr>
                </a:tc>
              </a:tr>
              <a:tr h="501925">
                <a:tc>
                  <a:txBody>
                    <a:bodyPr/>
                    <a:lstStyle/>
                    <a:p>
                      <a:pPr indent="0" lvl="0" marL="0" rtl="0" algn="l">
                        <a:spcBef>
                          <a:spcPts val="0"/>
                        </a:spcBef>
                        <a:spcAft>
                          <a:spcPts val="0"/>
                        </a:spcAft>
                        <a:buNone/>
                      </a:pPr>
                      <a:r>
                        <a:rPr b="0" lang="zh-TW" sz="1100">
                          <a:solidFill>
                            <a:srgbClr val="1E293B"/>
                          </a:solidFill>
                          <a:latin typeface="Inter SemiBold"/>
                          <a:ea typeface="Inter SemiBold"/>
                          <a:cs typeface="Inter SemiBold"/>
                          <a:sym typeface="Inter SemiBold"/>
                        </a:rPr>
                        <a:t>全域救援佔比</a:t>
                      </a:r>
                      <a:endParaRPr b="0" sz="1100">
                        <a:solidFill>
                          <a:srgbClr val="1E293B"/>
                        </a:solidFill>
                        <a:latin typeface="Inter SemiBold"/>
                        <a:ea typeface="Inter SemiBold"/>
                        <a:cs typeface="Inter SemiBold"/>
                        <a:sym typeface="Inter SemiBold"/>
                      </a:endParaRPr>
                    </a:p>
                  </a:txBody>
                  <a:tcPr marT="95250" marB="95250" marR="114300" marL="114300">
                    <a:lnT cap="flat" cmpd="sng" w="9525">
                      <a:solidFill>
                        <a:srgbClr val="F1F5F9"/>
                      </a:solidFill>
                      <a:prstDash val="solid"/>
                      <a:round/>
                      <a:headEnd len="sm" w="sm" type="none"/>
                      <a:tailEnd len="sm" w="sm" type="none"/>
                    </a:lnT>
                  </a:tcPr>
                </a:tc>
                <a:tc>
                  <a:txBody>
                    <a:bodyPr/>
                    <a:lstStyle/>
                    <a:p>
                      <a:pPr indent="0" lvl="0" marL="0" rtl="0" algn="l">
                        <a:spcBef>
                          <a:spcPts val="0"/>
                        </a:spcBef>
                        <a:spcAft>
                          <a:spcPts val="0"/>
                        </a:spcAft>
                        <a:buNone/>
                      </a:pPr>
                      <a:r>
                        <a:rPr lang="zh-TW" sz="1100">
                          <a:solidFill>
                            <a:srgbClr val="475569"/>
                          </a:solidFill>
                          <a:latin typeface="Inter"/>
                          <a:ea typeface="Inter"/>
                          <a:cs typeface="Inter"/>
                          <a:sym typeface="Inter"/>
                        </a:rPr>
                        <a:t>26.2%</a:t>
                      </a:r>
                      <a:endParaRPr sz="1100">
                        <a:solidFill>
                          <a:srgbClr val="475569"/>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tcPr>
                </a:tc>
                <a:tc>
                  <a:txBody>
                    <a:bodyPr/>
                    <a:lstStyle/>
                    <a:p>
                      <a:pPr indent="0" lvl="0" marL="0" rtl="0" algn="l">
                        <a:spcBef>
                          <a:spcPts val="0"/>
                        </a:spcBef>
                        <a:spcAft>
                          <a:spcPts val="0"/>
                        </a:spcAft>
                        <a:buNone/>
                      </a:pPr>
                      <a:r>
                        <a:rPr lang="zh-TW" sz="1100">
                          <a:solidFill>
                            <a:srgbClr val="334155"/>
                          </a:solidFill>
                          <a:latin typeface="Inter"/>
                          <a:ea typeface="Inter"/>
                          <a:cs typeface="Inter"/>
                          <a:sym typeface="Inter"/>
                        </a:rPr>
                        <a:t>26.8%</a:t>
                      </a:r>
                      <a:endParaRPr sz="1100">
                        <a:solidFill>
                          <a:srgbClr val="334155"/>
                        </a:solidFill>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tcPr>
                </a:tc>
                <a:tc>
                  <a:txBody>
                    <a:bodyPr/>
                    <a:lstStyle/>
                    <a:p>
                      <a:pPr indent="0" lvl="0" marL="0" rtl="0" algn="l">
                        <a:spcBef>
                          <a:spcPts val="0"/>
                        </a:spcBef>
                        <a:spcAft>
                          <a:spcPts val="0"/>
                        </a:spcAft>
                        <a:buNone/>
                      </a:pPr>
                      <a:r>
                        <a:rPr lang="zh-TW" sz="1000">
                          <a:solidFill>
                            <a:srgbClr val="64748B"/>
                          </a:solidFill>
                          <a:latin typeface="Inter"/>
                          <a:ea typeface="Inter"/>
                          <a:cs typeface="Inter"/>
                          <a:sym typeface="Inter"/>
                        </a:rPr>
                        <a:t>相當 (+0.6%)</a:t>
                      </a:r>
                      <a:endParaRPr>
                        <a:latin typeface="Inter"/>
                        <a:ea typeface="Inter"/>
                        <a:cs typeface="Inter"/>
                        <a:sym typeface="Inter"/>
                      </a:endParaRPr>
                    </a:p>
                  </a:txBody>
                  <a:tcPr marT="95250" marB="95250" marR="114300" marL="114300">
                    <a:lnT cap="flat" cmpd="sng" w="9525">
                      <a:solidFill>
                        <a:srgbClr val="F1F5F9"/>
                      </a:solidFill>
                      <a:prstDash val="solid"/>
                      <a:round/>
                      <a:headEnd len="sm" w="sm" type="none"/>
                      <a:tailEnd len="sm" w="sm" type="none"/>
                    </a:lnT>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grpSp>
        <p:nvGrpSpPr>
          <p:cNvPr id="1491" name="Google Shape;1491;p99"/>
          <p:cNvGrpSpPr/>
          <p:nvPr/>
        </p:nvGrpSpPr>
        <p:grpSpPr>
          <a:xfrm>
            <a:off x="-476250" y="-857250"/>
            <a:ext cx="10477500" cy="6381750"/>
            <a:chOff x="-476250" y="-857250"/>
            <a:chExt cx="10477500" cy="6381750"/>
          </a:xfrm>
        </p:grpSpPr>
        <p:sp>
          <p:nvSpPr>
            <p:cNvPr id="1492" name="Google Shape;1492;p9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3" name="Google Shape;1493;p9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4" name="Google Shape;1494;p9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5" name="Google Shape;1495;p99"/>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96" name="Google Shape;1496;p99"/>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800">
                <a:solidFill>
                  <a:srgbClr val="1E293B"/>
                </a:solidFill>
                <a:latin typeface="Inter"/>
                <a:ea typeface="Inter"/>
                <a:cs typeface="Inter"/>
                <a:sym typeface="Inter"/>
              </a:rPr>
              <a:t>64x64 模型評估：優勢與物理極限</a:t>
            </a:r>
            <a:endParaRPr b="1" sz="28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全資料集平均數據表現與極端即時情境下的限制分析</a:t>
            </a:r>
            <a:endParaRPr b="0" sz="1100">
              <a:solidFill>
                <a:srgbClr val="64748B"/>
              </a:solidFill>
              <a:latin typeface="Inter"/>
              <a:ea typeface="Inter"/>
              <a:cs typeface="Inter"/>
              <a:sym typeface="Inter"/>
            </a:endParaRPr>
          </a:p>
        </p:txBody>
      </p:sp>
      <p:sp>
        <p:nvSpPr>
          <p:cNvPr id="1497" name="Google Shape;1497;p99"/>
          <p:cNvSpPr txBox="1"/>
          <p:nvPr>
            <p:ph idx="1" type="body"/>
          </p:nvPr>
        </p:nvSpPr>
        <p:spPr>
          <a:xfrm>
            <a:off x="571500" y="1381125"/>
            <a:ext cx="3857700" cy="27507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28600" lIns="228600" spcFirstLastPara="1" rIns="228600" wrap="square" tIns="228600">
            <a:normAutofit/>
          </a:bodyPr>
          <a:lstStyle/>
          <a:p>
            <a:pPr indent="0" lvl="0" marL="0" rtl="0" algn="l">
              <a:spcBef>
                <a:spcPts val="0"/>
              </a:spcBef>
              <a:spcAft>
                <a:spcPts val="0"/>
              </a:spcAft>
              <a:buNone/>
            </a:pPr>
            <a:r>
              <a:rPr lang="zh-TW" sz="2000">
                <a:solidFill>
                  <a:srgbClr val="2563EB"/>
                </a:solidFill>
                <a:latin typeface="Material Icons"/>
                <a:ea typeface="Material Icons"/>
                <a:cs typeface="Material Icons"/>
                <a:sym typeface="Material Icons"/>
              </a:rPr>
              <a:t>analytics</a:t>
            </a:r>
            <a:r>
              <a:rPr lang="zh-TW" sz="1100">
                <a:solidFill>
                  <a:srgbClr val="334155"/>
                </a:solidFill>
                <a:latin typeface="Inter"/>
                <a:ea typeface="Inter"/>
                <a:cs typeface="Inter"/>
                <a:sym typeface="Inter"/>
              </a:rPr>
              <a:t> </a:t>
            </a:r>
            <a:r>
              <a:rPr b="1" lang="zh-TW" sz="1400">
                <a:solidFill>
                  <a:srgbClr val="1E293B"/>
                </a:solidFill>
                <a:latin typeface="Inter"/>
                <a:ea typeface="Inter"/>
                <a:cs typeface="Inter"/>
                <a:sym typeface="Inter"/>
              </a:rPr>
              <a:t>1. 數據表象（平均優勢）</a:t>
            </a:r>
            <a:endParaRPr sz="1100">
              <a:solidFill>
                <a:srgbClr val="334155"/>
              </a:solidFill>
              <a:latin typeface="Inter"/>
              <a:ea typeface="Inter"/>
              <a:cs typeface="Inter"/>
              <a:sym typeface="Inter"/>
            </a:endParaRPr>
          </a:p>
          <a:p>
            <a:pPr indent="0" lvl="0" marL="0" rtl="0" algn="l">
              <a:spcBef>
                <a:spcPts val="1200"/>
              </a:spcBef>
              <a:spcAft>
                <a:spcPts val="0"/>
              </a:spcAft>
              <a:buNone/>
            </a:pPr>
            <a:r>
              <a:rPr b="0" lang="zh-TW" sz="1100">
                <a:solidFill>
                  <a:srgbClr val="2563EB"/>
                </a:solidFill>
                <a:latin typeface="Inter SemiBold"/>
                <a:ea typeface="Inter SemiBold"/>
                <a:cs typeface="Inter SemiBold"/>
                <a:sym typeface="Inter SemiBold"/>
              </a:rPr>
              <a:t>指標檢視：準確率與召回率相當，FPS 顯著提升</a:t>
            </a:r>
            <a:endParaRPr b="0" sz="1100">
              <a:solidFill>
                <a:srgbClr val="2563EB"/>
              </a:solidFill>
              <a:latin typeface="Inter SemiBold"/>
              <a:ea typeface="Inter SemiBold"/>
              <a:cs typeface="Inter SemiBold"/>
              <a:sym typeface="Inter SemiBold"/>
            </a:endParaRPr>
          </a:p>
          <a:p>
            <a:pPr indent="0" lvl="0" marL="0" rtl="0" algn="l">
              <a:spcBef>
                <a:spcPts val="900"/>
              </a:spcBef>
              <a:spcAft>
                <a:spcPts val="0"/>
              </a:spcAft>
              <a:buNone/>
            </a:pPr>
            <a:r>
              <a:rPr lang="zh-TW" sz="1050">
                <a:solidFill>
                  <a:srgbClr val="475569"/>
                </a:solidFill>
                <a:latin typeface="Inter"/>
                <a:ea typeface="Inter"/>
                <a:cs typeface="Inter"/>
                <a:sym typeface="Inter"/>
              </a:rPr>
              <a:t>「從全資料集的『平均數據』來看，64x64 與 128x128 的準確率（Precision）與召回率（Recall）差異不大，但 64x64 的 FPS 卻有顯著提升。」</a:t>
            </a:r>
            <a:endParaRPr sz="1050">
              <a:solidFill>
                <a:srgbClr val="475569"/>
              </a:solidFill>
              <a:latin typeface="Inter"/>
              <a:ea typeface="Inter"/>
              <a:cs typeface="Inter"/>
              <a:sym typeface="Inter"/>
            </a:endParaRPr>
          </a:p>
          <a:p>
            <a:pPr indent="0" lvl="0" marL="0" rtl="0" algn="l">
              <a:spcBef>
                <a:spcPts val="1200"/>
              </a:spcBef>
              <a:spcAft>
                <a:spcPts val="1200"/>
              </a:spcAft>
              <a:buNone/>
            </a:pPr>
            <a:r>
              <a:rPr lang="zh-TW" sz="1000">
                <a:solidFill>
                  <a:srgbClr val="64748B"/>
                </a:solidFill>
                <a:highlight>
                  <a:srgbClr val="F8FAFC"/>
                </a:highlight>
                <a:latin typeface="Inter"/>
                <a:ea typeface="Inter"/>
                <a:cs typeface="Inter"/>
                <a:sym typeface="Inter"/>
              </a:rPr>
              <a:t>結論：單看整體統計平均指標時，64x64 似乎是最佳選擇。</a:t>
            </a:r>
            <a:endParaRPr sz="1000">
              <a:solidFill>
                <a:srgbClr val="64748B"/>
              </a:solidFill>
              <a:highlight>
                <a:srgbClr val="F8FAFC"/>
              </a:highlight>
              <a:latin typeface="Inter"/>
              <a:ea typeface="Inter"/>
              <a:cs typeface="Inter"/>
              <a:sym typeface="Inter"/>
            </a:endParaRPr>
          </a:p>
        </p:txBody>
      </p:sp>
      <p:sp>
        <p:nvSpPr>
          <p:cNvPr id="1498" name="Google Shape;1498;p99"/>
          <p:cNvSpPr txBox="1"/>
          <p:nvPr/>
        </p:nvSpPr>
        <p:spPr>
          <a:xfrm>
            <a:off x="4714875" y="1381125"/>
            <a:ext cx="3857700" cy="2750700"/>
          </a:xfrm>
          <a:prstGeom prst="rect">
            <a:avLst/>
          </a:prstGeom>
          <a:solidFill>
            <a:srgbClr val="FFFFFF"/>
          </a:solidFill>
          <a:ln cap="flat" cmpd="sng" w="9525">
            <a:solidFill>
              <a:srgbClr val="FECACA"/>
            </a:solidFill>
            <a:prstDash val="solid"/>
            <a:round/>
            <a:headEnd len="sm" w="sm" type="none"/>
            <a:tailEnd len="sm" w="sm" type="none"/>
          </a:ln>
        </p:spPr>
        <p:txBody>
          <a:bodyPr anchorCtr="0" anchor="t" bIns="228600" lIns="228600" spcFirstLastPara="1" rIns="228600" wrap="square" tIns="228600">
            <a:noAutofit/>
          </a:bodyPr>
          <a:lstStyle/>
          <a:p>
            <a:pPr indent="0" lvl="0" marL="0" rtl="0" algn="l">
              <a:spcBef>
                <a:spcPts val="0"/>
              </a:spcBef>
              <a:spcAft>
                <a:spcPts val="0"/>
              </a:spcAft>
              <a:buNone/>
            </a:pPr>
            <a:r>
              <a:rPr lang="zh-TW" sz="2000">
                <a:solidFill>
                  <a:srgbClr val="DC2626"/>
                </a:solidFill>
                <a:latin typeface="Material Icons"/>
                <a:ea typeface="Material Icons"/>
                <a:cs typeface="Material Icons"/>
                <a:sym typeface="Material Icons"/>
              </a:rPr>
              <a:t>warning</a:t>
            </a:r>
            <a:r>
              <a:rPr lang="zh-TW" sz="1100">
                <a:solidFill>
                  <a:srgbClr val="334155"/>
                </a:solidFill>
                <a:latin typeface="Inter"/>
                <a:ea typeface="Inter"/>
                <a:cs typeface="Inter"/>
                <a:sym typeface="Inter"/>
              </a:rPr>
              <a:t> </a:t>
            </a:r>
            <a:r>
              <a:rPr b="1" lang="zh-TW" sz="1400">
                <a:solidFill>
                  <a:srgbClr val="1E293B"/>
                </a:solidFill>
                <a:latin typeface="Inter"/>
                <a:ea typeface="Inter"/>
                <a:cs typeface="Inter"/>
                <a:sym typeface="Inter"/>
              </a:rPr>
              <a:t>2. 極端情況（物理極限）</a:t>
            </a:r>
            <a:endParaRPr sz="1100">
              <a:solidFill>
                <a:srgbClr val="334155"/>
              </a:solidFill>
              <a:latin typeface="Inter"/>
              <a:ea typeface="Inter"/>
              <a:cs typeface="Inter"/>
              <a:sym typeface="Inter"/>
            </a:endParaRPr>
          </a:p>
          <a:p>
            <a:pPr indent="0" lvl="0" marL="0" rtl="0" algn="l">
              <a:spcBef>
                <a:spcPts val="1200"/>
              </a:spcBef>
              <a:spcAft>
                <a:spcPts val="0"/>
              </a:spcAft>
              <a:buNone/>
            </a:pPr>
            <a:r>
              <a:rPr b="0" lang="zh-TW" sz="1100">
                <a:solidFill>
                  <a:srgbClr val="DC2626"/>
                </a:solidFill>
                <a:latin typeface="Inter SemiBold"/>
                <a:ea typeface="Inter SemiBold"/>
                <a:cs typeface="Inter SemiBold"/>
                <a:sym typeface="Inter SemiBold"/>
              </a:rPr>
              <a:t>實務困境：『出框困境（Out-of-bounds Dilemma）』</a:t>
            </a:r>
            <a:endParaRPr b="0" sz="1100">
              <a:solidFill>
                <a:srgbClr val="DC2626"/>
              </a:solidFill>
              <a:latin typeface="Inter SemiBold"/>
              <a:ea typeface="Inter SemiBold"/>
              <a:cs typeface="Inter SemiBold"/>
              <a:sym typeface="Inter SemiBold"/>
            </a:endParaRPr>
          </a:p>
          <a:p>
            <a:pPr indent="-292100" lvl="0" marL="457200" rtl="0" algn="l">
              <a:spcBef>
                <a:spcPts val="750"/>
              </a:spcBef>
              <a:spcAft>
                <a:spcPts val="0"/>
              </a:spcAft>
              <a:buClr>
                <a:srgbClr val="475569"/>
              </a:buClr>
              <a:buSzPts val="1000"/>
              <a:buFont typeface="Inter"/>
              <a:buChar char="●"/>
            </a:pPr>
            <a:r>
              <a:rPr b="1" lang="zh-TW" sz="1000">
                <a:solidFill>
                  <a:srgbClr val="475569"/>
                </a:solidFill>
                <a:latin typeface="Inter"/>
                <a:ea typeface="Inter"/>
                <a:cs typeface="Inter"/>
                <a:sym typeface="Inter"/>
              </a:rPr>
              <a:t>視野半徑受限：</a:t>
            </a:r>
            <a:r>
              <a:rPr lang="zh-TW" sz="1000">
                <a:solidFill>
                  <a:srgbClr val="475569"/>
                </a:solidFill>
                <a:latin typeface="Inter"/>
                <a:ea typeface="Inter"/>
                <a:cs typeface="Inter"/>
                <a:sym typeface="Inter"/>
              </a:rPr>
              <a:t> 64x64 視野半徑僅有 32 像素。</a:t>
            </a:r>
            <a:endParaRPr sz="1000">
              <a:solidFill>
                <a:srgbClr val="475569"/>
              </a:solidFill>
              <a:latin typeface="Inter"/>
              <a:ea typeface="Inter"/>
              <a:cs typeface="Inter"/>
              <a:sym typeface="Inter"/>
            </a:endParaRPr>
          </a:p>
          <a:p>
            <a:pPr indent="-292100" lvl="0" marL="457200" rtl="0" algn="l">
              <a:spcBef>
                <a:spcPts val="600"/>
              </a:spcBef>
              <a:spcAft>
                <a:spcPts val="0"/>
              </a:spcAft>
              <a:buClr>
                <a:srgbClr val="475569"/>
              </a:buClr>
              <a:buSzPts val="1000"/>
              <a:buFont typeface="Inter"/>
              <a:buChar char="●"/>
            </a:pPr>
            <a:r>
              <a:rPr b="1" lang="zh-TW" sz="1000">
                <a:solidFill>
                  <a:srgbClr val="475569"/>
                </a:solidFill>
                <a:latin typeface="Inter"/>
                <a:ea typeface="Inter"/>
                <a:cs typeface="Inter"/>
                <a:sym typeface="Inter"/>
              </a:rPr>
              <a:t>高速位移超越極限：</a:t>
            </a:r>
            <a:r>
              <a:rPr lang="zh-TW" sz="1000">
                <a:solidFill>
                  <a:srgbClr val="475569"/>
                </a:solidFill>
                <a:latin typeface="Inter"/>
                <a:ea typeface="Inter"/>
                <a:cs typeface="Inter"/>
                <a:sym typeface="Inter"/>
              </a:rPr>
              <a:t> 時速 200~300 km/h 高速殺球時，單幀物理位移易超過 32 像素。</a:t>
            </a:r>
            <a:endParaRPr sz="1000">
              <a:solidFill>
                <a:srgbClr val="475569"/>
              </a:solidFill>
              <a:latin typeface="Inter"/>
              <a:ea typeface="Inter"/>
              <a:cs typeface="Inter"/>
              <a:sym typeface="Inter"/>
            </a:endParaRPr>
          </a:p>
          <a:p>
            <a:pPr indent="-292100" lvl="0" marL="457200" rtl="0" algn="l">
              <a:spcBef>
                <a:spcPts val="600"/>
              </a:spcBef>
              <a:spcAft>
                <a:spcPts val="0"/>
              </a:spcAft>
              <a:buClr>
                <a:srgbClr val="475569"/>
              </a:buClr>
              <a:buSzPts val="1000"/>
              <a:buFont typeface="Inter"/>
              <a:buChar char="●"/>
            </a:pPr>
            <a:r>
              <a:rPr b="1" lang="zh-TW" sz="1000">
                <a:solidFill>
                  <a:srgbClr val="475569"/>
                </a:solidFill>
                <a:latin typeface="Inter"/>
                <a:ea typeface="Inter"/>
                <a:cs typeface="Inter"/>
                <a:sym typeface="Inter"/>
              </a:rPr>
              <a:t>效能嚴重懲罰：</a:t>
            </a:r>
            <a:r>
              <a:rPr lang="zh-TW" sz="1000">
                <a:solidFill>
                  <a:srgbClr val="475569"/>
                </a:solidFill>
                <a:latin typeface="Inter"/>
                <a:ea typeface="Inter"/>
                <a:cs typeface="Inter"/>
                <a:sym typeface="Inter"/>
              </a:rPr>
              <a:t> 頻繁丟失目標並觸發耗時的</a:t>
            </a:r>
            <a:r>
              <a:rPr b="1" lang="zh-TW" sz="1000">
                <a:solidFill>
                  <a:srgbClr val="475569"/>
                </a:solidFill>
                <a:latin typeface="Inter"/>
                <a:ea typeface="Inter"/>
                <a:cs typeface="Inter"/>
                <a:sym typeface="Inter"/>
              </a:rPr>
              <a:t>全域搜尋（Global Search）</a:t>
            </a:r>
            <a:r>
              <a:rPr lang="zh-TW" sz="1000">
                <a:solidFill>
                  <a:srgbClr val="475569"/>
                </a:solidFill>
                <a:latin typeface="Inter"/>
                <a:ea typeface="Inter"/>
                <a:cs typeface="Inter"/>
                <a:sym typeface="Inter"/>
              </a:rPr>
              <a:t>。</a:t>
            </a:r>
            <a:endParaRPr sz="1000">
              <a:solidFill>
                <a:srgbClr val="475569"/>
              </a:solidFill>
              <a:latin typeface="Inter"/>
              <a:ea typeface="Inter"/>
              <a:cs typeface="Inter"/>
              <a:sym typeface="Inter"/>
            </a:endParaRPr>
          </a:p>
          <a:p>
            <a:pPr indent="0" lvl="0" marL="0" rtl="0" algn="l">
              <a:spcBef>
                <a:spcPts val="900"/>
              </a:spcBef>
              <a:spcAft>
                <a:spcPts val="0"/>
              </a:spcAft>
              <a:buNone/>
            </a:pPr>
            <a:r>
              <a:rPr lang="zh-TW" sz="950">
                <a:solidFill>
                  <a:srgbClr val="991B1B"/>
                </a:solidFill>
                <a:highlight>
                  <a:srgbClr val="FEF2F2"/>
                </a:highlight>
                <a:latin typeface="Inter"/>
                <a:ea typeface="Inter"/>
                <a:cs typeface="Inter"/>
                <a:sym typeface="Inter"/>
              </a:rPr>
              <a:t>影響：即時非同步系統中會造成畫面嚴重視覺延遲與跳幀。</a:t>
            </a:r>
            <a:endParaRPr sz="950">
              <a:solidFill>
                <a:srgbClr val="991B1B"/>
              </a:solidFill>
              <a:highlight>
                <a:srgbClr val="FEF2F2"/>
              </a:highlight>
              <a:latin typeface="Inter"/>
              <a:ea typeface="Inter"/>
              <a:cs typeface="Inter"/>
              <a:sym typeface="Inte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grpSp>
        <p:nvGrpSpPr>
          <p:cNvPr id="1503" name="Google Shape;1503;p100"/>
          <p:cNvGrpSpPr/>
          <p:nvPr/>
        </p:nvGrpSpPr>
        <p:grpSpPr>
          <a:xfrm>
            <a:off x="-476250" y="-857250"/>
            <a:ext cx="10477500" cy="6381750"/>
            <a:chOff x="-476250" y="-857250"/>
            <a:chExt cx="10477500" cy="6381750"/>
          </a:xfrm>
        </p:grpSpPr>
        <p:sp>
          <p:nvSpPr>
            <p:cNvPr id="1504" name="Google Shape;1504;p10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5" name="Google Shape;1505;p10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6" name="Google Shape;1506;p10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7" name="Google Shape;1507;p100"/>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08" name="Google Shape;1508;p100"/>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128*128 </a:t>
            </a:r>
            <a:r>
              <a:rPr b="1" lang="zh-TW" sz="2960">
                <a:solidFill>
                  <a:srgbClr val="1E293B"/>
                </a:solidFill>
                <a:latin typeface="Inter"/>
                <a:ea typeface="Inter"/>
                <a:cs typeface="Inter"/>
                <a:sym typeface="Inter"/>
              </a:rPr>
              <a:t>在最佳數據下的表現</a:t>
            </a:r>
            <a:endParaRPr b="1" sz="2960">
              <a:solidFill>
                <a:srgbClr val="1E293B"/>
              </a:solidFill>
              <a:latin typeface="Inter"/>
              <a:ea typeface="Inter"/>
              <a:cs typeface="Inter"/>
              <a:sym typeface="Inter"/>
            </a:endParaRPr>
          </a:p>
          <a:p>
            <a:pPr indent="0" lvl="0" marL="0" rtl="0" algn="l">
              <a:spcBef>
                <a:spcPts val="300"/>
              </a:spcBef>
              <a:spcAft>
                <a:spcPts val="0"/>
              </a:spcAft>
              <a:buNone/>
            </a:pPr>
            <a:r>
              <a:t/>
            </a:r>
            <a:endParaRPr b="0" sz="1018">
              <a:solidFill>
                <a:srgbClr val="64748B"/>
              </a:solidFill>
              <a:latin typeface="Inter"/>
              <a:ea typeface="Inter"/>
              <a:cs typeface="Inter"/>
              <a:sym typeface="Inter"/>
            </a:endParaRPr>
          </a:p>
        </p:txBody>
      </p:sp>
      <p:pic>
        <p:nvPicPr>
          <p:cNvPr id="1509" name="Google Shape;1509;p100" title="realtime_128_lag_1_10_12.mp4">
            <a:hlinkClick r:id="rId3"/>
          </p:cNvPr>
          <p:cNvPicPr preferRelativeResize="0"/>
          <p:nvPr/>
        </p:nvPicPr>
        <p:blipFill>
          <a:blip r:embed="rId4">
            <a:alphaModFix/>
          </a:blip>
          <a:stretch>
            <a:fillRect/>
          </a:stretch>
        </p:blipFill>
        <p:spPr>
          <a:xfrm>
            <a:off x="1339563" y="1250075"/>
            <a:ext cx="6464874" cy="363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1000"/>
                                        <p:tgtEl>
                                          <p:spTgt spid="1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grpSp>
        <p:nvGrpSpPr>
          <p:cNvPr id="1514" name="Google Shape;1514;p101"/>
          <p:cNvGrpSpPr/>
          <p:nvPr/>
        </p:nvGrpSpPr>
        <p:grpSpPr>
          <a:xfrm>
            <a:off x="-476250" y="-857250"/>
            <a:ext cx="10477500" cy="6381750"/>
            <a:chOff x="-476250" y="-857250"/>
            <a:chExt cx="10477500" cy="6381750"/>
          </a:xfrm>
        </p:grpSpPr>
        <p:sp>
          <p:nvSpPr>
            <p:cNvPr id="1515" name="Google Shape;1515;p10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6" name="Google Shape;1516;p10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7" name="Google Shape;1517;p10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8" name="Google Shape;1518;p101"/>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19" name="Google Shape;1519;p101"/>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64*64 </a:t>
            </a:r>
            <a:r>
              <a:rPr b="1" lang="zh-TW" sz="2960">
                <a:solidFill>
                  <a:srgbClr val="1E293B"/>
                </a:solidFill>
                <a:latin typeface="Inter"/>
                <a:ea typeface="Inter"/>
                <a:cs typeface="Inter"/>
                <a:sym typeface="Inter"/>
              </a:rPr>
              <a:t>在最佳數據下的表現</a:t>
            </a:r>
            <a:endParaRPr b="1" sz="2960">
              <a:solidFill>
                <a:srgbClr val="1E293B"/>
              </a:solidFill>
              <a:latin typeface="Inter"/>
              <a:ea typeface="Inter"/>
              <a:cs typeface="Inter"/>
              <a:sym typeface="Inter"/>
            </a:endParaRPr>
          </a:p>
          <a:p>
            <a:pPr indent="0" lvl="0" marL="0" rtl="0" algn="l">
              <a:spcBef>
                <a:spcPts val="300"/>
              </a:spcBef>
              <a:spcAft>
                <a:spcPts val="0"/>
              </a:spcAft>
              <a:buNone/>
            </a:pPr>
            <a:r>
              <a:t/>
            </a:r>
            <a:endParaRPr b="0" sz="1018">
              <a:solidFill>
                <a:srgbClr val="64748B"/>
              </a:solidFill>
              <a:latin typeface="Inter"/>
              <a:ea typeface="Inter"/>
              <a:cs typeface="Inter"/>
              <a:sym typeface="Inter"/>
            </a:endParaRPr>
          </a:p>
        </p:txBody>
      </p:sp>
      <p:pic>
        <p:nvPicPr>
          <p:cNvPr id="1520" name="Google Shape;1520;p101" title="realtime_64_smooth_1_10_12.mp4">
            <a:hlinkClick r:id="rId3"/>
          </p:cNvPr>
          <p:cNvPicPr preferRelativeResize="0"/>
          <p:nvPr/>
        </p:nvPicPr>
        <p:blipFill>
          <a:blip r:embed="rId4">
            <a:alphaModFix/>
          </a:blip>
          <a:stretch>
            <a:fillRect/>
          </a:stretch>
        </p:blipFill>
        <p:spPr>
          <a:xfrm>
            <a:off x="1339200" y="1244275"/>
            <a:ext cx="6465600" cy="36207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1000"/>
                                        <p:tgtEl>
                                          <p:spTgt spid="1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0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以下是</a:t>
            </a:r>
            <a:r>
              <a:rPr lang="zh-TW"/>
              <a:t>待討論實驗數據</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grpSp>
        <p:nvGrpSpPr>
          <p:cNvPr id="1530" name="Google Shape;1530;p103"/>
          <p:cNvGrpSpPr/>
          <p:nvPr/>
        </p:nvGrpSpPr>
        <p:grpSpPr>
          <a:xfrm>
            <a:off x="-476250" y="-857250"/>
            <a:ext cx="10477500" cy="6381750"/>
            <a:chOff x="-476250" y="-857250"/>
            <a:chExt cx="10477500" cy="6381750"/>
          </a:xfrm>
        </p:grpSpPr>
        <p:sp>
          <p:nvSpPr>
            <p:cNvPr id="1531" name="Google Shape;1531;p10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2" name="Google Shape;1532;p10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3" name="Google Shape;1533;p10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4" name="Google Shape;1534;p103"/>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35" name="Google Shape;1535;p103"/>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128</a:t>
            </a:r>
            <a:r>
              <a:rPr b="1" lang="zh-TW" sz="2960">
                <a:solidFill>
                  <a:srgbClr val="1E293B"/>
                </a:solidFill>
                <a:latin typeface="Inter"/>
                <a:ea typeface="Inter"/>
                <a:cs typeface="Inter"/>
                <a:sym typeface="Inter"/>
              </a:rPr>
              <a:t>*128 實驗數據</a:t>
            </a:r>
            <a:endParaRPr b="1" sz="2960">
              <a:solidFill>
                <a:srgbClr val="1E293B"/>
              </a:solidFill>
              <a:latin typeface="Inter"/>
              <a:ea typeface="Inter"/>
              <a:cs typeface="Inter"/>
              <a:sym typeface="Inter"/>
            </a:endParaRPr>
          </a:p>
          <a:p>
            <a:pPr indent="0" lvl="0" marL="0" rtl="0" algn="l">
              <a:spcBef>
                <a:spcPts val="300"/>
              </a:spcBef>
              <a:spcAft>
                <a:spcPts val="0"/>
              </a:spcAft>
              <a:buNone/>
            </a:pPr>
            <a:r>
              <a:rPr b="0" lang="zh-TW" sz="1018">
                <a:solidFill>
                  <a:srgbClr val="64748B"/>
                </a:solidFill>
                <a:latin typeface="Inter"/>
                <a:ea typeface="Inter"/>
                <a:cs typeface="Inter"/>
                <a:sym typeface="Inter"/>
              </a:rPr>
              <a:t>模型測試結果與超參數組合評估表</a:t>
            </a:r>
            <a:endParaRPr b="0" sz="1018">
              <a:solidFill>
                <a:srgbClr val="64748B"/>
              </a:solidFill>
              <a:latin typeface="Inter"/>
              <a:ea typeface="Inter"/>
              <a:cs typeface="Inter"/>
              <a:sym typeface="Inter"/>
            </a:endParaRPr>
          </a:p>
        </p:txBody>
      </p:sp>
      <p:sp>
        <p:nvSpPr>
          <p:cNvPr id="1536" name="Google Shape;1536;p103"/>
          <p:cNvSpPr/>
          <p:nvPr/>
        </p:nvSpPr>
        <p:spPr>
          <a:xfrm>
            <a:off x="571500" y="1352550"/>
            <a:ext cx="8001000" cy="3410100"/>
          </a:xfrm>
          <a:prstGeom prst="roundRect">
            <a:avLst>
              <a:gd fmla="val 223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37" name="Google Shape;1537;p103"/>
          <p:cNvPicPr preferRelativeResize="0"/>
          <p:nvPr/>
        </p:nvPicPr>
        <p:blipFill>
          <a:blip r:embed="rId3">
            <a:alphaModFix/>
          </a:blip>
          <a:stretch>
            <a:fillRect/>
          </a:stretch>
        </p:blipFill>
        <p:spPr>
          <a:xfrm>
            <a:off x="1338750" y="1352550"/>
            <a:ext cx="6466500" cy="3410100"/>
          </a:xfrm>
          <a:prstGeom prst="rect">
            <a:avLst/>
          </a:prstGeom>
          <a:solidFill>
            <a:srgbClr val="FFFFFF"/>
          </a:solidFill>
          <a:ln cap="flat" cmpd="sng" w="9525">
            <a:solidFill>
              <a:srgbClr val="E2E8F0"/>
            </a:solidFill>
            <a:prstDash val="solid"/>
            <a:round/>
            <a:headEnd len="sm" w="sm" type="none"/>
            <a:tailEnd len="sm" w="sm" type="none"/>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grpSp>
        <p:nvGrpSpPr>
          <p:cNvPr id="1542" name="Google Shape;1542;p104"/>
          <p:cNvGrpSpPr/>
          <p:nvPr/>
        </p:nvGrpSpPr>
        <p:grpSpPr>
          <a:xfrm>
            <a:off x="-476250" y="-857250"/>
            <a:ext cx="10477500" cy="6381750"/>
            <a:chOff x="-476250" y="-857250"/>
            <a:chExt cx="10477500" cy="6381750"/>
          </a:xfrm>
        </p:grpSpPr>
        <p:sp>
          <p:nvSpPr>
            <p:cNvPr id="1543" name="Google Shape;1543;p10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4" name="Google Shape;1544;p10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5" name="Google Shape;1545;p10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6" name="Google Shape;1546;p104"/>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47" name="Google Shape;1547;p104"/>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64*64 實驗數據</a:t>
            </a:r>
            <a:endParaRPr b="1" sz="2960">
              <a:solidFill>
                <a:srgbClr val="1E293B"/>
              </a:solidFill>
              <a:latin typeface="Inter"/>
              <a:ea typeface="Inter"/>
              <a:cs typeface="Inter"/>
              <a:sym typeface="Inter"/>
            </a:endParaRPr>
          </a:p>
          <a:p>
            <a:pPr indent="0" lvl="0" marL="0" rtl="0" algn="l">
              <a:spcBef>
                <a:spcPts val="300"/>
              </a:spcBef>
              <a:spcAft>
                <a:spcPts val="0"/>
              </a:spcAft>
              <a:buNone/>
            </a:pPr>
            <a:r>
              <a:rPr b="0" lang="zh-TW" sz="1018">
                <a:solidFill>
                  <a:srgbClr val="64748B"/>
                </a:solidFill>
                <a:latin typeface="Inter"/>
                <a:ea typeface="Inter"/>
                <a:cs typeface="Inter"/>
                <a:sym typeface="Inter"/>
              </a:rPr>
              <a:t>模型測試結果與參數組合評估表</a:t>
            </a:r>
            <a:endParaRPr b="0" sz="1018">
              <a:solidFill>
                <a:srgbClr val="64748B"/>
              </a:solidFill>
              <a:latin typeface="Inter"/>
              <a:ea typeface="Inter"/>
              <a:cs typeface="Inter"/>
              <a:sym typeface="Inter"/>
            </a:endParaRPr>
          </a:p>
        </p:txBody>
      </p:sp>
      <p:sp>
        <p:nvSpPr>
          <p:cNvPr id="1548" name="Google Shape;1548;p104"/>
          <p:cNvSpPr/>
          <p:nvPr/>
        </p:nvSpPr>
        <p:spPr>
          <a:xfrm>
            <a:off x="571500" y="1352550"/>
            <a:ext cx="8001000" cy="3410100"/>
          </a:xfrm>
          <a:prstGeom prst="roundRect">
            <a:avLst>
              <a:gd fmla="val 223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49" name="Google Shape;1549;p104"/>
          <p:cNvPicPr preferRelativeResize="0"/>
          <p:nvPr/>
        </p:nvPicPr>
        <p:blipFill rotWithShape="1">
          <a:blip r:embed="rId3">
            <a:alphaModFix/>
          </a:blip>
          <a:srcRect b="0" l="0" r="0" t="0"/>
          <a:stretch/>
        </p:blipFill>
        <p:spPr>
          <a:xfrm>
            <a:off x="714375" y="1594600"/>
            <a:ext cx="7715400" cy="30012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grpSp>
        <p:nvGrpSpPr>
          <p:cNvPr id="1554" name="Google Shape;1554;p105"/>
          <p:cNvGrpSpPr/>
          <p:nvPr/>
        </p:nvGrpSpPr>
        <p:grpSpPr>
          <a:xfrm>
            <a:off x="-476250" y="-857250"/>
            <a:ext cx="10477500" cy="6381750"/>
            <a:chOff x="-476250" y="-857250"/>
            <a:chExt cx="10477500" cy="6381750"/>
          </a:xfrm>
        </p:grpSpPr>
        <p:sp>
          <p:nvSpPr>
            <p:cNvPr id="1555" name="Google Shape;1555;p10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6" name="Google Shape;1556;p10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7" name="Google Shape;1557;p10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8" name="Google Shape;1558;p105"/>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59" name="Google Shape;1559;p105"/>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128</a:t>
            </a:r>
            <a:r>
              <a:rPr b="1" lang="zh-TW" sz="2960">
                <a:solidFill>
                  <a:srgbClr val="1E293B"/>
                </a:solidFill>
                <a:latin typeface="Inter"/>
                <a:ea typeface="Inter"/>
                <a:cs typeface="Inter"/>
                <a:sym typeface="Inter"/>
              </a:rPr>
              <a:t>*128 於不同Tolerance_Pixel</a:t>
            </a:r>
            <a:endParaRPr b="1" sz="2960">
              <a:solidFill>
                <a:srgbClr val="1E293B"/>
              </a:solidFill>
              <a:latin typeface="Inter"/>
              <a:ea typeface="Inter"/>
              <a:cs typeface="Inter"/>
              <a:sym typeface="Inter"/>
            </a:endParaRPr>
          </a:p>
          <a:p>
            <a:pPr indent="0" lvl="0" marL="0" rtl="0" algn="l">
              <a:spcBef>
                <a:spcPts val="300"/>
              </a:spcBef>
              <a:spcAft>
                <a:spcPts val="0"/>
              </a:spcAft>
              <a:buNone/>
            </a:pPr>
            <a:r>
              <a:t/>
            </a:r>
            <a:endParaRPr b="0" sz="1018">
              <a:solidFill>
                <a:srgbClr val="64748B"/>
              </a:solidFill>
              <a:latin typeface="Inter"/>
              <a:ea typeface="Inter"/>
              <a:cs typeface="Inter"/>
              <a:sym typeface="Inter"/>
            </a:endParaRPr>
          </a:p>
        </p:txBody>
      </p:sp>
      <p:sp>
        <p:nvSpPr>
          <p:cNvPr id="1560" name="Google Shape;1560;p105"/>
          <p:cNvSpPr/>
          <p:nvPr/>
        </p:nvSpPr>
        <p:spPr>
          <a:xfrm>
            <a:off x="571500" y="1352550"/>
            <a:ext cx="8001000" cy="3410100"/>
          </a:xfrm>
          <a:prstGeom prst="roundRect">
            <a:avLst>
              <a:gd fmla="val 223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61" name="Google Shape;1561;p105"/>
          <p:cNvPicPr preferRelativeResize="0"/>
          <p:nvPr/>
        </p:nvPicPr>
        <p:blipFill>
          <a:blip r:embed="rId3">
            <a:alphaModFix/>
          </a:blip>
          <a:stretch>
            <a:fillRect/>
          </a:stretch>
        </p:blipFill>
        <p:spPr>
          <a:xfrm>
            <a:off x="1395400" y="2457525"/>
            <a:ext cx="6353175" cy="12001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grpSp>
        <p:nvGrpSpPr>
          <p:cNvPr id="1566" name="Google Shape;1566;p106"/>
          <p:cNvGrpSpPr/>
          <p:nvPr/>
        </p:nvGrpSpPr>
        <p:grpSpPr>
          <a:xfrm>
            <a:off x="-476250" y="-857250"/>
            <a:ext cx="10477500" cy="6381750"/>
            <a:chOff x="-476250" y="-857250"/>
            <a:chExt cx="10477500" cy="6381750"/>
          </a:xfrm>
        </p:grpSpPr>
        <p:sp>
          <p:nvSpPr>
            <p:cNvPr id="1567" name="Google Shape;1567;p10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8" name="Google Shape;1568;p10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9" name="Google Shape;1569;p10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0" name="Google Shape;1570;p106"/>
            <p:cNvSpPr/>
            <p:nvPr/>
          </p:nvSpPr>
          <p:spPr>
            <a:xfrm>
              <a:off x="571500" y="1123950"/>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71" name="Google Shape;1571;p106"/>
          <p:cNvSpPr txBox="1"/>
          <p:nvPr>
            <p:ph type="title"/>
          </p:nvPr>
        </p:nvSpPr>
        <p:spPr>
          <a:xfrm>
            <a:off x="571500" y="381000"/>
            <a:ext cx="80010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2960">
                <a:solidFill>
                  <a:srgbClr val="1E293B"/>
                </a:solidFill>
                <a:latin typeface="Inter"/>
                <a:ea typeface="Inter"/>
                <a:cs typeface="Inter"/>
                <a:sym typeface="Inter"/>
              </a:rPr>
              <a:t>64*64 </a:t>
            </a:r>
            <a:r>
              <a:rPr b="1" lang="zh-TW" sz="2960">
                <a:solidFill>
                  <a:srgbClr val="1E293B"/>
                </a:solidFill>
                <a:latin typeface="Inter"/>
                <a:ea typeface="Inter"/>
                <a:cs typeface="Inter"/>
                <a:sym typeface="Inter"/>
              </a:rPr>
              <a:t>於不同Tolerance_Pixel</a:t>
            </a:r>
            <a:endParaRPr b="1" sz="2960">
              <a:solidFill>
                <a:srgbClr val="1E293B"/>
              </a:solidFill>
              <a:latin typeface="Inter"/>
              <a:ea typeface="Inter"/>
              <a:cs typeface="Inter"/>
              <a:sym typeface="Inter"/>
            </a:endParaRPr>
          </a:p>
          <a:p>
            <a:pPr indent="0" lvl="0" marL="0" rtl="0" algn="l">
              <a:spcBef>
                <a:spcPts val="300"/>
              </a:spcBef>
              <a:spcAft>
                <a:spcPts val="0"/>
              </a:spcAft>
              <a:buNone/>
            </a:pPr>
            <a:r>
              <a:t/>
            </a:r>
            <a:endParaRPr b="0" sz="1018">
              <a:solidFill>
                <a:srgbClr val="64748B"/>
              </a:solidFill>
              <a:latin typeface="Inter"/>
              <a:ea typeface="Inter"/>
              <a:cs typeface="Inter"/>
              <a:sym typeface="Inter"/>
            </a:endParaRPr>
          </a:p>
        </p:txBody>
      </p:sp>
      <p:sp>
        <p:nvSpPr>
          <p:cNvPr id="1572" name="Google Shape;1572;p106"/>
          <p:cNvSpPr/>
          <p:nvPr/>
        </p:nvSpPr>
        <p:spPr>
          <a:xfrm>
            <a:off x="571500" y="1352550"/>
            <a:ext cx="8001000" cy="3410100"/>
          </a:xfrm>
          <a:prstGeom prst="roundRect">
            <a:avLst>
              <a:gd fmla="val 223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73" name="Google Shape;1573;p106"/>
          <p:cNvPicPr preferRelativeResize="0"/>
          <p:nvPr/>
        </p:nvPicPr>
        <p:blipFill>
          <a:blip r:embed="rId3">
            <a:alphaModFix/>
          </a:blip>
          <a:stretch>
            <a:fillRect/>
          </a:stretch>
        </p:blipFill>
        <p:spPr>
          <a:xfrm>
            <a:off x="1376350" y="2448000"/>
            <a:ext cx="6391275" cy="1219200"/>
          </a:xfrm>
          <a:prstGeom prst="rect">
            <a:avLst/>
          </a:prstGeom>
          <a:solidFill>
            <a:srgbClr val="FFFFFF"/>
          </a:solidFill>
          <a:ln cap="flat" cmpd="sng" w="9525">
            <a:solidFill>
              <a:srgbClr val="E2E8F0"/>
            </a:solidFill>
            <a:prstDash val="solid"/>
            <a:round/>
            <a:headEnd len="sm" w="sm" type="none"/>
            <a:tailEnd len="sm" w="sm" type="none"/>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10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以下是備用PPT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grpSp>
        <p:nvGrpSpPr>
          <p:cNvPr id="1583" name="Google Shape;1583;p108"/>
          <p:cNvGrpSpPr/>
          <p:nvPr/>
        </p:nvGrpSpPr>
        <p:grpSpPr>
          <a:xfrm>
            <a:off x="-476250" y="-857250"/>
            <a:ext cx="10477500" cy="6381750"/>
            <a:chOff x="-476250" y="-857250"/>
            <a:chExt cx="10477500" cy="6381750"/>
          </a:xfrm>
        </p:grpSpPr>
        <p:sp>
          <p:nvSpPr>
            <p:cNvPr id="1584" name="Google Shape;1584;p10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5" name="Google Shape;1585;p10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6" name="Google Shape;1586;p10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7" name="Google Shape;1587;p108"/>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88" name="Google Shape;1588;p108"/>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視野狹隘導致之出框：缺乏全域重獲機制</a:t>
            </a:r>
            <a:endParaRPr b="1" sz="3330">
              <a:solidFill>
                <a:srgbClr val="1E293B"/>
              </a:solidFill>
              <a:latin typeface="Inter"/>
              <a:ea typeface="Inter"/>
              <a:cs typeface="Inter"/>
              <a:sym typeface="Inter"/>
            </a:endParaRPr>
          </a:p>
        </p:txBody>
      </p:sp>
      <p:sp>
        <p:nvSpPr>
          <p:cNvPr id="1589" name="Google Shape;1589;p108"/>
          <p:cNvSpPr txBox="1"/>
          <p:nvPr>
            <p:ph idx="1" type="body"/>
          </p:nvPr>
        </p:nvSpPr>
        <p:spPr>
          <a:xfrm>
            <a:off x="571500" y="1381125"/>
            <a:ext cx="8001000" cy="3333900"/>
          </a:xfrm>
          <a:prstGeom prst="rect">
            <a:avLst/>
          </a:prstGeom>
          <a:solidFill>
            <a:srgbClr val="FFFFFF"/>
          </a:solidFill>
          <a:ln cap="flat" cmpd="sng" w="9525">
            <a:solidFill>
              <a:srgbClr val="E2E8F0"/>
            </a:solidFill>
            <a:prstDash val="solid"/>
            <a:round/>
            <a:headEnd len="sm" w="sm" type="none"/>
            <a:tailEnd len="sm" w="sm" type="none"/>
          </a:ln>
        </p:spPr>
        <p:txBody>
          <a:bodyPr anchorCtr="0" anchor="t" bIns="285750" lIns="285750" spcFirstLastPara="1" rIns="285750" wrap="square" tIns="285750">
            <a:normAutofit/>
          </a:bodyPr>
          <a:lstStyle/>
          <a:p>
            <a:pPr indent="0" lvl="0" marL="0" rtl="0" algn="l">
              <a:spcBef>
                <a:spcPts val="0"/>
              </a:spcBef>
              <a:spcAft>
                <a:spcPts val="0"/>
              </a:spcAft>
              <a:buNone/>
            </a:pPr>
            <a:r>
              <a:rPr b="0" lang="zh-TW" sz="2400">
                <a:solidFill>
                  <a:srgbClr val="3B82F6"/>
                </a:solidFill>
                <a:latin typeface="Material Icons"/>
                <a:ea typeface="Material Icons"/>
                <a:cs typeface="Material Icons"/>
                <a:sym typeface="Material Icons"/>
              </a:rPr>
              <a:t>gps_fixed</a:t>
            </a:r>
            <a:r>
              <a:rPr b="1" lang="zh-TW" sz="1800">
                <a:solidFill>
                  <a:srgbClr val="1E293B"/>
                </a:solidFill>
                <a:latin typeface="Inter"/>
                <a:ea typeface="Inter"/>
                <a:cs typeface="Inter"/>
                <a:sym typeface="Inter"/>
              </a:rPr>
              <a:t>解決方案：導入 512x288 全域搜索</a:t>
            </a:r>
            <a:endParaRPr b="0" sz="2400">
              <a:solidFill>
                <a:srgbClr val="3B82F6"/>
              </a:solidFill>
              <a:latin typeface="Material Icons"/>
              <a:ea typeface="Material Icons"/>
              <a:cs typeface="Material Icons"/>
              <a:sym typeface="Material Icons"/>
            </a:endParaRPr>
          </a:p>
          <a:p>
            <a:pPr indent="0" lvl="0" marL="0" rtl="0" algn="l">
              <a:spcBef>
                <a:spcPts val="600"/>
              </a:spcBef>
              <a:spcAft>
                <a:spcPts val="0"/>
              </a:spcAft>
              <a:buNone/>
            </a:pPr>
            <a:r>
              <a:rPr b="0" lang="zh-TW" sz="1200">
                <a:solidFill>
                  <a:srgbClr val="3B82F6"/>
                </a:solidFill>
                <a:latin typeface="Inter SemiBold"/>
                <a:ea typeface="Inter SemiBold"/>
                <a:cs typeface="Inter SemiBold"/>
                <a:sym typeface="Inter SemiBold"/>
              </a:rPr>
              <a:t>Resolution-Invariant Inference | 尺寸不變性推論</a:t>
            </a:r>
            <a:endParaRPr b="0" sz="1200">
              <a:solidFill>
                <a:srgbClr val="3B82F6"/>
              </a:solidFill>
              <a:latin typeface="Inter SemiBold"/>
              <a:ea typeface="Inter SemiBold"/>
              <a:cs typeface="Inter SemiBold"/>
              <a:sym typeface="Inter SemiBold"/>
            </a:endParaRPr>
          </a:p>
          <a:p>
            <a:pPr indent="0" lvl="0" marL="0" rtl="0" algn="l">
              <a:spcBef>
                <a:spcPts val="1200"/>
              </a:spcBef>
              <a:spcAft>
                <a:spcPts val="0"/>
              </a:spcAft>
              <a:buNone/>
            </a:pPr>
            <a:r>
              <a:rPr b="0" lang="zh-TW" sz="1150">
                <a:solidFill>
                  <a:srgbClr val="475569"/>
                </a:solidFill>
                <a:latin typeface="Inter"/>
                <a:ea typeface="Inter"/>
                <a:cs typeface="Inter"/>
                <a:sym typeface="Inter"/>
              </a:rPr>
              <a:t>受惠於</a:t>
            </a:r>
            <a:r>
              <a:rPr b="1" lang="zh-TW" sz="1150">
                <a:solidFill>
                  <a:srgbClr val="1E293B"/>
                </a:solidFill>
                <a:latin typeface="Inter"/>
                <a:ea typeface="Inter"/>
                <a:cs typeface="Inter"/>
                <a:sym typeface="Inter"/>
              </a:rPr>
              <a:t>全卷積神經網路 (FCN)</a:t>
            </a:r>
            <a:r>
              <a:rPr b="0" lang="zh-TW" sz="1150">
                <a:solidFill>
                  <a:srgbClr val="475569"/>
                </a:solidFill>
                <a:latin typeface="Inter"/>
                <a:ea typeface="Inter"/>
                <a:cs typeface="Inter"/>
                <a:sym typeface="Inter"/>
              </a:rPr>
              <a:t> 之特性，將 128x128 訓練出之單一權重，於推論時展開為兩種模式。</a:t>
            </a:r>
            <a:endParaRPr b="0" sz="1150">
              <a:solidFill>
                <a:srgbClr val="475569"/>
              </a:solidFill>
              <a:latin typeface="Inter"/>
              <a:ea typeface="Inter"/>
              <a:cs typeface="Inter"/>
              <a:sym typeface="Inter"/>
            </a:endParaRPr>
          </a:p>
          <a:p>
            <a:pPr indent="0" lvl="0" marL="0" rtl="0" algn="l">
              <a:spcBef>
                <a:spcPts val="1200"/>
              </a:spcBef>
              <a:spcAft>
                <a:spcPts val="0"/>
              </a:spcAft>
              <a:buNone/>
            </a:pPr>
            <a:r>
              <a:rPr b="0" lang="zh-TW" sz="1150">
                <a:solidFill>
                  <a:srgbClr val="475569"/>
                </a:solidFill>
                <a:latin typeface="Inter"/>
                <a:ea typeface="Inter"/>
                <a:cs typeface="Inter"/>
                <a:sym typeface="Inter"/>
              </a:rPr>
              <a:t>兩者共用大腦，但視野與算力消耗不同：</a:t>
            </a:r>
            <a:endParaRPr b="0" sz="1150">
              <a:solidFill>
                <a:srgbClr val="475569"/>
              </a:solidFill>
              <a:latin typeface="Inter"/>
              <a:ea typeface="Inter"/>
              <a:cs typeface="Inter"/>
              <a:sym typeface="Inter"/>
            </a:endParaRPr>
          </a:p>
          <a:p>
            <a:pPr indent="0" lvl="0" marL="0" rtl="0" algn="l">
              <a:spcBef>
                <a:spcPts val="1200"/>
              </a:spcBef>
              <a:spcAft>
                <a:spcPts val="0"/>
              </a:spcAft>
              <a:buNone/>
            </a:pPr>
            <a:r>
              <a:rPr b="1" lang="zh-TW" sz="1300">
                <a:solidFill>
                  <a:srgbClr val="3B82F6"/>
                </a:solidFill>
                <a:latin typeface="Inter"/>
                <a:ea typeface="Inter"/>
                <a:cs typeface="Inter"/>
                <a:sym typeface="Inter"/>
              </a:rPr>
              <a:t>●</a:t>
            </a:r>
            <a:r>
              <a:rPr b="1" lang="zh-TW" sz="1100">
                <a:solidFill>
                  <a:srgbClr val="1E293B"/>
                </a:solidFill>
                <a:latin typeface="Inter"/>
                <a:ea typeface="Inter"/>
                <a:cs typeface="Inter"/>
                <a:sym typeface="Inter"/>
              </a:rPr>
              <a:t>128x128 局部追蹤：</a:t>
            </a:r>
            <a:r>
              <a:rPr b="0" lang="zh-TW" sz="1100">
                <a:solidFill>
                  <a:srgbClr val="475569"/>
                </a:solidFill>
                <a:latin typeface="Inter"/>
                <a:ea typeface="Inter"/>
                <a:cs typeface="Inter"/>
                <a:sym typeface="Inter"/>
              </a:rPr>
              <a:t>專注於高影格率的局部目標鎖定，大幅降低邊緣運算負擔。</a:t>
            </a:r>
            <a:endParaRPr b="0" sz="1100">
              <a:solidFill>
                <a:srgbClr val="475569"/>
              </a:solidFill>
              <a:latin typeface="Inter"/>
              <a:ea typeface="Inter"/>
              <a:cs typeface="Inter"/>
              <a:sym typeface="Inter"/>
            </a:endParaRPr>
          </a:p>
          <a:p>
            <a:pPr indent="0" lvl="0" marL="0" rtl="0" algn="l">
              <a:spcBef>
                <a:spcPts val="1200"/>
              </a:spcBef>
              <a:spcAft>
                <a:spcPts val="1200"/>
              </a:spcAft>
              <a:buNone/>
            </a:pPr>
            <a:r>
              <a:rPr b="1" lang="zh-TW" sz="1300">
                <a:solidFill>
                  <a:srgbClr val="3B82F6"/>
                </a:solidFill>
                <a:latin typeface="Inter"/>
                <a:ea typeface="Inter"/>
                <a:cs typeface="Inter"/>
                <a:sym typeface="Inter"/>
              </a:rPr>
              <a:t>●</a:t>
            </a:r>
            <a:r>
              <a:rPr b="1" lang="zh-TW" sz="1100">
                <a:solidFill>
                  <a:srgbClr val="1E293B"/>
                </a:solidFill>
                <a:latin typeface="Inter"/>
                <a:ea typeface="Inter"/>
                <a:cs typeface="Inter"/>
                <a:sym typeface="Inter"/>
              </a:rPr>
              <a:t>512x288 全域搜索：</a:t>
            </a:r>
            <a:r>
              <a:rPr b="0" lang="zh-TW" sz="1100">
                <a:solidFill>
                  <a:srgbClr val="475569"/>
                </a:solidFill>
                <a:latin typeface="Inter"/>
                <a:ea typeface="Inter"/>
                <a:cs typeface="Inter"/>
                <a:sym typeface="Inter"/>
              </a:rPr>
              <a:t>當系統判定丟失或盲目漂移時，啟動大視野掃描以重獲目標。</a:t>
            </a:r>
            <a:endParaRPr b="0" sz="1100">
              <a:solidFill>
                <a:srgbClr val="475569"/>
              </a:solidFill>
              <a:latin typeface="Inter"/>
              <a:ea typeface="Inter"/>
              <a:cs typeface="Inter"/>
              <a:sym typeface="Inte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grpSp>
        <p:nvGrpSpPr>
          <p:cNvPr id="1594" name="Google Shape;1594;p109"/>
          <p:cNvGrpSpPr/>
          <p:nvPr/>
        </p:nvGrpSpPr>
        <p:grpSpPr>
          <a:xfrm>
            <a:off x="-476250" y="-857250"/>
            <a:ext cx="10477500" cy="6381750"/>
            <a:chOff x="-476250" y="-857250"/>
            <a:chExt cx="10477500" cy="6381750"/>
          </a:xfrm>
        </p:grpSpPr>
        <p:sp>
          <p:nvSpPr>
            <p:cNvPr id="1595" name="Google Shape;1595;p10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6" name="Google Shape;1596;p10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7" name="Google Shape;1597;p10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98" name="Google Shape;1598;p109"/>
          <p:cNvGrpSpPr/>
          <p:nvPr/>
        </p:nvGrpSpPr>
        <p:grpSpPr>
          <a:xfrm>
            <a:off x="1714500" y="1238250"/>
            <a:ext cx="5715000" cy="2667000"/>
            <a:chOff x="1714500" y="1238250"/>
            <a:chExt cx="5715000" cy="2667000"/>
          </a:xfrm>
        </p:grpSpPr>
        <p:sp>
          <p:nvSpPr>
            <p:cNvPr id="1599" name="Google Shape;1599;p109"/>
            <p:cNvSpPr/>
            <p:nvPr/>
          </p:nvSpPr>
          <p:spPr>
            <a:xfrm>
              <a:off x="1714500" y="1238250"/>
              <a:ext cx="5715000" cy="26670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0" name="Google Shape;1600;p109"/>
            <p:cNvSpPr txBox="1"/>
            <p:nvPr/>
          </p:nvSpPr>
          <p:spPr>
            <a:xfrm>
              <a:off x="2095500" y="1524000"/>
              <a:ext cx="4953000" cy="2095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zh-TW" sz="4800">
                  <a:solidFill>
                    <a:srgbClr val="3B82F6"/>
                  </a:solidFill>
                  <a:latin typeface="Material Icons"/>
                  <a:ea typeface="Material Icons"/>
                  <a:cs typeface="Material Icons"/>
                  <a:sym typeface="Material Icons"/>
                </a:rPr>
                <a:t>layers</a:t>
              </a:r>
              <a:endParaRPr sz="4800">
                <a:solidFill>
                  <a:srgbClr val="3B82F6"/>
                </a:solidFill>
                <a:latin typeface="Material Icons"/>
                <a:ea typeface="Material Icons"/>
                <a:cs typeface="Material Icons"/>
                <a:sym typeface="Material Icons"/>
              </a:endParaRPr>
            </a:p>
            <a:p>
              <a:pPr indent="0" lvl="0" marL="0" rtl="0" algn="ctr">
                <a:spcBef>
                  <a:spcPts val="1200"/>
                </a:spcBef>
                <a:spcAft>
                  <a:spcPts val="0"/>
                </a:spcAft>
                <a:buNone/>
              </a:pPr>
              <a:r>
                <a:rPr b="1" lang="zh-TW" sz="3200">
                  <a:solidFill>
                    <a:srgbClr val="1E293B"/>
                  </a:solidFill>
                  <a:latin typeface="Oswald"/>
                  <a:ea typeface="Oswald"/>
                  <a:cs typeface="Oswald"/>
                  <a:sym typeface="Oswald"/>
                </a:rPr>
                <a:t>以上為 BASE LINE</a:t>
              </a:r>
              <a:endParaRPr b="1" sz="3200">
                <a:solidFill>
                  <a:srgbClr val="1E293B"/>
                </a:solidFill>
                <a:latin typeface="Oswald"/>
                <a:ea typeface="Oswald"/>
                <a:cs typeface="Oswald"/>
                <a:sym typeface="Oswald"/>
              </a:endParaRPr>
            </a:p>
            <a:p>
              <a:pPr indent="0" lvl="0" marL="0" rtl="0" algn="ctr">
                <a:spcBef>
                  <a:spcPts val="900"/>
                </a:spcBef>
                <a:spcAft>
                  <a:spcPts val="0"/>
                </a:spcAft>
                <a:buNone/>
              </a:pPr>
              <a:r>
                <a:rPr b="0" lang="zh-TW" sz="1300">
                  <a:solidFill>
                    <a:srgbClr val="64748B"/>
                  </a:solidFill>
                  <a:latin typeface="Inter"/>
                  <a:ea typeface="Inter"/>
                  <a:cs typeface="Inter"/>
                  <a:sym typeface="Inter"/>
                </a:rPr>
                <a:t>基準系統架構與關鍵效能瓶頸總結</a:t>
              </a:r>
              <a:endParaRPr b="0" sz="1300">
                <a:solidFill>
                  <a:srgbClr val="64748B"/>
                </a:solidFill>
                <a:latin typeface="Inter"/>
                <a:ea typeface="Inter"/>
                <a:cs typeface="Inter"/>
                <a:sym typeface="Inter"/>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4" name="Shape 1604"/>
        <p:cNvGrpSpPr/>
        <p:nvPr/>
      </p:nvGrpSpPr>
      <p:grpSpPr>
        <a:xfrm>
          <a:off x="0" y="0"/>
          <a:ext cx="0" cy="0"/>
          <a:chOff x="0" y="0"/>
          <a:chExt cx="0" cy="0"/>
        </a:xfrm>
      </p:grpSpPr>
      <p:grpSp>
        <p:nvGrpSpPr>
          <p:cNvPr id="1605" name="Google Shape;1605;p110"/>
          <p:cNvGrpSpPr/>
          <p:nvPr/>
        </p:nvGrpSpPr>
        <p:grpSpPr>
          <a:xfrm>
            <a:off x="-476250" y="-857250"/>
            <a:ext cx="10477500" cy="6381750"/>
            <a:chOff x="-476250" y="-857250"/>
            <a:chExt cx="10477500" cy="6381750"/>
          </a:xfrm>
        </p:grpSpPr>
        <p:sp>
          <p:nvSpPr>
            <p:cNvPr id="1606" name="Google Shape;1606;p110"/>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7" name="Google Shape;1607;p11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8" name="Google Shape;1608;p11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09" name="Google Shape;1609;p110"/>
          <p:cNvGrpSpPr/>
          <p:nvPr/>
        </p:nvGrpSpPr>
        <p:grpSpPr>
          <a:xfrm>
            <a:off x="571500" y="381000"/>
            <a:ext cx="8001000" cy="762000"/>
            <a:chOff x="571500" y="381000"/>
            <a:chExt cx="8001000" cy="762000"/>
          </a:xfrm>
        </p:grpSpPr>
        <p:sp>
          <p:nvSpPr>
            <p:cNvPr id="1610" name="Google Shape;1610;p110"/>
            <p:cNvSpPr txBox="1"/>
            <p:nvPr/>
          </p:nvSpPr>
          <p:spPr>
            <a:xfrm>
              <a:off x="571500" y="38100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Motivation </a:t>
              </a:r>
              <a:r>
                <a:rPr b="0" lang="zh-TW" sz="2400">
                  <a:solidFill>
                    <a:srgbClr val="3B82F6"/>
                  </a:solidFill>
                  <a:latin typeface="Inter"/>
                  <a:ea typeface="Inter"/>
                  <a:cs typeface="Inter"/>
                  <a:sym typeface="Inter"/>
                </a:rPr>
                <a:t>(研究動機)</a:t>
              </a:r>
              <a:endParaRPr b="1" sz="3600">
                <a:solidFill>
                  <a:srgbClr val="1E293B"/>
                </a:solidFill>
                <a:latin typeface="Oswald"/>
                <a:ea typeface="Oswald"/>
                <a:cs typeface="Oswald"/>
                <a:sym typeface="Oswald"/>
              </a:endParaRPr>
            </a:p>
          </p:txBody>
        </p:sp>
        <p:sp>
          <p:nvSpPr>
            <p:cNvPr id="1611" name="Google Shape;1611;p110"/>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12" name="Google Shape;1612;p110"/>
          <p:cNvGrpSpPr/>
          <p:nvPr/>
        </p:nvGrpSpPr>
        <p:grpSpPr>
          <a:xfrm>
            <a:off x="571500" y="1285875"/>
            <a:ext cx="3905400" cy="1381200"/>
            <a:chOff x="571500" y="1285875"/>
            <a:chExt cx="3905400" cy="1381200"/>
          </a:xfrm>
        </p:grpSpPr>
        <p:sp>
          <p:nvSpPr>
            <p:cNvPr id="1613" name="Google Shape;1613;p110"/>
            <p:cNvSpPr/>
            <p:nvPr/>
          </p:nvSpPr>
          <p:spPr>
            <a:xfrm>
              <a:off x="571500" y="1285875"/>
              <a:ext cx="3905400" cy="1381200"/>
            </a:xfrm>
            <a:prstGeom prst="roundRect">
              <a:avLst>
                <a:gd fmla="val 82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4" name="Google Shape;1614;p110"/>
            <p:cNvSpPr txBox="1"/>
            <p:nvPr/>
          </p:nvSpPr>
          <p:spPr>
            <a:xfrm>
              <a:off x="714375" y="14638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2400">
                  <a:solidFill>
                    <a:srgbClr val="EF4444"/>
                  </a:solidFill>
                  <a:latin typeface="Material Icons"/>
                  <a:ea typeface="Material Icons"/>
                  <a:cs typeface="Material Icons"/>
                  <a:sym typeface="Material Icons"/>
                </a:rPr>
                <a:t>report_problem</a:t>
              </a:r>
              <a:endParaRPr sz="2400">
                <a:solidFill>
                  <a:srgbClr val="EF4444"/>
                </a:solidFill>
                <a:latin typeface="Material Icons"/>
                <a:ea typeface="Material Icons"/>
                <a:cs typeface="Material Icons"/>
                <a:sym typeface="Material Icons"/>
              </a:endParaRPr>
            </a:p>
          </p:txBody>
        </p:sp>
        <p:sp>
          <p:nvSpPr>
            <p:cNvPr id="1615" name="Google Shape;1615;p110"/>
            <p:cNvSpPr txBox="1"/>
            <p:nvPr/>
          </p:nvSpPr>
          <p:spPr>
            <a:xfrm>
              <a:off x="1190625" y="1400175"/>
              <a:ext cx="31434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1E293B"/>
                  </a:solidFill>
                  <a:latin typeface="Inter"/>
                  <a:ea typeface="Inter"/>
                  <a:cs typeface="Inter"/>
                  <a:sym typeface="Inter"/>
                </a:rPr>
                <a:t>目前瓶頸 (Current Bottleneck)</a:t>
              </a:r>
              <a:endParaRPr b="1" sz="1300">
                <a:solidFill>
                  <a:srgbClr val="1E293B"/>
                </a:solidFill>
                <a:latin typeface="Inter"/>
                <a:ea typeface="Inter"/>
                <a:cs typeface="Inter"/>
                <a:sym typeface="Inter"/>
              </a:endParaRPr>
            </a:p>
            <a:p>
              <a:pPr indent="-292100" lvl="0" marL="457200" rtl="0" algn="l">
                <a:spcBef>
                  <a:spcPts val="450"/>
                </a:spcBef>
                <a:spcAft>
                  <a:spcPts val="0"/>
                </a:spcAft>
                <a:buClr>
                  <a:srgbClr val="475569"/>
                </a:buClr>
                <a:buSzPts val="1000"/>
                <a:buFont typeface="Inter"/>
                <a:buChar char="●"/>
              </a:pPr>
              <a:r>
                <a:rPr b="0" lang="zh-TW" sz="1000">
                  <a:solidFill>
                    <a:srgbClr val="475569"/>
                  </a:solidFill>
                  <a:latin typeface="Inter"/>
                  <a:ea typeface="Inter"/>
                  <a:cs typeface="Inter"/>
                  <a:sym typeface="Inter"/>
                </a:rPr>
                <a:t>高精準度模型（如 TrackNet）極度依賴昂貴且笨重的高階 GPU 伺服器。</a:t>
              </a:r>
              <a:endParaRPr b="0" sz="1000">
                <a:solidFill>
                  <a:srgbClr val="475569"/>
                </a:solidFill>
                <a:latin typeface="Inter"/>
                <a:ea typeface="Inter"/>
                <a:cs typeface="Inter"/>
                <a:sym typeface="Inter"/>
              </a:endParaRPr>
            </a:p>
            <a:p>
              <a:pPr indent="-292100" lvl="0" marL="457200" rtl="0" algn="l">
                <a:spcBef>
                  <a:spcPts val="300"/>
                </a:spcBef>
                <a:spcAft>
                  <a:spcPts val="0"/>
                </a:spcAft>
                <a:buClr>
                  <a:srgbClr val="475569"/>
                </a:buClr>
                <a:buSzPts val="1000"/>
                <a:buFont typeface="Inter"/>
                <a:buChar char="●"/>
              </a:pPr>
              <a:r>
                <a:rPr b="0" lang="zh-TW" sz="1000">
                  <a:solidFill>
                    <a:srgbClr val="475569"/>
                  </a:solidFill>
                  <a:latin typeface="Inter"/>
                  <a:ea typeface="Inter"/>
                  <a:cs typeface="Inter"/>
                  <a:sym typeface="Inter"/>
                </a:rPr>
                <a:t>基層球隊與學校球館難以負擔鷹眼等昂貴的系統設備。</a:t>
              </a:r>
              <a:endParaRPr b="0" sz="1000">
                <a:solidFill>
                  <a:srgbClr val="475569"/>
                </a:solidFill>
                <a:latin typeface="Inter"/>
                <a:ea typeface="Inter"/>
                <a:cs typeface="Inter"/>
                <a:sym typeface="Inter"/>
              </a:endParaRPr>
            </a:p>
          </p:txBody>
        </p:sp>
      </p:grpSp>
      <p:grpSp>
        <p:nvGrpSpPr>
          <p:cNvPr id="1616" name="Google Shape;1616;p110"/>
          <p:cNvGrpSpPr/>
          <p:nvPr/>
        </p:nvGrpSpPr>
        <p:grpSpPr>
          <a:xfrm>
            <a:off x="4667250" y="1285875"/>
            <a:ext cx="3905400" cy="1381200"/>
            <a:chOff x="4667250" y="1285875"/>
            <a:chExt cx="3905400" cy="1381200"/>
          </a:xfrm>
        </p:grpSpPr>
        <p:sp>
          <p:nvSpPr>
            <p:cNvPr id="1617" name="Google Shape;1617;p110"/>
            <p:cNvSpPr/>
            <p:nvPr/>
          </p:nvSpPr>
          <p:spPr>
            <a:xfrm>
              <a:off x="4667250" y="1285875"/>
              <a:ext cx="3905400" cy="1381200"/>
            </a:xfrm>
            <a:prstGeom prst="roundRect">
              <a:avLst>
                <a:gd fmla="val 8275"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8" name="Google Shape;1618;p110"/>
            <p:cNvSpPr txBox="1"/>
            <p:nvPr/>
          </p:nvSpPr>
          <p:spPr>
            <a:xfrm>
              <a:off x="4810125" y="14638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2400">
                  <a:solidFill>
                    <a:srgbClr val="FFFFFF"/>
                  </a:solidFill>
                  <a:latin typeface="Material Icons"/>
                  <a:ea typeface="Material Icons"/>
                  <a:cs typeface="Material Icons"/>
                  <a:sym typeface="Material Icons"/>
                </a:rPr>
                <a:t>track_changes</a:t>
              </a:r>
              <a:endParaRPr sz="2400">
                <a:solidFill>
                  <a:srgbClr val="FFFFFF"/>
                </a:solidFill>
                <a:latin typeface="Material Icons"/>
                <a:ea typeface="Material Icons"/>
                <a:cs typeface="Material Icons"/>
                <a:sym typeface="Material Icons"/>
              </a:endParaRPr>
            </a:p>
          </p:txBody>
        </p:sp>
        <p:sp>
          <p:nvSpPr>
            <p:cNvPr id="1619" name="Google Shape;1619;p110"/>
            <p:cNvSpPr txBox="1"/>
            <p:nvPr/>
          </p:nvSpPr>
          <p:spPr>
            <a:xfrm>
              <a:off x="5286375" y="1400175"/>
              <a:ext cx="31434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300">
                  <a:solidFill>
                    <a:srgbClr val="FFFFFF"/>
                  </a:solidFill>
                  <a:latin typeface="Inter"/>
                  <a:ea typeface="Inter"/>
                  <a:cs typeface="Inter"/>
                  <a:sym typeface="Inter"/>
                </a:rPr>
                <a:t>核心目標 (Our Goal)</a:t>
              </a:r>
              <a:endParaRPr b="1" sz="1300">
                <a:solidFill>
                  <a:srgbClr val="FFFFFF"/>
                </a:solidFill>
                <a:latin typeface="Inter"/>
                <a:ea typeface="Inter"/>
                <a:cs typeface="Inter"/>
                <a:sym typeface="Inter"/>
              </a:endParaRPr>
            </a:p>
            <a:p>
              <a:pPr indent="0" lvl="0" marL="0" rtl="0" algn="l">
                <a:spcBef>
                  <a:spcPts val="450"/>
                </a:spcBef>
                <a:spcAft>
                  <a:spcPts val="0"/>
                </a:spcAft>
                <a:buNone/>
              </a:pPr>
              <a:r>
                <a:rPr b="0" lang="zh-TW" sz="1000">
                  <a:solidFill>
                    <a:srgbClr val="DBEAFE"/>
                  </a:solidFill>
                  <a:latin typeface="Inter"/>
                  <a:ea typeface="Inter"/>
                  <a:cs typeface="Inter"/>
                  <a:sym typeface="Inter"/>
                </a:rPr>
                <a:t>將 AI 模型部署於低成本、低功耗且無需依賴外部網路的 Edge device（如 Jetson Nano），讓基層也能輕鬆享受普及化的戰術分析技術。</a:t>
              </a:r>
              <a:endParaRPr b="0" sz="1000">
                <a:solidFill>
                  <a:srgbClr val="DBEAFE"/>
                </a:solidFill>
                <a:latin typeface="Inter"/>
                <a:ea typeface="Inter"/>
                <a:cs typeface="Inter"/>
                <a:sym typeface="Inter"/>
              </a:endParaRPr>
            </a:p>
          </p:txBody>
        </p:sp>
      </p:grpSp>
      <p:grpSp>
        <p:nvGrpSpPr>
          <p:cNvPr id="1620" name="Google Shape;1620;p110"/>
          <p:cNvGrpSpPr/>
          <p:nvPr/>
        </p:nvGrpSpPr>
        <p:grpSpPr>
          <a:xfrm>
            <a:off x="571500" y="2809875"/>
            <a:ext cx="8001000" cy="2000100"/>
            <a:chOff x="571500" y="2809875"/>
            <a:chExt cx="8001000" cy="2000100"/>
          </a:xfrm>
        </p:grpSpPr>
        <p:sp>
          <p:nvSpPr>
            <p:cNvPr id="1621" name="Google Shape;1621;p110"/>
            <p:cNvSpPr/>
            <p:nvPr/>
          </p:nvSpPr>
          <p:spPr>
            <a:xfrm>
              <a:off x="571500" y="2809875"/>
              <a:ext cx="8001000" cy="2000100"/>
            </a:xfrm>
            <a:prstGeom prst="roundRect">
              <a:avLst>
                <a:gd fmla="val 571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2" name="Google Shape;1622;p110"/>
            <p:cNvSpPr txBox="1"/>
            <p:nvPr/>
          </p:nvSpPr>
          <p:spPr>
            <a:xfrm>
              <a:off x="809625" y="2952750"/>
              <a:ext cx="75249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2000">
                  <a:solidFill>
                    <a:srgbClr val="64748B"/>
                  </a:solidFill>
                  <a:latin typeface="Material Icons"/>
                  <a:ea typeface="Material Icons"/>
                  <a:cs typeface="Material Icons"/>
                  <a:sym typeface="Material Icons"/>
                </a:rPr>
                <a:t>analytics</a:t>
              </a:r>
              <a:r>
                <a:rPr b="1" lang="zh-TW" sz="1400">
                  <a:solidFill>
                    <a:srgbClr val="1E293B"/>
                  </a:solidFill>
                  <a:latin typeface="Inter"/>
                  <a:ea typeface="Inter"/>
                  <a:cs typeface="Inter"/>
                  <a:sym typeface="Inter"/>
                </a:rPr>
                <a:t>現實的嚴苛挑戰 (Jetson Nano 實測)</a:t>
              </a:r>
              <a:endParaRPr sz="2000">
                <a:solidFill>
                  <a:srgbClr val="64748B"/>
                </a:solidFill>
                <a:latin typeface="Material Icons"/>
                <a:ea typeface="Material Icons"/>
                <a:cs typeface="Material Icons"/>
                <a:sym typeface="Material Icons"/>
              </a:endParaRPr>
            </a:p>
          </p:txBody>
        </p:sp>
        <p:sp>
          <p:nvSpPr>
            <p:cNvPr id="1623" name="Google Shape;1623;p110"/>
            <p:cNvSpPr/>
            <p:nvPr/>
          </p:nvSpPr>
          <p:spPr>
            <a:xfrm>
              <a:off x="809625" y="3429000"/>
              <a:ext cx="3619500" cy="1143000"/>
            </a:xfrm>
            <a:prstGeom prst="roundRect">
              <a:avLst>
                <a:gd fmla="val 666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4" name="Google Shape;1624;p110"/>
            <p:cNvSpPr txBox="1"/>
            <p:nvPr/>
          </p:nvSpPr>
          <p:spPr>
            <a:xfrm>
              <a:off x="809625" y="3429000"/>
              <a:ext cx="36195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1000">
                  <a:solidFill>
                    <a:srgbClr val="64748B"/>
                  </a:solidFill>
                  <a:latin typeface="Inter"/>
                  <a:ea typeface="Inter"/>
                  <a:cs typeface="Inter"/>
                  <a:sym typeface="Inter"/>
                </a:rPr>
                <a:t>推論速度 (Throughput)</a:t>
              </a:r>
              <a:endParaRPr sz="1000">
                <a:solidFill>
                  <a:srgbClr val="64748B"/>
                </a:solidFill>
                <a:latin typeface="Inter"/>
                <a:ea typeface="Inter"/>
                <a:cs typeface="Inter"/>
                <a:sym typeface="Inter"/>
              </a:endParaRPr>
            </a:p>
            <a:p>
              <a:pPr indent="0" lvl="0" marL="0" rtl="0" algn="ctr">
                <a:spcBef>
                  <a:spcPts val="150"/>
                </a:spcBef>
                <a:spcAft>
                  <a:spcPts val="0"/>
                </a:spcAft>
                <a:buNone/>
              </a:pPr>
              <a:r>
                <a:rPr b="1" lang="zh-TW" sz="2800">
                  <a:solidFill>
                    <a:srgbClr val="EF4444"/>
                  </a:solidFill>
                  <a:latin typeface="Oswald"/>
                  <a:ea typeface="Oswald"/>
                  <a:cs typeface="Oswald"/>
                  <a:sym typeface="Oswald"/>
                </a:rPr>
                <a:t>0.43</a:t>
              </a:r>
              <a:r>
                <a:rPr lang="zh-TW" sz="1000">
                  <a:solidFill>
                    <a:srgbClr val="64748B"/>
                  </a:solidFill>
                  <a:latin typeface="Inter"/>
                  <a:ea typeface="Inter"/>
                  <a:cs typeface="Inter"/>
                  <a:sym typeface="Inter"/>
                </a:rPr>
                <a:t> </a:t>
              </a:r>
              <a:r>
                <a:rPr lang="zh-TW" sz="1400">
                  <a:solidFill>
                    <a:srgbClr val="EF4444"/>
                  </a:solidFill>
                  <a:latin typeface="Oswald"/>
                  <a:ea typeface="Oswald"/>
                  <a:cs typeface="Oswald"/>
                  <a:sym typeface="Oswald"/>
                </a:rPr>
                <a:t>FPS</a:t>
              </a:r>
              <a:endParaRPr sz="1000">
                <a:solidFill>
                  <a:srgbClr val="64748B"/>
                </a:solidFill>
                <a:latin typeface="Inter"/>
                <a:ea typeface="Inter"/>
                <a:cs typeface="Inter"/>
                <a:sym typeface="Inter"/>
              </a:endParaRPr>
            </a:p>
            <a:p>
              <a:pPr indent="0" lvl="0" marL="0" rtl="0" algn="ctr">
                <a:spcBef>
                  <a:spcPts val="150"/>
                </a:spcBef>
                <a:spcAft>
                  <a:spcPts val="0"/>
                </a:spcAft>
                <a:buNone/>
              </a:pPr>
              <a:r>
                <a:rPr lang="zh-TW" sz="900">
                  <a:solidFill>
                    <a:srgbClr val="94A3B8"/>
                  </a:solidFill>
                  <a:latin typeface="Inter"/>
                  <a:ea typeface="Inter"/>
                  <a:cs typeface="Inter"/>
                  <a:sym typeface="Inter"/>
                </a:rPr>
                <a:t>系統處理一幀，現實已過去 2.4 秒 (延遲)</a:t>
              </a:r>
              <a:endParaRPr sz="900">
                <a:solidFill>
                  <a:srgbClr val="94A3B8"/>
                </a:solidFill>
                <a:latin typeface="Inter"/>
                <a:ea typeface="Inter"/>
                <a:cs typeface="Inter"/>
                <a:sym typeface="Inter"/>
              </a:endParaRPr>
            </a:p>
          </p:txBody>
        </p:sp>
        <p:sp>
          <p:nvSpPr>
            <p:cNvPr id="1625" name="Google Shape;1625;p110"/>
            <p:cNvSpPr/>
            <p:nvPr/>
          </p:nvSpPr>
          <p:spPr>
            <a:xfrm>
              <a:off x="4714875" y="3429000"/>
              <a:ext cx="3619500" cy="1143000"/>
            </a:xfrm>
            <a:prstGeom prst="roundRect">
              <a:avLst>
                <a:gd fmla="val 6666"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6" name="Google Shape;1626;p110"/>
            <p:cNvSpPr txBox="1"/>
            <p:nvPr/>
          </p:nvSpPr>
          <p:spPr>
            <a:xfrm>
              <a:off x="4714875" y="3429000"/>
              <a:ext cx="3619500" cy="1143000"/>
            </a:xfrm>
            <a:prstGeom prst="rect">
              <a:avLst/>
            </a:prstGeom>
            <a:noFill/>
            <a:ln>
              <a:noFill/>
            </a:ln>
          </p:spPr>
          <p:txBody>
            <a:bodyPr anchorCtr="0" anchor="ctr" bIns="0" lIns="190500" spcFirstLastPara="1" rIns="190500" wrap="square" tIns="0">
              <a:noAutofit/>
            </a:bodyPr>
            <a:lstStyle/>
            <a:p>
              <a:pPr indent="0" lvl="0" marL="0" rtl="0" algn="ctr">
                <a:spcBef>
                  <a:spcPts val="0"/>
                </a:spcBef>
                <a:spcAft>
                  <a:spcPts val="0"/>
                </a:spcAft>
                <a:buNone/>
              </a:pPr>
              <a:r>
                <a:rPr b="1" lang="zh-TW" sz="1100">
                  <a:solidFill>
                    <a:srgbClr val="B91C1C"/>
                  </a:solidFill>
                  <a:latin typeface="Inter"/>
                  <a:ea typeface="Inter"/>
                  <a:cs typeface="Inter"/>
                  <a:sym typeface="Inter"/>
                </a:rPr>
                <a:t>無法即時應用 (CRITICAL FAILURE)</a:t>
              </a:r>
              <a:endParaRPr b="1" sz="1100">
                <a:solidFill>
                  <a:srgbClr val="B91C1C"/>
                </a:solidFill>
                <a:latin typeface="Inter"/>
                <a:ea typeface="Inter"/>
                <a:cs typeface="Inter"/>
                <a:sym typeface="Inter"/>
              </a:endParaRPr>
            </a:p>
            <a:p>
              <a:pPr indent="0" lvl="0" marL="0" rtl="0" algn="ctr">
                <a:spcBef>
                  <a:spcPts val="300"/>
                </a:spcBef>
                <a:spcAft>
                  <a:spcPts val="0"/>
                </a:spcAft>
                <a:buNone/>
              </a:pPr>
              <a:r>
                <a:rPr b="0" lang="zh-TW" sz="1000">
                  <a:solidFill>
                    <a:srgbClr val="7F1D1D"/>
                  </a:solidFill>
                  <a:latin typeface="Inter"/>
                  <a:ea typeface="Inter"/>
                  <a:cs typeface="Inter"/>
                  <a:sym typeface="Inter"/>
                </a:rPr>
                <a:t>對於時速高達 400 km/h 的快速羽球追蹤而言，如此高的延遲根本無法在即時系統中發揮作用。</a:t>
              </a:r>
              <a:endParaRPr b="0" sz="1000">
                <a:solidFill>
                  <a:srgbClr val="7F1D1D"/>
                </a:solidFill>
                <a:latin typeface="Inter"/>
                <a:ea typeface="Inter"/>
                <a:cs typeface="Inter"/>
                <a:sym typeface="Inter"/>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grpSp>
        <p:nvGrpSpPr>
          <p:cNvPr id="1631" name="Google Shape;1631;p111"/>
          <p:cNvGrpSpPr/>
          <p:nvPr/>
        </p:nvGrpSpPr>
        <p:grpSpPr>
          <a:xfrm>
            <a:off x="-476250" y="-857250"/>
            <a:ext cx="10477500" cy="6381750"/>
            <a:chOff x="-476250" y="-857250"/>
            <a:chExt cx="10477500" cy="6381750"/>
          </a:xfrm>
        </p:grpSpPr>
        <p:sp>
          <p:nvSpPr>
            <p:cNvPr id="1632" name="Google Shape;1632;p11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3" name="Google Shape;1633;p11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4" name="Google Shape;1634;p11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35" name="Google Shape;1635;p111"/>
          <p:cNvGrpSpPr/>
          <p:nvPr/>
        </p:nvGrpSpPr>
        <p:grpSpPr>
          <a:xfrm>
            <a:off x="571500" y="381000"/>
            <a:ext cx="8001000" cy="762000"/>
            <a:chOff x="571500" y="381000"/>
            <a:chExt cx="8001000" cy="762000"/>
          </a:xfrm>
        </p:grpSpPr>
        <p:sp>
          <p:nvSpPr>
            <p:cNvPr id="1636" name="Google Shape;1636;p111"/>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600">
                  <a:solidFill>
                    <a:srgbClr val="1E293B"/>
                  </a:solidFill>
                  <a:latin typeface="Oswald"/>
                  <a:ea typeface="Oswald"/>
                  <a:cs typeface="Oswald"/>
                  <a:sym typeface="Oswald"/>
                </a:rPr>
                <a:t>主要探討題目</a:t>
              </a:r>
              <a:endParaRPr b="1" sz="3600">
                <a:solidFill>
                  <a:srgbClr val="1E293B"/>
                </a:solidFill>
                <a:latin typeface="Oswald"/>
                <a:ea typeface="Oswald"/>
                <a:cs typeface="Oswald"/>
                <a:sym typeface="Oswald"/>
              </a:endParaRPr>
            </a:p>
          </p:txBody>
        </p:sp>
        <p:sp>
          <p:nvSpPr>
            <p:cNvPr id="1637" name="Google Shape;1637;p111"/>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38" name="Google Shape;1638;p111"/>
          <p:cNvGrpSpPr/>
          <p:nvPr/>
        </p:nvGrpSpPr>
        <p:grpSpPr>
          <a:xfrm>
            <a:off x="571500" y="1524000"/>
            <a:ext cx="8001000" cy="2737104"/>
            <a:chOff x="571500" y="1524000"/>
            <a:chExt cx="8001000" cy="2737104"/>
          </a:xfrm>
        </p:grpSpPr>
        <p:sp>
          <p:nvSpPr>
            <p:cNvPr id="1639" name="Google Shape;1639;p111"/>
            <p:cNvSpPr/>
            <p:nvPr/>
          </p:nvSpPr>
          <p:spPr>
            <a:xfrm>
              <a:off x="571500" y="1524000"/>
              <a:ext cx="8001000" cy="26670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0" name="Google Shape;1640;p111"/>
            <p:cNvSpPr/>
            <p:nvPr/>
          </p:nvSpPr>
          <p:spPr>
            <a:xfrm>
              <a:off x="857250" y="2000250"/>
              <a:ext cx="57300" cy="1714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1" name="Google Shape;1641;p111"/>
            <p:cNvSpPr txBox="1"/>
            <p:nvPr/>
          </p:nvSpPr>
          <p:spPr>
            <a:xfrm>
              <a:off x="1143000" y="1594104"/>
              <a:ext cx="762000" cy="26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4800">
                  <a:solidFill>
                    <a:srgbClr val="3B82F6"/>
                  </a:solidFill>
                  <a:latin typeface="Material Icons"/>
                  <a:ea typeface="Material Icons"/>
                  <a:cs typeface="Material Icons"/>
                  <a:sym typeface="Material Icons"/>
                </a:rPr>
                <a:t>help_outline</a:t>
              </a:r>
              <a:endParaRPr sz="4800">
                <a:solidFill>
                  <a:srgbClr val="3B82F6"/>
                </a:solidFill>
                <a:latin typeface="Material Icons"/>
                <a:ea typeface="Material Icons"/>
                <a:cs typeface="Material Icons"/>
                <a:sym typeface="Material Icons"/>
              </a:endParaRPr>
            </a:p>
          </p:txBody>
        </p:sp>
        <p:sp>
          <p:nvSpPr>
            <p:cNvPr id="1642" name="Google Shape;1642;p111"/>
            <p:cNvSpPr txBox="1"/>
            <p:nvPr/>
          </p:nvSpPr>
          <p:spPr>
            <a:xfrm>
              <a:off x="2095500" y="1524000"/>
              <a:ext cx="6096000" cy="2667000"/>
            </a:xfrm>
            <a:prstGeom prst="rect">
              <a:avLst/>
            </a:prstGeom>
            <a:noFill/>
            <a:ln>
              <a:noFill/>
            </a:ln>
          </p:spPr>
          <p:txBody>
            <a:bodyPr anchorCtr="0" anchor="ctr" bIns="0" lIns="0" spcFirstLastPara="1" rIns="38100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如何在資源極度匱乏的Edge Device上，精準且real-time的抓取羽球軌跡</a:t>
              </a:r>
              <a:endParaRPr b="1" sz="2400">
                <a:solidFill>
                  <a:srgbClr val="1E293B"/>
                </a:solidFill>
                <a:latin typeface="Inter"/>
                <a:ea typeface="Inter"/>
                <a:cs typeface="Inter"/>
                <a:sym typeface="Inter"/>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6" name="Shape 1646"/>
        <p:cNvGrpSpPr/>
        <p:nvPr/>
      </p:nvGrpSpPr>
      <p:grpSpPr>
        <a:xfrm>
          <a:off x="0" y="0"/>
          <a:ext cx="0" cy="0"/>
          <a:chOff x="0" y="0"/>
          <a:chExt cx="0" cy="0"/>
        </a:xfrm>
      </p:grpSpPr>
      <p:grpSp>
        <p:nvGrpSpPr>
          <p:cNvPr id="1647" name="Google Shape;1647;p112"/>
          <p:cNvGrpSpPr/>
          <p:nvPr/>
        </p:nvGrpSpPr>
        <p:grpSpPr>
          <a:xfrm>
            <a:off x="-476250" y="-857250"/>
            <a:ext cx="10477500" cy="6381750"/>
            <a:chOff x="-476250" y="-857250"/>
            <a:chExt cx="10477500" cy="6381750"/>
          </a:xfrm>
        </p:grpSpPr>
        <p:sp>
          <p:nvSpPr>
            <p:cNvPr id="1648" name="Google Shape;1648;p11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9" name="Google Shape;1649;p11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0" name="Google Shape;1650;p11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51" name="Google Shape;1651;p112"/>
          <p:cNvGrpSpPr/>
          <p:nvPr/>
        </p:nvGrpSpPr>
        <p:grpSpPr>
          <a:xfrm>
            <a:off x="571500" y="381000"/>
            <a:ext cx="8001000" cy="762000"/>
            <a:chOff x="571500" y="381000"/>
            <a:chExt cx="8001000" cy="762000"/>
          </a:xfrm>
        </p:grpSpPr>
        <p:sp>
          <p:nvSpPr>
            <p:cNvPr id="1652" name="Google Shape;1652;p112"/>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200">
                  <a:solidFill>
                    <a:srgbClr val="1E293B"/>
                  </a:solidFill>
                  <a:latin typeface="Oswald"/>
                  <a:ea typeface="Oswald"/>
                  <a:cs typeface="Oswald"/>
                  <a:sym typeface="Oswald"/>
                </a:rPr>
                <a:t>TracknetV4 </a:t>
              </a:r>
              <a:r>
                <a:rPr b="0" lang="zh-TW" sz="3200">
                  <a:solidFill>
                    <a:srgbClr val="3B82F6"/>
                  </a:solidFill>
                  <a:latin typeface="Oswald"/>
                  <a:ea typeface="Oswald"/>
                  <a:cs typeface="Oswald"/>
                  <a:sym typeface="Oswald"/>
                </a:rPr>
                <a:t>(在 Jetson Nano 上的</a:t>
              </a:r>
              <a:r>
                <a:rPr lang="zh-TW" sz="3200">
                  <a:solidFill>
                    <a:srgbClr val="3B82F6"/>
                  </a:solidFill>
                  <a:latin typeface="Oswald"/>
                  <a:ea typeface="Oswald"/>
                  <a:cs typeface="Oswald"/>
                  <a:sym typeface="Oswald"/>
                </a:rPr>
                <a:t>兩</a:t>
              </a:r>
              <a:r>
                <a:rPr b="0" lang="zh-TW" sz="3200">
                  <a:solidFill>
                    <a:srgbClr val="3B82F6"/>
                  </a:solidFill>
                  <a:latin typeface="Oswald"/>
                  <a:ea typeface="Oswald"/>
                  <a:cs typeface="Oswald"/>
                  <a:sym typeface="Oswald"/>
                </a:rPr>
                <a:t>大問題)</a:t>
              </a:r>
              <a:endParaRPr b="1" sz="3200">
                <a:solidFill>
                  <a:srgbClr val="1E293B"/>
                </a:solidFill>
                <a:latin typeface="Oswald"/>
                <a:ea typeface="Oswald"/>
                <a:cs typeface="Oswald"/>
                <a:sym typeface="Oswald"/>
              </a:endParaRPr>
            </a:p>
          </p:txBody>
        </p:sp>
        <p:sp>
          <p:nvSpPr>
            <p:cNvPr id="1653" name="Google Shape;1653;p112"/>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54" name="Google Shape;1654;p112"/>
          <p:cNvGrpSpPr/>
          <p:nvPr/>
        </p:nvGrpSpPr>
        <p:grpSpPr>
          <a:xfrm>
            <a:off x="571500" y="1381125"/>
            <a:ext cx="3905400" cy="3333900"/>
            <a:chOff x="571500" y="1381125"/>
            <a:chExt cx="3905400" cy="3333900"/>
          </a:xfrm>
        </p:grpSpPr>
        <p:sp>
          <p:nvSpPr>
            <p:cNvPr id="1655" name="Google Shape;1655;p112"/>
            <p:cNvSpPr/>
            <p:nvPr/>
          </p:nvSpPr>
          <p:spPr>
            <a:xfrm>
              <a:off x="57150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6" name="Google Shape;1656;p112"/>
            <p:cNvSpPr txBox="1"/>
            <p:nvPr/>
          </p:nvSpPr>
          <p:spPr>
            <a:xfrm>
              <a:off x="57150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0" lang="zh-TW" sz="2400">
                  <a:solidFill>
                    <a:srgbClr val="EF4444"/>
                  </a:solidFill>
                  <a:latin typeface="Material Icons"/>
                  <a:ea typeface="Material Icons"/>
                  <a:cs typeface="Material Icons"/>
                  <a:sym typeface="Material Icons"/>
                </a:rPr>
                <a:t>memory</a:t>
              </a:r>
              <a:r>
                <a:rPr b="1" lang="zh-TW" sz="1600">
                  <a:solidFill>
                    <a:srgbClr val="1E293B"/>
                  </a:solidFill>
                  <a:latin typeface="Inter"/>
                  <a:ea typeface="Inter"/>
                  <a:cs typeface="Inter"/>
                  <a:sym typeface="Inter"/>
                </a:rPr>
                <a:t>邊緣算力撞牆 (The Wall)</a:t>
              </a:r>
              <a:endParaRPr b="0" sz="2400">
                <a:solidFill>
                  <a:srgbClr val="EF4444"/>
                </a:solidFill>
                <a:latin typeface="Material Icons"/>
                <a:ea typeface="Material Icons"/>
                <a:cs typeface="Material Icons"/>
                <a:sym typeface="Material Icons"/>
              </a:endParaRPr>
            </a:p>
            <a:p>
              <a:pPr indent="0" lvl="0" marL="0" rtl="0" algn="l">
                <a:spcBef>
                  <a:spcPts val="600"/>
                </a:spcBef>
                <a:spcAft>
                  <a:spcPts val="0"/>
                </a:spcAft>
                <a:buNone/>
              </a:pPr>
              <a:r>
                <a:rPr b="0" lang="zh-TW" sz="1100">
                  <a:solidFill>
                    <a:srgbClr val="475569"/>
                  </a:solidFill>
                  <a:latin typeface="Inter"/>
                  <a:ea typeface="Inter"/>
                  <a:cs typeface="Inter"/>
                  <a:sym typeface="Inter"/>
                </a:rPr>
                <a:t>專為 PC 級 GPU 設計的龐大模型直接部署於邊緣設備面臨嚴重瓶頸：</a:t>
              </a:r>
              <a:endParaRPr b="0" sz="1100">
                <a:solidFill>
                  <a:srgbClr val="475569"/>
                </a:solidFill>
                <a:latin typeface="Inter"/>
                <a:ea typeface="Inter"/>
                <a:cs typeface="Inter"/>
                <a:sym typeface="Inter"/>
              </a:endParaRPr>
            </a:p>
            <a:p>
              <a:pPr indent="-295275" lvl="0" marL="457200" rtl="0" algn="l">
                <a:spcBef>
                  <a:spcPts val="900"/>
                </a:spcBef>
                <a:spcAft>
                  <a:spcPts val="0"/>
                </a:spcAft>
                <a:buClr>
                  <a:srgbClr val="64748B"/>
                </a:buClr>
                <a:buSzPts val="1050"/>
                <a:buFont typeface="Inter"/>
                <a:buChar char="●"/>
              </a:pPr>
              <a:r>
                <a:rPr b="0" lang="zh-TW" sz="1050">
                  <a:solidFill>
                    <a:srgbClr val="64748B"/>
                  </a:solidFill>
                  <a:latin typeface="Inter"/>
                  <a:ea typeface="Inter"/>
                  <a:cs typeface="Inter"/>
                  <a:sym typeface="Inter"/>
                </a:rPr>
                <a:t>因參數過大極易引發 </a:t>
              </a:r>
              <a:r>
                <a:rPr b="0" lang="zh-TW" sz="1050">
                  <a:solidFill>
                    <a:srgbClr val="EF4444"/>
                  </a:solidFill>
                  <a:latin typeface="Inter SemiBold"/>
                  <a:ea typeface="Inter SemiBold"/>
                  <a:cs typeface="Inter SemiBold"/>
                  <a:sym typeface="Inter SemiBold"/>
                </a:rPr>
                <a:t>OOM 當機</a:t>
              </a:r>
              <a:r>
                <a:rPr b="0" lang="zh-TW" sz="1050">
                  <a:solidFill>
                    <a:srgbClr val="64748B"/>
                  </a:solidFill>
                  <a:latin typeface="Inter"/>
                  <a:ea typeface="Inter"/>
                  <a:cs typeface="Inter"/>
                  <a:sym typeface="Inter"/>
                </a:rPr>
                <a:t>。</a:t>
              </a:r>
              <a:endParaRPr b="0" sz="1050">
                <a:solidFill>
                  <a:srgbClr val="64748B"/>
                </a:solidFill>
                <a:latin typeface="Inter"/>
                <a:ea typeface="Inter"/>
                <a:cs typeface="Inter"/>
                <a:sym typeface="Inter"/>
              </a:endParaRPr>
            </a:p>
            <a:p>
              <a:pPr indent="-295275" lvl="0" marL="457200" rtl="0" algn="l">
                <a:spcBef>
                  <a:spcPts val="600"/>
                </a:spcBef>
                <a:spcAft>
                  <a:spcPts val="0"/>
                </a:spcAft>
                <a:buClr>
                  <a:srgbClr val="64748B"/>
                </a:buClr>
                <a:buSzPts val="1050"/>
                <a:buFont typeface="Inter"/>
                <a:buChar char="●"/>
              </a:pPr>
              <a:r>
                <a:rPr b="0" lang="zh-TW" sz="1050">
                  <a:solidFill>
                    <a:srgbClr val="64748B"/>
                  </a:solidFill>
                  <a:latin typeface="Inter"/>
                  <a:ea typeface="Inter"/>
                  <a:cs typeface="Inter"/>
                  <a:sym typeface="Inter"/>
                </a:rPr>
                <a:t>即使經 TensorRT 編譯，最高推論幀率僅 </a:t>
              </a:r>
              <a:r>
                <a:rPr b="0" lang="zh-TW" sz="1050">
                  <a:solidFill>
                    <a:srgbClr val="EF4444"/>
                  </a:solidFill>
                  <a:latin typeface="Inter SemiBold"/>
                  <a:ea typeface="Inter SemiBold"/>
                  <a:cs typeface="Inter SemiBold"/>
                  <a:sym typeface="Inter SemiBold"/>
                </a:rPr>
                <a:t>1.25 FPS</a:t>
              </a:r>
              <a:r>
                <a:rPr b="0" lang="zh-TW" sz="1050">
                  <a:solidFill>
                    <a:srgbClr val="64748B"/>
                  </a:solidFill>
                  <a:latin typeface="Inter"/>
                  <a:ea typeface="Inter"/>
                  <a:cs typeface="Inter"/>
                  <a:sym typeface="Inter"/>
                </a:rPr>
                <a:t>。</a:t>
              </a:r>
              <a:endParaRPr b="0" sz="1050">
                <a:solidFill>
                  <a:srgbClr val="64748B"/>
                </a:solidFill>
                <a:latin typeface="Inter"/>
                <a:ea typeface="Inter"/>
                <a:cs typeface="Inter"/>
                <a:sym typeface="Inter"/>
              </a:endParaRPr>
            </a:p>
            <a:p>
              <a:pPr indent="-295275" lvl="0" marL="457200" rtl="0" algn="l">
                <a:spcBef>
                  <a:spcPts val="600"/>
                </a:spcBef>
                <a:spcAft>
                  <a:spcPts val="0"/>
                </a:spcAft>
                <a:buClr>
                  <a:srgbClr val="64748B"/>
                </a:buClr>
                <a:buSzPts val="1050"/>
                <a:buFont typeface="Inter"/>
                <a:buChar char="●"/>
              </a:pPr>
              <a:r>
                <a:rPr b="0" lang="zh-TW" sz="1050">
                  <a:solidFill>
                    <a:srgbClr val="64748B"/>
                  </a:solidFill>
                  <a:latin typeface="Inter"/>
                  <a:ea typeface="Inter"/>
                  <a:cs typeface="Inter"/>
                  <a:sym typeface="Inter"/>
                </a:rPr>
                <a:t>完全無法滿足即時 (Real-time) 追蹤的底線。</a:t>
              </a:r>
              <a:endParaRPr b="0" sz="1050">
                <a:solidFill>
                  <a:srgbClr val="64748B"/>
                </a:solidFill>
                <a:latin typeface="Inter"/>
                <a:ea typeface="Inter"/>
                <a:cs typeface="Inter"/>
                <a:sym typeface="Inter"/>
              </a:endParaRPr>
            </a:p>
          </p:txBody>
        </p:sp>
      </p:grpSp>
      <p:grpSp>
        <p:nvGrpSpPr>
          <p:cNvPr id="1657" name="Google Shape;1657;p112"/>
          <p:cNvGrpSpPr/>
          <p:nvPr/>
        </p:nvGrpSpPr>
        <p:grpSpPr>
          <a:xfrm>
            <a:off x="4667250" y="1381125"/>
            <a:ext cx="3905400" cy="3333900"/>
            <a:chOff x="4667250" y="1381125"/>
            <a:chExt cx="3905400" cy="3333900"/>
          </a:xfrm>
        </p:grpSpPr>
        <p:sp>
          <p:nvSpPr>
            <p:cNvPr id="1658" name="Google Shape;1658;p112"/>
            <p:cNvSpPr/>
            <p:nvPr/>
          </p:nvSpPr>
          <p:spPr>
            <a:xfrm>
              <a:off x="466725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9" name="Google Shape;1659;p112"/>
            <p:cNvSpPr txBox="1"/>
            <p:nvPr/>
          </p:nvSpPr>
          <p:spPr>
            <a:xfrm>
              <a:off x="466725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0" lang="zh-TW" sz="2400">
                  <a:solidFill>
                    <a:srgbClr val="F59E0B"/>
                  </a:solidFill>
                  <a:latin typeface="Material Icons"/>
                  <a:ea typeface="Material Icons"/>
                  <a:cs typeface="Material Icons"/>
                  <a:sym typeface="Material Icons"/>
                </a:rPr>
                <a:t>gps_off</a:t>
              </a:r>
              <a:r>
                <a:rPr b="1" lang="zh-TW" sz="1600">
                  <a:solidFill>
                    <a:srgbClr val="1E293B"/>
                  </a:solidFill>
                  <a:latin typeface="Inter"/>
                  <a:ea typeface="Inter"/>
                  <a:cs typeface="Inter"/>
                  <a:sym typeface="Inter"/>
                </a:rPr>
                <a:t>雜訊綁架 (Noise Hijack)</a:t>
              </a:r>
              <a:endParaRPr b="0" sz="2400">
                <a:solidFill>
                  <a:srgbClr val="F59E0B"/>
                </a:solidFill>
                <a:latin typeface="Material Icons"/>
                <a:ea typeface="Material Icons"/>
                <a:cs typeface="Material Icons"/>
                <a:sym typeface="Material Icons"/>
              </a:endParaRPr>
            </a:p>
            <a:p>
              <a:pPr indent="0" lvl="0" marL="0" rtl="0" algn="l">
                <a:spcBef>
                  <a:spcPts val="600"/>
                </a:spcBef>
                <a:spcAft>
                  <a:spcPts val="0"/>
                </a:spcAft>
                <a:buNone/>
              </a:pPr>
              <a:r>
                <a:rPr b="0" lang="zh-TW" sz="1100">
                  <a:solidFill>
                    <a:srgbClr val="475569"/>
                  </a:solidFill>
                  <a:latin typeface="Inter"/>
                  <a:ea typeface="Inter"/>
                  <a:cs typeface="Inter"/>
                  <a:sym typeface="Inter"/>
                </a:rPr>
                <a:t>無記憶的「無狀態偵測器」對每一幀進行獨立判斷：</a:t>
              </a:r>
              <a:endParaRPr b="0" sz="1100">
                <a:solidFill>
                  <a:srgbClr val="475569"/>
                </a:solidFill>
                <a:latin typeface="Inter"/>
                <a:ea typeface="Inter"/>
                <a:cs typeface="Inter"/>
                <a:sym typeface="Inter"/>
              </a:endParaRPr>
            </a:p>
            <a:p>
              <a:pPr indent="-295275" lvl="0" marL="457200" rtl="0" algn="l">
                <a:spcBef>
                  <a:spcPts val="900"/>
                </a:spcBef>
                <a:spcAft>
                  <a:spcPts val="0"/>
                </a:spcAft>
                <a:buClr>
                  <a:srgbClr val="64748B"/>
                </a:buClr>
                <a:buSzPts val="1050"/>
                <a:buFont typeface="Inter"/>
                <a:buChar char="●"/>
              </a:pPr>
              <a:r>
                <a:rPr b="0" lang="zh-TW" sz="1050">
                  <a:solidFill>
                    <a:srgbClr val="64748B"/>
                  </a:solidFill>
                  <a:latin typeface="Inter"/>
                  <a:ea typeface="Inter"/>
                  <a:cs typeface="Inter"/>
                  <a:sym typeface="Inter"/>
                </a:rPr>
                <a:t>白色球鞋、場邊 Logo 或白線易導致 </a:t>
              </a:r>
              <a:r>
                <a:rPr b="0" lang="zh-TW" sz="1050">
                  <a:solidFill>
                    <a:srgbClr val="F59E0B"/>
                  </a:solidFill>
                  <a:latin typeface="Inter SemiBold"/>
                  <a:ea typeface="Inter SemiBold"/>
                  <a:cs typeface="Inter SemiBold"/>
                  <a:sym typeface="Inter SemiBold"/>
                </a:rPr>
                <a:t>假陽性誤判</a:t>
              </a:r>
              <a:r>
                <a:rPr b="0" lang="zh-TW" sz="1050">
                  <a:solidFill>
                    <a:srgbClr val="64748B"/>
                  </a:solidFill>
                  <a:latin typeface="Inter"/>
                  <a:ea typeface="Inter"/>
                  <a:cs typeface="Inter"/>
                  <a:sym typeface="Inter"/>
                </a:rPr>
                <a:t>。</a:t>
              </a:r>
              <a:endParaRPr b="0" sz="1050">
                <a:solidFill>
                  <a:srgbClr val="64748B"/>
                </a:solidFill>
                <a:latin typeface="Inter"/>
                <a:ea typeface="Inter"/>
                <a:cs typeface="Inter"/>
                <a:sym typeface="Inter"/>
              </a:endParaRPr>
            </a:p>
            <a:p>
              <a:pPr indent="-295275" lvl="0" marL="457200" rtl="0" algn="l">
                <a:spcBef>
                  <a:spcPts val="600"/>
                </a:spcBef>
                <a:spcAft>
                  <a:spcPts val="0"/>
                </a:spcAft>
                <a:buClr>
                  <a:srgbClr val="64748B"/>
                </a:buClr>
                <a:buSzPts val="1050"/>
                <a:buFont typeface="Inter"/>
                <a:buChar char="●"/>
              </a:pPr>
              <a:r>
                <a:rPr b="0" lang="zh-TW" sz="1050">
                  <a:solidFill>
                    <a:srgbClr val="64748B"/>
                  </a:solidFill>
                  <a:latin typeface="Inter"/>
                  <a:ea typeface="Inter"/>
                  <a:cs typeface="Inter"/>
                  <a:sym typeface="Inter"/>
                </a:rPr>
                <a:t>容易給出超過 </a:t>
              </a:r>
              <a:r>
                <a:rPr b="0" lang="zh-TW" sz="1050">
                  <a:solidFill>
                    <a:srgbClr val="1E293B"/>
                  </a:solidFill>
                  <a:latin typeface="Inter SemiBold"/>
                  <a:ea typeface="Inter SemiBold"/>
                  <a:cs typeface="Inter SemiBold"/>
                  <a:sym typeface="Inter SemiBold"/>
                </a:rPr>
                <a:t>0.5</a:t>
              </a:r>
              <a:r>
                <a:rPr b="0" lang="zh-TW" sz="1050">
                  <a:solidFill>
                    <a:srgbClr val="64748B"/>
                  </a:solidFill>
                  <a:latin typeface="Inter"/>
                  <a:ea typeface="Inter"/>
                  <a:cs typeface="Inter"/>
                  <a:sym typeface="Inter"/>
                </a:rPr>
                <a:t> 的高信心度。</a:t>
              </a:r>
              <a:endParaRPr b="0" sz="1050">
                <a:solidFill>
                  <a:srgbClr val="64748B"/>
                </a:solidFill>
                <a:latin typeface="Inter"/>
                <a:ea typeface="Inter"/>
                <a:cs typeface="Inter"/>
                <a:sym typeface="Inter"/>
              </a:endParaRPr>
            </a:p>
            <a:p>
              <a:pPr indent="-295275" lvl="0" marL="457200" rtl="0" algn="l">
                <a:spcBef>
                  <a:spcPts val="600"/>
                </a:spcBef>
                <a:spcAft>
                  <a:spcPts val="0"/>
                </a:spcAft>
                <a:buClr>
                  <a:srgbClr val="64748B"/>
                </a:buClr>
                <a:buSzPts val="1050"/>
                <a:buFont typeface="Inter"/>
                <a:buChar char="●"/>
              </a:pPr>
              <a:r>
                <a:rPr b="0" lang="zh-TW" sz="1050">
                  <a:solidFill>
                    <a:srgbClr val="64748B"/>
                  </a:solidFill>
                  <a:latin typeface="Inter"/>
                  <a:ea typeface="Inter"/>
                  <a:cs typeface="Inter"/>
                  <a:sym typeface="Inter"/>
                </a:rPr>
                <a:t>導致追蹤紅點在發球前即滿場亂飛。</a:t>
              </a:r>
              <a:endParaRPr b="0" sz="1050">
                <a:solidFill>
                  <a:srgbClr val="64748B"/>
                </a:solidFill>
                <a:latin typeface="Inter"/>
                <a:ea typeface="Inter"/>
                <a:cs typeface="Inter"/>
                <a:sym typeface="Inter"/>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grpSp>
        <p:nvGrpSpPr>
          <p:cNvPr id="1664" name="Google Shape;1664;p113"/>
          <p:cNvGrpSpPr/>
          <p:nvPr/>
        </p:nvGrpSpPr>
        <p:grpSpPr>
          <a:xfrm>
            <a:off x="-476250" y="-857250"/>
            <a:ext cx="10477500" cy="6381750"/>
            <a:chOff x="-476250" y="-857250"/>
            <a:chExt cx="10477500" cy="6381750"/>
          </a:xfrm>
        </p:grpSpPr>
        <p:sp>
          <p:nvSpPr>
            <p:cNvPr id="1665" name="Google Shape;1665;p113"/>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6" name="Google Shape;1666;p11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7" name="Google Shape;1667;p11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68" name="Google Shape;1668;p113"/>
          <p:cNvGrpSpPr/>
          <p:nvPr/>
        </p:nvGrpSpPr>
        <p:grpSpPr>
          <a:xfrm>
            <a:off x="571500" y="1524000"/>
            <a:ext cx="8001000" cy="1628925"/>
            <a:chOff x="571500" y="1524000"/>
            <a:chExt cx="8001000" cy="1628925"/>
          </a:xfrm>
        </p:grpSpPr>
        <p:sp>
          <p:nvSpPr>
            <p:cNvPr id="1669" name="Google Shape;1669;p113"/>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如何解決算力不足的問題</a:t>
              </a:r>
              <a:endParaRPr b="1" sz="4200">
                <a:solidFill>
                  <a:srgbClr val="1E293B"/>
                </a:solidFill>
                <a:latin typeface="Inter"/>
                <a:ea typeface="Inter"/>
                <a:cs typeface="Inter"/>
                <a:sym typeface="Inter"/>
              </a:endParaRPr>
            </a:p>
          </p:txBody>
        </p:sp>
        <p:sp>
          <p:nvSpPr>
            <p:cNvPr id="1670" name="Google Shape;1670;p113"/>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grpSp>
        <p:nvGrpSpPr>
          <p:cNvPr id="1675" name="Google Shape;1675;p114"/>
          <p:cNvGrpSpPr/>
          <p:nvPr/>
        </p:nvGrpSpPr>
        <p:grpSpPr>
          <a:xfrm>
            <a:off x="-476250" y="-857250"/>
            <a:ext cx="10477500" cy="6381750"/>
            <a:chOff x="-476250" y="-857250"/>
            <a:chExt cx="10477500" cy="6381750"/>
          </a:xfrm>
        </p:grpSpPr>
        <p:sp>
          <p:nvSpPr>
            <p:cNvPr id="1676" name="Google Shape;1676;p11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7" name="Google Shape;1677;p11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8" name="Google Shape;1678;p11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79" name="Google Shape;1679;p114"/>
          <p:cNvGrpSpPr/>
          <p:nvPr/>
        </p:nvGrpSpPr>
        <p:grpSpPr>
          <a:xfrm>
            <a:off x="571500" y="381000"/>
            <a:ext cx="8001000" cy="762000"/>
            <a:chOff x="571500" y="381000"/>
            <a:chExt cx="8001000" cy="762000"/>
          </a:xfrm>
        </p:grpSpPr>
        <p:sp>
          <p:nvSpPr>
            <p:cNvPr id="1680" name="Google Shape;1680;p114"/>
            <p:cNvSpPr txBox="1"/>
            <p:nvPr/>
          </p:nvSpPr>
          <p:spPr>
            <a:xfrm>
              <a:off x="571500" y="38100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解決算力不足的問題</a:t>
              </a:r>
              <a:r>
                <a:rPr b="1" lang="zh-TW" sz="3600">
                  <a:solidFill>
                    <a:srgbClr val="1E293B"/>
                  </a:solidFill>
                  <a:latin typeface="Inter"/>
                  <a:ea typeface="Inter"/>
                  <a:cs typeface="Inter"/>
                  <a:sym typeface="Inter"/>
                </a:rPr>
                <a:t> </a:t>
              </a:r>
              <a:r>
                <a:rPr b="0" lang="zh-TW" sz="2400">
                  <a:solidFill>
                    <a:srgbClr val="3B82F6"/>
                  </a:solidFill>
                  <a:latin typeface="Inter"/>
                  <a:ea typeface="Inter"/>
                  <a:cs typeface="Inter"/>
                  <a:sym typeface="Inter"/>
                </a:rPr>
                <a:t>(核心架構優化)</a:t>
              </a:r>
              <a:endParaRPr b="1" sz="3600">
                <a:solidFill>
                  <a:srgbClr val="1E293B"/>
                </a:solidFill>
                <a:latin typeface="Inter"/>
                <a:ea typeface="Inter"/>
                <a:cs typeface="Inter"/>
                <a:sym typeface="Inter"/>
              </a:endParaRPr>
            </a:p>
          </p:txBody>
        </p:sp>
        <p:sp>
          <p:nvSpPr>
            <p:cNvPr id="1681" name="Google Shape;1681;p114"/>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82" name="Google Shape;1682;p114"/>
          <p:cNvGrpSpPr/>
          <p:nvPr/>
        </p:nvGrpSpPr>
        <p:grpSpPr>
          <a:xfrm>
            <a:off x="571500" y="1381125"/>
            <a:ext cx="3905400" cy="3333900"/>
            <a:chOff x="571500" y="1381125"/>
            <a:chExt cx="3905400" cy="3333900"/>
          </a:xfrm>
        </p:grpSpPr>
        <p:sp>
          <p:nvSpPr>
            <p:cNvPr id="1683" name="Google Shape;1683;p114"/>
            <p:cNvSpPr/>
            <p:nvPr/>
          </p:nvSpPr>
          <p:spPr>
            <a:xfrm>
              <a:off x="57150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4" name="Google Shape;1684;p114"/>
            <p:cNvSpPr txBox="1"/>
            <p:nvPr/>
          </p:nvSpPr>
          <p:spPr>
            <a:xfrm>
              <a:off x="57150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0" lang="zh-TW" sz="2400">
                  <a:solidFill>
                    <a:srgbClr val="3B82F6"/>
                  </a:solidFill>
                  <a:latin typeface="Material Icons"/>
                  <a:ea typeface="Material Icons"/>
                  <a:cs typeface="Material Icons"/>
                  <a:sym typeface="Material Icons"/>
                </a:rPr>
                <a:t>school</a:t>
              </a:r>
              <a:r>
                <a:rPr b="1" lang="zh-TW" sz="1600">
                  <a:solidFill>
                    <a:srgbClr val="1E293B"/>
                  </a:solidFill>
                  <a:latin typeface="Inter"/>
                  <a:ea typeface="Inter"/>
                  <a:cs typeface="Inter"/>
                  <a:sym typeface="Inter"/>
                </a:rPr>
                <a:t>知識蒸餾與極簡</a:t>
              </a:r>
              <a:r>
                <a:rPr b="1" lang="zh-TW" sz="1600">
                  <a:solidFill>
                    <a:srgbClr val="1E293B"/>
                  </a:solidFill>
                  <a:latin typeface="Inter"/>
                  <a:ea typeface="Inter"/>
                  <a:cs typeface="Inter"/>
                  <a:sym typeface="Inter"/>
                </a:rPr>
                <a:t> </a:t>
              </a:r>
              <a:r>
                <a:rPr b="1" lang="zh-TW" sz="1600">
                  <a:solidFill>
                    <a:srgbClr val="1E293B"/>
                  </a:solidFill>
                  <a:latin typeface="Inter"/>
                  <a:ea typeface="Inter"/>
                  <a:cs typeface="Inter"/>
                  <a:sym typeface="Inter"/>
                </a:rPr>
                <a:t>ROI</a:t>
              </a:r>
              <a:endParaRPr b="0" sz="2400">
                <a:solidFill>
                  <a:srgbClr val="3B82F6"/>
                </a:solidFill>
                <a:latin typeface="Material Icons"/>
                <a:ea typeface="Material Icons"/>
                <a:cs typeface="Material Icons"/>
                <a:sym typeface="Material Icons"/>
              </a:endParaRPr>
            </a:p>
            <a:p>
              <a:pPr indent="0" lvl="0" marL="0" rtl="0" algn="l">
                <a:spcBef>
                  <a:spcPts val="825"/>
                </a:spcBef>
                <a:spcAft>
                  <a:spcPts val="0"/>
                </a:spcAft>
                <a:buNone/>
              </a:pPr>
              <a:r>
                <a:rPr b="0" lang="zh-TW" sz="1300">
                  <a:solidFill>
                    <a:srgbClr val="3B82F6"/>
                  </a:solidFill>
                  <a:latin typeface="Inter SemiBold"/>
                  <a:ea typeface="Inter SemiBold"/>
                  <a:cs typeface="Inter SemiBold"/>
                  <a:sym typeface="Inter SemiBold"/>
                </a:rPr>
                <a:t>Strict Fixed ROI Architecture</a:t>
              </a:r>
              <a:endParaRPr b="0" sz="1300">
                <a:solidFill>
                  <a:srgbClr val="3B82F6"/>
                </a:solidFill>
                <a:latin typeface="Inter SemiBold"/>
                <a:ea typeface="Inter SemiBold"/>
                <a:cs typeface="Inter SemiBold"/>
                <a:sym typeface="Inter SemiBold"/>
              </a:endParaRPr>
            </a:p>
            <a:p>
              <a:pPr indent="-298450" lvl="0" marL="457200" rtl="0" algn="l">
                <a:spcBef>
                  <a:spcPts val="900"/>
                </a:spcBef>
                <a:spcAft>
                  <a:spcPts val="0"/>
                </a:spcAft>
                <a:buClr>
                  <a:srgbClr val="475569"/>
                </a:buClr>
                <a:buSzPts val="1100"/>
                <a:buFont typeface="Inter"/>
                <a:buChar char="●"/>
              </a:pPr>
              <a:r>
                <a:rPr b="1" lang="zh-TW" sz="1100">
                  <a:solidFill>
                    <a:srgbClr val="475569"/>
                  </a:solidFill>
                  <a:latin typeface="Inter"/>
                  <a:ea typeface="Inter"/>
                  <a:cs typeface="Inter"/>
                  <a:sym typeface="Inter"/>
                </a:rPr>
                <a:t>教師與學生模型：</a:t>
              </a:r>
              <a:r>
                <a:rPr b="0" lang="zh-TW" sz="1100">
                  <a:solidFill>
                    <a:srgbClr val="475569"/>
                  </a:solidFill>
                  <a:latin typeface="Inter"/>
                  <a:ea typeface="Inter"/>
                  <a:cs typeface="Inter"/>
                  <a:sym typeface="Inter"/>
                </a:rPr>
                <a:t>將 V4 大模型視為教師 (Teacher)，透過知識蒸餾訓練僅關注 128x128 局部視野的 MiniROI 學生模型。</a:t>
              </a:r>
              <a:endParaRPr b="0" sz="1100">
                <a:solidFill>
                  <a:srgbClr val="475569"/>
                </a:solidFill>
                <a:latin typeface="Inter"/>
                <a:ea typeface="Inter"/>
                <a:cs typeface="Inter"/>
                <a:sym typeface="Inter"/>
              </a:endParaRPr>
            </a:p>
            <a:p>
              <a:pPr indent="-298450" lvl="0" marL="457200" rtl="0" algn="l">
                <a:spcBef>
                  <a:spcPts val="750"/>
                </a:spcBef>
                <a:spcAft>
                  <a:spcPts val="0"/>
                </a:spcAft>
                <a:buClr>
                  <a:srgbClr val="475569"/>
                </a:buClr>
                <a:buSzPts val="1100"/>
                <a:buFont typeface="Inter"/>
                <a:buChar char="●"/>
              </a:pPr>
              <a:r>
                <a:rPr b="1" lang="zh-TW" sz="1100">
                  <a:solidFill>
                    <a:srgbClr val="475569"/>
                  </a:solidFill>
                  <a:latin typeface="Inter"/>
                  <a:ea typeface="Inter"/>
                  <a:cs typeface="Inter"/>
                  <a:sym typeface="Inter"/>
                </a:rPr>
                <a:t>聚焦核心視野：</a:t>
              </a:r>
              <a:r>
                <a:rPr b="0" lang="zh-TW" sz="1100">
                  <a:solidFill>
                    <a:srgbClr val="475569"/>
                  </a:solidFill>
                  <a:latin typeface="Inter"/>
                  <a:ea typeface="Inter"/>
                  <a:cs typeface="Inter"/>
                  <a:sym typeface="Inter"/>
                </a:rPr>
                <a:t>果斷放棄過度複雜的動態感野，大幅降低運算複雜度。</a:t>
              </a:r>
              <a:endParaRPr b="0" sz="1100">
                <a:solidFill>
                  <a:srgbClr val="475569"/>
                </a:solidFill>
                <a:latin typeface="Inter"/>
                <a:ea typeface="Inter"/>
                <a:cs typeface="Inter"/>
                <a:sym typeface="Inter"/>
              </a:endParaRPr>
            </a:p>
          </p:txBody>
        </p:sp>
      </p:grpSp>
      <p:grpSp>
        <p:nvGrpSpPr>
          <p:cNvPr id="1685" name="Google Shape;1685;p114"/>
          <p:cNvGrpSpPr/>
          <p:nvPr/>
        </p:nvGrpSpPr>
        <p:grpSpPr>
          <a:xfrm>
            <a:off x="4667250" y="1381125"/>
            <a:ext cx="3905400" cy="3333900"/>
            <a:chOff x="4667250" y="1381125"/>
            <a:chExt cx="3905400" cy="3333900"/>
          </a:xfrm>
        </p:grpSpPr>
        <p:sp>
          <p:nvSpPr>
            <p:cNvPr id="1686" name="Google Shape;1686;p114"/>
            <p:cNvSpPr/>
            <p:nvPr/>
          </p:nvSpPr>
          <p:spPr>
            <a:xfrm>
              <a:off x="466725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7" name="Google Shape;1687;p114"/>
            <p:cNvSpPr txBox="1"/>
            <p:nvPr/>
          </p:nvSpPr>
          <p:spPr>
            <a:xfrm>
              <a:off x="466725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0" lang="zh-TW" sz="2400">
                  <a:solidFill>
                    <a:srgbClr val="3B82F6"/>
                  </a:solidFill>
                  <a:latin typeface="Material Icons"/>
                  <a:ea typeface="Material Icons"/>
                  <a:cs typeface="Material Icons"/>
                  <a:sym typeface="Material Icons"/>
                </a:rPr>
                <a:t>speed</a:t>
              </a:r>
              <a:r>
                <a:rPr b="1" lang="zh-TW" sz="1600">
                  <a:solidFill>
                    <a:srgbClr val="1E293B"/>
                  </a:solidFill>
                  <a:latin typeface="Inter"/>
                  <a:ea typeface="Inter"/>
                  <a:cs typeface="Inter"/>
                  <a:sym typeface="Inter"/>
                </a:rPr>
                <a:t>突破性的算力壓縮與加速</a:t>
              </a:r>
              <a:endParaRPr b="0" sz="2400">
                <a:solidFill>
                  <a:srgbClr val="3B82F6"/>
                </a:solidFill>
                <a:latin typeface="Material Icons"/>
                <a:ea typeface="Material Icons"/>
                <a:cs typeface="Material Icons"/>
                <a:sym typeface="Material Icons"/>
              </a:endParaRPr>
            </a:p>
            <a:p>
              <a:pPr indent="0" lvl="0" marL="0" rtl="0" algn="l">
                <a:spcBef>
                  <a:spcPts val="825"/>
                </a:spcBef>
                <a:spcAft>
                  <a:spcPts val="0"/>
                </a:spcAft>
                <a:buNone/>
              </a:pPr>
              <a:r>
                <a:rPr b="0" lang="zh-TW" sz="1300">
                  <a:solidFill>
                    <a:srgbClr val="3B82F6"/>
                  </a:solidFill>
                  <a:latin typeface="Inter SemiBold"/>
                  <a:ea typeface="Inter SemiBold"/>
                  <a:cs typeface="Inter SemiBold"/>
                  <a:sym typeface="Inter SemiBold"/>
                </a:rPr>
                <a:t>Performance &amp; Efficiency Leap</a:t>
              </a:r>
              <a:endParaRPr b="0" sz="1300">
                <a:solidFill>
                  <a:srgbClr val="3B82F6"/>
                </a:solidFill>
                <a:latin typeface="Inter SemiBold"/>
                <a:ea typeface="Inter SemiBold"/>
                <a:cs typeface="Inter SemiBold"/>
                <a:sym typeface="Inter SemiBold"/>
              </a:endParaRPr>
            </a:p>
            <a:p>
              <a:pPr indent="-298450" lvl="0" marL="457200" rtl="0" algn="l">
                <a:spcBef>
                  <a:spcPts val="900"/>
                </a:spcBef>
                <a:spcAft>
                  <a:spcPts val="0"/>
                </a:spcAft>
                <a:buClr>
                  <a:srgbClr val="475569"/>
                </a:buClr>
                <a:buSzPts val="1100"/>
                <a:buFont typeface="Inter"/>
                <a:buChar char="●"/>
              </a:pPr>
              <a:r>
                <a:rPr b="1" lang="zh-TW" sz="1100">
                  <a:solidFill>
                    <a:srgbClr val="475569"/>
                  </a:solidFill>
                  <a:latin typeface="Inter"/>
                  <a:ea typeface="Inter"/>
                  <a:cs typeface="Inter"/>
                  <a:sym typeface="Inter"/>
                </a:rPr>
                <a:t>極致運算壓縮：</a:t>
              </a:r>
              <a:r>
                <a:rPr b="0" lang="zh-TW" sz="1100">
                  <a:solidFill>
                    <a:srgbClr val="475569"/>
                  </a:solidFill>
                  <a:latin typeface="Inter"/>
                  <a:ea typeface="Inter"/>
                  <a:cs typeface="Inter"/>
                  <a:sym typeface="Inter"/>
                </a:rPr>
                <a:t>成功將浮點運算量 (FLOPs) 壓縮至全圖的 </a:t>
              </a:r>
              <a:r>
                <a:rPr b="1" lang="zh-TW" sz="1100">
                  <a:solidFill>
                    <a:srgbClr val="3B82F6"/>
                  </a:solidFill>
                  <a:latin typeface="Inter"/>
                  <a:ea typeface="Inter"/>
                  <a:cs typeface="Inter"/>
                  <a:sym typeface="Inter"/>
                </a:rPr>
                <a:t>4% 以下</a:t>
              </a:r>
              <a:r>
                <a:rPr b="0" lang="zh-TW" sz="1100">
                  <a:solidFill>
                    <a:srgbClr val="475569"/>
                  </a:solidFill>
                  <a:latin typeface="Inter"/>
                  <a:ea typeface="Inter"/>
                  <a:cs typeface="Inter"/>
                  <a:sym typeface="Inter"/>
                </a:rPr>
                <a:t>。</a:t>
              </a:r>
              <a:endParaRPr b="0" sz="1100">
                <a:solidFill>
                  <a:srgbClr val="475569"/>
                </a:solidFill>
                <a:latin typeface="Inter"/>
                <a:ea typeface="Inter"/>
                <a:cs typeface="Inter"/>
                <a:sym typeface="Inter"/>
              </a:endParaRPr>
            </a:p>
            <a:p>
              <a:pPr indent="-298450" lvl="0" marL="457200" rtl="0" algn="l">
                <a:spcBef>
                  <a:spcPts val="750"/>
                </a:spcBef>
                <a:spcAft>
                  <a:spcPts val="0"/>
                </a:spcAft>
                <a:buClr>
                  <a:srgbClr val="475569"/>
                </a:buClr>
                <a:buSzPts val="1100"/>
                <a:buFont typeface="Inter"/>
                <a:buChar char="●"/>
              </a:pPr>
              <a:r>
                <a:rPr b="1" lang="zh-TW" sz="1100">
                  <a:solidFill>
                    <a:srgbClr val="475569"/>
                  </a:solidFill>
                  <a:latin typeface="Inter"/>
                  <a:ea typeface="Inter"/>
                  <a:cs typeface="Inter"/>
                  <a:sym typeface="Inter"/>
                </a:rPr>
                <a:t>流暢邊緣推論：</a:t>
              </a:r>
              <a:r>
                <a:rPr b="0" lang="zh-TW" sz="1100">
                  <a:solidFill>
                    <a:srgbClr val="475569"/>
                  </a:solidFill>
                  <a:latin typeface="Inter"/>
                  <a:ea typeface="Inter"/>
                  <a:cs typeface="Inter"/>
                  <a:sym typeface="Inter"/>
                </a:rPr>
                <a:t>配合 TensorRT 加速，在邊緣設備上創造出超越 </a:t>
              </a:r>
              <a:r>
                <a:rPr b="1" lang="zh-TW" sz="1100">
                  <a:solidFill>
                    <a:srgbClr val="3B82F6"/>
                  </a:solidFill>
                  <a:latin typeface="Inter"/>
                  <a:ea typeface="Inter"/>
                  <a:cs typeface="Inter"/>
                  <a:sym typeface="Inter"/>
                </a:rPr>
                <a:t>130 FPS</a:t>
              </a:r>
              <a:r>
                <a:rPr b="0" lang="zh-TW" sz="1100">
                  <a:solidFill>
                    <a:srgbClr val="475569"/>
                  </a:solidFill>
                  <a:latin typeface="Inter"/>
                  <a:ea typeface="Inter"/>
                  <a:cs typeface="Inter"/>
                  <a:sym typeface="Inter"/>
                </a:rPr>
                <a:t> 的冗餘算力，徹底擊碎算力瓶頸。</a:t>
              </a:r>
              <a:endParaRPr b="0" sz="1100">
                <a:solidFill>
                  <a:srgbClr val="475569"/>
                </a:solidFill>
                <a:latin typeface="Inter"/>
                <a:ea typeface="Inter"/>
                <a:cs typeface="Inter"/>
                <a:sym typeface="Inter"/>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grpSp>
        <p:nvGrpSpPr>
          <p:cNvPr id="1692" name="Google Shape;1692;p115"/>
          <p:cNvGrpSpPr/>
          <p:nvPr/>
        </p:nvGrpSpPr>
        <p:grpSpPr>
          <a:xfrm>
            <a:off x="-476250" y="-857250"/>
            <a:ext cx="10477500" cy="6381750"/>
            <a:chOff x="-476250" y="-857250"/>
            <a:chExt cx="10477500" cy="6381750"/>
          </a:xfrm>
        </p:grpSpPr>
        <p:sp>
          <p:nvSpPr>
            <p:cNvPr id="1693" name="Google Shape;1693;p11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4" name="Google Shape;1694;p11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5" name="Google Shape;1695;p11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6" name="Google Shape;1696;p115"/>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97" name="Google Shape;1697;p115"/>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解決算力不足的問題 </a:t>
            </a:r>
            <a:r>
              <a:rPr b="0" lang="zh-TW" sz="2220">
                <a:solidFill>
                  <a:srgbClr val="3B82F6"/>
                </a:solidFill>
                <a:latin typeface="Inter"/>
                <a:ea typeface="Inter"/>
                <a:cs typeface="Inter"/>
                <a:sym typeface="Inter"/>
              </a:rPr>
              <a:t>(</a:t>
            </a:r>
            <a:r>
              <a:rPr lang="zh-TW" sz="2220">
                <a:solidFill>
                  <a:srgbClr val="3B82F6"/>
                </a:solidFill>
                <a:latin typeface="Inter"/>
                <a:ea typeface="Inter"/>
                <a:cs typeface="Inter"/>
                <a:sym typeface="Inter"/>
              </a:rPr>
              <a:t>知識蒸餾</a:t>
            </a:r>
            <a:r>
              <a:rPr b="0" lang="zh-TW" sz="2220">
                <a:solidFill>
                  <a:srgbClr val="3B82F6"/>
                </a:solidFill>
                <a:latin typeface="Inter"/>
                <a:ea typeface="Inter"/>
                <a:cs typeface="Inter"/>
                <a:sym typeface="Inter"/>
              </a:rPr>
              <a:t>TracknetV4)</a:t>
            </a:r>
            <a:endParaRPr b="1" sz="3330">
              <a:solidFill>
                <a:srgbClr val="1E293B"/>
              </a:solidFill>
              <a:latin typeface="Inter"/>
              <a:ea typeface="Inter"/>
              <a:cs typeface="Inter"/>
              <a:sym typeface="Inter"/>
            </a:endParaRPr>
          </a:p>
        </p:txBody>
      </p:sp>
      <p:grpSp>
        <p:nvGrpSpPr>
          <p:cNvPr id="1698" name="Google Shape;1698;p115"/>
          <p:cNvGrpSpPr/>
          <p:nvPr/>
        </p:nvGrpSpPr>
        <p:grpSpPr>
          <a:xfrm>
            <a:off x="571500" y="1381125"/>
            <a:ext cx="3905400" cy="3333900"/>
            <a:chOff x="571500" y="1381125"/>
            <a:chExt cx="3905400" cy="3333900"/>
          </a:xfrm>
        </p:grpSpPr>
        <p:sp>
          <p:nvSpPr>
            <p:cNvPr id="1699" name="Google Shape;1699;p115"/>
            <p:cNvSpPr/>
            <p:nvPr/>
          </p:nvSpPr>
          <p:spPr>
            <a:xfrm>
              <a:off x="57150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0" name="Google Shape;1700;p115"/>
            <p:cNvSpPr txBox="1"/>
            <p:nvPr/>
          </p:nvSpPr>
          <p:spPr>
            <a:xfrm>
              <a:off x="57150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0" lang="zh-TW" sz="2400">
                  <a:solidFill>
                    <a:srgbClr val="3B82F6"/>
                  </a:solidFill>
                  <a:latin typeface="Material Icons"/>
                  <a:ea typeface="Material Icons"/>
                  <a:cs typeface="Material Icons"/>
                  <a:sym typeface="Material Icons"/>
                </a:rPr>
                <a:t>settings</a:t>
              </a:r>
              <a:r>
                <a:rPr b="1" lang="zh-TW" sz="1600">
                  <a:solidFill>
                    <a:srgbClr val="1E293B"/>
                  </a:solidFill>
                  <a:latin typeface="Inter"/>
                  <a:ea typeface="Inter"/>
                  <a:cs typeface="Inter"/>
                  <a:sym typeface="Inter"/>
                </a:rPr>
                <a:t>訓練配置與收斂表現</a:t>
              </a:r>
              <a:endParaRPr b="0" sz="2400">
                <a:solidFill>
                  <a:srgbClr val="3B82F6"/>
                </a:solidFill>
                <a:latin typeface="Material Icons"/>
                <a:ea typeface="Material Icons"/>
                <a:cs typeface="Material Icons"/>
                <a:sym typeface="Material Icons"/>
              </a:endParaRPr>
            </a:p>
            <a:p>
              <a:pPr indent="0" lvl="0" marL="0" rtl="0" algn="l">
                <a:spcBef>
                  <a:spcPts val="825"/>
                </a:spcBef>
                <a:spcAft>
                  <a:spcPts val="0"/>
                </a:spcAft>
                <a:buNone/>
              </a:pPr>
              <a:r>
                <a:rPr b="0" lang="zh-TW" sz="1300">
                  <a:solidFill>
                    <a:srgbClr val="3B82F6"/>
                  </a:solidFill>
                  <a:latin typeface="Inter SemiBold"/>
                  <a:ea typeface="Inter SemiBold"/>
                  <a:cs typeface="Inter SemiBold"/>
                  <a:sym typeface="Inter SemiBold"/>
                </a:rPr>
                <a:t>Training Config &amp; Convergence</a:t>
              </a:r>
              <a:endParaRPr b="0" sz="1300">
                <a:solidFill>
                  <a:srgbClr val="3B82F6"/>
                </a:solidFill>
                <a:latin typeface="Inter SemiBold"/>
                <a:ea typeface="Inter SemiBold"/>
                <a:cs typeface="Inter SemiBold"/>
                <a:sym typeface="Inter SemiBold"/>
              </a:endParaRPr>
            </a:p>
            <a:p>
              <a:pPr indent="-298450" lvl="0" marL="457200" rtl="0" algn="l">
                <a:spcBef>
                  <a:spcPts val="120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模型架構：</a:t>
              </a:r>
              <a:r>
                <a:rPr b="0" lang="zh-TW" sz="1100">
                  <a:solidFill>
                    <a:srgbClr val="475569"/>
                  </a:solidFill>
                  <a:latin typeface="Inter"/>
                  <a:ea typeface="Inter"/>
                  <a:cs typeface="Inter"/>
                  <a:sym typeface="Inter"/>
                </a:rPr>
                <a:t>TrackNetV4 (具備動態注意力機制，連續 3 幀影像輸入)。</a:t>
              </a:r>
              <a:endParaRPr b="0" sz="1100">
                <a:solidFill>
                  <a:srgbClr val="475569"/>
                </a:solidFill>
                <a:latin typeface="Inter"/>
                <a:ea typeface="Inter"/>
                <a:cs typeface="Inter"/>
                <a:sym typeface="Inter"/>
              </a:endParaRPr>
            </a:p>
            <a:p>
              <a:pPr indent="-298450" lvl="0" marL="457200" rtl="0" algn="l">
                <a:spcBef>
                  <a:spcPts val="75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訓練硬體：</a:t>
              </a:r>
              <a:r>
                <a:rPr b="0" lang="zh-TW" sz="1100">
                  <a:solidFill>
                    <a:srgbClr val="475569"/>
                  </a:solidFill>
                  <a:latin typeface="Inter"/>
                  <a:ea typeface="Inter"/>
                  <a:cs typeface="Inter"/>
                  <a:sym typeface="Inter"/>
                </a:rPr>
                <a:t>本地端 PC (配備 CUDA 加速顯示卡)。</a:t>
              </a:r>
              <a:endParaRPr b="0" sz="1100">
                <a:solidFill>
                  <a:srgbClr val="475569"/>
                </a:solidFill>
                <a:latin typeface="Inter"/>
                <a:ea typeface="Inter"/>
                <a:cs typeface="Inter"/>
                <a:sym typeface="Inter"/>
              </a:endParaRPr>
            </a:p>
            <a:p>
              <a:pPr indent="-298450" lvl="0" marL="457200" rtl="0" algn="l">
                <a:spcBef>
                  <a:spcPts val="75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週期與時間：</a:t>
              </a:r>
              <a:r>
                <a:rPr b="0" lang="zh-TW" sz="1100">
                  <a:solidFill>
                    <a:srgbClr val="475569"/>
                  </a:solidFill>
                  <a:latin typeface="Inter"/>
                  <a:ea typeface="Inter"/>
                  <a:cs typeface="Inter"/>
                  <a:sym typeface="Inter"/>
                </a:rPr>
                <a:t>30 Epochs (無預訓練權重)。因斷電重啟累計耗時約 7 天。</a:t>
              </a:r>
              <a:endParaRPr b="0" sz="1100">
                <a:solidFill>
                  <a:srgbClr val="475569"/>
                </a:solidFill>
                <a:latin typeface="Inter"/>
                <a:ea typeface="Inter"/>
                <a:cs typeface="Inter"/>
                <a:sym typeface="Inter"/>
              </a:endParaRPr>
            </a:p>
            <a:p>
              <a:pPr indent="-298450" lvl="0" marL="457200" rtl="0" algn="l">
                <a:spcBef>
                  <a:spcPts val="75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收斂結果：</a:t>
              </a:r>
              <a:r>
                <a:rPr b="0" lang="zh-TW" sz="1100">
                  <a:solidFill>
                    <a:srgbClr val="475569"/>
                  </a:solidFill>
                  <a:latin typeface="Inter"/>
                  <a:ea typeface="Inter"/>
                  <a:cs typeface="Inter"/>
                  <a:sym typeface="Inter"/>
                </a:rPr>
                <a:t>過程穩定，最低損失值 </a:t>
              </a:r>
              <a:r>
                <a:rPr b="1" lang="zh-TW" sz="1100">
                  <a:solidFill>
                    <a:srgbClr val="3B82F6"/>
                  </a:solidFill>
                  <a:latin typeface="Inter"/>
                  <a:ea typeface="Inter"/>
                  <a:cs typeface="Inter"/>
                  <a:sym typeface="Inter"/>
                </a:rPr>
                <a:t>best_loss = 0.000354</a:t>
              </a:r>
              <a:r>
                <a:rPr b="0" lang="zh-TW" sz="1100">
                  <a:solidFill>
                    <a:srgbClr val="475569"/>
                  </a:solidFill>
                  <a:latin typeface="Inter"/>
                  <a:ea typeface="Inter"/>
                  <a:cs typeface="Inter"/>
                  <a:sym typeface="Inter"/>
                </a:rPr>
                <a:t>，擬合能力極佳。</a:t>
              </a:r>
              <a:endParaRPr b="0" sz="1100">
                <a:solidFill>
                  <a:srgbClr val="475569"/>
                </a:solidFill>
                <a:latin typeface="Inter"/>
                <a:ea typeface="Inter"/>
                <a:cs typeface="Inter"/>
                <a:sym typeface="Inter"/>
              </a:endParaRPr>
            </a:p>
          </p:txBody>
        </p:sp>
      </p:grpSp>
      <p:grpSp>
        <p:nvGrpSpPr>
          <p:cNvPr id="1701" name="Google Shape;1701;p115"/>
          <p:cNvGrpSpPr/>
          <p:nvPr/>
        </p:nvGrpSpPr>
        <p:grpSpPr>
          <a:xfrm>
            <a:off x="4667250" y="1381125"/>
            <a:ext cx="3905400" cy="3333900"/>
            <a:chOff x="4667250" y="1381125"/>
            <a:chExt cx="3905400" cy="3333900"/>
          </a:xfrm>
        </p:grpSpPr>
        <p:sp>
          <p:nvSpPr>
            <p:cNvPr id="1702" name="Google Shape;1702;p115"/>
            <p:cNvSpPr/>
            <p:nvPr/>
          </p:nvSpPr>
          <p:spPr>
            <a:xfrm>
              <a:off x="466725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3" name="Google Shape;1703;p115"/>
            <p:cNvSpPr txBox="1"/>
            <p:nvPr/>
          </p:nvSpPr>
          <p:spPr>
            <a:xfrm>
              <a:off x="466725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0" lang="zh-TW" sz="2400">
                  <a:solidFill>
                    <a:srgbClr val="3B82F6"/>
                  </a:solidFill>
                  <a:latin typeface="Material Icons"/>
                  <a:ea typeface="Material Icons"/>
                  <a:cs typeface="Material Icons"/>
                  <a:sym typeface="Material Icons"/>
                </a:rPr>
                <a:t>assessment</a:t>
              </a:r>
              <a:r>
                <a:rPr b="1" lang="zh-TW" sz="1600">
                  <a:solidFill>
                    <a:srgbClr val="1E293B"/>
                  </a:solidFill>
                  <a:latin typeface="Inter"/>
                  <a:ea typeface="Inter"/>
                  <a:cs typeface="Inter"/>
                  <a:sym typeface="Inter"/>
                </a:rPr>
                <a:t>評估基準與效能指標</a:t>
              </a:r>
              <a:endParaRPr b="0" sz="2400">
                <a:solidFill>
                  <a:srgbClr val="3B82F6"/>
                </a:solidFill>
                <a:latin typeface="Material Icons"/>
                <a:ea typeface="Material Icons"/>
                <a:cs typeface="Material Icons"/>
                <a:sym typeface="Material Icons"/>
              </a:endParaRPr>
            </a:p>
            <a:p>
              <a:pPr indent="0" lvl="0" marL="0" rtl="0" algn="l">
                <a:spcBef>
                  <a:spcPts val="825"/>
                </a:spcBef>
                <a:spcAft>
                  <a:spcPts val="0"/>
                </a:spcAft>
                <a:buNone/>
              </a:pPr>
              <a:r>
                <a:rPr b="0" lang="zh-TW" sz="1300">
                  <a:solidFill>
                    <a:srgbClr val="3B82F6"/>
                  </a:solidFill>
                  <a:latin typeface="Inter SemiBold"/>
                  <a:ea typeface="Inter SemiBold"/>
                  <a:cs typeface="Inter SemiBold"/>
                  <a:sym typeface="Inter SemiBold"/>
                </a:rPr>
                <a:t>Validation &amp; Metrics Benchmark</a:t>
              </a:r>
              <a:endParaRPr b="0" sz="1300">
                <a:solidFill>
                  <a:srgbClr val="3B82F6"/>
                </a:solidFill>
                <a:latin typeface="Inter SemiBold"/>
                <a:ea typeface="Inter SemiBold"/>
                <a:cs typeface="Inter SemiBold"/>
                <a:sym typeface="Inter SemiBold"/>
              </a:endParaRPr>
            </a:p>
            <a:p>
              <a:pPr indent="-298450" lvl="0" marL="457200" rtl="0" algn="l">
                <a:spcBef>
                  <a:spcPts val="120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微型驗證集 (避免記憶體洩漏)：</a:t>
              </a:r>
              <a:r>
                <a:rPr b="0" lang="zh-TW" sz="1100">
                  <a:solidFill>
                    <a:srgbClr val="475569"/>
                  </a:solidFill>
                  <a:latin typeface="Inter"/>
                  <a:ea typeface="Inter"/>
                  <a:cs typeface="Inter"/>
                  <a:sym typeface="Inter"/>
                </a:rPr>
                <a:t>抽取 val_mini.txt 共 1,731 張影像進行測試。</a:t>
              </a:r>
              <a:endParaRPr b="0" sz="1100">
                <a:solidFill>
                  <a:srgbClr val="475569"/>
                </a:solidFill>
                <a:latin typeface="Inter"/>
                <a:ea typeface="Inter"/>
                <a:cs typeface="Inter"/>
                <a:sym typeface="Inter"/>
              </a:endParaRPr>
            </a:p>
            <a:p>
              <a:pPr indent="-298450" lvl="0" marL="457200" rtl="0" algn="l">
                <a:spcBef>
                  <a:spcPts val="100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精準率 (Precision)：</a:t>
              </a:r>
              <a:r>
                <a:rPr b="1" lang="zh-TW" sz="1100">
                  <a:solidFill>
                    <a:srgbClr val="3B82F6"/>
                  </a:solidFill>
                  <a:latin typeface="Inter"/>
                  <a:ea typeface="Inter"/>
                  <a:cs typeface="Inter"/>
                  <a:sym typeface="Inter"/>
                </a:rPr>
                <a:t>98.45%</a:t>
              </a:r>
              <a:r>
                <a:rPr b="0" lang="zh-TW" sz="1100">
                  <a:solidFill>
                    <a:srgbClr val="475569"/>
                  </a:solidFill>
                  <a:latin typeface="Inter"/>
                  <a:ea typeface="Inter"/>
                  <a:cs typeface="Inter"/>
                  <a:sym typeface="Inter"/>
                </a:rPr>
                <a:t> (預測 774 球，命中 765 球，僅誤判 12 次)</a:t>
              </a:r>
              <a:endParaRPr b="0" sz="1100">
                <a:solidFill>
                  <a:srgbClr val="475569"/>
                </a:solidFill>
                <a:latin typeface="Inter"/>
                <a:ea typeface="Inter"/>
                <a:cs typeface="Inter"/>
                <a:sym typeface="Inter"/>
              </a:endParaRPr>
            </a:p>
            <a:p>
              <a:pPr indent="-298450" lvl="0" marL="457200" rtl="0" algn="l">
                <a:spcBef>
                  <a:spcPts val="60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召回率 (Recall)：</a:t>
              </a:r>
              <a:r>
                <a:rPr b="1" lang="zh-TW" sz="1100">
                  <a:solidFill>
                    <a:srgbClr val="3B82F6"/>
                  </a:solidFill>
                  <a:latin typeface="Inter"/>
                  <a:ea typeface="Inter"/>
                  <a:cs typeface="Inter"/>
                  <a:sym typeface="Inter"/>
                </a:rPr>
                <a:t>60.52%</a:t>
              </a:r>
              <a:r>
                <a:rPr b="0" lang="zh-TW" sz="1100">
                  <a:solidFill>
                    <a:srgbClr val="475569"/>
                  </a:solidFill>
                  <a:latin typeface="Inter"/>
                  <a:ea typeface="Inter"/>
                  <a:cs typeface="Inter"/>
                  <a:sym typeface="Inter"/>
                </a:rPr>
                <a:t> (實際 1,264 球，成功偵測 765 球)</a:t>
              </a:r>
              <a:endParaRPr b="0" sz="1100">
                <a:solidFill>
                  <a:srgbClr val="475569"/>
                </a:solidFill>
                <a:latin typeface="Inter"/>
                <a:ea typeface="Inter"/>
                <a:cs typeface="Inter"/>
                <a:sym typeface="Inter"/>
              </a:endParaRPr>
            </a:p>
            <a:p>
              <a:pPr indent="-298450" lvl="0" marL="457200" rtl="0" algn="l">
                <a:spcBef>
                  <a:spcPts val="60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F1-Score：</a:t>
              </a:r>
              <a:r>
                <a:rPr b="1" lang="zh-TW" sz="1100">
                  <a:solidFill>
                    <a:srgbClr val="3B82F6"/>
                  </a:solidFill>
                  <a:latin typeface="Inter"/>
                  <a:ea typeface="Inter"/>
                  <a:cs typeface="Inter"/>
                  <a:sym typeface="Inter"/>
                </a:rPr>
                <a:t>74.96%</a:t>
              </a:r>
              <a:endParaRPr b="0" sz="1100">
                <a:solidFill>
                  <a:srgbClr val="475569"/>
                </a:solidFill>
                <a:latin typeface="Inter"/>
                <a:ea typeface="Inter"/>
                <a:cs typeface="Inter"/>
                <a:sym typeface="Inter"/>
              </a:endParaRPr>
            </a:p>
            <a:p>
              <a:pPr indent="-298450" lvl="0" marL="457200" rtl="0" algn="l">
                <a:spcBef>
                  <a:spcPts val="600"/>
                </a:spcBef>
                <a:spcAft>
                  <a:spcPts val="0"/>
                </a:spcAft>
                <a:buClr>
                  <a:srgbClr val="475569"/>
                </a:buClr>
                <a:buSzPts val="1100"/>
                <a:buFont typeface="Inter"/>
                <a:buChar char="●"/>
              </a:pPr>
              <a:r>
                <a:rPr b="1" lang="zh-TW" sz="1100">
                  <a:solidFill>
                    <a:srgbClr val="1E293B"/>
                  </a:solidFill>
                  <a:latin typeface="Inter"/>
                  <a:ea typeface="Inter"/>
                  <a:cs typeface="Inter"/>
                  <a:sym typeface="Inter"/>
                </a:rPr>
                <a:t>整體準確度 (Accuracy)：</a:t>
              </a:r>
              <a:r>
                <a:rPr b="1" lang="zh-TW" sz="1100">
                  <a:solidFill>
                    <a:srgbClr val="3B82F6"/>
                  </a:solidFill>
                  <a:latin typeface="Inter"/>
                  <a:ea typeface="Inter"/>
                  <a:cs typeface="Inter"/>
                  <a:sym typeface="Inter"/>
                </a:rPr>
                <a:t>70.47%</a:t>
              </a:r>
              <a:endParaRPr b="0" sz="1100">
                <a:solidFill>
                  <a:srgbClr val="475569"/>
                </a:solidFill>
                <a:latin typeface="Inter"/>
                <a:ea typeface="Inter"/>
                <a:cs typeface="Inter"/>
                <a:sym typeface="Inter"/>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grpSp>
        <p:nvGrpSpPr>
          <p:cNvPr id="1708" name="Google Shape;1708;p116"/>
          <p:cNvGrpSpPr/>
          <p:nvPr/>
        </p:nvGrpSpPr>
        <p:grpSpPr>
          <a:xfrm>
            <a:off x="-476250" y="-857250"/>
            <a:ext cx="10477500" cy="6381750"/>
            <a:chOff x="-476250" y="-857250"/>
            <a:chExt cx="10477500" cy="6381750"/>
          </a:xfrm>
        </p:grpSpPr>
        <p:sp>
          <p:nvSpPr>
            <p:cNvPr id="1709" name="Google Shape;1709;p116"/>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0" name="Google Shape;1710;p11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1" name="Google Shape;1711;p11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2" name="Google Shape;1712;p116"/>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13" name="Google Shape;1713;p116"/>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解決算力不足的問題 </a:t>
            </a:r>
            <a:r>
              <a:rPr b="0" lang="zh-TW" sz="2220">
                <a:solidFill>
                  <a:srgbClr val="3B82F6"/>
                </a:solidFill>
                <a:latin typeface="Inter"/>
                <a:ea typeface="Inter"/>
                <a:cs typeface="Inter"/>
                <a:sym typeface="Inter"/>
              </a:rPr>
              <a:t>(</a:t>
            </a:r>
            <a:r>
              <a:rPr lang="zh-TW" sz="2220">
                <a:solidFill>
                  <a:srgbClr val="3B82F6"/>
                </a:solidFill>
                <a:latin typeface="Inter"/>
                <a:ea typeface="Inter"/>
                <a:cs typeface="Inter"/>
                <a:sym typeface="Inter"/>
              </a:rPr>
              <a:t>知識蒸餾</a:t>
            </a:r>
            <a:r>
              <a:rPr b="0" lang="zh-TW" sz="2220">
                <a:solidFill>
                  <a:srgbClr val="3B82F6"/>
                </a:solidFill>
                <a:latin typeface="Inter"/>
                <a:ea typeface="Inter"/>
                <a:cs typeface="Inter"/>
                <a:sym typeface="Inter"/>
              </a:rPr>
              <a:t>MiniROI)</a:t>
            </a:r>
            <a:endParaRPr b="1" sz="3330">
              <a:solidFill>
                <a:srgbClr val="1E293B"/>
              </a:solidFill>
              <a:latin typeface="Inter"/>
              <a:ea typeface="Inter"/>
              <a:cs typeface="Inter"/>
              <a:sym typeface="Inter"/>
            </a:endParaRPr>
          </a:p>
        </p:txBody>
      </p:sp>
      <p:grpSp>
        <p:nvGrpSpPr>
          <p:cNvPr id="1714" name="Google Shape;1714;p116"/>
          <p:cNvGrpSpPr/>
          <p:nvPr/>
        </p:nvGrpSpPr>
        <p:grpSpPr>
          <a:xfrm>
            <a:off x="571500" y="1381125"/>
            <a:ext cx="3905400" cy="3381300"/>
            <a:chOff x="571500" y="1381125"/>
            <a:chExt cx="3905400" cy="3381300"/>
          </a:xfrm>
        </p:grpSpPr>
        <p:sp>
          <p:nvSpPr>
            <p:cNvPr id="1715" name="Google Shape;1715;p116"/>
            <p:cNvSpPr/>
            <p:nvPr/>
          </p:nvSpPr>
          <p:spPr>
            <a:xfrm>
              <a:off x="571500" y="1381125"/>
              <a:ext cx="3905400" cy="3381300"/>
            </a:xfrm>
            <a:prstGeom prst="roundRect">
              <a:avLst>
                <a:gd fmla="val 338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6" name="Google Shape;1716;p116"/>
            <p:cNvSpPr txBox="1"/>
            <p:nvPr/>
          </p:nvSpPr>
          <p:spPr>
            <a:xfrm>
              <a:off x="571500" y="1381125"/>
              <a:ext cx="3905400" cy="33813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lang="zh-TW" sz="2400">
                  <a:solidFill>
                    <a:srgbClr val="3B82F6"/>
                  </a:solidFill>
                  <a:latin typeface="Material Icons"/>
                  <a:ea typeface="Material Icons"/>
                  <a:cs typeface="Material Icons"/>
                  <a:sym typeface="Material Icons"/>
                </a:rPr>
                <a:t>developer_board</a:t>
              </a:r>
              <a:r>
                <a:rPr b="1" lang="zh-TW" sz="1600">
                  <a:solidFill>
                    <a:srgbClr val="1E293B"/>
                  </a:solidFill>
                  <a:latin typeface="Inter"/>
                  <a:ea typeface="Inter"/>
                  <a:cs typeface="Inter"/>
                  <a:sym typeface="Inter"/>
                </a:rPr>
                <a:t>模型設計與輸入配置</a:t>
              </a:r>
              <a:endParaRPr sz="2400">
                <a:solidFill>
                  <a:srgbClr val="3B82F6"/>
                </a:solidFill>
                <a:latin typeface="Material Icons"/>
                <a:ea typeface="Material Icons"/>
                <a:cs typeface="Material Icons"/>
                <a:sym typeface="Material Icons"/>
              </a:endParaRPr>
            </a:p>
            <a:p>
              <a:pPr indent="0" lvl="0" marL="0" rtl="0" algn="l">
                <a:spcBef>
                  <a:spcPts val="600"/>
                </a:spcBef>
                <a:spcAft>
                  <a:spcPts val="0"/>
                </a:spcAft>
                <a:buNone/>
              </a:pPr>
              <a:r>
                <a:rPr b="0" lang="zh-TW" sz="1300">
                  <a:solidFill>
                    <a:srgbClr val="3B82F6"/>
                  </a:solidFill>
                  <a:latin typeface="Inter SemiBold"/>
                  <a:ea typeface="Inter SemiBold"/>
                  <a:cs typeface="Inter SemiBold"/>
                  <a:sym typeface="Inter SemiBold"/>
                </a:rPr>
                <a:t>Model Design &amp; Input Config</a:t>
              </a:r>
              <a:endParaRPr b="0" sz="1300">
                <a:solidFill>
                  <a:srgbClr val="3B82F6"/>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模型架構 (Architecture)：</a:t>
              </a:r>
              <a:r>
                <a:rPr lang="zh-TW" sz="1050">
                  <a:solidFill>
                    <a:srgbClr val="475569"/>
                  </a:solidFill>
                  <a:latin typeface="Inter"/>
                  <a:ea typeface="Inter"/>
                  <a:cs typeface="Inter"/>
                  <a:sym typeface="Inter"/>
                </a:rPr>
                <a:t>MiniROI-UNet (針對局部特徵提取優化之輕量化卷積神經網路)。</a:t>
              </a:r>
              <a:endParaRPr sz="1050">
                <a:solidFill>
                  <a:srgbClr val="475569"/>
                </a:solidFill>
                <a:latin typeface="Inter"/>
                <a:ea typeface="Inter"/>
                <a:cs typeface="Inter"/>
                <a:sym typeface="Inter"/>
              </a:endParaRPr>
            </a:p>
            <a:p>
              <a:pPr indent="-295275" lvl="0" marL="457200" rtl="0" algn="l">
                <a:spcBef>
                  <a:spcPts val="6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輸入尺寸 (Resolution)：</a:t>
              </a:r>
              <a:r>
                <a:rPr lang="zh-TW" sz="1050">
                  <a:solidFill>
                    <a:srgbClr val="475569"/>
                  </a:solidFill>
                  <a:latin typeface="Inter"/>
                  <a:ea typeface="Inter"/>
                  <a:cs typeface="Inter"/>
                  <a:sym typeface="Inter"/>
                </a:rPr>
                <a:t>128 x 128 (連續 3 幀影像，僅佔原圖 512x288 總像素量約 11%)。</a:t>
              </a:r>
              <a:endParaRPr sz="1050">
                <a:solidFill>
                  <a:srgbClr val="475569"/>
                </a:solidFill>
                <a:latin typeface="Inter"/>
                <a:ea typeface="Inter"/>
                <a:cs typeface="Inter"/>
                <a:sym typeface="Inter"/>
              </a:endParaRPr>
            </a:p>
            <a:p>
              <a:pPr indent="-295275" lvl="0" marL="457200" rtl="0" algn="l">
                <a:spcBef>
                  <a:spcPts val="6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學習策略 (Strategy)：</a:t>
              </a:r>
              <a:r>
                <a:rPr lang="zh-TW" sz="1050">
                  <a:solidFill>
                    <a:srgbClr val="475569"/>
                  </a:solidFill>
                  <a:latin typeface="Inter"/>
                  <a:ea typeface="Inter"/>
                  <a:cs typeface="Inter"/>
                  <a:sym typeface="Inter"/>
                </a:rPr>
                <a:t>離線知識蒸餾 (Offline Knowledge Distillation)。</a:t>
              </a:r>
              <a:endParaRPr sz="1050">
                <a:solidFill>
                  <a:srgbClr val="475569"/>
                </a:solidFill>
                <a:latin typeface="Inter"/>
                <a:ea typeface="Inter"/>
                <a:cs typeface="Inter"/>
                <a:sym typeface="Inter"/>
              </a:endParaRPr>
            </a:p>
            <a:p>
              <a:pPr indent="-295275" lvl="0" marL="457200" rtl="0" algn="l">
                <a:spcBef>
                  <a:spcPts val="6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黃金標籤 (Golden Truth)：</a:t>
              </a:r>
              <a:r>
                <a:rPr lang="zh-TW" sz="1050">
                  <a:solidFill>
                    <a:srgbClr val="475569"/>
                  </a:solidFill>
                  <a:latin typeface="Inter"/>
                  <a:ea typeface="Inter"/>
                  <a:cs typeface="Inter"/>
                  <a:sym typeface="Inter"/>
                </a:rPr>
                <a:t>學習教師模型 TrackNetV4 的「二維高斯分佈熱力圖」，傳承對邊緣與殘影的理解。</a:t>
              </a:r>
              <a:endParaRPr sz="1050">
                <a:solidFill>
                  <a:srgbClr val="475569"/>
                </a:solidFill>
                <a:latin typeface="Inter"/>
                <a:ea typeface="Inter"/>
                <a:cs typeface="Inter"/>
                <a:sym typeface="Inter"/>
              </a:endParaRPr>
            </a:p>
          </p:txBody>
        </p:sp>
      </p:grpSp>
      <p:grpSp>
        <p:nvGrpSpPr>
          <p:cNvPr id="1717" name="Google Shape;1717;p116"/>
          <p:cNvGrpSpPr/>
          <p:nvPr/>
        </p:nvGrpSpPr>
        <p:grpSpPr>
          <a:xfrm>
            <a:off x="4667250" y="1381125"/>
            <a:ext cx="3905400" cy="3381300"/>
            <a:chOff x="4667250" y="1381125"/>
            <a:chExt cx="3905400" cy="3381300"/>
          </a:xfrm>
        </p:grpSpPr>
        <p:sp>
          <p:nvSpPr>
            <p:cNvPr id="1718" name="Google Shape;1718;p116"/>
            <p:cNvSpPr/>
            <p:nvPr/>
          </p:nvSpPr>
          <p:spPr>
            <a:xfrm>
              <a:off x="4667250" y="1381125"/>
              <a:ext cx="3905400" cy="3381300"/>
            </a:xfrm>
            <a:prstGeom prst="roundRect">
              <a:avLst>
                <a:gd fmla="val 338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9" name="Google Shape;1719;p116"/>
            <p:cNvSpPr txBox="1"/>
            <p:nvPr/>
          </p:nvSpPr>
          <p:spPr>
            <a:xfrm>
              <a:off x="4667250" y="1381125"/>
              <a:ext cx="3905400" cy="33813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lang="zh-TW" sz="2400">
                  <a:solidFill>
                    <a:srgbClr val="3B82F6"/>
                  </a:solidFill>
                  <a:latin typeface="Material Icons"/>
                  <a:ea typeface="Material Icons"/>
                  <a:cs typeface="Material Icons"/>
                  <a:sym typeface="Material Icons"/>
                </a:rPr>
                <a:t>bolt</a:t>
              </a:r>
              <a:r>
                <a:rPr b="1" lang="zh-TW" sz="1600">
                  <a:solidFill>
                    <a:srgbClr val="1E293B"/>
                  </a:solidFill>
                  <a:latin typeface="Inter"/>
                  <a:ea typeface="Inter"/>
                  <a:cs typeface="Inter"/>
                  <a:sym typeface="Inter"/>
                </a:rPr>
                <a:t>訓練優化與效能提升</a:t>
              </a:r>
              <a:endParaRPr sz="2400">
                <a:solidFill>
                  <a:srgbClr val="3B82F6"/>
                </a:solidFill>
                <a:latin typeface="Material Icons"/>
                <a:ea typeface="Material Icons"/>
                <a:cs typeface="Material Icons"/>
                <a:sym typeface="Material Icons"/>
              </a:endParaRPr>
            </a:p>
            <a:p>
              <a:pPr indent="0" lvl="0" marL="0" rtl="0" algn="l">
                <a:spcBef>
                  <a:spcPts val="600"/>
                </a:spcBef>
                <a:spcAft>
                  <a:spcPts val="0"/>
                </a:spcAft>
                <a:buNone/>
              </a:pPr>
              <a:r>
                <a:rPr b="0" lang="zh-TW" sz="1300">
                  <a:solidFill>
                    <a:srgbClr val="3B82F6"/>
                  </a:solidFill>
                  <a:latin typeface="Inter SemiBold"/>
                  <a:ea typeface="Inter SemiBold"/>
                  <a:cs typeface="Inter SemiBold"/>
                  <a:sym typeface="Inter SemiBold"/>
                </a:rPr>
                <a:t>Training &amp; Performance Leap</a:t>
              </a:r>
              <a:endParaRPr b="0" sz="1300">
                <a:solidFill>
                  <a:srgbClr val="3B82F6"/>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訓練資料集：</a:t>
              </a:r>
              <a:r>
                <a:rPr lang="zh-TW" sz="1050">
                  <a:solidFill>
                    <a:srgbClr val="475569"/>
                  </a:solidFill>
                  <a:latin typeface="Inter"/>
                  <a:ea typeface="Inter"/>
                  <a:cs typeface="Inter"/>
                  <a:sym typeface="Inter"/>
                </a:rPr>
                <a:t>23 場比賽。採「離線快取」技術將數十萬張 ROI 切片打包為 .pt 檔，避免 I/O 阻塞。</a:t>
              </a:r>
              <a:endParaRPr sz="1050">
                <a:solidFill>
                  <a:srgbClr val="475569"/>
                </a:solidFill>
                <a:latin typeface="Inter"/>
                <a:ea typeface="Inter"/>
                <a:cs typeface="Inter"/>
                <a:sym typeface="Inter"/>
              </a:endParaRPr>
            </a:p>
            <a:p>
              <a:pPr indent="-295275" lvl="0" marL="457200" rtl="0" algn="l">
                <a:spcBef>
                  <a:spcPts val="6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損失函數 (Loss)：</a:t>
              </a:r>
              <a:r>
                <a:rPr lang="zh-TW" sz="1050">
                  <a:solidFill>
                    <a:srgbClr val="EF4444"/>
                  </a:solidFill>
                  <a:latin typeface="Inter"/>
                  <a:ea typeface="Inter"/>
                  <a:cs typeface="Inter"/>
                  <a:sym typeface="Inter"/>
                </a:rPr>
                <a:t>動態加權損失</a:t>
              </a:r>
              <a:r>
                <a:rPr lang="zh-TW" sz="1050">
                  <a:solidFill>
                    <a:srgbClr val="475569"/>
                  </a:solidFill>
                  <a:latin typeface="Inter"/>
                  <a:ea typeface="Inter"/>
                  <a:cs typeface="Inter"/>
                  <a:sym typeface="Inter"/>
                </a:rPr>
                <a:t>。針對非球物體 (白鞋、計分板) 給予高誤差懲罰，養成賞罰分明特性。</a:t>
              </a:r>
              <a:endParaRPr sz="1050">
                <a:solidFill>
                  <a:srgbClr val="475569"/>
                </a:solidFill>
                <a:latin typeface="Inter"/>
                <a:ea typeface="Inter"/>
                <a:cs typeface="Inter"/>
                <a:sym typeface="Inter"/>
              </a:endParaRPr>
            </a:p>
            <a:p>
              <a:pPr indent="-295275" lvl="0" marL="457200" rtl="0" algn="l">
                <a:spcBef>
                  <a:spcPts val="600"/>
                </a:spcBef>
                <a:spcAft>
                  <a:spcPts val="600"/>
                </a:spcAft>
                <a:buClr>
                  <a:srgbClr val="475569"/>
                </a:buClr>
                <a:buSzPts val="1050"/>
                <a:buFont typeface="Inter"/>
                <a:buChar char="●"/>
              </a:pPr>
              <a:r>
                <a:rPr b="1" lang="zh-TW" sz="1050">
                  <a:solidFill>
                    <a:srgbClr val="1E293B"/>
                  </a:solidFill>
                  <a:latin typeface="Inter"/>
                  <a:ea typeface="Inter"/>
                  <a:cs typeface="Inter"/>
                  <a:sym typeface="Inter"/>
                </a:rPr>
                <a:t>訓練週期 (Epochs)：</a:t>
              </a:r>
              <a:r>
                <a:rPr lang="zh-TW" sz="1050">
                  <a:solidFill>
                    <a:srgbClr val="475569"/>
                  </a:solidFill>
                  <a:latin typeface="Inter"/>
                  <a:ea typeface="Inter"/>
                  <a:cs typeface="Inter"/>
                  <a:sym typeface="Inter"/>
                </a:rPr>
                <a:t>30 Epochs / 速度呈指數級提升。</a:t>
              </a:r>
              <a:endParaRPr sz="1050">
                <a:solidFill>
                  <a:srgbClr val="475569"/>
                </a:solidFill>
                <a:latin typeface="Inter"/>
                <a:ea typeface="Inter"/>
                <a:cs typeface="Inter"/>
                <a:sym typeface="Inter"/>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3" name="Shape 1723"/>
        <p:cNvGrpSpPr/>
        <p:nvPr/>
      </p:nvGrpSpPr>
      <p:grpSpPr>
        <a:xfrm>
          <a:off x="0" y="0"/>
          <a:ext cx="0" cy="0"/>
          <a:chOff x="0" y="0"/>
          <a:chExt cx="0" cy="0"/>
        </a:xfrm>
      </p:grpSpPr>
      <p:grpSp>
        <p:nvGrpSpPr>
          <p:cNvPr id="1724" name="Google Shape;1724;p117"/>
          <p:cNvGrpSpPr/>
          <p:nvPr/>
        </p:nvGrpSpPr>
        <p:grpSpPr>
          <a:xfrm>
            <a:off x="-476250" y="-857250"/>
            <a:ext cx="10477500" cy="6381750"/>
            <a:chOff x="-476250" y="-857250"/>
            <a:chExt cx="10477500" cy="6381750"/>
          </a:xfrm>
        </p:grpSpPr>
        <p:sp>
          <p:nvSpPr>
            <p:cNvPr id="1725" name="Google Shape;1725;p117"/>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6" name="Google Shape;1726;p11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7" name="Google Shape;1727;p11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28" name="Google Shape;1728;p117"/>
          <p:cNvGrpSpPr/>
          <p:nvPr/>
        </p:nvGrpSpPr>
        <p:grpSpPr>
          <a:xfrm>
            <a:off x="571500" y="1524000"/>
            <a:ext cx="8001000" cy="1628925"/>
            <a:chOff x="571500" y="1524000"/>
            <a:chExt cx="8001000" cy="1628925"/>
          </a:xfrm>
        </p:grpSpPr>
        <p:sp>
          <p:nvSpPr>
            <p:cNvPr id="1729" name="Google Shape;1729;p117"/>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如何</a:t>
              </a:r>
              <a:r>
                <a:rPr b="1" lang="zh-TW" sz="4200">
                  <a:solidFill>
                    <a:srgbClr val="1E293B"/>
                  </a:solidFill>
                  <a:latin typeface="Inter"/>
                  <a:ea typeface="Inter"/>
                  <a:cs typeface="Inter"/>
                  <a:sym typeface="Inter"/>
                </a:rPr>
                <a:t>解決雜訊綁架 </a:t>
              </a:r>
              <a:endParaRPr b="1" sz="4200">
                <a:solidFill>
                  <a:srgbClr val="1E293B"/>
                </a:solidFill>
                <a:latin typeface="Inter"/>
                <a:ea typeface="Inter"/>
                <a:cs typeface="Inter"/>
                <a:sym typeface="Inter"/>
              </a:endParaRPr>
            </a:p>
            <a:p>
              <a:pPr indent="0" lvl="0" marL="0" rtl="0" algn="ctr">
                <a:spcBef>
                  <a:spcPts val="0"/>
                </a:spcBef>
                <a:spcAft>
                  <a:spcPts val="0"/>
                </a:spcAft>
                <a:buNone/>
              </a:pPr>
              <a:r>
                <a:rPr b="1" lang="zh-TW" sz="4200">
                  <a:solidFill>
                    <a:srgbClr val="1E293B"/>
                  </a:solidFill>
                  <a:latin typeface="Inter"/>
                  <a:ea typeface="Inter"/>
                  <a:cs typeface="Inter"/>
                  <a:sym typeface="Inter"/>
                </a:rPr>
                <a:t>(Noise Hijack)</a:t>
              </a:r>
              <a:endParaRPr b="1" sz="4200">
                <a:solidFill>
                  <a:srgbClr val="1E293B"/>
                </a:solidFill>
                <a:latin typeface="Inter"/>
                <a:ea typeface="Inter"/>
                <a:cs typeface="Inter"/>
                <a:sym typeface="Inter"/>
              </a:endParaRPr>
            </a:p>
          </p:txBody>
        </p:sp>
        <p:sp>
          <p:nvSpPr>
            <p:cNvPr id="1730" name="Google Shape;1730;p117"/>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grpSp>
        <p:nvGrpSpPr>
          <p:cNvPr id="1735" name="Google Shape;1735;p118"/>
          <p:cNvGrpSpPr/>
          <p:nvPr/>
        </p:nvGrpSpPr>
        <p:grpSpPr>
          <a:xfrm>
            <a:off x="-476250" y="-799909"/>
            <a:ext cx="10477500" cy="6381750"/>
            <a:chOff x="-476250" y="-857250"/>
            <a:chExt cx="10477500" cy="6381750"/>
          </a:xfrm>
        </p:grpSpPr>
        <p:sp>
          <p:nvSpPr>
            <p:cNvPr id="1736" name="Google Shape;1736;p11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7" name="Google Shape;1737;p11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8" name="Google Shape;1738;p11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9" name="Google Shape;1739;p118"/>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40" name="Google Shape;1740;p118"/>
          <p:cNvGrpSpPr/>
          <p:nvPr/>
        </p:nvGrpSpPr>
        <p:grpSpPr>
          <a:xfrm>
            <a:off x="571500" y="381000"/>
            <a:ext cx="8001000" cy="762000"/>
            <a:chOff x="571500" y="381000"/>
            <a:chExt cx="8001000" cy="762000"/>
          </a:xfrm>
        </p:grpSpPr>
        <p:sp>
          <p:nvSpPr>
            <p:cNvPr id="1741" name="Google Shape;1741;p118"/>
            <p:cNvSpPr/>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2" name="Google Shape;1742;p118"/>
            <p:cNvSpPr txBox="1"/>
            <p:nvPr/>
          </p:nvSpPr>
          <p:spPr>
            <a:xfrm>
              <a:off x="571500" y="38100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如何解決雜訊綁架</a:t>
              </a:r>
              <a:endParaRPr b="1" sz="3330">
                <a:solidFill>
                  <a:srgbClr val="1E293B"/>
                </a:solidFill>
                <a:latin typeface="Inter"/>
                <a:ea typeface="Inter"/>
                <a:cs typeface="Inter"/>
                <a:sym typeface="Inter"/>
              </a:endParaRPr>
            </a:p>
          </p:txBody>
        </p:sp>
      </p:grpSp>
      <p:grpSp>
        <p:nvGrpSpPr>
          <p:cNvPr id="1743" name="Google Shape;1743;p118"/>
          <p:cNvGrpSpPr/>
          <p:nvPr/>
        </p:nvGrpSpPr>
        <p:grpSpPr>
          <a:xfrm>
            <a:off x="571500" y="1190625"/>
            <a:ext cx="3571800" cy="304800"/>
            <a:chOff x="571500" y="1190625"/>
            <a:chExt cx="3571800" cy="304800"/>
          </a:xfrm>
        </p:grpSpPr>
        <p:sp>
          <p:nvSpPr>
            <p:cNvPr id="1744" name="Google Shape;1744;p118"/>
            <p:cNvSpPr/>
            <p:nvPr/>
          </p:nvSpPr>
          <p:spPr>
            <a:xfrm>
              <a:off x="571500" y="1190625"/>
              <a:ext cx="3571800" cy="304800"/>
            </a:xfrm>
            <a:prstGeom prst="roundRect">
              <a:avLst>
                <a:gd fmla="val 18750" name="adj"/>
              </a:avLst>
            </a:prstGeom>
            <a:solidFill>
              <a:srgbClr val="EFF6FF"/>
            </a:solidFill>
            <a:ln cap="flat" cmpd="sng" w="9525">
              <a:solidFill>
                <a:srgbClr val="DBEA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5" name="Google Shape;1745;p118"/>
            <p:cNvSpPr txBox="1"/>
            <p:nvPr/>
          </p:nvSpPr>
          <p:spPr>
            <a:xfrm>
              <a:off x="666750" y="1190625"/>
              <a:ext cx="33813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zh-TW" sz="1400">
                  <a:solidFill>
                    <a:srgbClr val="2563EB"/>
                  </a:solidFill>
                  <a:latin typeface="Material Icons"/>
                  <a:ea typeface="Material Icons"/>
                  <a:cs typeface="Material Icons"/>
                  <a:sym typeface="Material Icons"/>
                </a:rPr>
                <a:t>layers</a:t>
              </a:r>
              <a:r>
                <a:rPr b="0" lang="zh-TW" sz="1100">
                  <a:solidFill>
                    <a:srgbClr val="2563EB"/>
                  </a:solidFill>
                  <a:latin typeface="Inter SemiBold"/>
                  <a:ea typeface="Inter SemiBold"/>
                  <a:cs typeface="Inter SemiBold"/>
                  <a:sym typeface="Inter SemiBold"/>
                </a:rPr>
                <a:t>核心機制：時空動態遮罩 (Spatiotemporal Mask)</a:t>
              </a:r>
              <a:endParaRPr b="0" sz="1100">
                <a:solidFill>
                  <a:srgbClr val="2563EB"/>
                </a:solidFill>
                <a:latin typeface="Inter SemiBold"/>
                <a:ea typeface="Inter SemiBold"/>
                <a:cs typeface="Inter SemiBold"/>
                <a:sym typeface="Inter SemiBold"/>
              </a:endParaRPr>
            </a:p>
          </p:txBody>
        </p:sp>
      </p:grpSp>
      <p:grpSp>
        <p:nvGrpSpPr>
          <p:cNvPr id="1746" name="Google Shape;1746;p118"/>
          <p:cNvGrpSpPr/>
          <p:nvPr/>
        </p:nvGrpSpPr>
        <p:grpSpPr>
          <a:xfrm>
            <a:off x="571500" y="1714500"/>
            <a:ext cx="2476500" cy="2762400"/>
            <a:chOff x="571500" y="1714500"/>
            <a:chExt cx="2476500" cy="2762400"/>
          </a:xfrm>
        </p:grpSpPr>
        <p:sp>
          <p:nvSpPr>
            <p:cNvPr id="1747" name="Google Shape;1747;p118"/>
            <p:cNvSpPr/>
            <p:nvPr/>
          </p:nvSpPr>
          <p:spPr>
            <a:xfrm>
              <a:off x="571500" y="1714500"/>
              <a:ext cx="2476500" cy="27624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8" name="Google Shape;1748;p118"/>
            <p:cNvSpPr/>
            <p:nvPr/>
          </p:nvSpPr>
          <p:spPr>
            <a:xfrm>
              <a:off x="762000" y="1933575"/>
              <a:ext cx="419100" cy="4191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9" name="Google Shape;1749;p118"/>
            <p:cNvSpPr txBox="1"/>
            <p:nvPr/>
          </p:nvSpPr>
          <p:spPr>
            <a:xfrm>
              <a:off x="762000" y="1959864"/>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1800">
                  <a:solidFill>
                    <a:srgbClr val="2563EB"/>
                  </a:solidFill>
                  <a:latin typeface="Material Icons"/>
                  <a:ea typeface="Material Icons"/>
                  <a:cs typeface="Material Icons"/>
                  <a:sym typeface="Material Icons"/>
                </a:rPr>
                <a:t>shield</a:t>
              </a:r>
              <a:endParaRPr sz="1800">
                <a:solidFill>
                  <a:srgbClr val="2563EB"/>
                </a:solidFill>
                <a:latin typeface="Material Icons"/>
                <a:ea typeface="Material Icons"/>
                <a:cs typeface="Material Icons"/>
                <a:sym typeface="Material Icons"/>
              </a:endParaRPr>
            </a:p>
          </p:txBody>
        </p:sp>
        <p:sp>
          <p:nvSpPr>
            <p:cNvPr id="1750" name="Google Shape;1750;p118"/>
            <p:cNvSpPr txBox="1"/>
            <p:nvPr/>
          </p:nvSpPr>
          <p:spPr>
            <a:xfrm>
              <a:off x="762000" y="2524125"/>
              <a:ext cx="2095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防止精準率崩盤</a:t>
              </a:r>
              <a:endParaRPr b="1" sz="1400">
                <a:solidFill>
                  <a:srgbClr val="1E293B"/>
                </a:solidFill>
                <a:latin typeface="Inter"/>
                <a:ea typeface="Inter"/>
                <a:cs typeface="Inter"/>
                <a:sym typeface="Inter"/>
              </a:endParaRPr>
            </a:p>
            <a:p>
              <a:pPr indent="0" lvl="0" marL="0" rtl="0" algn="l">
                <a:spcBef>
                  <a:spcPts val="900"/>
                </a:spcBef>
                <a:spcAft>
                  <a:spcPts val="0"/>
                </a:spcAft>
                <a:buNone/>
              </a:pPr>
              <a:r>
                <a:rPr b="0" lang="zh-TW" sz="1050">
                  <a:solidFill>
                    <a:srgbClr val="475569"/>
                  </a:solidFill>
                  <a:latin typeface="Inter"/>
                  <a:ea typeface="Inter"/>
                  <a:cs typeface="Inter"/>
                  <a:sym typeface="Inter"/>
                </a:rPr>
                <a:t>防止 128 模型在 512 全圖搜索時，將靜態白色雜訊（如白鞋、場地 Logo）誤認為羽球。</a:t>
              </a:r>
              <a:endParaRPr b="0" sz="1050">
                <a:solidFill>
                  <a:srgbClr val="475569"/>
                </a:solidFill>
                <a:latin typeface="Inter"/>
                <a:ea typeface="Inter"/>
                <a:cs typeface="Inter"/>
                <a:sym typeface="Inter"/>
              </a:endParaRPr>
            </a:p>
          </p:txBody>
        </p:sp>
      </p:grpSp>
      <p:grpSp>
        <p:nvGrpSpPr>
          <p:cNvPr id="1751" name="Google Shape;1751;p118"/>
          <p:cNvGrpSpPr/>
          <p:nvPr/>
        </p:nvGrpSpPr>
        <p:grpSpPr>
          <a:xfrm>
            <a:off x="3333750" y="1714500"/>
            <a:ext cx="2476500" cy="2762400"/>
            <a:chOff x="3333750" y="1714500"/>
            <a:chExt cx="2476500" cy="2762400"/>
          </a:xfrm>
        </p:grpSpPr>
        <p:sp>
          <p:nvSpPr>
            <p:cNvPr id="1752" name="Google Shape;1752;p118"/>
            <p:cNvSpPr/>
            <p:nvPr/>
          </p:nvSpPr>
          <p:spPr>
            <a:xfrm>
              <a:off x="3333750" y="1714500"/>
              <a:ext cx="2476500" cy="27624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3" name="Google Shape;1753;p118"/>
            <p:cNvSpPr/>
            <p:nvPr/>
          </p:nvSpPr>
          <p:spPr>
            <a:xfrm>
              <a:off x="3524250" y="1933575"/>
              <a:ext cx="419100" cy="4191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4" name="Google Shape;1754;p118"/>
            <p:cNvSpPr txBox="1"/>
            <p:nvPr/>
          </p:nvSpPr>
          <p:spPr>
            <a:xfrm>
              <a:off x="3524250" y="1959864"/>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1800">
                  <a:solidFill>
                    <a:srgbClr val="2563EB"/>
                  </a:solidFill>
                  <a:latin typeface="Material Icons"/>
                  <a:ea typeface="Material Icons"/>
                  <a:cs typeface="Material Icons"/>
                  <a:sym typeface="Material Icons"/>
                </a:rPr>
                <a:t>blur_on</a:t>
              </a:r>
              <a:endParaRPr sz="1800">
                <a:solidFill>
                  <a:srgbClr val="2563EB"/>
                </a:solidFill>
                <a:latin typeface="Material Icons"/>
                <a:ea typeface="Material Icons"/>
                <a:cs typeface="Material Icons"/>
                <a:sym typeface="Material Icons"/>
              </a:endParaRPr>
            </a:p>
          </p:txBody>
        </p:sp>
        <p:sp>
          <p:nvSpPr>
            <p:cNvPr id="1755" name="Google Shape;1755;p118"/>
            <p:cNvSpPr txBox="1"/>
            <p:nvPr/>
          </p:nvSpPr>
          <p:spPr>
            <a:xfrm>
              <a:off x="3524250" y="2524125"/>
              <a:ext cx="2095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動態遮罩生成</a:t>
              </a:r>
              <a:endParaRPr b="1" sz="1400">
                <a:solidFill>
                  <a:srgbClr val="1E293B"/>
                </a:solidFill>
                <a:latin typeface="Inter"/>
                <a:ea typeface="Inter"/>
                <a:cs typeface="Inter"/>
                <a:sym typeface="Inter"/>
              </a:endParaRPr>
            </a:p>
            <a:p>
              <a:pPr indent="0" lvl="0" marL="0" rtl="0" algn="l">
                <a:spcBef>
                  <a:spcPts val="900"/>
                </a:spcBef>
                <a:spcAft>
                  <a:spcPts val="0"/>
                </a:spcAft>
                <a:buNone/>
              </a:pPr>
              <a:r>
                <a:rPr b="0" lang="zh-TW" sz="1050">
                  <a:solidFill>
                    <a:srgbClr val="475569"/>
                  </a:solidFill>
                  <a:latin typeface="Inter"/>
                  <a:ea typeface="Inter"/>
                  <a:cs typeface="Inter"/>
                  <a:sym typeface="Inter"/>
                </a:rPr>
                <a:t>於推論時強制結合連續幀的像素差分 (absdiff)，過濾非移動背景。</a:t>
              </a:r>
              <a:endParaRPr b="0" sz="1050">
                <a:solidFill>
                  <a:srgbClr val="475569"/>
                </a:solidFill>
                <a:latin typeface="Inter"/>
                <a:ea typeface="Inter"/>
                <a:cs typeface="Inter"/>
                <a:sym typeface="Inter"/>
              </a:endParaRPr>
            </a:p>
          </p:txBody>
        </p:sp>
      </p:grpSp>
      <p:grpSp>
        <p:nvGrpSpPr>
          <p:cNvPr id="1756" name="Google Shape;1756;p118"/>
          <p:cNvGrpSpPr/>
          <p:nvPr/>
        </p:nvGrpSpPr>
        <p:grpSpPr>
          <a:xfrm>
            <a:off x="6096000" y="1714500"/>
            <a:ext cx="2476500" cy="2762400"/>
            <a:chOff x="6096000" y="1714500"/>
            <a:chExt cx="2476500" cy="2762400"/>
          </a:xfrm>
        </p:grpSpPr>
        <p:sp>
          <p:nvSpPr>
            <p:cNvPr id="1757" name="Google Shape;1757;p118"/>
            <p:cNvSpPr/>
            <p:nvPr/>
          </p:nvSpPr>
          <p:spPr>
            <a:xfrm>
              <a:off x="6096000" y="1714500"/>
              <a:ext cx="2476500" cy="27624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8" name="Google Shape;1758;p118"/>
            <p:cNvSpPr/>
            <p:nvPr/>
          </p:nvSpPr>
          <p:spPr>
            <a:xfrm>
              <a:off x="6286500" y="1933575"/>
              <a:ext cx="419100" cy="4191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9" name="Google Shape;1759;p118"/>
            <p:cNvSpPr txBox="1"/>
            <p:nvPr/>
          </p:nvSpPr>
          <p:spPr>
            <a:xfrm>
              <a:off x="6286500" y="1959864"/>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zh-TW" sz="1800">
                  <a:solidFill>
                    <a:srgbClr val="2563EB"/>
                  </a:solidFill>
                  <a:latin typeface="Material Icons"/>
                  <a:ea typeface="Material Icons"/>
                  <a:cs typeface="Material Icons"/>
                  <a:sym typeface="Material Icons"/>
                </a:rPr>
                <a:t>adjust</a:t>
              </a:r>
              <a:endParaRPr sz="1800">
                <a:solidFill>
                  <a:srgbClr val="2563EB"/>
                </a:solidFill>
                <a:latin typeface="Material Icons"/>
                <a:ea typeface="Material Icons"/>
                <a:cs typeface="Material Icons"/>
                <a:sym typeface="Material Icons"/>
              </a:endParaRPr>
            </a:p>
          </p:txBody>
        </p:sp>
        <p:sp>
          <p:nvSpPr>
            <p:cNvPr id="1760" name="Google Shape;1760;p118"/>
            <p:cNvSpPr txBox="1"/>
            <p:nvPr/>
          </p:nvSpPr>
          <p:spPr>
            <a:xfrm>
              <a:off x="6286500" y="2524125"/>
              <a:ext cx="2095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物理限制歸零</a:t>
              </a:r>
              <a:endParaRPr b="1" sz="1400">
                <a:solidFill>
                  <a:srgbClr val="1E293B"/>
                </a:solidFill>
                <a:latin typeface="Inter"/>
                <a:ea typeface="Inter"/>
                <a:cs typeface="Inter"/>
                <a:sym typeface="Inter"/>
              </a:endParaRPr>
            </a:p>
            <a:p>
              <a:pPr indent="0" lvl="0" marL="0" rtl="0" algn="l">
                <a:spcBef>
                  <a:spcPts val="900"/>
                </a:spcBef>
                <a:spcAft>
                  <a:spcPts val="0"/>
                </a:spcAft>
                <a:buNone/>
              </a:pPr>
              <a:r>
                <a:rPr b="0" lang="zh-TW" sz="1050">
                  <a:solidFill>
                    <a:srgbClr val="475569"/>
                  </a:solidFill>
                  <a:latin typeface="Inter"/>
                  <a:ea typeface="Inter"/>
                  <a:cs typeface="Inter"/>
                  <a:sym typeface="Inter"/>
                </a:rPr>
                <a:t>直接將「非移動物體」的預測熱力圖強行歸零，鎖定真實目標。</a:t>
              </a:r>
              <a:endParaRPr b="0" sz="1050">
                <a:solidFill>
                  <a:srgbClr val="475569"/>
                </a:solidFill>
                <a:latin typeface="Inter"/>
                <a:ea typeface="Inter"/>
                <a:cs typeface="Inter"/>
                <a:sym typeface="Inter"/>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grpSp>
        <p:nvGrpSpPr>
          <p:cNvPr id="1765" name="Google Shape;1765;p119"/>
          <p:cNvGrpSpPr/>
          <p:nvPr/>
        </p:nvGrpSpPr>
        <p:grpSpPr>
          <a:xfrm>
            <a:off x="-476250" y="-857250"/>
            <a:ext cx="10477500" cy="6381750"/>
            <a:chOff x="-476250" y="-857250"/>
            <a:chExt cx="10477500" cy="6381750"/>
          </a:xfrm>
        </p:grpSpPr>
        <p:sp>
          <p:nvSpPr>
            <p:cNvPr id="1766" name="Google Shape;1766;p119"/>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7" name="Google Shape;1767;p11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8" name="Google Shape;1768;p11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69" name="Google Shape;1769;p119"/>
          <p:cNvGrpSpPr/>
          <p:nvPr/>
        </p:nvGrpSpPr>
        <p:grpSpPr>
          <a:xfrm>
            <a:off x="571500" y="1524000"/>
            <a:ext cx="8001000" cy="1628925"/>
            <a:chOff x="571500" y="1524000"/>
            <a:chExt cx="8001000" cy="1628925"/>
          </a:xfrm>
        </p:grpSpPr>
        <p:sp>
          <p:nvSpPr>
            <p:cNvPr id="1770" name="Google Shape;1770;p119"/>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如果純跑128 MiniRIO？</a:t>
              </a:r>
              <a:endParaRPr b="1" sz="4200">
                <a:solidFill>
                  <a:srgbClr val="1E293B"/>
                </a:solidFill>
                <a:latin typeface="Inter"/>
                <a:ea typeface="Inter"/>
                <a:cs typeface="Inter"/>
                <a:sym typeface="Inter"/>
              </a:endParaRPr>
            </a:p>
          </p:txBody>
        </p:sp>
        <p:sp>
          <p:nvSpPr>
            <p:cNvPr id="1771" name="Google Shape;1771;p119"/>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grpSp>
        <p:nvGrpSpPr>
          <p:cNvPr id="1776" name="Google Shape;1776;p120"/>
          <p:cNvGrpSpPr/>
          <p:nvPr/>
        </p:nvGrpSpPr>
        <p:grpSpPr>
          <a:xfrm>
            <a:off x="-476250" y="-857250"/>
            <a:ext cx="10477500" cy="6381750"/>
            <a:chOff x="-476250" y="-857250"/>
            <a:chExt cx="10477500" cy="6381750"/>
          </a:xfrm>
        </p:grpSpPr>
        <p:sp>
          <p:nvSpPr>
            <p:cNvPr id="1777" name="Google Shape;1777;p120"/>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8" name="Google Shape;1778;p12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9" name="Google Shape;1779;p12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80" name="Google Shape;1780;p120"/>
          <p:cNvGrpSpPr/>
          <p:nvPr/>
        </p:nvGrpSpPr>
        <p:grpSpPr>
          <a:xfrm>
            <a:off x="571500" y="1524000"/>
            <a:ext cx="8001000" cy="1628925"/>
            <a:chOff x="571500" y="1524000"/>
            <a:chExt cx="8001000" cy="1628925"/>
          </a:xfrm>
        </p:grpSpPr>
        <p:sp>
          <p:nvSpPr>
            <p:cNvPr id="1781" name="Google Shape;1781;p120"/>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如何解決MiniROI延伸問題?</a:t>
              </a:r>
              <a:br>
                <a:rPr b="1" lang="zh-TW" sz="4200">
                  <a:solidFill>
                    <a:srgbClr val="1E293B"/>
                  </a:solidFill>
                  <a:latin typeface="Inter"/>
                  <a:ea typeface="Inter"/>
                  <a:cs typeface="Inter"/>
                  <a:sym typeface="Inter"/>
                </a:rPr>
              </a:br>
              <a:r>
                <a:rPr b="1" lang="zh-TW" sz="1100">
                  <a:solidFill>
                    <a:srgbClr val="EF4444"/>
                  </a:solidFill>
                  <a:latin typeface="Inter"/>
                  <a:ea typeface="Inter"/>
                  <a:cs typeface="Inter"/>
                  <a:sym typeface="Inter"/>
                </a:rPr>
                <a:t>盲目漂移崩潰：</a:t>
              </a:r>
              <a:r>
                <a:rPr b="1" lang="zh-TW" sz="1100">
                  <a:solidFill>
                    <a:srgbClr val="1E293B"/>
                  </a:solidFill>
                  <a:latin typeface="Inter"/>
                  <a:ea typeface="Inter"/>
                  <a:cs typeface="Inter"/>
                  <a:sym typeface="Inter"/>
                </a:rPr>
                <a:t>缺乏全域重獲機制</a:t>
              </a:r>
              <a:endParaRPr b="1" sz="4200">
                <a:solidFill>
                  <a:srgbClr val="1E293B"/>
                </a:solidFill>
                <a:latin typeface="Inter"/>
                <a:ea typeface="Inter"/>
                <a:cs typeface="Inter"/>
                <a:sym typeface="Inter"/>
              </a:endParaRPr>
            </a:p>
          </p:txBody>
        </p:sp>
        <p:sp>
          <p:nvSpPr>
            <p:cNvPr id="1782" name="Google Shape;1782;p120"/>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grpSp>
        <p:nvGrpSpPr>
          <p:cNvPr id="1787" name="Google Shape;1787;p121"/>
          <p:cNvGrpSpPr/>
          <p:nvPr/>
        </p:nvGrpSpPr>
        <p:grpSpPr>
          <a:xfrm>
            <a:off x="-476250" y="-857250"/>
            <a:ext cx="10477500" cy="6381750"/>
            <a:chOff x="-476250" y="-857250"/>
            <a:chExt cx="10477500" cy="6381750"/>
          </a:xfrm>
        </p:grpSpPr>
        <p:sp>
          <p:nvSpPr>
            <p:cNvPr id="1788" name="Google Shape;1788;p121"/>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9" name="Google Shape;1789;p12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0" name="Google Shape;1790;p12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91" name="Google Shape;1791;p121"/>
          <p:cNvGrpSpPr/>
          <p:nvPr/>
        </p:nvGrpSpPr>
        <p:grpSpPr>
          <a:xfrm>
            <a:off x="571500" y="1524000"/>
            <a:ext cx="8001000" cy="1628925"/>
            <a:chOff x="571500" y="1524000"/>
            <a:chExt cx="8001000" cy="1628925"/>
          </a:xfrm>
        </p:grpSpPr>
        <p:sp>
          <p:nvSpPr>
            <p:cNvPr id="1792" name="Google Shape;1792;p121"/>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如何解決MiniROI延伸問題?</a:t>
              </a:r>
              <a:br>
                <a:rPr b="1" lang="zh-TW" sz="4200">
                  <a:solidFill>
                    <a:srgbClr val="1E293B"/>
                  </a:solidFill>
                  <a:latin typeface="Inter"/>
                  <a:ea typeface="Inter"/>
                  <a:cs typeface="Inter"/>
                  <a:sym typeface="Inter"/>
                </a:rPr>
              </a:br>
              <a:r>
                <a:rPr b="1" lang="zh-TW" sz="1100">
                  <a:solidFill>
                    <a:srgbClr val="EF4444"/>
                  </a:solidFill>
                  <a:latin typeface="Inter"/>
                  <a:ea typeface="Inter"/>
                  <a:cs typeface="Inter"/>
                  <a:sym typeface="Inter"/>
                </a:rPr>
                <a:t>過度使用全域搜尋導致效能降低</a:t>
              </a:r>
              <a:endParaRPr b="1" sz="4200">
                <a:solidFill>
                  <a:srgbClr val="1E293B"/>
                </a:solidFill>
                <a:latin typeface="Inter"/>
                <a:ea typeface="Inter"/>
                <a:cs typeface="Inter"/>
                <a:sym typeface="Inter"/>
              </a:endParaRPr>
            </a:p>
          </p:txBody>
        </p:sp>
        <p:sp>
          <p:nvSpPr>
            <p:cNvPr id="1793" name="Google Shape;1793;p121"/>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grpSp>
        <p:nvGrpSpPr>
          <p:cNvPr id="1798" name="Google Shape;1798;p122"/>
          <p:cNvGrpSpPr/>
          <p:nvPr/>
        </p:nvGrpSpPr>
        <p:grpSpPr>
          <a:xfrm>
            <a:off x="-476250" y="-857250"/>
            <a:ext cx="10477500" cy="6381750"/>
            <a:chOff x="-476250" y="-857250"/>
            <a:chExt cx="10477500" cy="6381750"/>
          </a:xfrm>
        </p:grpSpPr>
        <p:sp>
          <p:nvSpPr>
            <p:cNvPr id="1799" name="Google Shape;1799;p12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0" name="Google Shape;1800;p12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1" name="Google Shape;1801;p12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2" name="Google Shape;1802;p122"/>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03" name="Google Shape;1803;p122"/>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過度使用全域搜尋導致效能降低</a:t>
            </a:r>
            <a:endParaRPr b="1" sz="3330">
              <a:solidFill>
                <a:srgbClr val="1E293B"/>
              </a:solidFill>
              <a:latin typeface="Inter"/>
              <a:ea typeface="Inter"/>
              <a:cs typeface="Inter"/>
              <a:sym typeface="Inter"/>
            </a:endParaRPr>
          </a:p>
        </p:txBody>
      </p:sp>
      <p:grpSp>
        <p:nvGrpSpPr>
          <p:cNvPr id="1804" name="Google Shape;1804;p122"/>
          <p:cNvGrpSpPr/>
          <p:nvPr/>
        </p:nvGrpSpPr>
        <p:grpSpPr>
          <a:xfrm>
            <a:off x="571500" y="1381125"/>
            <a:ext cx="3905400" cy="3333900"/>
            <a:chOff x="571500" y="1381125"/>
            <a:chExt cx="3905400" cy="3333900"/>
          </a:xfrm>
        </p:grpSpPr>
        <p:sp>
          <p:nvSpPr>
            <p:cNvPr id="1805" name="Google Shape;1805;p122"/>
            <p:cNvSpPr/>
            <p:nvPr/>
          </p:nvSpPr>
          <p:spPr>
            <a:xfrm>
              <a:off x="57150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6" name="Google Shape;1806;p122"/>
            <p:cNvSpPr txBox="1"/>
            <p:nvPr/>
          </p:nvSpPr>
          <p:spPr>
            <a:xfrm>
              <a:off x="57150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lang="zh-TW" sz="2400">
                  <a:solidFill>
                    <a:srgbClr val="EF4444"/>
                  </a:solidFill>
                  <a:latin typeface="Material Icons"/>
                  <a:ea typeface="Material Icons"/>
                  <a:cs typeface="Material Icons"/>
                  <a:sym typeface="Material Icons"/>
                </a:rPr>
                <a:t>warning</a:t>
              </a:r>
              <a:r>
                <a:rPr b="1" lang="zh-TW" sz="1600">
                  <a:solidFill>
                    <a:srgbClr val="1E293B"/>
                  </a:solidFill>
                  <a:latin typeface="Inter"/>
                  <a:ea typeface="Inter"/>
                  <a:cs typeface="Inter"/>
                  <a:sym typeface="Inter"/>
                </a:rPr>
                <a:t>面臨的效能與出框挑戰</a:t>
              </a:r>
              <a:endParaRPr sz="2400">
                <a:solidFill>
                  <a:srgbClr val="EF4444"/>
                </a:solidFill>
                <a:latin typeface="Material Icons"/>
                <a:ea typeface="Material Icons"/>
                <a:cs typeface="Material Icons"/>
                <a:sym typeface="Material Icons"/>
              </a:endParaRPr>
            </a:p>
            <a:p>
              <a:pPr indent="0" lvl="0" marL="0" rtl="0" algn="l">
                <a:spcBef>
                  <a:spcPts val="600"/>
                </a:spcBef>
                <a:spcAft>
                  <a:spcPts val="0"/>
                </a:spcAft>
                <a:buNone/>
              </a:pPr>
              <a:r>
                <a:rPr b="0" lang="zh-TW" sz="1100">
                  <a:solidFill>
                    <a:srgbClr val="EF4444"/>
                  </a:solidFill>
                  <a:latin typeface="Inter SemiBold"/>
                  <a:ea typeface="Inter SemiBold"/>
                  <a:cs typeface="Inter SemiBold"/>
                  <a:sym typeface="Inter SemiBold"/>
                </a:rPr>
                <a:t>MiniROI Limits &amp; System Crashes</a:t>
              </a:r>
              <a:endParaRPr b="0" sz="1100">
                <a:solidFill>
                  <a:srgbClr val="EF4444"/>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MiniROI 尺寸限制：</a:t>
              </a:r>
              <a:r>
                <a:rPr lang="zh-TW" sz="1050">
                  <a:solidFill>
                    <a:srgbClr val="475569"/>
                  </a:solidFill>
                  <a:latin typeface="Inter"/>
                  <a:ea typeface="Inter"/>
                  <a:cs typeface="Inter"/>
                  <a:sym typeface="Inter"/>
                </a:rPr>
                <a:t>我們的追蹤範圍只有極小的 128x128 像素。</a:t>
              </a:r>
              <a:endParaRPr sz="1050">
                <a:solidFill>
                  <a:srgbClr val="475569"/>
                </a:solidFill>
                <a:latin typeface="Inter"/>
                <a:ea typeface="Inter"/>
                <a:cs typeface="Inter"/>
                <a:sym typeface="Inter"/>
              </a:endParaRPr>
            </a:p>
            <a:p>
              <a:pPr indent="-295275" lvl="0" marL="457200" rtl="0" algn="l">
                <a:spcBef>
                  <a:spcPts val="75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連續漏抓致出框：</a:t>
              </a:r>
              <a:r>
                <a:rPr lang="zh-TW" sz="1050">
                  <a:solidFill>
                    <a:srgbClr val="475569"/>
                  </a:solidFill>
                  <a:latin typeface="Inter"/>
                  <a:ea typeface="Inter"/>
                  <a:cs typeface="Inter"/>
                  <a:sym typeface="Inter"/>
                </a:rPr>
                <a:t>一旦 AI 連續幾幀因畫面模糊不敢抓取，羽球就會飛出小框框。</a:t>
              </a:r>
              <a:endParaRPr sz="1050">
                <a:solidFill>
                  <a:srgbClr val="475569"/>
                </a:solidFill>
                <a:latin typeface="Inter"/>
                <a:ea typeface="Inter"/>
                <a:cs typeface="Inter"/>
                <a:sym typeface="Inter"/>
              </a:endParaRPr>
            </a:p>
            <a:p>
              <a:pPr indent="-295275" lvl="0" marL="457200" rtl="0" algn="l">
                <a:spcBef>
                  <a:spcPts val="75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迫使系統徹底崩潰：</a:t>
              </a:r>
              <a:r>
                <a:rPr lang="zh-TW" sz="1050">
                  <a:solidFill>
                    <a:srgbClr val="475569"/>
                  </a:solidFill>
                  <a:latin typeface="Inter"/>
                  <a:ea typeface="Inter"/>
                  <a:cs typeface="Inter"/>
                  <a:sym typeface="Inter"/>
                </a:rPr>
                <a:t>失去追蹤目標後，將引發全域重搜，效能急遽降低。</a:t>
              </a:r>
              <a:endParaRPr sz="1050">
                <a:solidFill>
                  <a:srgbClr val="475569"/>
                </a:solidFill>
                <a:latin typeface="Inter"/>
                <a:ea typeface="Inter"/>
                <a:cs typeface="Inter"/>
                <a:sym typeface="Inter"/>
              </a:endParaRPr>
            </a:p>
          </p:txBody>
        </p:sp>
      </p:grpSp>
      <p:grpSp>
        <p:nvGrpSpPr>
          <p:cNvPr id="1807" name="Google Shape;1807;p122"/>
          <p:cNvGrpSpPr/>
          <p:nvPr/>
        </p:nvGrpSpPr>
        <p:grpSpPr>
          <a:xfrm>
            <a:off x="4667250" y="1381125"/>
            <a:ext cx="3905400" cy="3333900"/>
            <a:chOff x="4667250" y="1381125"/>
            <a:chExt cx="3905400" cy="3333900"/>
          </a:xfrm>
        </p:grpSpPr>
        <p:sp>
          <p:nvSpPr>
            <p:cNvPr id="1808" name="Google Shape;1808;p122"/>
            <p:cNvSpPr/>
            <p:nvPr/>
          </p:nvSpPr>
          <p:spPr>
            <a:xfrm>
              <a:off x="466725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9" name="Google Shape;1809;p122"/>
            <p:cNvSpPr txBox="1"/>
            <p:nvPr/>
          </p:nvSpPr>
          <p:spPr>
            <a:xfrm>
              <a:off x="466725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lang="zh-TW" sz="2400">
                  <a:solidFill>
                    <a:srgbClr val="3B82F6"/>
                  </a:solidFill>
                  <a:latin typeface="Material Icons"/>
                  <a:ea typeface="Material Icons"/>
                  <a:cs typeface="Material Icons"/>
                  <a:sym typeface="Material Icons"/>
                </a:rPr>
                <a:t>explore</a:t>
              </a:r>
              <a:r>
                <a:rPr b="1" lang="zh-TW" sz="1600">
                  <a:solidFill>
                    <a:srgbClr val="1E293B"/>
                  </a:solidFill>
                  <a:latin typeface="Inter"/>
                  <a:ea typeface="Inter"/>
                  <a:cs typeface="Inter"/>
                  <a:sym typeface="Inter"/>
                </a:rPr>
                <a:t>解決方案：導入卡爾曼濾波器</a:t>
              </a:r>
              <a:endParaRPr sz="2400">
                <a:solidFill>
                  <a:srgbClr val="3B82F6"/>
                </a:solidFill>
                <a:latin typeface="Material Icons"/>
                <a:ea typeface="Material Icons"/>
                <a:cs typeface="Material Icons"/>
                <a:sym typeface="Material Icons"/>
              </a:endParaRPr>
            </a:p>
            <a:p>
              <a:pPr indent="0" lvl="0" marL="0" rtl="0" algn="l">
                <a:spcBef>
                  <a:spcPts val="600"/>
                </a:spcBef>
                <a:spcAft>
                  <a:spcPts val="0"/>
                </a:spcAft>
                <a:buNone/>
              </a:pPr>
              <a:r>
                <a:rPr b="0" lang="zh-TW" sz="1100">
                  <a:solidFill>
                    <a:srgbClr val="3B82F6"/>
                  </a:solidFill>
                  <a:latin typeface="Inter SemiBold"/>
                  <a:ea typeface="Inter SemiBold"/>
                  <a:cs typeface="Inter SemiBold"/>
                  <a:sym typeface="Inter SemiBold"/>
                </a:rPr>
                <a:t>Kalman Filter &amp; Blind Prediction</a:t>
              </a:r>
              <a:endParaRPr b="0" sz="1100">
                <a:solidFill>
                  <a:srgbClr val="3B82F6"/>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動態軌跡預測：</a:t>
              </a:r>
              <a:r>
                <a:rPr lang="zh-TW" sz="1050">
                  <a:solidFill>
                    <a:srgbClr val="475569"/>
                  </a:solidFill>
                  <a:latin typeface="Inter"/>
                  <a:ea typeface="Inter"/>
                  <a:cs typeface="Inter"/>
                  <a:sym typeface="Inter"/>
                </a:rPr>
                <a:t>KF 負責提供下一幀的預測座標，引導 128x128 追蹤框與球同步移動（導航系統）。</a:t>
              </a:r>
              <a:endParaRPr sz="1050">
                <a:solidFill>
                  <a:srgbClr val="475569"/>
                </a:solidFill>
                <a:latin typeface="Inter"/>
                <a:ea typeface="Inter"/>
                <a:cs typeface="Inter"/>
                <a:sym typeface="Inter"/>
              </a:endParaRPr>
            </a:p>
            <a:p>
              <a:pPr indent="-295275" lvl="0" marL="457200" rtl="0" algn="l">
                <a:spcBef>
                  <a:spcPts val="75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物理盲推機制：</a:t>
              </a:r>
              <a:r>
                <a:rPr lang="zh-TW" sz="1050">
                  <a:solidFill>
                    <a:srgbClr val="475569"/>
                  </a:solidFill>
                  <a:latin typeface="Inter"/>
                  <a:ea typeface="Inter"/>
                  <a:cs typeface="Inter"/>
                  <a:sym typeface="Inter"/>
                </a:rPr>
                <a:t>當 AI 因為高門檻而「不敢抓殘影」時，立即啟動物理盲推 (Blind Prediction)。</a:t>
              </a:r>
              <a:endParaRPr sz="1050">
                <a:solidFill>
                  <a:srgbClr val="475569"/>
                </a:solidFill>
                <a:latin typeface="Inter"/>
                <a:ea typeface="Inter"/>
                <a:cs typeface="Inter"/>
                <a:sym typeface="Inter"/>
              </a:endParaRPr>
            </a:p>
            <a:p>
              <a:pPr indent="-295275" lvl="0" marL="457200" rtl="0" algn="l">
                <a:spcBef>
                  <a:spcPts val="75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強行補位防丟失：</a:t>
              </a:r>
              <a:r>
                <a:rPr lang="zh-TW" sz="1050">
                  <a:solidFill>
                    <a:srgbClr val="475569"/>
                  </a:solidFill>
                  <a:latin typeface="Inter"/>
                  <a:ea typeface="Inter"/>
                  <a:cs typeface="Inter"/>
                  <a:sym typeface="Inter"/>
                </a:rPr>
                <a:t>利用上一秒的速度與方向進行自主軌跡預測，強行補上羽球位置。</a:t>
              </a:r>
              <a:endParaRPr sz="1050">
                <a:solidFill>
                  <a:srgbClr val="475569"/>
                </a:solidFill>
                <a:latin typeface="Inter"/>
                <a:ea typeface="Inter"/>
                <a:cs typeface="Inter"/>
                <a:sym typeface="Inter"/>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grpSp>
        <p:nvGrpSpPr>
          <p:cNvPr id="1814" name="Google Shape;1814;p123"/>
          <p:cNvGrpSpPr/>
          <p:nvPr/>
        </p:nvGrpSpPr>
        <p:grpSpPr>
          <a:xfrm>
            <a:off x="-476250" y="-857250"/>
            <a:ext cx="10477500" cy="6381750"/>
            <a:chOff x="-476250" y="-857250"/>
            <a:chExt cx="10477500" cy="6381750"/>
          </a:xfrm>
        </p:grpSpPr>
        <p:sp>
          <p:nvSpPr>
            <p:cNvPr id="1815" name="Google Shape;1815;p123"/>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6" name="Google Shape;1816;p12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7" name="Google Shape;1817;p12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18" name="Google Shape;1818;p123"/>
          <p:cNvGrpSpPr/>
          <p:nvPr/>
        </p:nvGrpSpPr>
        <p:grpSpPr>
          <a:xfrm>
            <a:off x="571500" y="1524000"/>
            <a:ext cx="8001000" cy="1628925"/>
            <a:chOff x="571500" y="1524000"/>
            <a:chExt cx="8001000" cy="1628925"/>
          </a:xfrm>
        </p:grpSpPr>
        <p:sp>
          <p:nvSpPr>
            <p:cNvPr id="1819" name="Google Shape;1819;p123"/>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加入眾多機制後的測試</a:t>
              </a:r>
              <a:endParaRPr b="1" sz="4200">
                <a:solidFill>
                  <a:srgbClr val="1E293B"/>
                </a:solidFill>
                <a:latin typeface="Inter"/>
                <a:ea typeface="Inter"/>
                <a:cs typeface="Inter"/>
                <a:sym typeface="Inter"/>
              </a:endParaRPr>
            </a:p>
          </p:txBody>
        </p:sp>
        <p:sp>
          <p:nvSpPr>
            <p:cNvPr id="1820" name="Google Shape;1820;p123"/>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grpSp>
        <p:nvGrpSpPr>
          <p:cNvPr id="1825" name="Google Shape;1825;p124"/>
          <p:cNvGrpSpPr/>
          <p:nvPr/>
        </p:nvGrpSpPr>
        <p:grpSpPr>
          <a:xfrm>
            <a:off x="-476250" y="-857250"/>
            <a:ext cx="10477500" cy="6381750"/>
            <a:chOff x="-476250" y="-857250"/>
            <a:chExt cx="10477500" cy="6381750"/>
          </a:xfrm>
        </p:grpSpPr>
        <p:sp>
          <p:nvSpPr>
            <p:cNvPr id="1826" name="Google Shape;1826;p12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7" name="Google Shape;1827;p12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8" name="Google Shape;1828;p12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9" name="Google Shape;1829;p124"/>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30" name="Google Shape;1830;p124"/>
          <p:cNvSpPr txBox="1"/>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評估基準與效能指標</a:t>
            </a:r>
            <a:r>
              <a:rPr lang="zh-TW" sz="2220">
                <a:solidFill>
                  <a:srgbClr val="3B82F6"/>
                </a:solidFill>
                <a:latin typeface="Inter"/>
                <a:ea typeface="Inter"/>
                <a:cs typeface="Inter"/>
                <a:sym typeface="Inter"/>
              </a:rPr>
              <a:t>(雙引擎混合追蹤系統 )</a:t>
            </a:r>
            <a:endParaRPr b="1" sz="3330">
              <a:solidFill>
                <a:srgbClr val="1E293B"/>
              </a:solidFill>
              <a:latin typeface="Inter"/>
              <a:ea typeface="Inter"/>
              <a:cs typeface="Inter"/>
              <a:sym typeface="Inter"/>
            </a:endParaRPr>
          </a:p>
        </p:txBody>
      </p:sp>
      <p:grpSp>
        <p:nvGrpSpPr>
          <p:cNvPr id="1831" name="Google Shape;1831;p124"/>
          <p:cNvGrpSpPr/>
          <p:nvPr/>
        </p:nvGrpSpPr>
        <p:grpSpPr>
          <a:xfrm>
            <a:off x="571500" y="1381125"/>
            <a:ext cx="3905400" cy="3333900"/>
            <a:chOff x="571500" y="1381125"/>
            <a:chExt cx="3905400" cy="3333900"/>
          </a:xfrm>
        </p:grpSpPr>
        <p:sp>
          <p:nvSpPr>
            <p:cNvPr id="1832" name="Google Shape;1832;p124"/>
            <p:cNvSpPr/>
            <p:nvPr/>
          </p:nvSpPr>
          <p:spPr>
            <a:xfrm>
              <a:off x="57150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3" name="Google Shape;1833;p124"/>
            <p:cNvSpPr txBox="1"/>
            <p:nvPr/>
          </p:nvSpPr>
          <p:spPr>
            <a:xfrm>
              <a:off x="57150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lang="zh-TW" sz="2000">
                  <a:solidFill>
                    <a:srgbClr val="3B82F6"/>
                  </a:solidFill>
                  <a:latin typeface="Material Icons"/>
                  <a:ea typeface="Material Icons"/>
                  <a:cs typeface="Material Icons"/>
                  <a:sym typeface="Material Icons"/>
                </a:rPr>
                <a:t>assessment</a:t>
              </a:r>
              <a:r>
                <a:rPr b="1" lang="zh-TW" sz="1600">
                  <a:solidFill>
                    <a:srgbClr val="1E293B"/>
                  </a:solidFill>
                  <a:latin typeface="Inter"/>
                  <a:ea typeface="Inter"/>
                  <a:cs typeface="Inter"/>
                  <a:sym typeface="Inter"/>
                </a:rPr>
                <a:t>多閾值效能指標</a:t>
              </a:r>
              <a:endParaRPr sz="2000">
                <a:solidFill>
                  <a:srgbClr val="3B82F6"/>
                </a:solidFill>
                <a:latin typeface="Material Icons"/>
                <a:ea typeface="Material Icons"/>
                <a:cs typeface="Material Icons"/>
                <a:sym typeface="Material Icons"/>
              </a:endParaRPr>
            </a:p>
            <a:p>
              <a:pPr indent="0" lvl="0" marL="0" rtl="0" algn="l">
                <a:spcBef>
                  <a:spcPts val="600"/>
                </a:spcBef>
                <a:spcAft>
                  <a:spcPts val="0"/>
                </a:spcAft>
                <a:buNone/>
              </a:pPr>
              <a:r>
                <a:rPr b="0" lang="zh-TW" sz="1100">
                  <a:solidFill>
                    <a:srgbClr val="3B82F6"/>
                  </a:solidFill>
                  <a:latin typeface="Inter SemiBold"/>
                  <a:ea typeface="Inter SemiBold"/>
                  <a:cs typeface="Inter SemiBold"/>
                  <a:sym typeface="Inter SemiBold"/>
                </a:rPr>
                <a:t>GT: 325 | Pred: 234 (F1-Score up to 79.79%)</a:t>
              </a:r>
              <a:endParaRPr b="0" sz="1100">
                <a:solidFill>
                  <a:srgbClr val="3B82F6"/>
                </a:solidFill>
                <a:latin typeface="Inter SemiBold"/>
                <a:ea typeface="Inter SemiBold"/>
                <a:cs typeface="Inter SemiBold"/>
                <a:sym typeface="Inter SemiBold"/>
              </a:endParaRPr>
            </a:p>
            <a:p>
              <a:pPr indent="0" lvl="0" marL="0" rtl="0" algn="l">
                <a:spcBef>
                  <a:spcPts val="1125"/>
                </a:spcBef>
                <a:spcAft>
                  <a:spcPts val="0"/>
                </a:spcAft>
                <a:buNone/>
              </a:pPr>
              <a:r>
                <a:rPr b="1" lang="zh-TW" sz="1050">
                  <a:solidFill>
                    <a:srgbClr val="1E293B"/>
                  </a:solidFill>
                  <a:latin typeface="Inter"/>
                  <a:ea typeface="Inter"/>
                  <a:cs typeface="Inter"/>
                  <a:sym typeface="Inter"/>
                </a:rPr>
                <a:t>50px (最優閾值)：</a:t>
              </a:r>
              <a:r>
                <a:rPr b="1" lang="zh-TW" sz="1050">
                  <a:solidFill>
                    <a:srgbClr val="3B82F6"/>
                  </a:solidFill>
                  <a:latin typeface="Inter"/>
                  <a:ea typeface="Inter"/>
                  <a:cs typeface="Inter"/>
                  <a:sym typeface="Inter"/>
                </a:rPr>
                <a:t>Precision 95.30%</a:t>
              </a:r>
              <a:r>
                <a:rPr lang="zh-TW" sz="1050">
                  <a:solidFill>
                    <a:srgbClr val="475569"/>
                  </a:solidFill>
                  <a:latin typeface="Inter"/>
                  <a:ea typeface="Inter"/>
                  <a:cs typeface="Inter"/>
                  <a:sym typeface="Inter"/>
                </a:rPr>
                <a:t> | Recall 68.62% | F1 79.79%</a:t>
              </a:r>
              <a:endParaRPr sz="1050">
                <a:solidFill>
                  <a:srgbClr val="475569"/>
                </a:solidFill>
                <a:latin typeface="Inter"/>
                <a:ea typeface="Inter"/>
                <a:cs typeface="Inter"/>
                <a:sym typeface="Inter"/>
              </a:endParaRPr>
            </a:p>
            <a:p>
              <a:pPr indent="0" lvl="0" marL="0" rtl="0" algn="l">
                <a:spcBef>
                  <a:spcPts val="750"/>
                </a:spcBef>
                <a:spcAft>
                  <a:spcPts val="0"/>
                </a:spcAft>
                <a:buNone/>
              </a:pPr>
              <a:r>
                <a:rPr b="1" lang="zh-TW" sz="1050">
                  <a:solidFill>
                    <a:srgbClr val="1E293B"/>
                  </a:solidFill>
                  <a:latin typeface="Inter"/>
                  <a:ea typeface="Inter"/>
                  <a:cs typeface="Inter"/>
                  <a:sym typeface="Inter"/>
                </a:rPr>
                <a:t>30px (中度閾值)：</a:t>
              </a:r>
              <a:r>
                <a:rPr b="1" lang="zh-TW" sz="1050">
                  <a:solidFill>
                    <a:srgbClr val="3B82F6"/>
                  </a:solidFill>
                  <a:latin typeface="Inter"/>
                  <a:ea typeface="Inter"/>
                  <a:cs typeface="Inter"/>
                  <a:sym typeface="Inter"/>
                </a:rPr>
                <a:t>Precision 92.74%</a:t>
              </a:r>
              <a:r>
                <a:rPr lang="zh-TW" sz="1050">
                  <a:solidFill>
                    <a:srgbClr val="475569"/>
                  </a:solidFill>
                  <a:latin typeface="Inter"/>
                  <a:ea typeface="Inter"/>
                  <a:cs typeface="Inter"/>
                  <a:sym typeface="Inter"/>
                </a:rPr>
                <a:t> | Recall 66.77% | F1 77.64%</a:t>
              </a:r>
              <a:endParaRPr sz="1050">
                <a:solidFill>
                  <a:srgbClr val="475569"/>
                </a:solidFill>
                <a:latin typeface="Inter"/>
                <a:ea typeface="Inter"/>
                <a:cs typeface="Inter"/>
                <a:sym typeface="Inter"/>
              </a:endParaRPr>
            </a:p>
            <a:p>
              <a:pPr indent="0" lvl="0" marL="0" rtl="0" algn="l">
                <a:spcBef>
                  <a:spcPts val="750"/>
                </a:spcBef>
                <a:spcAft>
                  <a:spcPts val="0"/>
                </a:spcAft>
                <a:buNone/>
              </a:pPr>
              <a:r>
                <a:rPr b="1" lang="zh-TW" sz="1050">
                  <a:solidFill>
                    <a:srgbClr val="1E293B"/>
                  </a:solidFill>
                  <a:latin typeface="Inter"/>
                  <a:ea typeface="Inter"/>
                  <a:cs typeface="Inter"/>
                  <a:sym typeface="Inter"/>
                </a:rPr>
                <a:t>20px (嚴格閾值)：</a:t>
              </a:r>
              <a:r>
                <a:rPr lang="zh-TW" sz="1050">
                  <a:solidFill>
                    <a:srgbClr val="475569"/>
                  </a:solidFill>
                  <a:latin typeface="Inter"/>
                  <a:ea typeface="Inter"/>
                  <a:cs typeface="Inter"/>
                  <a:sym typeface="Inter"/>
                </a:rPr>
                <a:t>Precision 79.49% | Recall 57.23% | F1 66.55%</a:t>
              </a:r>
              <a:endParaRPr sz="1050">
                <a:solidFill>
                  <a:srgbClr val="475569"/>
                </a:solidFill>
                <a:latin typeface="Inter"/>
                <a:ea typeface="Inter"/>
                <a:cs typeface="Inter"/>
                <a:sym typeface="Inter"/>
              </a:endParaRPr>
            </a:p>
            <a:p>
              <a:pPr indent="0" lvl="0" marL="0" rtl="0" algn="l">
                <a:spcBef>
                  <a:spcPts val="750"/>
                </a:spcBef>
                <a:spcAft>
                  <a:spcPts val="0"/>
                </a:spcAft>
                <a:buNone/>
              </a:pPr>
              <a:r>
                <a:rPr b="1" lang="zh-TW" sz="1050">
                  <a:solidFill>
                    <a:srgbClr val="1E293B"/>
                  </a:solidFill>
                  <a:latin typeface="Inter"/>
                  <a:ea typeface="Inter"/>
                  <a:cs typeface="Inter"/>
                  <a:sym typeface="Inter"/>
                </a:rPr>
                <a:t>15px (極嚴閾值)：</a:t>
              </a:r>
              <a:r>
                <a:rPr lang="zh-TW" sz="1050">
                  <a:solidFill>
                    <a:srgbClr val="475569"/>
                  </a:solidFill>
                  <a:latin typeface="Inter"/>
                  <a:ea typeface="Inter"/>
                  <a:cs typeface="Inter"/>
                  <a:sym typeface="Inter"/>
                </a:rPr>
                <a:t>Precision 66.67% | Recall 48.00% | F1 55.81%</a:t>
              </a:r>
              <a:endParaRPr sz="1050">
                <a:solidFill>
                  <a:srgbClr val="475569"/>
                </a:solidFill>
                <a:latin typeface="Inter"/>
                <a:ea typeface="Inter"/>
                <a:cs typeface="Inter"/>
                <a:sym typeface="Inter"/>
              </a:endParaRPr>
            </a:p>
          </p:txBody>
        </p:sp>
      </p:grpSp>
      <p:grpSp>
        <p:nvGrpSpPr>
          <p:cNvPr id="1834" name="Google Shape;1834;p124"/>
          <p:cNvGrpSpPr/>
          <p:nvPr/>
        </p:nvGrpSpPr>
        <p:grpSpPr>
          <a:xfrm>
            <a:off x="4667250" y="1381125"/>
            <a:ext cx="3905400" cy="3333900"/>
            <a:chOff x="4667250" y="1381125"/>
            <a:chExt cx="3905400" cy="3333900"/>
          </a:xfrm>
        </p:grpSpPr>
        <p:sp>
          <p:nvSpPr>
            <p:cNvPr id="1835" name="Google Shape;1835;p124"/>
            <p:cNvSpPr/>
            <p:nvPr/>
          </p:nvSpPr>
          <p:spPr>
            <a:xfrm>
              <a:off x="4667250" y="1381125"/>
              <a:ext cx="3905400" cy="33339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6" name="Google Shape;1836;p124"/>
            <p:cNvSpPr txBox="1"/>
            <p:nvPr/>
          </p:nvSpPr>
          <p:spPr>
            <a:xfrm>
              <a:off x="4667250" y="1381125"/>
              <a:ext cx="3905400" cy="33339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lang="zh-TW" sz="2000">
                  <a:solidFill>
                    <a:srgbClr val="3B82F6"/>
                  </a:solidFill>
                  <a:latin typeface="Material Icons"/>
                  <a:ea typeface="Material Icons"/>
                  <a:cs typeface="Material Icons"/>
                  <a:sym typeface="Material Icons"/>
                </a:rPr>
                <a:t>insights</a:t>
              </a:r>
              <a:r>
                <a:rPr b="1" lang="zh-TW" sz="1600">
                  <a:solidFill>
                    <a:srgbClr val="1E293B"/>
                  </a:solidFill>
                  <a:latin typeface="Inter"/>
                  <a:ea typeface="Inter"/>
                  <a:cs typeface="Inter"/>
                  <a:sym typeface="Inter"/>
                </a:rPr>
                <a:t>核心技術與定性分析</a:t>
              </a:r>
              <a:endParaRPr sz="2000">
                <a:solidFill>
                  <a:srgbClr val="3B82F6"/>
                </a:solidFill>
                <a:latin typeface="Material Icons"/>
                <a:ea typeface="Material Icons"/>
                <a:cs typeface="Material Icons"/>
                <a:sym typeface="Material Icons"/>
              </a:endParaRPr>
            </a:p>
            <a:p>
              <a:pPr indent="0" lvl="0" marL="0" rtl="0" algn="l">
                <a:spcBef>
                  <a:spcPts val="600"/>
                </a:spcBef>
                <a:spcAft>
                  <a:spcPts val="0"/>
                </a:spcAft>
                <a:buNone/>
              </a:pPr>
              <a:r>
                <a:rPr b="0" lang="zh-TW" sz="1100">
                  <a:solidFill>
                    <a:srgbClr val="3B82F6"/>
                  </a:solidFill>
                  <a:latin typeface="Inter SemiBold"/>
                  <a:ea typeface="Inter SemiBold"/>
                  <a:cs typeface="Inter SemiBold"/>
                  <a:sym typeface="Inter SemiBold"/>
                </a:rPr>
                <a:t>Precision 95.30% &amp; Recall 68.62%</a:t>
              </a:r>
              <a:endParaRPr b="0" sz="1100">
                <a:solidFill>
                  <a:srgbClr val="3B82F6"/>
                </a:solidFill>
                <a:latin typeface="Inter SemiBold"/>
                <a:ea typeface="Inter SemiBold"/>
                <a:cs typeface="Inter SemiBold"/>
                <a:sym typeface="Inter SemiBold"/>
              </a:endParaRPr>
            </a:p>
            <a:p>
              <a:pPr indent="-295275" lvl="0" marL="457200" rtl="0" algn="l">
                <a:spcBef>
                  <a:spcPts val="1125"/>
                </a:spcBef>
                <a:spcAft>
                  <a:spcPts val="0"/>
                </a:spcAft>
                <a:buClr>
                  <a:srgbClr val="475569"/>
                </a:buClr>
                <a:buSzPts val="1050"/>
                <a:buFont typeface="Inter"/>
                <a:buChar char="●"/>
              </a:pPr>
              <a:r>
                <a:rPr b="1" lang="zh-TW" sz="1050">
                  <a:solidFill>
                    <a:srgbClr val="1E293B"/>
                  </a:solidFill>
                  <a:latin typeface="Inter"/>
                  <a:ea typeface="Inter"/>
                  <a:cs typeface="Inter"/>
                  <a:sym typeface="Inter"/>
                </a:rPr>
                <a:t>極小視野高精準 (95.30%)：</a:t>
              </a:r>
              <a:r>
                <a:rPr lang="zh-TW" sz="1050">
                  <a:solidFill>
                    <a:srgbClr val="475569"/>
                  </a:solidFill>
                  <a:latin typeface="Inter"/>
                  <a:ea typeface="Inter"/>
                  <a:cs typeface="Inter"/>
                  <a:sym typeface="Inter"/>
                </a:rPr>
                <a:t>僅有 128x128 局部視野下依舊精準。得益於「加權損失函數」抑制高頻雜訊，並結合「高閾值重置」機制徹底杜絕雜訊鎖定。</a:t>
              </a:r>
              <a:endParaRPr sz="1050">
                <a:solidFill>
                  <a:srgbClr val="475569"/>
                </a:solidFill>
                <a:latin typeface="Inter"/>
                <a:ea typeface="Inter"/>
                <a:cs typeface="Inter"/>
                <a:sym typeface="Inter"/>
              </a:endParaRPr>
            </a:p>
            <a:p>
              <a:pPr indent="-295275" lvl="0" marL="457200" rtl="0" algn="l">
                <a:spcBef>
                  <a:spcPts val="900"/>
                </a:spcBef>
                <a:spcAft>
                  <a:spcPts val="0"/>
                </a:spcAft>
                <a:buClr>
                  <a:srgbClr val="475569"/>
                </a:buClr>
                <a:buSzPts val="1050"/>
                <a:buFont typeface="Inter"/>
                <a:buChar char="●"/>
              </a:pPr>
              <a:r>
                <a:rPr b="1" lang="zh-TW" sz="1050">
                  <a:solidFill>
                    <a:srgbClr val="1E293B"/>
                  </a:solidFill>
                  <a:latin typeface="Inter"/>
                  <a:ea typeface="Inter"/>
                  <a:cs typeface="Inter"/>
                  <a:sym typeface="Inter"/>
                </a:rPr>
                <a:t>時序追蹤高召回 (68.62%)：</a:t>
              </a:r>
              <a:r>
                <a:rPr lang="zh-TW" sz="1050">
                  <a:solidFill>
                    <a:srgbClr val="475569"/>
                  </a:solidFill>
                  <a:latin typeface="Inter"/>
                  <a:ea typeface="Inter"/>
                  <a:cs typeface="Inter"/>
                  <a:sym typeface="Inter"/>
                </a:rPr>
                <a:t>極限壓縮算力（&lt;4%）卻超越原版教師模型 (60.52%)。以時序追蹤器結合「卡爾曼濾波」物理盲推，強制召回模糊殘影軌跡。</a:t>
              </a:r>
              <a:endParaRPr sz="1050">
                <a:solidFill>
                  <a:srgbClr val="475569"/>
                </a:solidFill>
                <a:latin typeface="Inter"/>
                <a:ea typeface="Inter"/>
                <a:cs typeface="Inter"/>
                <a:sym typeface="Inter"/>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grpSp>
        <p:nvGrpSpPr>
          <p:cNvPr id="1841" name="Google Shape;1841;p125"/>
          <p:cNvGrpSpPr/>
          <p:nvPr/>
        </p:nvGrpSpPr>
        <p:grpSpPr>
          <a:xfrm>
            <a:off x="-476250" y="-857250"/>
            <a:ext cx="10477500" cy="6381750"/>
            <a:chOff x="-476250" y="-857250"/>
            <a:chExt cx="10477500" cy="6381750"/>
          </a:xfrm>
        </p:grpSpPr>
        <p:sp>
          <p:nvSpPr>
            <p:cNvPr id="1842" name="Google Shape;1842;p125"/>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3" name="Google Shape;1843;p125"/>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4" name="Google Shape;1844;p125"/>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5" name="Google Shape;1845;p125"/>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46" name="Google Shape;1846;p125"/>
          <p:cNvSpPr txBox="1"/>
          <p:nvPr>
            <p:ph type="title"/>
          </p:nvPr>
        </p:nvSpPr>
        <p:spPr>
          <a:xfrm>
            <a:off x="381000" y="381000"/>
            <a:ext cx="8520600" cy="5727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zh-TW" sz="2800">
                <a:solidFill>
                  <a:srgbClr val="1E293B"/>
                </a:solidFill>
                <a:latin typeface="Inter"/>
                <a:ea typeface="Inter"/>
                <a:cs typeface="Inter"/>
                <a:sym typeface="Inter"/>
              </a:rPr>
              <a:t>雙引擎混合追蹤系統架構流程圖</a:t>
            </a:r>
            <a:endParaRPr b="1" i="0" sz="2800">
              <a:solidFill>
                <a:srgbClr val="1E293B"/>
              </a:solidFill>
              <a:latin typeface="Inter"/>
              <a:ea typeface="Inter"/>
              <a:cs typeface="Inter"/>
              <a:sym typeface="Inter"/>
            </a:endParaRPr>
          </a:p>
        </p:txBody>
      </p:sp>
      <p:grpSp>
        <p:nvGrpSpPr>
          <p:cNvPr id="1847" name="Google Shape;1847;p125"/>
          <p:cNvGrpSpPr/>
          <p:nvPr/>
        </p:nvGrpSpPr>
        <p:grpSpPr>
          <a:xfrm>
            <a:off x="381000" y="1190625"/>
            <a:ext cx="8382000" cy="400200"/>
            <a:chOff x="381000" y="1190625"/>
            <a:chExt cx="8382000" cy="400200"/>
          </a:xfrm>
        </p:grpSpPr>
        <p:sp>
          <p:nvSpPr>
            <p:cNvPr id="1848" name="Google Shape;1848;p125"/>
            <p:cNvSpPr/>
            <p:nvPr/>
          </p:nvSpPr>
          <p:spPr>
            <a:xfrm>
              <a:off x="381000" y="1190625"/>
              <a:ext cx="8382000" cy="400200"/>
            </a:xfrm>
            <a:prstGeom prst="roundRect">
              <a:avLst>
                <a:gd fmla="val 19047" name="adj"/>
              </a:avLst>
            </a:prstGeom>
            <a:solidFill>
              <a:srgbClr val="EFF6FF"/>
            </a:solidFill>
            <a:ln cap="flat" cmpd="sng" w="14300">
              <a:solidFill>
                <a:srgbClr val="DBEA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9" name="Google Shape;1849;p125"/>
            <p:cNvSpPr txBox="1"/>
            <p:nvPr/>
          </p:nvSpPr>
          <p:spPr>
            <a:xfrm>
              <a:off x="381000" y="1190625"/>
              <a:ext cx="8382000" cy="400200"/>
            </a:xfrm>
            <a:prstGeom prst="rect">
              <a:avLst/>
            </a:prstGeom>
            <a:noFill/>
            <a:ln>
              <a:noFill/>
            </a:ln>
          </p:spPr>
          <p:txBody>
            <a:bodyPr anchorCtr="0" anchor="ctr" bIns="0" lIns="190500" spcFirstLastPara="1" rIns="190500" wrap="square" tIns="0">
              <a:noAutofit/>
            </a:bodyPr>
            <a:lstStyle/>
            <a:p>
              <a:pPr indent="0" lvl="0" marL="0" rtl="0" algn="ctr">
                <a:spcBef>
                  <a:spcPts val="0"/>
                </a:spcBef>
                <a:spcAft>
                  <a:spcPts val="0"/>
                </a:spcAft>
                <a:buNone/>
              </a:pPr>
              <a:r>
                <a:rPr b="1" lang="zh-TW" sz="1100">
                  <a:solidFill>
                    <a:srgbClr val="3B82F6"/>
                  </a:solidFill>
                  <a:latin typeface="Inter"/>
                  <a:ea typeface="Inter"/>
                  <a:cs typeface="Inter"/>
                  <a:sym typeface="Inter"/>
                </a:rPr>
                <a:t>[ 1. 影像輸入 ]</a:t>
              </a:r>
              <a:r>
                <a:rPr lang="zh-TW" sz="1100">
                  <a:solidFill>
                    <a:srgbClr val="1E293B"/>
                  </a:solidFill>
                  <a:latin typeface="Inter"/>
                  <a:ea typeface="Inter"/>
                  <a:cs typeface="Inter"/>
                  <a:sym typeface="Inter"/>
                </a:rPr>
                <a:t> 連續三幀影像 (t-1, t, t+1) </a:t>
              </a:r>
              <a:r>
                <a:rPr lang="zh-TW" sz="1100">
                  <a:solidFill>
                    <a:srgbClr val="94A3B8"/>
                  </a:solidFill>
                  <a:latin typeface="Inter"/>
                  <a:ea typeface="Inter"/>
                  <a:cs typeface="Inter"/>
                  <a:sym typeface="Inter"/>
                </a:rPr>
                <a:t>➜</a:t>
              </a:r>
              <a:r>
                <a:rPr lang="zh-TW" sz="1100">
                  <a:solidFill>
                    <a:srgbClr val="1E293B"/>
                  </a:solidFill>
                  <a:latin typeface="Inter"/>
                  <a:ea typeface="Inter"/>
                  <a:cs typeface="Inter"/>
                  <a:sym typeface="Inter"/>
                </a:rPr>
                <a:t> </a:t>
              </a:r>
              <a:r>
                <a:rPr b="1" lang="zh-TW" sz="1100">
                  <a:solidFill>
                    <a:srgbClr val="3B82F6"/>
                  </a:solidFill>
                  <a:latin typeface="Inter"/>
                  <a:ea typeface="Inter"/>
                  <a:cs typeface="Inter"/>
                  <a:sym typeface="Inter"/>
                </a:rPr>
                <a:t>[ 2. 空間重塑 ]</a:t>
              </a:r>
              <a:r>
                <a:rPr lang="zh-TW" sz="1100">
                  <a:solidFill>
                    <a:srgbClr val="1E293B"/>
                  </a:solidFill>
                  <a:latin typeface="Inter"/>
                  <a:ea typeface="Inter"/>
                  <a:cs typeface="Inter"/>
                  <a:sym typeface="Inter"/>
                </a:rPr>
                <a:t> Resize 至 512×288 基準空間 </a:t>
              </a:r>
              <a:r>
                <a:rPr lang="zh-TW" sz="1100">
                  <a:solidFill>
                    <a:srgbClr val="94A3B8"/>
                  </a:solidFill>
                  <a:latin typeface="Inter"/>
                  <a:ea typeface="Inter"/>
                  <a:cs typeface="Inter"/>
                  <a:sym typeface="Inter"/>
                </a:rPr>
                <a:t>➜</a:t>
              </a:r>
              <a:r>
                <a:rPr b="1" lang="zh-TW" sz="1100">
                  <a:solidFill>
                    <a:srgbClr val="3B82F6"/>
                  </a:solidFill>
                  <a:latin typeface="Inter"/>
                  <a:ea typeface="Inter"/>
                  <a:cs typeface="Inter"/>
                  <a:sym typeface="Inter"/>
                </a:rPr>
                <a:t> [ 3. 狀態分流 ]</a:t>
              </a:r>
              <a:r>
                <a:rPr lang="zh-TW" sz="1100">
                  <a:solidFill>
                    <a:srgbClr val="1E293B"/>
                  </a:solidFill>
                  <a:latin typeface="Inter"/>
                  <a:ea typeface="Inter"/>
                  <a:cs typeface="Inter"/>
                  <a:sym typeface="Inter"/>
                </a:rPr>
                <a:t> 依目前是否為丟失狀態 (is_lost) 進行切換</a:t>
              </a:r>
              <a:endParaRPr sz="1100">
                <a:solidFill>
                  <a:srgbClr val="1E293B"/>
                </a:solidFill>
                <a:latin typeface="Inter"/>
                <a:ea typeface="Inter"/>
                <a:cs typeface="Inter"/>
                <a:sym typeface="Inter"/>
              </a:endParaRPr>
            </a:p>
          </p:txBody>
        </p:sp>
      </p:grpSp>
      <p:grpSp>
        <p:nvGrpSpPr>
          <p:cNvPr id="1850" name="Google Shape;1850;p125"/>
          <p:cNvGrpSpPr/>
          <p:nvPr/>
        </p:nvGrpSpPr>
        <p:grpSpPr>
          <a:xfrm>
            <a:off x="323850" y="1724025"/>
            <a:ext cx="4162500" cy="3210000"/>
            <a:chOff x="323850" y="1724025"/>
            <a:chExt cx="4162500" cy="3210000"/>
          </a:xfrm>
        </p:grpSpPr>
        <p:pic>
          <p:nvPicPr>
            <p:cNvPr id="1851" name="Google Shape;1851;p125"/>
            <p:cNvPicPr preferRelativeResize="0"/>
            <p:nvPr/>
          </p:nvPicPr>
          <p:blipFill rotWithShape="1">
            <a:blip r:embed="rId3">
              <a:alphaModFix/>
            </a:blip>
            <a:srcRect b="0" l="0" r="0" t="0"/>
            <a:stretch/>
          </p:blipFill>
          <p:spPr>
            <a:xfrm>
              <a:off x="323850" y="1724025"/>
              <a:ext cx="4162500" cy="3210000"/>
            </a:xfrm>
            <a:prstGeom prst="rect">
              <a:avLst/>
            </a:prstGeom>
            <a:noFill/>
            <a:ln>
              <a:noFill/>
            </a:ln>
          </p:spPr>
        </p:pic>
        <p:sp>
          <p:nvSpPr>
            <p:cNvPr id="1852" name="Google Shape;1852;p125"/>
            <p:cNvSpPr txBox="1"/>
            <p:nvPr/>
          </p:nvSpPr>
          <p:spPr>
            <a:xfrm>
              <a:off x="381000" y="1762125"/>
              <a:ext cx="4048200" cy="30957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 模式 A：128x128 動態追蹤</a:t>
              </a:r>
              <a:endParaRPr b="1" sz="1400">
                <a:solidFill>
                  <a:srgbClr val="1E293B"/>
                </a:solidFill>
                <a:latin typeface="Inter"/>
                <a:ea typeface="Inter"/>
                <a:cs typeface="Inter"/>
                <a:sym typeface="Inter"/>
              </a:endParaRPr>
            </a:p>
            <a:p>
              <a:pPr indent="0" lvl="0" marL="0" rtl="0" algn="l">
                <a:spcBef>
                  <a:spcPts val="300"/>
                </a:spcBef>
                <a:spcAft>
                  <a:spcPts val="0"/>
                </a:spcAft>
                <a:buNone/>
              </a:pPr>
              <a:r>
                <a:rPr b="0" lang="zh-TW" sz="950">
                  <a:solidFill>
                    <a:srgbClr val="3B82F6"/>
                  </a:solidFill>
                  <a:latin typeface="Inter SemiBold"/>
                  <a:ea typeface="Inter SemiBold"/>
                  <a:cs typeface="Inter SemiBold"/>
                  <a:sym typeface="Inter SemiBold"/>
                </a:rPr>
                <a:t>LOCAL TRACK 128 (is_lost == False)</a:t>
              </a:r>
              <a:endParaRPr b="0" sz="950">
                <a:solidFill>
                  <a:srgbClr val="3B82F6"/>
                </a:solidFill>
                <a:latin typeface="Inter SemiBold"/>
                <a:ea typeface="Inter SemiBold"/>
                <a:cs typeface="Inter SemiBold"/>
                <a:sym typeface="Inter SemiBold"/>
              </a:endParaRPr>
            </a:p>
            <a:p>
              <a:pPr indent="-288925" lvl="0" marL="457200" rtl="0" algn="l">
                <a:spcBef>
                  <a:spcPts val="900"/>
                </a:spcBef>
                <a:spcAft>
                  <a:spcPts val="0"/>
                </a:spcAft>
                <a:buClr>
                  <a:srgbClr val="475569"/>
                </a:buClr>
                <a:buSzPts val="950"/>
                <a:buFont typeface="Inter"/>
                <a:buChar char="●"/>
              </a:pPr>
              <a:r>
                <a:rPr b="1" lang="zh-TW" sz="950">
                  <a:solidFill>
                    <a:srgbClr val="0F172A"/>
                  </a:solidFill>
                  <a:latin typeface="Inter"/>
                  <a:ea typeface="Inter"/>
                  <a:cs typeface="Inter"/>
                  <a:sym typeface="Inter"/>
                </a:rPr>
                <a:t>[物理預測]</a:t>
              </a:r>
              <a:r>
                <a:rPr lang="zh-TW" sz="950">
                  <a:solidFill>
                    <a:srgbClr val="475569"/>
                  </a:solidFill>
                  <a:latin typeface="Inter"/>
                  <a:ea typeface="Inter"/>
                  <a:cs typeface="Inter"/>
                  <a:sym typeface="Inter"/>
                </a:rPr>
                <a:t> 呼叫 Kalman Filter 預測中心</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[空間降維]</a:t>
              </a:r>
              <a:r>
                <a:rPr lang="zh-TW" sz="950">
                  <a:solidFill>
                    <a:srgbClr val="475569"/>
                  </a:solidFill>
                  <a:latin typeface="Inter"/>
                  <a:ea typeface="Inter"/>
                  <a:cs typeface="Inter"/>
                  <a:sym typeface="Inter"/>
                </a:rPr>
                <a:t> 依預測中心裁切 128x128 影像</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[抗噪防禦]</a:t>
              </a:r>
              <a:r>
                <a:rPr lang="zh-TW" sz="950">
                  <a:solidFill>
                    <a:srgbClr val="475569"/>
                  </a:solidFill>
                  <a:latin typeface="Inter"/>
                  <a:ea typeface="Inter"/>
                  <a:cs typeface="Inter"/>
                  <a:sym typeface="Inter"/>
                </a:rPr>
                <a:t> 計算 128x128 動態遮罩 (Mask)</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[輕量推論]</a:t>
              </a:r>
              <a:r>
                <a:rPr lang="zh-TW" sz="950">
                  <a:solidFill>
                    <a:srgbClr val="475569"/>
                  </a:solidFill>
                  <a:latin typeface="Inter"/>
                  <a:ea typeface="Inter"/>
                  <a:cs typeface="Inter"/>
                  <a:sym typeface="Inter"/>
                </a:rPr>
                <a:t> AI 模型輸出 128 熱力圖</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[物理抹殺]</a:t>
              </a:r>
              <a:r>
                <a:rPr lang="zh-TW" sz="950">
                  <a:solidFill>
                    <a:srgbClr val="475569"/>
                  </a:solidFill>
                  <a:latin typeface="Inter"/>
                  <a:ea typeface="Inter"/>
                  <a:cs typeface="Inter"/>
                  <a:sym typeface="Inter"/>
                </a:rPr>
                <a:t> 熱力圖 × 動態遮罩</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[座標提取]</a:t>
              </a:r>
              <a:r>
                <a:rPr lang="zh-TW" sz="950">
                  <a:solidFill>
                    <a:srgbClr val="475569"/>
                  </a:solidFill>
                  <a:latin typeface="Inter"/>
                  <a:ea typeface="Inter"/>
                  <a:cs typeface="Inter"/>
                  <a:sym typeface="Inter"/>
                </a:rPr>
                <a:t> 取 Argmax 並獲得信心度 Conf</a:t>
              </a:r>
              <a:endParaRPr sz="950">
                <a:solidFill>
                  <a:srgbClr val="475569"/>
                </a:solidFill>
                <a:latin typeface="Inter"/>
                <a:ea typeface="Inter"/>
                <a:cs typeface="Inter"/>
                <a:sym typeface="Inter"/>
              </a:endParaRPr>
            </a:p>
            <a:p>
              <a:pPr indent="0" lvl="0" marL="0" rtl="0" algn="l">
                <a:spcBef>
                  <a:spcPts val="750"/>
                </a:spcBef>
                <a:spcAft>
                  <a:spcPts val="0"/>
                </a:spcAft>
                <a:buNone/>
              </a:pPr>
              <a:r>
                <a:rPr b="1" lang="zh-TW" sz="950">
                  <a:solidFill>
                    <a:srgbClr val="1E293B"/>
                  </a:solidFill>
                  <a:highlight>
                    <a:srgbClr val="F8FAFC"/>
                  </a:highlight>
                  <a:latin typeface="Inter"/>
                  <a:ea typeface="Inter"/>
                  <a:cs typeface="Inter"/>
                  <a:sym typeface="Inter"/>
                </a:rPr>
                <a:t>[ 門檻判斷 ] Conf ≥ 0.55 (寬鬆門檻) ?</a:t>
              </a:r>
              <a:endParaRPr b="1" sz="950">
                <a:solidFill>
                  <a:srgbClr val="1E293B"/>
                </a:solidFill>
                <a:highlight>
                  <a:srgbClr val="F8FAFC"/>
                </a:highlight>
                <a:latin typeface="Inter"/>
                <a:ea typeface="Inter"/>
                <a:cs typeface="Inter"/>
                <a:sym typeface="Inter"/>
              </a:endParaRPr>
            </a:p>
            <a:p>
              <a:pPr indent="0" lvl="0" marL="0" rtl="0" algn="r">
                <a:spcBef>
                  <a:spcPts val="450"/>
                </a:spcBef>
                <a:spcAft>
                  <a:spcPts val="0"/>
                </a:spcAft>
                <a:buNone/>
              </a:pPr>
              <a:r>
                <a:rPr b="0" lang="zh-TW" sz="900">
                  <a:solidFill>
                    <a:srgbClr val="16A34A"/>
                  </a:solidFill>
                  <a:latin typeface="Inter SemiBold"/>
                  <a:ea typeface="Inter SemiBold"/>
                  <a:cs typeface="Inter SemiBold"/>
                  <a:sym typeface="Inter SemiBold"/>
                </a:rPr>
                <a:t>✓ Yes (成功鎖定):</a:t>
              </a:r>
              <a:br>
                <a:rPr b="0" lang="zh-TW" sz="900">
                  <a:solidFill>
                    <a:srgbClr val="16A34A"/>
                  </a:solidFill>
                  <a:latin typeface="Inter SemiBold"/>
                  <a:ea typeface="Inter SemiBold"/>
                  <a:cs typeface="Inter SemiBold"/>
                  <a:sym typeface="Inter SemiBold"/>
                </a:rPr>
              </a:br>
              <a:r>
                <a:rPr b="0" lang="zh-TW" sz="850">
                  <a:solidFill>
                    <a:srgbClr val="64748B"/>
                  </a:solidFill>
                  <a:highlight>
                    <a:srgbClr val="F8FAFC"/>
                  </a:highlight>
                  <a:latin typeface="Inter"/>
                  <a:ea typeface="Inter"/>
                  <a:cs typeface="Inter"/>
                  <a:sym typeface="Inter"/>
                </a:rPr>
                <a:t>校正 KF 誤差 / 紀錄軌跡 / 輸出結果</a:t>
              </a:r>
              <a:r>
                <a:rPr b="0" lang="zh-TW" sz="900">
                  <a:solidFill>
                    <a:srgbClr val="16A34A"/>
                  </a:solidFill>
                  <a:latin typeface="Inter SemiBold"/>
                  <a:ea typeface="Inter SemiBold"/>
                  <a:cs typeface="Inter SemiBold"/>
                  <a:sym typeface="Inter SemiBold"/>
                </a:rPr>
                <a:t> </a:t>
              </a:r>
              <a:r>
                <a:rPr b="0" lang="zh-TW" sz="900">
                  <a:solidFill>
                    <a:srgbClr val="DC2626"/>
                  </a:solidFill>
                  <a:highlight>
                    <a:srgbClr val="F8FAFC"/>
                  </a:highlight>
                  <a:latin typeface="Inter SemiBold"/>
                  <a:ea typeface="Inter SemiBold"/>
                  <a:cs typeface="Inter SemiBold"/>
                  <a:sym typeface="Inter SemiBold"/>
                </a:rPr>
                <a:t>✗ No (追蹤失敗):</a:t>
              </a:r>
              <a:br>
                <a:rPr b="0" lang="zh-TW" sz="900">
                  <a:solidFill>
                    <a:srgbClr val="DC2626"/>
                  </a:solidFill>
                  <a:highlight>
                    <a:srgbClr val="F8FAFC"/>
                  </a:highlight>
                  <a:latin typeface="Inter SemiBold"/>
                  <a:ea typeface="Inter SemiBold"/>
                  <a:cs typeface="Inter SemiBold"/>
                  <a:sym typeface="Inter SemiBold"/>
                </a:rPr>
              </a:br>
              <a:r>
                <a:rPr b="0" lang="zh-TW" sz="850">
                  <a:solidFill>
                    <a:srgbClr val="64748B"/>
                  </a:solidFill>
                  <a:highlight>
                    <a:srgbClr val="F8FAFC"/>
                  </a:highlight>
                  <a:latin typeface="Inter"/>
                  <a:ea typeface="Inter"/>
                  <a:cs typeface="Inter"/>
                  <a:sym typeface="Inter"/>
                </a:rPr>
                <a:t>is_lost=True ➜ 觸發全域救援</a:t>
              </a:r>
              <a:endParaRPr b="0" sz="900">
                <a:solidFill>
                  <a:srgbClr val="DC2626"/>
                </a:solidFill>
                <a:highlight>
                  <a:srgbClr val="F8FAFC"/>
                </a:highlight>
                <a:latin typeface="Inter SemiBold"/>
                <a:ea typeface="Inter SemiBold"/>
                <a:cs typeface="Inter SemiBold"/>
                <a:sym typeface="Inter SemiBold"/>
              </a:endParaRPr>
            </a:p>
          </p:txBody>
        </p:sp>
      </p:grpSp>
      <p:grpSp>
        <p:nvGrpSpPr>
          <p:cNvPr id="1853" name="Google Shape;1853;p125"/>
          <p:cNvGrpSpPr/>
          <p:nvPr/>
        </p:nvGrpSpPr>
        <p:grpSpPr>
          <a:xfrm>
            <a:off x="4657725" y="1724025"/>
            <a:ext cx="4162500" cy="3210000"/>
            <a:chOff x="4657725" y="1724025"/>
            <a:chExt cx="4162500" cy="3210000"/>
          </a:xfrm>
        </p:grpSpPr>
        <p:pic>
          <p:nvPicPr>
            <p:cNvPr id="1854" name="Google Shape;1854;p125"/>
            <p:cNvPicPr preferRelativeResize="0"/>
            <p:nvPr/>
          </p:nvPicPr>
          <p:blipFill rotWithShape="1">
            <a:blip r:embed="rId4">
              <a:alphaModFix/>
            </a:blip>
            <a:srcRect b="0" l="0" r="0" t="0"/>
            <a:stretch/>
          </p:blipFill>
          <p:spPr>
            <a:xfrm>
              <a:off x="4657725" y="1724025"/>
              <a:ext cx="4162500" cy="3210000"/>
            </a:xfrm>
            <a:prstGeom prst="rect">
              <a:avLst/>
            </a:prstGeom>
            <a:noFill/>
            <a:ln>
              <a:noFill/>
            </a:ln>
          </p:spPr>
        </p:pic>
        <p:sp>
          <p:nvSpPr>
            <p:cNvPr id="1855" name="Google Shape;1855;p125"/>
            <p:cNvSpPr txBox="1"/>
            <p:nvPr/>
          </p:nvSpPr>
          <p:spPr>
            <a:xfrm>
              <a:off x="4714875" y="1762125"/>
              <a:ext cx="4048200" cy="30957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 模式 B：512x288 全域搜索</a:t>
              </a:r>
              <a:endParaRPr b="1" sz="1400">
                <a:solidFill>
                  <a:srgbClr val="1E293B"/>
                </a:solidFill>
                <a:latin typeface="Inter"/>
                <a:ea typeface="Inter"/>
                <a:cs typeface="Inter"/>
                <a:sym typeface="Inter"/>
              </a:endParaRPr>
            </a:p>
            <a:p>
              <a:pPr indent="0" lvl="0" marL="0" rtl="0" algn="l">
                <a:spcBef>
                  <a:spcPts val="300"/>
                </a:spcBef>
                <a:spcAft>
                  <a:spcPts val="0"/>
                </a:spcAft>
                <a:buNone/>
              </a:pPr>
              <a:r>
                <a:rPr b="0" lang="zh-TW" sz="950">
                  <a:solidFill>
                    <a:srgbClr val="EF4444"/>
                  </a:solidFill>
                  <a:latin typeface="Inter SemiBold"/>
                  <a:ea typeface="Inter SemiBold"/>
                  <a:cs typeface="Inter SemiBold"/>
                  <a:sym typeface="Inter SemiBold"/>
                </a:rPr>
                <a:t>GLOBAL SEARCH 512 (is_lost == True)</a:t>
              </a:r>
              <a:endParaRPr b="0" sz="950">
                <a:solidFill>
                  <a:srgbClr val="EF4444"/>
                </a:solidFill>
                <a:latin typeface="Inter SemiBold"/>
                <a:ea typeface="Inter SemiBold"/>
                <a:cs typeface="Inter SemiBold"/>
                <a:sym typeface="Inter SemiBold"/>
              </a:endParaRPr>
            </a:p>
            <a:p>
              <a:pPr indent="-288925" lvl="0" marL="457200" rtl="0" algn="l">
                <a:spcBef>
                  <a:spcPts val="900"/>
                </a:spcBef>
                <a:spcAft>
                  <a:spcPts val="0"/>
                </a:spcAft>
                <a:buClr>
                  <a:srgbClr val="475569"/>
                </a:buClr>
                <a:buSzPts val="950"/>
                <a:buFont typeface="Inter"/>
                <a:buChar char="●"/>
              </a:pPr>
              <a:r>
                <a:rPr b="1" lang="zh-TW" sz="950">
                  <a:solidFill>
                    <a:srgbClr val="0F172A"/>
                  </a:solidFill>
                  <a:latin typeface="Inter"/>
                  <a:ea typeface="Inter"/>
                  <a:cs typeface="Inter"/>
                  <a:sym typeface="Inter"/>
                </a:rPr>
                <a:t>[抗噪防禦]</a:t>
              </a:r>
              <a:r>
                <a:rPr lang="zh-TW" sz="950">
                  <a:solidFill>
                    <a:srgbClr val="475569"/>
                  </a:solidFill>
                  <a:latin typeface="Inter"/>
                  <a:ea typeface="Inter"/>
                  <a:cs typeface="Inter"/>
                  <a:sym typeface="Inter"/>
                </a:rPr>
                <a:t> 計算 512x288 全域動態遮罩</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[全圖推論]</a:t>
              </a:r>
              <a:r>
                <a:rPr lang="zh-TW" sz="950">
                  <a:solidFill>
                    <a:srgbClr val="475569"/>
                  </a:solidFill>
                  <a:latin typeface="Inter"/>
                  <a:ea typeface="Inter"/>
                  <a:cs typeface="Inter"/>
                  <a:sym typeface="Inter"/>
                </a:rPr>
                <a:t> AI 模型輸出 512 全圖熱力圖</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[物理抹殺]</a:t>
              </a:r>
              <a:r>
                <a:rPr lang="zh-TW" sz="950">
                  <a:solidFill>
                    <a:srgbClr val="475569"/>
                  </a:solidFill>
                  <a:latin typeface="Inter"/>
                  <a:ea typeface="Inter"/>
                  <a:cs typeface="Inter"/>
                  <a:sym typeface="Inter"/>
                </a:rPr>
                <a:t> 熱力圖 × 全域動態遮罩</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[UI 閹割]</a:t>
              </a:r>
              <a:r>
                <a:rPr lang="zh-TW" sz="950">
                  <a:solidFill>
                    <a:srgbClr val="475569"/>
                  </a:solidFill>
                  <a:latin typeface="Inter"/>
                  <a:ea typeface="Inter"/>
                  <a:cs typeface="Inter"/>
                  <a:sym typeface="Inter"/>
                </a:rPr>
                <a:t> 強制將 Y &lt; 60 區域歸零</a:t>
              </a:r>
              <a:endParaRPr sz="950">
                <a:solidFill>
                  <a:srgbClr val="475569"/>
                </a:solidFill>
                <a:latin typeface="Inter"/>
                <a:ea typeface="Inter"/>
                <a:cs typeface="Inter"/>
                <a:sym typeface="Inter"/>
              </a:endParaRPr>
            </a:p>
            <a:p>
              <a:pPr indent="-288925" lvl="0" marL="457200" rtl="0" algn="l">
                <a:spcBef>
                  <a:spcPts val="450"/>
                </a:spcBef>
                <a:spcAft>
                  <a:spcPts val="0"/>
                </a:spcAft>
                <a:buClr>
                  <a:srgbClr val="475569"/>
                </a:buClr>
                <a:buSzPts val="950"/>
                <a:buFont typeface="Inter"/>
                <a:buChar char="●"/>
              </a:pPr>
              <a:r>
                <a:rPr b="1" lang="zh-TW" sz="950">
                  <a:solidFill>
                    <a:srgbClr val="0F172A"/>
                  </a:solidFill>
                  <a:latin typeface="Inter"/>
                  <a:ea typeface="Inter"/>
                  <a:cs typeface="Inter"/>
                  <a:sym typeface="Inter"/>
                </a:rPr>
                <a:t>[座標提取]</a:t>
              </a:r>
              <a:r>
                <a:rPr lang="zh-TW" sz="950">
                  <a:solidFill>
                    <a:srgbClr val="475569"/>
                  </a:solidFill>
                  <a:latin typeface="Inter"/>
                  <a:ea typeface="Inter"/>
                  <a:cs typeface="Inter"/>
                  <a:sym typeface="Inter"/>
                </a:rPr>
                <a:t> 取 Argmax 獲得信心度 Conf</a:t>
              </a:r>
              <a:endParaRPr sz="950">
                <a:solidFill>
                  <a:srgbClr val="475569"/>
                </a:solidFill>
                <a:latin typeface="Inter"/>
                <a:ea typeface="Inter"/>
                <a:cs typeface="Inter"/>
                <a:sym typeface="Inter"/>
              </a:endParaRPr>
            </a:p>
            <a:p>
              <a:pPr indent="0" lvl="0" marL="0" rtl="0" algn="l">
                <a:spcBef>
                  <a:spcPts val="750"/>
                </a:spcBef>
                <a:spcAft>
                  <a:spcPts val="0"/>
                </a:spcAft>
                <a:buNone/>
              </a:pPr>
              <a:r>
                <a:rPr b="1" lang="zh-TW" sz="950">
                  <a:solidFill>
                    <a:srgbClr val="1E293B"/>
                  </a:solidFill>
                  <a:highlight>
                    <a:srgbClr val="FDF2F2"/>
                  </a:highlight>
                  <a:latin typeface="Inter"/>
                  <a:ea typeface="Inter"/>
                  <a:cs typeface="Inter"/>
                  <a:sym typeface="Inter"/>
                </a:rPr>
                <a:t>[ 門檻判斷 ] Conf &gt; 0.62 (嚴格門檻) ?</a:t>
              </a:r>
              <a:endParaRPr b="1" sz="950">
                <a:solidFill>
                  <a:srgbClr val="1E293B"/>
                </a:solidFill>
                <a:highlight>
                  <a:srgbClr val="FDF2F2"/>
                </a:highlight>
                <a:latin typeface="Inter"/>
                <a:ea typeface="Inter"/>
                <a:cs typeface="Inter"/>
                <a:sym typeface="Inter"/>
              </a:endParaRPr>
            </a:p>
            <a:p>
              <a:pPr indent="0" lvl="0" marL="0" rtl="0" algn="r">
                <a:spcBef>
                  <a:spcPts val="450"/>
                </a:spcBef>
                <a:spcAft>
                  <a:spcPts val="0"/>
                </a:spcAft>
                <a:buNone/>
              </a:pPr>
              <a:r>
                <a:rPr b="0" lang="zh-TW" sz="900">
                  <a:solidFill>
                    <a:srgbClr val="16A34A"/>
                  </a:solidFill>
                  <a:latin typeface="Inter SemiBold"/>
                  <a:ea typeface="Inter SemiBold"/>
                  <a:cs typeface="Inter SemiBold"/>
                  <a:sym typeface="Inter SemiBold"/>
                </a:rPr>
                <a:t>✓ Yes (成功尋獲):</a:t>
              </a:r>
              <a:br>
                <a:rPr b="0" lang="zh-TW" sz="900">
                  <a:solidFill>
                    <a:srgbClr val="16A34A"/>
                  </a:solidFill>
                  <a:latin typeface="Inter SemiBold"/>
                  <a:ea typeface="Inter SemiBold"/>
                  <a:cs typeface="Inter SemiBold"/>
                  <a:sym typeface="Inter SemiBold"/>
                </a:rPr>
              </a:br>
              <a:r>
                <a:rPr b="0" lang="zh-TW" sz="850">
                  <a:solidFill>
                    <a:srgbClr val="64748B"/>
                  </a:solidFill>
                  <a:latin typeface="Inter"/>
                  <a:ea typeface="Inter"/>
                  <a:cs typeface="Inter"/>
                  <a:sym typeface="Inter"/>
                </a:rPr>
                <a:t>重置 KF / is_lost=False / 紀錄軌跡</a:t>
              </a:r>
              <a:r>
                <a:rPr b="0" lang="zh-TW" sz="900">
                  <a:solidFill>
                    <a:srgbClr val="16A34A"/>
                  </a:solidFill>
                  <a:latin typeface="Inter SemiBold"/>
                  <a:ea typeface="Inter SemiBold"/>
                  <a:cs typeface="Inter SemiBold"/>
                  <a:sym typeface="Inter SemiBold"/>
                </a:rPr>
                <a:t> </a:t>
              </a:r>
              <a:r>
                <a:rPr b="0" lang="zh-TW" sz="900">
                  <a:solidFill>
                    <a:srgbClr val="DC2626"/>
                  </a:solidFill>
                  <a:latin typeface="Inter SemiBold"/>
                  <a:ea typeface="Inter SemiBold"/>
                  <a:cs typeface="Inter SemiBold"/>
                  <a:sym typeface="Inter SemiBold"/>
                </a:rPr>
                <a:t>✗ No (尋找失敗):</a:t>
              </a:r>
              <a:br>
                <a:rPr b="0" lang="zh-TW" sz="900">
                  <a:solidFill>
                    <a:srgbClr val="DC2626"/>
                  </a:solidFill>
                  <a:latin typeface="Inter SemiBold"/>
                  <a:ea typeface="Inter SemiBold"/>
                  <a:cs typeface="Inter SemiBold"/>
                  <a:sym typeface="Inter SemiBold"/>
                </a:rPr>
              </a:br>
              <a:r>
                <a:rPr b="0" lang="zh-TW" sz="850">
                  <a:solidFill>
                    <a:srgbClr val="64748B"/>
                  </a:solidFill>
                  <a:latin typeface="Inter"/>
                  <a:ea typeface="Inter"/>
                  <a:cs typeface="Inter"/>
                  <a:sym typeface="Inter"/>
                </a:rPr>
                <a:t>等候下一幀 / 輸出空座標</a:t>
              </a:r>
              <a:endParaRPr b="0" sz="900">
                <a:solidFill>
                  <a:srgbClr val="DC2626"/>
                </a:solidFill>
                <a:latin typeface="Inter SemiBold"/>
                <a:ea typeface="Inter SemiBold"/>
                <a:cs typeface="Inter SemiBold"/>
                <a:sym typeface="Inter SemiBold"/>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grpSp>
        <p:nvGrpSpPr>
          <p:cNvPr id="1860" name="Google Shape;1860;p126"/>
          <p:cNvGrpSpPr/>
          <p:nvPr/>
        </p:nvGrpSpPr>
        <p:grpSpPr>
          <a:xfrm>
            <a:off x="-476250" y="-857250"/>
            <a:ext cx="10477500" cy="6381750"/>
            <a:chOff x="-476250" y="-857250"/>
            <a:chExt cx="10477500" cy="6381750"/>
          </a:xfrm>
        </p:grpSpPr>
        <p:sp>
          <p:nvSpPr>
            <p:cNvPr id="1861" name="Google Shape;1861;p126"/>
            <p:cNvSpPr/>
            <p:nvPr/>
          </p:nvSpPr>
          <p:spPr>
            <a:xfrm>
              <a:off x="7143750" y="-857250"/>
              <a:ext cx="2857500" cy="2857500"/>
            </a:xfrm>
            <a:prstGeom prst="ellipse">
              <a:avLst/>
            </a:prstGeom>
            <a:solidFill>
              <a:srgbClr val="60A5FA">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2" name="Google Shape;1862;p126"/>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3" name="Google Shape;1863;p126"/>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64" name="Google Shape;1864;p126"/>
          <p:cNvGrpSpPr/>
          <p:nvPr/>
        </p:nvGrpSpPr>
        <p:grpSpPr>
          <a:xfrm>
            <a:off x="571500" y="1524000"/>
            <a:ext cx="8001000" cy="1628925"/>
            <a:chOff x="571500" y="1524000"/>
            <a:chExt cx="8001000" cy="1628925"/>
          </a:xfrm>
        </p:grpSpPr>
        <p:sp>
          <p:nvSpPr>
            <p:cNvPr id="1865" name="Google Shape;1865;p126"/>
            <p:cNvSpPr txBox="1"/>
            <p:nvPr/>
          </p:nvSpPr>
          <p:spPr>
            <a:xfrm>
              <a:off x="571500" y="1524000"/>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zh-TW" sz="4200">
                  <a:solidFill>
                    <a:srgbClr val="1E293B"/>
                  </a:solidFill>
                  <a:latin typeface="Inter"/>
                  <a:ea typeface="Inter"/>
                  <a:cs typeface="Inter"/>
                  <a:sym typeface="Inter"/>
                </a:rPr>
                <a:t>Real Time Mode </a:t>
              </a:r>
              <a:endParaRPr b="1" sz="4200">
                <a:solidFill>
                  <a:srgbClr val="1E293B"/>
                </a:solidFill>
                <a:latin typeface="Inter"/>
                <a:ea typeface="Inter"/>
                <a:cs typeface="Inter"/>
                <a:sym typeface="Inter"/>
              </a:endParaRPr>
            </a:p>
          </p:txBody>
        </p:sp>
        <p:sp>
          <p:nvSpPr>
            <p:cNvPr id="1866" name="Google Shape;1866;p126"/>
            <p:cNvSpPr/>
            <p:nvPr/>
          </p:nvSpPr>
          <p:spPr>
            <a:xfrm>
              <a:off x="4000500" y="3095625"/>
              <a:ext cx="11430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grpSp>
        <p:nvGrpSpPr>
          <p:cNvPr id="1871" name="Google Shape;1871;p127"/>
          <p:cNvGrpSpPr/>
          <p:nvPr/>
        </p:nvGrpSpPr>
        <p:grpSpPr>
          <a:xfrm>
            <a:off x="-476250" y="-857250"/>
            <a:ext cx="10477500" cy="6381750"/>
            <a:chOff x="-476250" y="-857250"/>
            <a:chExt cx="10477500" cy="6381750"/>
          </a:xfrm>
        </p:grpSpPr>
        <p:sp>
          <p:nvSpPr>
            <p:cNvPr id="1872" name="Google Shape;1872;p127"/>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3" name="Google Shape;1873;p127"/>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4" name="Google Shape;1874;p127"/>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5" name="Google Shape;1875;p127"/>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76" name="Google Shape;1876;p127"/>
          <p:cNvSpPr txBox="1"/>
          <p:nvPr/>
        </p:nvSpPr>
        <p:spPr>
          <a:xfrm>
            <a:off x="381000" y="333375"/>
            <a:ext cx="8382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多執行緒非同步協作機制</a:t>
            </a:r>
            <a:endParaRPr b="1" sz="24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執行緒間透過「共用記憶體 (Shared Memory/Queue)」進行高效能資料傳遞</a:t>
            </a:r>
            <a:endParaRPr b="0" sz="1100">
              <a:solidFill>
                <a:srgbClr val="64748B"/>
              </a:solidFill>
              <a:latin typeface="Inter"/>
              <a:ea typeface="Inter"/>
              <a:cs typeface="Inter"/>
              <a:sym typeface="Inter"/>
            </a:endParaRPr>
          </a:p>
        </p:txBody>
      </p:sp>
      <p:grpSp>
        <p:nvGrpSpPr>
          <p:cNvPr id="1877" name="Google Shape;1877;p127"/>
          <p:cNvGrpSpPr/>
          <p:nvPr/>
        </p:nvGrpSpPr>
        <p:grpSpPr>
          <a:xfrm>
            <a:off x="381000" y="1238250"/>
            <a:ext cx="2667000" cy="3571800"/>
            <a:chOff x="381000" y="1238250"/>
            <a:chExt cx="2667000" cy="3571800"/>
          </a:xfrm>
        </p:grpSpPr>
        <p:sp>
          <p:nvSpPr>
            <p:cNvPr id="1878" name="Google Shape;1878;p127"/>
            <p:cNvSpPr/>
            <p:nvPr/>
          </p:nvSpPr>
          <p:spPr>
            <a:xfrm>
              <a:off x="381000" y="1238250"/>
              <a:ext cx="2667000" cy="35718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9" name="Google Shape;1879;p127"/>
            <p:cNvSpPr txBox="1"/>
            <p:nvPr/>
          </p:nvSpPr>
          <p:spPr>
            <a:xfrm>
              <a:off x="381000" y="1238250"/>
              <a:ext cx="2667000" cy="3571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模組一：影像擷取</a:t>
              </a:r>
              <a:endParaRPr b="1" sz="1400">
                <a:solidFill>
                  <a:srgbClr val="1E293B"/>
                </a:solidFill>
                <a:latin typeface="Inter"/>
                <a:ea typeface="Inter"/>
                <a:cs typeface="Inter"/>
                <a:sym typeface="Inter"/>
              </a:endParaRPr>
            </a:p>
            <a:p>
              <a:pPr indent="0" lvl="0" marL="0" rtl="0" algn="l">
                <a:spcBef>
                  <a:spcPts val="0"/>
                </a:spcBef>
                <a:spcAft>
                  <a:spcPts val="0"/>
                </a:spcAft>
                <a:buNone/>
              </a:pPr>
              <a:r>
                <a:rPr b="0" lang="zh-TW" sz="1000">
                  <a:solidFill>
                    <a:srgbClr val="3B82F6"/>
                  </a:solidFill>
                  <a:latin typeface="Inter SemiBold"/>
                  <a:ea typeface="Inter SemiBold"/>
                  <a:cs typeface="Inter SemiBold"/>
                  <a:sym typeface="Inter SemiBold"/>
                </a:rPr>
                <a:t>Producer Thread / I/O</a:t>
              </a:r>
              <a:endParaRPr b="0" sz="1000">
                <a:solidFill>
                  <a:srgbClr val="3B82F6"/>
                </a:solidFill>
                <a:latin typeface="Inter SemiBold"/>
                <a:ea typeface="Inter SemiBold"/>
                <a:cs typeface="Inter SemiBold"/>
                <a:sym typeface="Inter SemiBold"/>
              </a:endParaRPr>
            </a:p>
            <a:p>
              <a:pPr indent="0" lvl="0" marL="0" rtl="0" algn="l">
                <a:spcBef>
                  <a:spcPts val="900"/>
                </a:spcBef>
                <a:spcAft>
                  <a:spcPts val="0"/>
                </a:spcAft>
                <a:buNone/>
              </a:pPr>
              <a:r>
                <a:rPr b="1" lang="zh-TW" sz="1000">
                  <a:solidFill>
                    <a:srgbClr val="0F172A"/>
                  </a:solidFill>
                  <a:latin typeface="Inter"/>
                  <a:ea typeface="Inter"/>
                  <a:cs typeface="Inter"/>
                  <a:sym typeface="Inter"/>
                </a:rPr>
                <a:t>• 任務：</a:t>
              </a:r>
              <a:r>
                <a:rPr lang="zh-TW" sz="1000">
                  <a:solidFill>
                    <a:srgbClr val="475569"/>
                  </a:solidFill>
                  <a:latin typeface="Inter"/>
                  <a:ea typeface="Inter"/>
                  <a:cs typeface="Inter"/>
                  <a:sym typeface="Inter"/>
                </a:rPr>
                <a:t>負責模擬即時攝影機，嚴格以 30 FPS 的速度從影片中讀取畫面。</a:t>
              </a:r>
              <a:endParaRPr sz="1000">
                <a:solidFill>
                  <a:srgbClr val="475569"/>
                </a:solidFill>
                <a:latin typeface="Inter"/>
                <a:ea typeface="Inter"/>
                <a:cs typeface="Inter"/>
                <a:sym typeface="Inter"/>
              </a:endParaRPr>
            </a:p>
            <a:p>
              <a:pPr indent="0" lvl="0" marL="0" rtl="0" algn="l">
                <a:spcBef>
                  <a:spcPts val="600"/>
                </a:spcBef>
                <a:spcAft>
                  <a:spcPts val="0"/>
                </a:spcAft>
                <a:buNone/>
              </a:pPr>
              <a:r>
                <a:rPr b="1" lang="zh-TW" sz="1000">
                  <a:solidFill>
                    <a:srgbClr val="0F172A"/>
                  </a:solidFill>
                  <a:latin typeface="Inter"/>
                  <a:ea typeface="Inter"/>
                  <a:cs typeface="Inter"/>
                  <a:sym typeface="Inter"/>
                </a:rPr>
                <a:t>• 機制：</a:t>
              </a:r>
              <a:r>
                <a:rPr lang="zh-TW" sz="1000">
                  <a:solidFill>
                    <a:srgbClr val="475569"/>
                  </a:solidFill>
                  <a:latin typeface="Inter"/>
                  <a:ea typeface="Inter"/>
                  <a:cs typeface="Inter"/>
                  <a:sym typeface="Inter"/>
                </a:rPr>
                <a:t>讀取到的畫面會立刻存入一個長度限制為 3 的「滑動窗口 (Sliding Window Deque)」。</a:t>
              </a:r>
              <a:endParaRPr sz="1000">
                <a:solidFill>
                  <a:srgbClr val="475569"/>
                </a:solidFill>
                <a:latin typeface="Inter"/>
                <a:ea typeface="Inter"/>
                <a:cs typeface="Inter"/>
                <a:sym typeface="Inter"/>
              </a:endParaRPr>
            </a:p>
            <a:p>
              <a:pPr indent="0" lvl="0" marL="0" rtl="0" algn="l">
                <a:spcBef>
                  <a:spcPts val="600"/>
                </a:spcBef>
                <a:spcAft>
                  <a:spcPts val="600"/>
                </a:spcAft>
                <a:buNone/>
              </a:pPr>
              <a:r>
                <a:rPr b="1" lang="zh-TW" sz="1000">
                  <a:solidFill>
                    <a:srgbClr val="3B82F6"/>
                  </a:solidFill>
                  <a:latin typeface="Inter"/>
                  <a:ea typeface="Inter"/>
                  <a:cs typeface="Inter"/>
                  <a:sym typeface="Inter"/>
                </a:rPr>
                <a:t>• 核心特性：</a:t>
              </a:r>
              <a:r>
                <a:rPr lang="zh-TW" sz="1000">
                  <a:solidFill>
                    <a:srgbClr val="475569"/>
                  </a:solidFill>
                  <a:latin typeface="Inter"/>
                  <a:ea typeface="Inter"/>
                  <a:cs typeface="Inter"/>
                  <a:sym typeface="Inter"/>
                </a:rPr>
                <a:t>不等 AI！只要滑動窗口滿了，新的畫面進來就會把最舊的畫面擠掉（非同步丟幀）。</a:t>
              </a:r>
              <a:endParaRPr sz="1000">
                <a:solidFill>
                  <a:srgbClr val="475569"/>
                </a:solidFill>
                <a:latin typeface="Inter"/>
                <a:ea typeface="Inter"/>
                <a:cs typeface="Inter"/>
                <a:sym typeface="Inter"/>
              </a:endParaRPr>
            </a:p>
          </p:txBody>
        </p:sp>
      </p:grpSp>
      <p:grpSp>
        <p:nvGrpSpPr>
          <p:cNvPr id="1880" name="Google Shape;1880;p127"/>
          <p:cNvGrpSpPr/>
          <p:nvPr/>
        </p:nvGrpSpPr>
        <p:grpSpPr>
          <a:xfrm>
            <a:off x="3238500" y="1238250"/>
            <a:ext cx="2667000" cy="3571800"/>
            <a:chOff x="3238500" y="1238250"/>
            <a:chExt cx="2667000" cy="3571800"/>
          </a:xfrm>
        </p:grpSpPr>
        <p:sp>
          <p:nvSpPr>
            <p:cNvPr id="1881" name="Google Shape;1881;p127"/>
            <p:cNvSpPr/>
            <p:nvPr/>
          </p:nvSpPr>
          <p:spPr>
            <a:xfrm>
              <a:off x="3238500" y="1238250"/>
              <a:ext cx="2667000" cy="35718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2" name="Google Shape;1882;p127"/>
            <p:cNvSpPr txBox="1"/>
            <p:nvPr/>
          </p:nvSpPr>
          <p:spPr>
            <a:xfrm>
              <a:off x="3238500" y="1238250"/>
              <a:ext cx="2667000" cy="3571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模組二：AI 推論</a:t>
              </a:r>
              <a:endParaRPr b="1" sz="1400">
                <a:solidFill>
                  <a:srgbClr val="1E293B"/>
                </a:solidFill>
                <a:latin typeface="Inter"/>
                <a:ea typeface="Inter"/>
                <a:cs typeface="Inter"/>
                <a:sym typeface="Inter"/>
              </a:endParaRPr>
            </a:p>
            <a:p>
              <a:pPr indent="0" lvl="0" marL="0" rtl="0" algn="l">
                <a:spcBef>
                  <a:spcPts val="0"/>
                </a:spcBef>
                <a:spcAft>
                  <a:spcPts val="0"/>
                </a:spcAft>
                <a:buNone/>
              </a:pPr>
              <a:r>
                <a:rPr b="0" lang="zh-TW" sz="1000">
                  <a:solidFill>
                    <a:srgbClr val="3B82F6"/>
                  </a:solidFill>
                  <a:latin typeface="Inter SemiBold"/>
                  <a:ea typeface="Inter SemiBold"/>
                  <a:cs typeface="Inter SemiBold"/>
                  <a:sym typeface="Inter SemiBold"/>
                </a:rPr>
                <a:t>Consumer Thread / Inference</a:t>
              </a:r>
              <a:endParaRPr b="0" sz="1000">
                <a:solidFill>
                  <a:srgbClr val="3B82F6"/>
                </a:solidFill>
                <a:latin typeface="Inter SemiBold"/>
                <a:ea typeface="Inter SemiBold"/>
                <a:cs typeface="Inter SemiBold"/>
                <a:sym typeface="Inter SemiBold"/>
              </a:endParaRPr>
            </a:p>
            <a:p>
              <a:pPr indent="0" lvl="0" marL="0" rtl="0" algn="l">
                <a:spcBef>
                  <a:spcPts val="900"/>
                </a:spcBef>
                <a:spcAft>
                  <a:spcPts val="0"/>
                </a:spcAft>
                <a:buNone/>
              </a:pPr>
              <a:r>
                <a:rPr b="1" lang="zh-TW" sz="1000">
                  <a:solidFill>
                    <a:srgbClr val="0F172A"/>
                  </a:solidFill>
                  <a:latin typeface="Inter"/>
                  <a:ea typeface="Inter"/>
                  <a:cs typeface="Inter"/>
                  <a:sym typeface="Inter"/>
                </a:rPr>
                <a:t>• 任務：</a:t>
              </a:r>
              <a:r>
                <a:rPr lang="zh-TW" sz="1000">
                  <a:solidFill>
                    <a:srgbClr val="475569"/>
                  </a:solidFill>
                  <a:latin typeface="Inter"/>
                  <a:ea typeface="Inter"/>
                  <a:cs typeface="Inter"/>
                  <a:sym typeface="Inter"/>
                </a:rPr>
                <a:t>負責執行笨重的 Teacher Model TensorRT 引擎。</a:t>
              </a:r>
              <a:endParaRPr sz="1000">
                <a:solidFill>
                  <a:srgbClr val="475569"/>
                </a:solidFill>
                <a:latin typeface="Inter"/>
                <a:ea typeface="Inter"/>
                <a:cs typeface="Inter"/>
                <a:sym typeface="Inter"/>
              </a:endParaRPr>
            </a:p>
            <a:p>
              <a:pPr indent="0" lvl="0" marL="0" rtl="0" algn="l">
                <a:spcBef>
                  <a:spcPts val="600"/>
                </a:spcBef>
                <a:spcAft>
                  <a:spcPts val="0"/>
                </a:spcAft>
                <a:buNone/>
              </a:pPr>
              <a:r>
                <a:rPr b="1" lang="zh-TW" sz="1000">
                  <a:solidFill>
                    <a:srgbClr val="0F172A"/>
                  </a:solidFill>
                  <a:latin typeface="Inter"/>
                  <a:ea typeface="Inter"/>
                  <a:cs typeface="Inter"/>
                  <a:sym typeface="Inter"/>
                </a:rPr>
                <a:t>• 機制：</a:t>
              </a:r>
              <a:endParaRPr sz="1000">
                <a:solidFill>
                  <a:srgbClr val="475569"/>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1. 從模組一的滑動窗口中，一次「抽」出最新的 3 張畫面。</a:t>
              </a:r>
              <a:endParaRPr sz="1000">
                <a:solidFill>
                  <a:srgbClr val="475569"/>
                </a:solidFill>
                <a:latin typeface="Inter"/>
                <a:ea typeface="Inter"/>
                <a:cs typeface="Inter"/>
                <a:sym typeface="Inter"/>
              </a:endParaRPr>
            </a:p>
            <a:p>
              <a:pPr indent="0" lvl="0" marL="0" rtl="0" algn="l">
                <a:spcBef>
                  <a:spcPts val="300"/>
                </a:spcBef>
                <a:spcAft>
                  <a:spcPts val="0"/>
                </a:spcAft>
                <a:buNone/>
              </a:pPr>
              <a:r>
                <a:rPr lang="zh-TW" sz="1000">
                  <a:solidFill>
                    <a:srgbClr val="475569"/>
                  </a:solidFill>
                  <a:latin typeface="Inter"/>
                  <a:ea typeface="Inter"/>
                  <a:cs typeface="Inter"/>
                  <a:sym typeface="Inter"/>
                </a:rPr>
                <a:t>2. 執行 TensorRT 推論</a:t>
              </a:r>
              <a:endParaRPr sz="1000">
                <a:solidFill>
                  <a:srgbClr val="475569"/>
                </a:solidFill>
                <a:latin typeface="Inter"/>
                <a:ea typeface="Inter"/>
                <a:cs typeface="Inter"/>
                <a:sym typeface="Inter"/>
              </a:endParaRPr>
            </a:p>
            <a:p>
              <a:pPr indent="0" lvl="0" marL="0" rtl="0" algn="l">
                <a:spcBef>
                  <a:spcPts val="300"/>
                </a:spcBef>
                <a:spcAft>
                  <a:spcPts val="300"/>
                </a:spcAft>
                <a:buNone/>
              </a:pPr>
              <a:r>
                <a:rPr lang="zh-TW" sz="1000">
                  <a:solidFill>
                    <a:srgbClr val="475569"/>
                  </a:solidFill>
                  <a:latin typeface="Inter"/>
                  <a:ea typeface="Inter"/>
                  <a:cs typeface="Inter"/>
                  <a:sym typeface="Inter"/>
                </a:rPr>
                <a:t>3. 推論完成後，將羽球的 (X, Y) 座標更新至 Global_Latest_BBox 全域變數。</a:t>
              </a:r>
              <a:endParaRPr sz="1000">
                <a:solidFill>
                  <a:srgbClr val="475569"/>
                </a:solidFill>
                <a:latin typeface="Inter"/>
                <a:ea typeface="Inter"/>
                <a:cs typeface="Inter"/>
                <a:sym typeface="Inter"/>
              </a:endParaRPr>
            </a:p>
          </p:txBody>
        </p:sp>
      </p:grpSp>
      <p:grpSp>
        <p:nvGrpSpPr>
          <p:cNvPr id="1883" name="Google Shape;1883;p127"/>
          <p:cNvGrpSpPr/>
          <p:nvPr/>
        </p:nvGrpSpPr>
        <p:grpSpPr>
          <a:xfrm>
            <a:off x="6096000" y="1238250"/>
            <a:ext cx="2667000" cy="3571800"/>
            <a:chOff x="6096000" y="1238250"/>
            <a:chExt cx="2667000" cy="3571800"/>
          </a:xfrm>
        </p:grpSpPr>
        <p:sp>
          <p:nvSpPr>
            <p:cNvPr id="1884" name="Google Shape;1884;p127"/>
            <p:cNvSpPr/>
            <p:nvPr/>
          </p:nvSpPr>
          <p:spPr>
            <a:xfrm>
              <a:off x="6096000" y="1238250"/>
              <a:ext cx="2667000" cy="35718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5" name="Google Shape;1885;p127"/>
            <p:cNvSpPr txBox="1"/>
            <p:nvPr/>
          </p:nvSpPr>
          <p:spPr>
            <a:xfrm>
              <a:off x="6096000" y="1238250"/>
              <a:ext cx="2667000" cy="3571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模組三：主程式渲染</a:t>
              </a:r>
              <a:endParaRPr b="1" sz="1400">
                <a:solidFill>
                  <a:srgbClr val="1E293B"/>
                </a:solidFill>
                <a:latin typeface="Inter"/>
                <a:ea typeface="Inter"/>
                <a:cs typeface="Inter"/>
                <a:sym typeface="Inter"/>
              </a:endParaRPr>
            </a:p>
            <a:p>
              <a:pPr indent="0" lvl="0" marL="0" rtl="0" algn="l">
                <a:spcBef>
                  <a:spcPts val="0"/>
                </a:spcBef>
                <a:spcAft>
                  <a:spcPts val="0"/>
                </a:spcAft>
                <a:buNone/>
              </a:pPr>
              <a:r>
                <a:rPr b="0" lang="zh-TW" sz="1000">
                  <a:solidFill>
                    <a:srgbClr val="3B82F6"/>
                  </a:solidFill>
                  <a:latin typeface="Inter SemiBold"/>
                  <a:ea typeface="Inter SemiBold"/>
                  <a:cs typeface="Inter SemiBold"/>
                  <a:sym typeface="Inter SemiBold"/>
                </a:rPr>
                <a:t>Main Display Thread</a:t>
              </a:r>
              <a:endParaRPr b="0" sz="1000">
                <a:solidFill>
                  <a:srgbClr val="3B82F6"/>
                </a:solidFill>
                <a:latin typeface="Inter SemiBold"/>
                <a:ea typeface="Inter SemiBold"/>
                <a:cs typeface="Inter SemiBold"/>
                <a:sym typeface="Inter SemiBold"/>
              </a:endParaRPr>
            </a:p>
            <a:p>
              <a:pPr indent="0" lvl="0" marL="0" rtl="0" algn="l">
                <a:spcBef>
                  <a:spcPts val="900"/>
                </a:spcBef>
                <a:spcAft>
                  <a:spcPts val="0"/>
                </a:spcAft>
                <a:buNone/>
              </a:pPr>
              <a:r>
                <a:rPr b="1" lang="zh-TW" sz="1000">
                  <a:solidFill>
                    <a:srgbClr val="0F172A"/>
                  </a:solidFill>
                  <a:latin typeface="Inter"/>
                  <a:ea typeface="Inter"/>
                  <a:cs typeface="Inter"/>
                  <a:sym typeface="Inter"/>
                </a:rPr>
                <a:t>• 任務：</a:t>
              </a:r>
              <a:r>
                <a:rPr lang="zh-TW" sz="1000">
                  <a:solidFill>
                    <a:srgbClr val="475569"/>
                  </a:solidFill>
                  <a:latin typeface="Inter"/>
                  <a:ea typeface="Inter"/>
                  <a:cs typeface="Inter"/>
                  <a:sym typeface="Inter"/>
                </a:rPr>
                <a:t>負責將畫面顯示在螢幕上（或寫入影片檔）。</a:t>
              </a:r>
              <a:endParaRPr sz="1000">
                <a:solidFill>
                  <a:srgbClr val="475569"/>
                </a:solidFill>
                <a:latin typeface="Inter"/>
                <a:ea typeface="Inter"/>
                <a:cs typeface="Inter"/>
                <a:sym typeface="Inter"/>
              </a:endParaRPr>
            </a:p>
            <a:p>
              <a:pPr indent="0" lvl="0" marL="0" rtl="0" algn="l">
                <a:spcBef>
                  <a:spcPts val="600"/>
                </a:spcBef>
                <a:spcAft>
                  <a:spcPts val="0"/>
                </a:spcAft>
                <a:buNone/>
              </a:pPr>
              <a:r>
                <a:rPr b="1" lang="zh-TW" sz="1000">
                  <a:solidFill>
                    <a:srgbClr val="0F172A"/>
                  </a:solidFill>
                  <a:latin typeface="Inter"/>
                  <a:ea typeface="Inter"/>
                  <a:cs typeface="Inter"/>
                  <a:sym typeface="Inter"/>
                </a:rPr>
                <a:t>• 機制：</a:t>
              </a:r>
              <a:r>
                <a:rPr lang="zh-TW" sz="1000">
                  <a:solidFill>
                    <a:srgbClr val="475569"/>
                  </a:solidFill>
                  <a:latin typeface="Inter"/>
                  <a:ea typeface="Inter"/>
                  <a:cs typeface="Inter"/>
                  <a:sym typeface="Inter"/>
                </a:rPr>
                <a:t>緊緊跟隨「模組一」的速度，以 30 FPS 拿取最新畫面。同時去查看 Global_Latest_BBox。</a:t>
              </a:r>
              <a:endParaRPr sz="1000">
                <a:solidFill>
                  <a:srgbClr val="475569"/>
                </a:solidFill>
                <a:latin typeface="Inter"/>
                <a:ea typeface="Inter"/>
                <a:cs typeface="Inter"/>
                <a:sym typeface="Inter"/>
              </a:endParaRPr>
            </a:p>
            <a:p>
              <a:pPr indent="0" lvl="0" marL="0" rtl="0" algn="l">
                <a:spcBef>
                  <a:spcPts val="600"/>
                </a:spcBef>
                <a:spcAft>
                  <a:spcPts val="600"/>
                </a:spcAft>
                <a:buNone/>
              </a:pPr>
              <a:r>
                <a:rPr b="1" lang="zh-TW" sz="1000">
                  <a:solidFill>
                    <a:srgbClr val="EF4444"/>
                  </a:solidFill>
                  <a:latin typeface="Inter"/>
                  <a:ea typeface="Inter"/>
                  <a:cs typeface="Inter"/>
                  <a:sym typeface="Inter"/>
                </a:rPr>
                <a:t>• 核心特性：</a:t>
              </a:r>
              <a:r>
                <a:rPr lang="zh-TW" sz="1000">
                  <a:solidFill>
                    <a:srgbClr val="475569"/>
                  </a:solidFill>
                  <a:latin typeface="Inter"/>
                  <a:ea typeface="Inter"/>
                  <a:cs typeface="Inter"/>
                  <a:sym typeface="Inter"/>
                </a:rPr>
                <a:t>因為 AI 模組較慢，主程式在連續的 24 幀內會拿到同一個舊座標，導致紅點停在原地，直到 AI 算完才會「瞬移」。</a:t>
              </a:r>
              <a:endParaRPr sz="1000">
                <a:solidFill>
                  <a:srgbClr val="475569"/>
                </a:solidFill>
                <a:latin typeface="Inter"/>
                <a:ea typeface="Inter"/>
                <a:cs typeface="Inter"/>
                <a:sym typeface="Inter"/>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9" name="Shape 1889"/>
        <p:cNvGrpSpPr/>
        <p:nvPr/>
      </p:nvGrpSpPr>
      <p:grpSpPr>
        <a:xfrm>
          <a:off x="0" y="0"/>
          <a:ext cx="0" cy="0"/>
          <a:chOff x="0" y="0"/>
          <a:chExt cx="0" cy="0"/>
        </a:xfrm>
      </p:grpSpPr>
      <p:grpSp>
        <p:nvGrpSpPr>
          <p:cNvPr id="1890" name="Google Shape;1890;p128"/>
          <p:cNvGrpSpPr/>
          <p:nvPr/>
        </p:nvGrpSpPr>
        <p:grpSpPr>
          <a:xfrm>
            <a:off x="-476250" y="-857250"/>
            <a:ext cx="10477500" cy="6381750"/>
            <a:chOff x="-476250" y="-857250"/>
            <a:chExt cx="10477500" cy="6381750"/>
          </a:xfrm>
        </p:grpSpPr>
        <p:sp>
          <p:nvSpPr>
            <p:cNvPr id="1891" name="Google Shape;1891;p128"/>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2" name="Google Shape;1892;p128"/>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3" name="Google Shape;1893;p128"/>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4" name="Google Shape;1894;p128"/>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95" name="Google Shape;1895;p128"/>
          <p:cNvSpPr txBox="1"/>
          <p:nvPr/>
        </p:nvSpPr>
        <p:spPr>
          <a:xfrm>
            <a:off x="381000" y="38100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600">
                <a:solidFill>
                  <a:srgbClr val="1E293B"/>
                </a:solidFill>
                <a:latin typeface="Inter"/>
                <a:ea typeface="Inter"/>
                <a:cs typeface="Inter"/>
                <a:sym typeface="Inter"/>
              </a:rPr>
              <a:t>PC端測試 realtime mode</a:t>
            </a:r>
            <a:endParaRPr b="1" sz="2600">
              <a:solidFill>
                <a:srgbClr val="1E293B"/>
              </a:solidFill>
              <a:latin typeface="Inter"/>
              <a:ea typeface="Inter"/>
              <a:cs typeface="Inter"/>
              <a:sym typeface="Inter"/>
            </a:endParaRPr>
          </a:p>
        </p:txBody>
      </p:sp>
      <p:grpSp>
        <p:nvGrpSpPr>
          <p:cNvPr id="1896" name="Google Shape;1896;p128"/>
          <p:cNvGrpSpPr/>
          <p:nvPr/>
        </p:nvGrpSpPr>
        <p:grpSpPr>
          <a:xfrm>
            <a:off x="381000" y="1333500"/>
            <a:ext cx="3905400" cy="3238500"/>
            <a:chOff x="381000" y="1333500"/>
            <a:chExt cx="3905400" cy="3238500"/>
          </a:xfrm>
        </p:grpSpPr>
        <p:sp>
          <p:nvSpPr>
            <p:cNvPr id="1897" name="Google Shape;1897;p128"/>
            <p:cNvSpPr/>
            <p:nvPr/>
          </p:nvSpPr>
          <p:spPr>
            <a:xfrm>
              <a:off x="381000" y="133350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8" name="Google Shape;1898;p128"/>
            <p:cNvSpPr txBox="1"/>
            <p:nvPr/>
          </p:nvSpPr>
          <p:spPr>
            <a:xfrm>
              <a:off x="381000" y="1333500"/>
              <a:ext cx="3905400" cy="32385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zh-TW" sz="1800">
                  <a:solidFill>
                    <a:srgbClr val="1E293B"/>
                  </a:solidFill>
                  <a:latin typeface="Inter"/>
                  <a:ea typeface="Inter"/>
                  <a:cs typeface="Inter"/>
                  <a:sym typeface="Inter"/>
                </a:rPr>
                <a:t>TracknetV4 in PC</a:t>
              </a:r>
              <a:endParaRPr b="1" sz="1800">
                <a:solidFill>
                  <a:srgbClr val="1E293B"/>
                </a:solidFill>
                <a:latin typeface="Inter"/>
                <a:ea typeface="Inter"/>
                <a:cs typeface="Inter"/>
                <a:sym typeface="Inter"/>
              </a:endParaRPr>
            </a:p>
            <a:p>
              <a:pPr indent="0" lvl="0" marL="0" rtl="0" algn="l">
                <a:spcBef>
                  <a:spcPts val="375"/>
                </a:spcBef>
                <a:spcAft>
                  <a:spcPts val="0"/>
                </a:spcAft>
                <a:buNone/>
              </a:pPr>
              <a:r>
                <a:rPr b="0" lang="zh-TW" sz="1100">
                  <a:solidFill>
                    <a:srgbClr val="3B82F6"/>
                  </a:solidFill>
                  <a:latin typeface="Inter SemiBold"/>
                  <a:ea typeface="Inter SemiBold"/>
                  <a:cs typeface="Inter SemiBold"/>
                  <a:sym typeface="Inter SemiBold"/>
                </a:rPr>
                <a:t>標準模型測試數據</a:t>
              </a:r>
              <a:endParaRPr b="0" sz="1100">
                <a:solidFill>
                  <a:srgbClr val="3B82F6"/>
                </a:solidFill>
                <a:latin typeface="Inter SemiBold"/>
                <a:ea typeface="Inter SemiBold"/>
                <a:cs typeface="Inter SemiBold"/>
                <a:sym typeface="Inter SemiBold"/>
              </a:endParaRPr>
            </a:p>
            <a:p>
              <a:pPr indent="0" lvl="0" marL="0" rtl="0" algn="l">
                <a:spcBef>
                  <a:spcPts val="1875"/>
                </a:spcBef>
                <a:spcAft>
                  <a:spcPts val="0"/>
                </a:spcAft>
                <a:buNone/>
              </a:pPr>
              <a:r>
                <a:rPr b="1" lang="zh-TW" sz="1100">
                  <a:solidFill>
                    <a:srgbClr val="475569"/>
                  </a:solidFill>
                  <a:latin typeface="Inter"/>
                  <a:ea typeface="Inter"/>
                  <a:cs typeface="Inter"/>
                  <a:sym typeface="Inter"/>
                </a:rPr>
                <a:t>平均延遲 (Latency)</a:t>
              </a:r>
              <a:endParaRPr b="1" sz="1100">
                <a:solidFill>
                  <a:srgbClr val="475569"/>
                </a:solidFill>
                <a:latin typeface="Inter"/>
                <a:ea typeface="Inter"/>
                <a:cs typeface="Inter"/>
                <a:sym typeface="Inter"/>
              </a:endParaRPr>
            </a:p>
            <a:p>
              <a:pPr indent="0" lvl="0" marL="0" rtl="0" algn="l">
                <a:spcBef>
                  <a:spcPts val="375"/>
                </a:spcBef>
                <a:spcAft>
                  <a:spcPts val="0"/>
                </a:spcAft>
                <a:buNone/>
              </a:pPr>
              <a:r>
                <a:rPr b="1" lang="zh-TW" sz="2400">
                  <a:solidFill>
                    <a:srgbClr val="EF4444"/>
                  </a:solidFill>
                  <a:latin typeface="Inter"/>
                  <a:ea typeface="Inter"/>
                  <a:cs typeface="Inter"/>
                  <a:sym typeface="Inter"/>
                </a:rPr>
                <a:t>43 ~ 46 </a:t>
              </a:r>
              <a:r>
                <a:rPr b="0" lang="zh-TW" sz="1400">
                  <a:solidFill>
                    <a:srgbClr val="64748B"/>
                  </a:solidFill>
                  <a:latin typeface="Inter Medium"/>
                  <a:ea typeface="Inter Medium"/>
                  <a:cs typeface="Inter Medium"/>
                  <a:sym typeface="Inter Medium"/>
                </a:rPr>
                <a:t>ms</a:t>
              </a:r>
              <a:endParaRPr b="1" sz="2400">
                <a:solidFill>
                  <a:srgbClr val="EF4444"/>
                </a:solidFill>
                <a:latin typeface="Inter"/>
                <a:ea typeface="Inter"/>
                <a:cs typeface="Inter"/>
                <a:sym typeface="Inter"/>
              </a:endParaRPr>
            </a:p>
            <a:p>
              <a:pPr indent="0" lvl="0" marL="0" rtl="0" algn="l">
                <a:spcBef>
                  <a:spcPts val="1500"/>
                </a:spcBef>
                <a:spcAft>
                  <a:spcPts val="0"/>
                </a:spcAft>
                <a:buNone/>
              </a:pPr>
              <a:r>
                <a:rPr b="1" lang="zh-TW" sz="1100">
                  <a:solidFill>
                    <a:srgbClr val="475569"/>
                  </a:solidFill>
                  <a:latin typeface="Inter"/>
                  <a:ea typeface="Inter"/>
                  <a:cs typeface="Inter"/>
                  <a:sym typeface="Inter"/>
                </a:rPr>
                <a:t>每秒幀數 (Frames Per Second)</a:t>
              </a:r>
              <a:endParaRPr b="1" sz="1100">
                <a:solidFill>
                  <a:srgbClr val="475569"/>
                </a:solidFill>
                <a:latin typeface="Inter"/>
                <a:ea typeface="Inter"/>
                <a:cs typeface="Inter"/>
                <a:sym typeface="Inter"/>
              </a:endParaRPr>
            </a:p>
            <a:p>
              <a:pPr indent="0" lvl="0" marL="0" rtl="0" algn="l">
                <a:spcBef>
                  <a:spcPts val="375"/>
                </a:spcBef>
                <a:spcAft>
                  <a:spcPts val="0"/>
                </a:spcAft>
                <a:buNone/>
              </a:pPr>
              <a:r>
                <a:rPr b="1" lang="zh-TW" sz="2400">
                  <a:solidFill>
                    <a:srgbClr val="1E293B"/>
                  </a:solidFill>
                  <a:latin typeface="Inter"/>
                  <a:ea typeface="Inter"/>
                  <a:cs typeface="Inter"/>
                  <a:sym typeface="Inter"/>
                </a:rPr>
                <a:t>22.2 </a:t>
              </a:r>
              <a:r>
                <a:rPr b="0" lang="zh-TW" sz="1400">
                  <a:solidFill>
                    <a:srgbClr val="64748B"/>
                  </a:solidFill>
                  <a:latin typeface="Inter Medium"/>
                  <a:ea typeface="Inter Medium"/>
                  <a:cs typeface="Inter Medium"/>
                  <a:sym typeface="Inter Medium"/>
                </a:rPr>
                <a:t>FPS</a:t>
              </a:r>
              <a:endParaRPr b="1" sz="2400">
                <a:solidFill>
                  <a:srgbClr val="1E293B"/>
                </a:solidFill>
                <a:latin typeface="Inter"/>
                <a:ea typeface="Inter"/>
                <a:cs typeface="Inter"/>
                <a:sym typeface="Inter"/>
              </a:endParaRPr>
            </a:p>
            <a:p>
              <a:pPr indent="0" lvl="0" marL="0" rtl="0" algn="l">
                <a:spcBef>
                  <a:spcPts val="375"/>
                </a:spcBef>
                <a:spcAft>
                  <a:spcPts val="0"/>
                </a:spcAft>
                <a:buNone/>
              </a:pPr>
              <a:r>
                <a:rPr b="0" lang="zh-TW" sz="950">
                  <a:solidFill>
                    <a:srgbClr val="94A3B8"/>
                  </a:solidFill>
                  <a:latin typeface="Inter"/>
                  <a:ea typeface="Inter"/>
                  <a:cs typeface="Inter"/>
                  <a:sym typeface="Inter"/>
                </a:rPr>
                <a:t>計算公式: 1000 毫秒 / 45 毫秒 [cite: 21]</a:t>
              </a:r>
              <a:endParaRPr b="0" sz="950">
                <a:solidFill>
                  <a:srgbClr val="94A3B8"/>
                </a:solidFill>
                <a:latin typeface="Inter"/>
                <a:ea typeface="Inter"/>
                <a:cs typeface="Inter"/>
                <a:sym typeface="Inter"/>
              </a:endParaRPr>
            </a:p>
          </p:txBody>
        </p:sp>
      </p:grpSp>
      <p:pic>
        <p:nvPicPr>
          <p:cNvPr id="1899" name="Google Shape;1899;p128" title="teacher_realtime_pc.mp4">
            <a:hlinkClick r:id="rId3"/>
          </p:cNvPr>
          <p:cNvPicPr preferRelativeResize="0"/>
          <p:nvPr/>
        </p:nvPicPr>
        <p:blipFill>
          <a:blip r:embed="rId4">
            <a:alphaModFix/>
          </a:blip>
          <a:stretch>
            <a:fillRect/>
          </a:stretch>
        </p:blipFill>
        <p:spPr>
          <a:xfrm>
            <a:off x="4333025" y="1612925"/>
            <a:ext cx="4763824" cy="26796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9"/>
                                        </p:tgtEl>
                                        <p:attrNameLst>
                                          <p:attrName>style.visibility</p:attrName>
                                        </p:attrNameLst>
                                      </p:cBhvr>
                                      <p:to>
                                        <p:strVal val="visible"/>
                                      </p:to>
                                    </p:set>
                                    <p:animEffect filter="fade" transition="in">
                                      <p:cBhvr>
                                        <p:cTn dur="1000"/>
                                        <p:tgtEl>
                                          <p:spTgt spid="18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grpSp>
        <p:nvGrpSpPr>
          <p:cNvPr id="1904" name="Google Shape;1904;p129"/>
          <p:cNvGrpSpPr/>
          <p:nvPr/>
        </p:nvGrpSpPr>
        <p:grpSpPr>
          <a:xfrm>
            <a:off x="-476250" y="-857250"/>
            <a:ext cx="10477500" cy="6381750"/>
            <a:chOff x="-476250" y="-857250"/>
            <a:chExt cx="10477500" cy="6381750"/>
          </a:xfrm>
        </p:grpSpPr>
        <p:sp>
          <p:nvSpPr>
            <p:cNvPr id="1905" name="Google Shape;1905;p129"/>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6" name="Google Shape;1906;p129"/>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7" name="Google Shape;1907;p129"/>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8" name="Google Shape;1908;p129"/>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09" name="Google Shape;1909;p129"/>
          <p:cNvSpPr txBox="1"/>
          <p:nvPr/>
        </p:nvSpPr>
        <p:spPr>
          <a:xfrm>
            <a:off x="381000" y="38100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600">
                <a:solidFill>
                  <a:srgbClr val="1E293B"/>
                </a:solidFill>
                <a:latin typeface="Inter"/>
                <a:ea typeface="Inter"/>
                <a:cs typeface="Inter"/>
                <a:sym typeface="Inter"/>
              </a:rPr>
              <a:t>PC端測試 realtime mode</a:t>
            </a:r>
            <a:endParaRPr b="1" sz="2600">
              <a:solidFill>
                <a:srgbClr val="1E293B"/>
              </a:solidFill>
              <a:latin typeface="Inter"/>
              <a:ea typeface="Inter"/>
              <a:cs typeface="Inter"/>
              <a:sym typeface="Inter"/>
            </a:endParaRPr>
          </a:p>
        </p:txBody>
      </p:sp>
      <p:grpSp>
        <p:nvGrpSpPr>
          <p:cNvPr id="1910" name="Google Shape;1910;p129"/>
          <p:cNvGrpSpPr/>
          <p:nvPr/>
        </p:nvGrpSpPr>
        <p:grpSpPr>
          <a:xfrm>
            <a:off x="4857750" y="1333500"/>
            <a:ext cx="3905400" cy="3238500"/>
            <a:chOff x="4857750" y="1333500"/>
            <a:chExt cx="3905400" cy="3238500"/>
          </a:xfrm>
        </p:grpSpPr>
        <p:sp>
          <p:nvSpPr>
            <p:cNvPr id="1911" name="Google Shape;1911;p129"/>
            <p:cNvSpPr/>
            <p:nvPr/>
          </p:nvSpPr>
          <p:spPr>
            <a:xfrm>
              <a:off x="4857750" y="133350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2" name="Google Shape;1912;p129"/>
            <p:cNvSpPr txBox="1"/>
            <p:nvPr/>
          </p:nvSpPr>
          <p:spPr>
            <a:xfrm>
              <a:off x="4857750" y="1333500"/>
              <a:ext cx="3905400" cy="32385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zh-TW" sz="1800">
                  <a:solidFill>
                    <a:srgbClr val="3B82F6"/>
                  </a:solidFill>
                  <a:latin typeface="Inter"/>
                  <a:ea typeface="Inter"/>
                  <a:cs typeface="Inter"/>
                  <a:sym typeface="Inter"/>
                </a:rPr>
                <a:t>MiniROI in PC</a:t>
              </a:r>
              <a:endParaRPr b="1" sz="1800">
                <a:solidFill>
                  <a:srgbClr val="3B82F6"/>
                </a:solidFill>
                <a:latin typeface="Inter"/>
                <a:ea typeface="Inter"/>
                <a:cs typeface="Inter"/>
                <a:sym typeface="Inter"/>
              </a:endParaRPr>
            </a:p>
            <a:p>
              <a:pPr indent="0" lvl="0" marL="0" rtl="0" algn="l">
                <a:spcBef>
                  <a:spcPts val="375"/>
                </a:spcBef>
                <a:spcAft>
                  <a:spcPts val="0"/>
                </a:spcAft>
                <a:buNone/>
              </a:pPr>
              <a:r>
                <a:rPr b="0" lang="zh-TW" sz="1100">
                  <a:solidFill>
                    <a:srgbClr val="10B981"/>
                  </a:solidFill>
                  <a:latin typeface="Inter SemiBold"/>
                  <a:ea typeface="Inter SemiBold"/>
                  <a:cs typeface="Inter SemiBold"/>
                  <a:sym typeface="Inter SemiBold"/>
                </a:rPr>
                <a:t>輕量化 ROI 最佳化加速 [cite: 21]</a:t>
              </a:r>
              <a:endParaRPr b="0" sz="1100">
                <a:solidFill>
                  <a:srgbClr val="10B981"/>
                </a:solidFill>
                <a:latin typeface="Inter SemiBold"/>
                <a:ea typeface="Inter SemiBold"/>
                <a:cs typeface="Inter SemiBold"/>
                <a:sym typeface="Inter SemiBold"/>
              </a:endParaRPr>
            </a:p>
            <a:p>
              <a:pPr indent="0" lvl="0" marL="0" rtl="0" algn="l">
                <a:spcBef>
                  <a:spcPts val="1875"/>
                </a:spcBef>
                <a:spcAft>
                  <a:spcPts val="0"/>
                </a:spcAft>
                <a:buNone/>
              </a:pPr>
              <a:r>
                <a:rPr b="1" lang="zh-TW" sz="1200">
                  <a:solidFill>
                    <a:srgbClr val="1E293B"/>
                  </a:solidFill>
                  <a:latin typeface="Inter"/>
                  <a:ea typeface="Inter"/>
                  <a:cs typeface="Inter"/>
                  <a:sym typeface="Inter"/>
                </a:rPr>
                <a:t>🔍 全域搜索 (Global Search)</a:t>
              </a:r>
              <a:endParaRPr b="1" sz="1200">
                <a:solidFill>
                  <a:srgbClr val="1E293B"/>
                </a:solidFill>
                <a:latin typeface="Inter"/>
                <a:ea typeface="Inter"/>
                <a:cs typeface="Inter"/>
                <a:sym typeface="Inter"/>
              </a:endParaRPr>
            </a:p>
            <a:p>
              <a:pPr indent="0" lvl="0" marL="0" rtl="0" algn="l">
                <a:spcBef>
                  <a:spcPts val="600"/>
                </a:spcBef>
                <a:spcAft>
                  <a:spcPts val="0"/>
                </a:spcAft>
                <a:buNone/>
              </a:pPr>
              <a:r>
                <a:rPr b="1" lang="zh-TW" sz="1100">
                  <a:solidFill>
                    <a:srgbClr val="0F172A"/>
                  </a:solidFill>
                  <a:latin typeface="Inter"/>
                  <a:ea typeface="Inter"/>
                  <a:cs typeface="Inter"/>
                  <a:sym typeface="Inter"/>
                </a:rPr>
                <a:t>延遲: </a:t>
              </a:r>
              <a:r>
                <a:rPr lang="zh-TW" sz="1100">
                  <a:solidFill>
                    <a:srgbClr val="475569"/>
                  </a:solidFill>
                  <a:latin typeface="Inter"/>
                  <a:ea typeface="Inter"/>
                  <a:cs typeface="Inter"/>
                  <a:sym typeface="Inter"/>
                </a:rPr>
                <a:t>~ 11.5 ms</a:t>
              </a:r>
              <a:r>
                <a:rPr lang="zh-TW" sz="1100">
                  <a:solidFill>
                    <a:srgbClr val="CBD5E1"/>
                  </a:solidFill>
                  <a:latin typeface="Inter"/>
                  <a:ea typeface="Inter"/>
                  <a:cs typeface="Inter"/>
                  <a:sym typeface="Inter"/>
                </a:rPr>
                <a:t>|</a:t>
              </a:r>
              <a:r>
                <a:rPr b="1" lang="zh-TW" sz="1100">
                  <a:solidFill>
                    <a:srgbClr val="10B981"/>
                  </a:solidFill>
                  <a:latin typeface="Inter"/>
                  <a:ea typeface="Inter"/>
                  <a:cs typeface="Inter"/>
                  <a:sym typeface="Inter"/>
                </a:rPr>
                <a:t>86.95 FPS</a:t>
              </a:r>
              <a:r>
                <a:rPr lang="zh-TW" sz="1100">
                  <a:solidFill>
                    <a:srgbClr val="475569"/>
                  </a:solidFill>
                  <a:latin typeface="Inter"/>
                  <a:ea typeface="Inter"/>
                  <a:cs typeface="Inter"/>
                  <a:sym typeface="Inter"/>
                </a:rPr>
                <a:t> </a:t>
              </a:r>
              <a:endParaRPr sz="1100">
                <a:solidFill>
                  <a:srgbClr val="475569"/>
                </a:solidFill>
                <a:latin typeface="Inter"/>
                <a:ea typeface="Inter"/>
                <a:cs typeface="Inter"/>
                <a:sym typeface="Inter"/>
              </a:endParaRPr>
            </a:p>
            <a:p>
              <a:pPr indent="0" lvl="0" marL="0" rtl="0" algn="l">
                <a:spcBef>
                  <a:spcPts val="1500"/>
                </a:spcBef>
                <a:spcAft>
                  <a:spcPts val="0"/>
                </a:spcAft>
                <a:buNone/>
              </a:pPr>
              <a:r>
                <a:rPr b="1" lang="zh-TW" sz="1200">
                  <a:solidFill>
                    <a:srgbClr val="1E293B"/>
                  </a:solidFill>
                  <a:latin typeface="Inter"/>
                  <a:ea typeface="Inter"/>
                  <a:cs typeface="Inter"/>
                  <a:sym typeface="Inter"/>
                </a:rPr>
                <a:t>⚡ 動態追蹤 (Local Track 128)</a:t>
              </a:r>
              <a:endParaRPr b="1" sz="1200">
                <a:solidFill>
                  <a:srgbClr val="1E293B"/>
                </a:solidFill>
                <a:latin typeface="Inter"/>
                <a:ea typeface="Inter"/>
                <a:cs typeface="Inter"/>
                <a:sym typeface="Inter"/>
              </a:endParaRPr>
            </a:p>
            <a:p>
              <a:pPr indent="0" lvl="0" marL="0" rtl="0" algn="l">
                <a:spcBef>
                  <a:spcPts val="600"/>
                </a:spcBef>
                <a:spcAft>
                  <a:spcPts val="0"/>
                </a:spcAft>
                <a:buNone/>
              </a:pPr>
              <a:r>
                <a:rPr b="1" lang="zh-TW" sz="1100">
                  <a:solidFill>
                    <a:srgbClr val="0F172A"/>
                  </a:solidFill>
                  <a:latin typeface="Inter"/>
                  <a:ea typeface="Inter"/>
                  <a:cs typeface="Inter"/>
                  <a:sym typeface="Inter"/>
                </a:rPr>
                <a:t>延遲: </a:t>
              </a:r>
              <a:r>
                <a:rPr lang="zh-TW" sz="1100">
                  <a:solidFill>
                    <a:srgbClr val="475569"/>
                  </a:solidFill>
                  <a:latin typeface="Inter"/>
                  <a:ea typeface="Inter"/>
                  <a:cs typeface="Inter"/>
                  <a:sym typeface="Inter"/>
                </a:rPr>
                <a:t>~ 3.5 ms</a:t>
              </a:r>
              <a:r>
                <a:rPr lang="zh-TW" sz="1100">
                  <a:solidFill>
                    <a:srgbClr val="CBD5E1"/>
                  </a:solidFill>
                  <a:latin typeface="Inter"/>
                  <a:ea typeface="Inter"/>
                  <a:cs typeface="Inter"/>
                  <a:sym typeface="Inter"/>
                </a:rPr>
                <a:t>|</a:t>
              </a:r>
              <a:r>
                <a:rPr b="1" lang="zh-TW" sz="1100">
                  <a:solidFill>
                    <a:srgbClr val="10B981"/>
                  </a:solidFill>
                  <a:latin typeface="Inter"/>
                  <a:ea typeface="Inter"/>
                  <a:cs typeface="Inter"/>
                  <a:sym typeface="Inter"/>
                </a:rPr>
                <a:t>285.7 FPS</a:t>
              </a:r>
              <a:r>
                <a:rPr lang="zh-TW" sz="1100">
                  <a:solidFill>
                    <a:srgbClr val="475569"/>
                  </a:solidFill>
                  <a:latin typeface="Inter"/>
                  <a:ea typeface="Inter"/>
                  <a:cs typeface="Inter"/>
                  <a:sym typeface="Inter"/>
                </a:rPr>
                <a:t> </a:t>
              </a:r>
              <a:endParaRPr sz="1100">
                <a:solidFill>
                  <a:srgbClr val="475569"/>
                </a:solidFill>
                <a:latin typeface="Inter"/>
                <a:ea typeface="Inter"/>
                <a:cs typeface="Inter"/>
                <a:sym typeface="Inter"/>
              </a:endParaRPr>
            </a:p>
          </p:txBody>
        </p:sp>
      </p:grpSp>
      <p:pic>
        <p:nvPicPr>
          <p:cNvPr id="1913" name="Google Shape;1913;p129" title="student_realtime_pc.mp4">
            <a:hlinkClick r:id="rId3"/>
          </p:cNvPr>
          <p:cNvPicPr preferRelativeResize="0"/>
          <p:nvPr/>
        </p:nvPicPr>
        <p:blipFill>
          <a:blip r:embed="rId4">
            <a:alphaModFix/>
          </a:blip>
          <a:stretch>
            <a:fillRect/>
          </a:stretch>
        </p:blipFill>
        <p:spPr>
          <a:xfrm>
            <a:off x="51200" y="1614950"/>
            <a:ext cx="4756602" cy="26755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3"/>
                                        </p:tgtEl>
                                        <p:attrNameLst>
                                          <p:attrName>style.visibility</p:attrName>
                                        </p:attrNameLst>
                                      </p:cBhvr>
                                      <p:to>
                                        <p:strVal val="visible"/>
                                      </p:to>
                                    </p:set>
                                    <p:animEffect filter="fade" transition="in">
                                      <p:cBhvr>
                                        <p:cTn dur="1000"/>
                                        <p:tgtEl>
                                          <p:spTgt spid="1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grpSp>
        <p:nvGrpSpPr>
          <p:cNvPr id="1918" name="Google Shape;1918;p130"/>
          <p:cNvGrpSpPr/>
          <p:nvPr/>
        </p:nvGrpSpPr>
        <p:grpSpPr>
          <a:xfrm>
            <a:off x="-476250" y="-857250"/>
            <a:ext cx="10477500" cy="6381750"/>
            <a:chOff x="-476250" y="-857250"/>
            <a:chExt cx="10477500" cy="6381750"/>
          </a:xfrm>
        </p:grpSpPr>
        <p:sp>
          <p:nvSpPr>
            <p:cNvPr id="1919" name="Google Shape;1919;p130"/>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0" name="Google Shape;1920;p130"/>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1" name="Google Shape;1921;p130"/>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2" name="Google Shape;1922;p130"/>
            <p:cNvSpPr/>
            <p:nvPr/>
          </p:nvSpPr>
          <p:spPr>
            <a:xfrm>
              <a:off x="571500" y="109537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23" name="Google Shape;1923;p130"/>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評估基準與效能指標 </a:t>
            </a:r>
            <a:r>
              <a:rPr b="0" lang="zh-TW" sz="2220">
                <a:solidFill>
                  <a:srgbClr val="3B82F6"/>
                </a:solidFill>
                <a:latin typeface="Inter"/>
                <a:ea typeface="Inter"/>
                <a:cs typeface="Inter"/>
                <a:sym typeface="Inter"/>
              </a:rPr>
              <a:t>(</a:t>
            </a:r>
            <a:r>
              <a:rPr lang="zh-TW" sz="2220">
                <a:solidFill>
                  <a:srgbClr val="3B82F6"/>
                </a:solidFill>
                <a:latin typeface="Inter"/>
                <a:ea typeface="Inter"/>
                <a:cs typeface="Inter"/>
                <a:sym typeface="Inter"/>
              </a:rPr>
              <a:t>全域搜尋v.sROI</a:t>
            </a:r>
            <a:r>
              <a:rPr b="0" lang="zh-TW" sz="2220">
                <a:solidFill>
                  <a:srgbClr val="3B82F6"/>
                </a:solidFill>
                <a:latin typeface="Inter"/>
                <a:ea typeface="Inter"/>
                <a:cs typeface="Inter"/>
                <a:sym typeface="Inter"/>
              </a:rPr>
              <a:t>)</a:t>
            </a:r>
            <a:endParaRPr b="1" sz="3330">
              <a:solidFill>
                <a:srgbClr val="1E293B"/>
              </a:solidFill>
              <a:latin typeface="Inter"/>
              <a:ea typeface="Inter"/>
              <a:cs typeface="Inter"/>
              <a:sym typeface="Inter"/>
            </a:endParaRPr>
          </a:p>
        </p:txBody>
      </p:sp>
      <p:sp>
        <p:nvSpPr>
          <p:cNvPr id="1924" name="Google Shape;1924;p130"/>
          <p:cNvSpPr/>
          <p:nvPr/>
        </p:nvSpPr>
        <p:spPr>
          <a:xfrm>
            <a:off x="571500" y="142875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5" name="Google Shape;1925;p130"/>
          <p:cNvSpPr/>
          <p:nvPr/>
        </p:nvSpPr>
        <p:spPr>
          <a:xfrm>
            <a:off x="4667250" y="142875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6" name="Google Shape;1926;p130"/>
          <p:cNvSpPr txBox="1"/>
          <p:nvPr/>
        </p:nvSpPr>
        <p:spPr>
          <a:xfrm>
            <a:off x="809625" y="1666875"/>
            <a:ext cx="3429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Global Search (512x288)</a:t>
            </a:r>
            <a:endParaRPr b="1" sz="1100">
              <a:solidFill>
                <a:srgbClr val="3B82F6"/>
              </a:solidFill>
              <a:latin typeface="Inter"/>
              <a:ea typeface="Inter"/>
              <a:cs typeface="Inter"/>
              <a:sym typeface="Inter"/>
            </a:endParaRPr>
          </a:p>
          <a:p>
            <a:pPr indent="0" lvl="0" marL="0" rtl="0" algn="l">
              <a:spcBef>
                <a:spcPts val="150"/>
              </a:spcBef>
              <a:spcAft>
                <a:spcPts val="0"/>
              </a:spcAft>
              <a:buNone/>
            </a:pPr>
            <a:r>
              <a:rPr b="1" lang="zh-TW" sz="1400">
                <a:solidFill>
                  <a:srgbClr val="1E293B"/>
                </a:solidFill>
                <a:latin typeface="Inter"/>
                <a:ea typeface="Inter"/>
                <a:cs typeface="Inter"/>
                <a:sym typeface="Inter"/>
              </a:rPr>
              <a:t>miniroi_512x288.engine</a:t>
            </a:r>
            <a:endParaRPr b="1" sz="1400">
              <a:solidFill>
                <a:srgbClr val="1E293B"/>
              </a:solidFill>
              <a:latin typeface="Inter"/>
              <a:ea typeface="Inter"/>
              <a:cs typeface="Inter"/>
              <a:sym typeface="Inter"/>
            </a:endParaRPr>
          </a:p>
          <a:p>
            <a:pPr indent="0" lvl="0" marL="0" rtl="0" algn="l">
              <a:spcBef>
                <a:spcPts val="1125"/>
              </a:spcBef>
              <a:spcAft>
                <a:spcPts val="0"/>
              </a:spcAft>
              <a:buNone/>
            </a:pPr>
            <a:r>
              <a:rPr lang="zh-TW" sz="1000">
                <a:solidFill>
                  <a:srgbClr val="64748B"/>
                </a:solidFill>
                <a:latin typeface="Inter"/>
                <a:ea typeface="Inter"/>
                <a:cs typeface="Inter"/>
                <a:sym typeface="Inter"/>
              </a:rPr>
              <a:t>Throughput (吞吐量)</a:t>
            </a:r>
            <a:endParaRPr sz="1000">
              <a:solidFill>
                <a:srgbClr val="64748B"/>
              </a:solidFill>
              <a:latin typeface="Inter"/>
              <a:ea typeface="Inter"/>
              <a:cs typeface="Inter"/>
              <a:sym typeface="Inter"/>
            </a:endParaRPr>
          </a:p>
          <a:p>
            <a:pPr indent="0" lvl="0" marL="0" rtl="0" algn="l">
              <a:spcBef>
                <a:spcPts val="0"/>
              </a:spcBef>
              <a:spcAft>
                <a:spcPts val="0"/>
              </a:spcAft>
              <a:buNone/>
            </a:pPr>
            <a:r>
              <a:rPr b="1" lang="zh-TW" sz="2400">
                <a:solidFill>
                  <a:srgbClr val="EF4444"/>
                </a:solidFill>
                <a:latin typeface="Inter"/>
                <a:ea typeface="Inter"/>
                <a:cs typeface="Inter"/>
                <a:sym typeface="Inter"/>
              </a:rPr>
              <a:t>13.74</a:t>
            </a:r>
            <a:r>
              <a:rPr b="0" lang="zh-TW" sz="1200">
                <a:solidFill>
                  <a:srgbClr val="64748B"/>
                </a:solidFill>
                <a:latin typeface="Inter"/>
                <a:ea typeface="Inter"/>
                <a:cs typeface="Inter"/>
                <a:sym typeface="Inter"/>
              </a:rPr>
              <a:t>qps</a:t>
            </a:r>
            <a:endParaRPr b="1" sz="2400">
              <a:solidFill>
                <a:srgbClr val="EF4444"/>
              </a:solidFill>
              <a:latin typeface="Inter"/>
              <a:ea typeface="Inter"/>
              <a:cs typeface="Inter"/>
              <a:sym typeface="Inter"/>
            </a:endParaRPr>
          </a:p>
          <a:p>
            <a:pPr indent="0" lvl="0" marL="0" rtl="0" algn="l">
              <a:spcBef>
                <a:spcPts val="750"/>
              </a:spcBef>
              <a:spcAft>
                <a:spcPts val="0"/>
              </a:spcAft>
              <a:buNone/>
            </a:pPr>
            <a:r>
              <a:rPr lang="zh-TW" sz="1000">
                <a:solidFill>
                  <a:srgbClr val="64748B"/>
                </a:solidFill>
                <a:latin typeface="Inter"/>
                <a:ea typeface="Inter"/>
                <a:cs typeface="Inter"/>
                <a:sym typeface="Inter"/>
              </a:rPr>
              <a:t>Mean Latency (平均延遲)</a:t>
            </a:r>
            <a:endParaRPr sz="1000">
              <a:solidFill>
                <a:srgbClr val="64748B"/>
              </a:solidFill>
              <a:latin typeface="Inter"/>
              <a:ea typeface="Inter"/>
              <a:cs typeface="Inter"/>
              <a:sym typeface="Inter"/>
            </a:endParaRPr>
          </a:p>
          <a:p>
            <a:pPr indent="0" lvl="0" marL="0" rtl="0" algn="l">
              <a:spcBef>
                <a:spcPts val="0"/>
              </a:spcBef>
              <a:spcAft>
                <a:spcPts val="0"/>
              </a:spcAft>
              <a:buNone/>
            </a:pPr>
            <a:r>
              <a:rPr b="1" lang="zh-TW" sz="2400">
                <a:solidFill>
                  <a:srgbClr val="EF4444"/>
                </a:solidFill>
                <a:latin typeface="Inter"/>
                <a:ea typeface="Inter"/>
                <a:cs typeface="Inter"/>
                <a:sym typeface="Inter"/>
              </a:rPr>
              <a:t>72.75</a:t>
            </a:r>
            <a:r>
              <a:rPr b="0" lang="zh-TW" sz="1200">
                <a:solidFill>
                  <a:srgbClr val="64748B"/>
                </a:solidFill>
                <a:latin typeface="Inter"/>
                <a:ea typeface="Inter"/>
                <a:cs typeface="Inter"/>
                <a:sym typeface="Inter"/>
              </a:rPr>
              <a:t>ms</a:t>
            </a:r>
            <a:endParaRPr b="1" sz="2400">
              <a:solidFill>
                <a:srgbClr val="EF4444"/>
              </a:solidFill>
              <a:latin typeface="Inter"/>
              <a:ea typeface="Inter"/>
              <a:cs typeface="Inter"/>
              <a:sym typeface="Inter"/>
            </a:endParaRPr>
          </a:p>
          <a:p>
            <a:pPr indent="0" lvl="0" marL="0" rtl="0" algn="l">
              <a:spcBef>
                <a:spcPts val="1125"/>
              </a:spcBef>
              <a:spcAft>
                <a:spcPts val="0"/>
              </a:spcAft>
              <a:buNone/>
            </a:pPr>
            <a:r>
              <a:rPr b="1" lang="zh-TW" sz="1000">
                <a:solidFill>
                  <a:srgbClr val="1E293B"/>
                </a:solidFill>
                <a:latin typeface="Inter"/>
                <a:ea typeface="Inter"/>
                <a:cs typeface="Inter"/>
                <a:sym typeface="Inter"/>
              </a:rPr>
              <a:t>Latency Range:</a:t>
            </a:r>
            <a:r>
              <a:rPr lang="zh-TW" sz="1000">
                <a:solidFill>
                  <a:srgbClr val="475569"/>
                </a:solidFill>
                <a:latin typeface="Inter"/>
                <a:ea typeface="Inter"/>
                <a:cs typeface="Inter"/>
                <a:sym typeface="Inter"/>
              </a:rPr>
              <a:t> 70.78 - 75.49 ms</a:t>
            </a:r>
            <a:endParaRPr sz="1000">
              <a:solidFill>
                <a:srgbClr val="475569"/>
              </a:solidFill>
              <a:latin typeface="Inter"/>
              <a:ea typeface="Inter"/>
              <a:cs typeface="Inter"/>
              <a:sym typeface="Inter"/>
            </a:endParaRPr>
          </a:p>
          <a:p>
            <a:pPr indent="0" lvl="0" marL="0" rtl="0" algn="l">
              <a:spcBef>
                <a:spcPts val="300"/>
              </a:spcBef>
              <a:spcAft>
                <a:spcPts val="0"/>
              </a:spcAft>
              <a:buNone/>
            </a:pPr>
            <a:r>
              <a:rPr b="1" lang="zh-TW" sz="1000">
                <a:solidFill>
                  <a:srgbClr val="1E293B"/>
                </a:solidFill>
                <a:latin typeface="Inter"/>
                <a:ea typeface="Inter"/>
                <a:cs typeface="Inter"/>
                <a:sym typeface="Inter"/>
              </a:rPr>
              <a:t>GPU Compute Time:</a:t>
            </a:r>
            <a:r>
              <a:rPr lang="zh-TW" sz="1000">
                <a:solidFill>
                  <a:srgbClr val="475569"/>
                </a:solidFill>
                <a:latin typeface="Inter"/>
                <a:ea typeface="Inter"/>
                <a:cs typeface="Inter"/>
                <a:sym typeface="Inter"/>
              </a:rPr>
              <a:t> ~71.92 ms</a:t>
            </a:r>
            <a:endParaRPr sz="1000">
              <a:solidFill>
                <a:srgbClr val="475569"/>
              </a:solidFill>
              <a:latin typeface="Inter"/>
              <a:ea typeface="Inter"/>
              <a:cs typeface="Inter"/>
              <a:sym typeface="Inter"/>
            </a:endParaRPr>
          </a:p>
          <a:p>
            <a:pPr indent="0" lvl="0" marL="0" rtl="0" algn="l">
              <a:spcBef>
                <a:spcPts val="300"/>
              </a:spcBef>
              <a:spcAft>
                <a:spcPts val="0"/>
              </a:spcAft>
              <a:buNone/>
            </a:pPr>
            <a:r>
              <a:rPr b="1" lang="zh-TW" sz="1000">
                <a:solidFill>
                  <a:srgbClr val="1E293B"/>
                </a:solidFill>
                <a:latin typeface="Inter"/>
                <a:ea typeface="Inter"/>
                <a:cs typeface="Inter"/>
                <a:sym typeface="Inter"/>
              </a:rPr>
              <a:t>End-to-End Host:</a:t>
            </a:r>
            <a:r>
              <a:rPr lang="zh-TW" sz="1000">
                <a:solidFill>
                  <a:srgbClr val="475569"/>
                </a:solidFill>
                <a:latin typeface="Inter"/>
                <a:ea typeface="Inter"/>
                <a:cs typeface="Inter"/>
                <a:sym typeface="Inter"/>
              </a:rPr>
              <a:t> 72.77 ms</a:t>
            </a:r>
            <a:endParaRPr sz="1000">
              <a:solidFill>
                <a:srgbClr val="475569"/>
              </a:solidFill>
              <a:latin typeface="Inter"/>
              <a:ea typeface="Inter"/>
              <a:cs typeface="Inter"/>
              <a:sym typeface="Inter"/>
            </a:endParaRPr>
          </a:p>
        </p:txBody>
      </p:sp>
      <p:sp>
        <p:nvSpPr>
          <p:cNvPr id="1927" name="Google Shape;1927;p130"/>
          <p:cNvSpPr txBox="1"/>
          <p:nvPr/>
        </p:nvSpPr>
        <p:spPr>
          <a:xfrm>
            <a:off x="4905375" y="1666875"/>
            <a:ext cx="34290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zh-TW" sz="1100">
                <a:solidFill>
                  <a:srgbClr val="3B82F6"/>
                </a:solidFill>
                <a:latin typeface="Inter"/>
                <a:ea typeface="Inter"/>
                <a:cs typeface="Inter"/>
                <a:sym typeface="Inter"/>
              </a:rPr>
              <a:t>Local ROI (128x128)</a:t>
            </a:r>
            <a:endParaRPr b="1" sz="1100">
              <a:solidFill>
                <a:srgbClr val="3B82F6"/>
              </a:solidFill>
              <a:latin typeface="Inter"/>
              <a:ea typeface="Inter"/>
              <a:cs typeface="Inter"/>
              <a:sym typeface="Inter"/>
            </a:endParaRPr>
          </a:p>
          <a:p>
            <a:pPr indent="0" lvl="0" marL="0" rtl="0" algn="l">
              <a:spcBef>
                <a:spcPts val="150"/>
              </a:spcBef>
              <a:spcAft>
                <a:spcPts val="0"/>
              </a:spcAft>
              <a:buNone/>
            </a:pPr>
            <a:r>
              <a:rPr b="1" lang="zh-TW" sz="1400">
                <a:solidFill>
                  <a:srgbClr val="1E293B"/>
                </a:solidFill>
                <a:latin typeface="Inter"/>
                <a:ea typeface="Inter"/>
                <a:cs typeface="Inter"/>
                <a:sym typeface="Inter"/>
              </a:rPr>
              <a:t>miniroi_128x128.engine</a:t>
            </a:r>
            <a:endParaRPr b="1" sz="1400">
              <a:solidFill>
                <a:srgbClr val="1E293B"/>
              </a:solidFill>
              <a:latin typeface="Inter"/>
              <a:ea typeface="Inter"/>
              <a:cs typeface="Inter"/>
              <a:sym typeface="Inter"/>
            </a:endParaRPr>
          </a:p>
          <a:p>
            <a:pPr indent="0" lvl="0" marL="0" rtl="0" algn="l">
              <a:spcBef>
                <a:spcPts val="1125"/>
              </a:spcBef>
              <a:spcAft>
                <a:spcPts val="0"/>
              </a:spcAft>
              <a:buNone/>
            </a:pPr>
            <a:r>
              <a:rPr lang="zh-TW" sz="1000">
                <a:solidFill>
                  <a:srgbClr val="64748B"/>
                </a:solidFill>
                <a:latin typeface="Inter"/>
                <a:ea typeface="Inter"/>
                <a:cs typeface="Inter"/>
                <a:sym typeface="Inter"/>
              </a:rPr>
              <a:t>Throughput (吞吐量)</a:t>
            </a:r>
            <a:endParaRPr sz="1000">
              <a:solidFill>
                <a:srgbClr val="64748B"/>
              </a:solidFill>
              <a:latin typeface="Inter"/>
              <a:ea typeface="Inter"/>
              <a:cs typeface="Inter"/>
              <a:sym typeface="Inter"/>
            </a:endParaRPr>
          </a:p>
          <a:p>
            <a:pPr indent="0" lvl="0" marL="0" rtl="0" algn="l">
              <a:spcBef>
                <a:spcPts val="0"/>
              </a:spcBef>
              <a:spcAft>
                <a:spcPts val="0"/>
              </a:spcAft>
              <a:buNone/>
            </a:pPr>
            <a:r>
              <a:rPr b="1" lang="zh-TW" sz="2400">
                <a:solidFill>
                  <a:srgbClr val="22C55E"/>
                </a:solidFill>
                <a:latin typeface="Inter"/>
                <a:ea typeface="Inter"/>
                <a:cs typeface="Inter"/>
                <a:sym typeface="Inter"/>
              </a:rPr>
              <a:t>118.12</a:t>
            </a:r>
            <a:r>
              <a:rPr b="0" lang="zh-TW" sz="1200">
                <a:solidFill>
                  <a:srgbClr val="64748B"/>
                </a:solidFill>
                <a:latin typeface="Inter"/>
                <a:ea typeface="Inter"/>
                <a:cs typeface="Inter"/>
                <a:sym typeface="Inter"/>
              </a:rPr>
              <a:t>qps</a:t>
            </a:r>
            <a:endParaRPr b="1" sz="2400">
              <a:solidFill>
                <a:srgbClr val="22C55E"/>
              </a:solidFill>
              <a:latin typeface="Inter"/>
              <a:ea typeface="Inter"/>
              <a:cs typeface="Inter"/>
              <a:sym typeface="Inter"/>
            </a:endParaRPr>
          </a:p>
          <a:p>
            <a:pPr indent="0" lvl="0" marL="0" rtl="0" algn="l">
              <a:spcBef>
                <a:spcPts val="750"/>
              </a:spcBef>
              <a:spcAft>
                <a:spcPts val="0"/>
              </a:spcAft>
              <a:buNone/>
            </a:pPr>
            <a:r>
              <a:rPr lang="zh-TW" sz="1000">
                <a:solidFill>
                  <a:srgbClr val="64748B"/>
                </a:solidFill>
                <a:latin typeface="Inter"/>
                <a:ea typeface="Inter"/>
                <a:cs typeface="Inter"/>
                <a:sym typeface="Inter"/>
              </a:rPr>
              <a:t>Mean Latency (平均延遲)</a:t>
            </a:r>
            <a:endParaRPr sz="1000">
              <a:solidFill>
                <a:srgbClr val="64748B"/>
              </a:solidFill>
              <a:latin typeface="Inter"/>
              <a:ea typeface="Inter"/>
              <a:cs typeface="Inter"/>
              <a:sym typeface="Inter"/>
            </a:endParaRPr>
          </a:p>
          <a:p>
            <a:pPr indent="0" lvl="0" marL="0" rtl="0" algn="l">
              <a:spcBef>
                <a:spcPts val="0"/>
              </a:spcBef>
              <a:spcAft>
                <a:spcPts val="0"/>
              </a:spcAft>
              <a:buNone/>
            </a:pPr>
            <a:r>
              <a:rPr b="1" lang="zh-TW" sz="2400">
                <a:solidFill>
                  <a:srgbClr val="22C55E"/>
                </a:solidFill>
                <a:latin typeface="Inter"/>
                <a:ea typeface="Inter"/>
                <a:cs typeface="Inter"/>
                <a:sym typeface="Inter"/>
              </a:rPr>
              <a:t>8.45</a:t>
            </a:r>
            <a:r>
              <a:rPr b="0" lang="zh-TW" sz="1200">
                <a:solidFill>
                  <a:srgbClr val="64748B"/>
                </a:solidFill>
                <a:latin typeface="Inter"/>
                <a:ea typeface="Inter"/>
                <a:cs typeface="Inter"/>
                <a:sym typeface="Inter"/>
              </a:rPr>
              <a:t>ms</a:t>
            </a:r>
            <a:endParaRPr b="1" sz="2400">
              <a:solidFill>
                <a:srgbClr val="22C55E"/>
              </a:solidFill>
              <a:latin typeface="Inter"/>
              <a:ea typeface="Inter"/>
              <a:cs typeface="Inter"/>
              <a:sym typeface="Inter"/>
            </a:endParaRPr>
          </a:p>
          <a:p>
            <a:pPr indent="0" lvl="0" marL="0" rtl="0" algn="l">
              <a:spcBef>
                <a:spcPts val="1125"/>
              </a:spcBef>
              <a:spcAft>
                <a:spcPts val="0"/>
              </a:spcAft>
              <a:buNone/>
            </a:pPr>
            <a:r>
              <a:rPr b="1" lang="zh-TW" sz="1000">
                <a:solidFill>
                  <a:srgbClr val="1E293B"/>
                </a:solidFill>
                <a:latin typeface="Inter"/>
                <a:ea typeface="Inter"/>
                <a:cs typeface="Inter"/>
                <a:sym typeface="Inter"/>
              </a:rPr>
              <a:t>Latency Range:</a:t>
            </a:r>
            <a:r>
              <a:rPr lang="zh-TW" sz="1000">
                <a:solidFill>
                  <a:srgbClr val="475569"/>
                </a:solidFill>
                <a:latin typeface="Inter"/>
                <a:ea typeface="Inter"/>
                <a:cs typeface="Inter"/>
                <a:sym typeface="Inter"/>
              </a:rPr>
              <a:t> 7.12 - 33.78 ms</a:t>
            </a:r>
            <a:endParaRPr sz="1000">
              <a:solidFill>
                <a:srgbClr val="475569"/>
              </a:solidFill>
              <a:latin typeface="Inter"/>
              <a:ea typeface="Inter"/>
              <a:cs typeface="Inter"/>
              <a:sym typeface="Inter"/>
            </a:endParaRPr>
          </a:p>
          <a:p>
            <a:pPr indent="0" lvl="0" marL="0" rtl="0" algn="l">
              <a:spcBef>
                <a:spcPts val="300"/>
              </a:spcBef>
              <a:spcAft>
                <a:spcPts val="0"/>
              </a:spcAft>
              <a:buNone/>
            </a:pPr>
            <a:r>
              <a:rPr b="1" lang="zh-TW" sz="1000">
                <a:solidFill>
                  <a:srgbClr val="1E293B"/>
                </a:solidFill>
                <a:latin typeface="Inter"/>
                <a:ea typeface="Inter"/>
                <a:cs typeface="Inter"/>
                <a:sym typeface="Inter"/>
              </a:rPr>
              <a:t>GPU Compute Time:</a:t>
            </a:r>
            <a:r>
              <a:rPr lang="zh-TW" sz="1000">
                <a:solidFill>
                  <a:srgbClr val="475569"/>
                </a:solidFill>
                <a:latin typeface="Inter"/>
                <a:ea typeface="Inter"/>
                <a:cs typeface="Inter"/>
                <a:sym typeface="Inter"/>
              </a:rPr>
              <a:t> ~8.37 ms</a:t>
            </a:r>
            <a:endParaRPr sz="1000">
              <a:solidFill>
                <a:srgbClr val="475569"/>
              </a:solidFill>
              <a:latin typeface="Inter"/>
              <a:ea typeface="Inter"/>
              <a:cs typeface="Inter"/>
              <a:sym typeface="Inter"/>
            </a:endParaRPr>
          </a:p>
          <a:p>
            <a:pPr indent="0" lvl="0" marL="0" rtl="0" algn="l">
              <a:spcBef>
                <a:spcPts val="300"/>
              </a:spcBef>
              <a:spcAft>
                <a:spcPts val="0"/>
              </a:spcAft>
              <a:buNone/>
            </a:pPr>
            <a:r>
              <a:rPr b="1" lang="zh-TW" sz="1000">
                <a:solidFill>
                  <a:srgbClr val="1E293B"/>
                </a:solidFill>
                <a:latin typeface="Inter"/>
                <a:ea typeface="Inter"/>
                <a:cs typeface="Inter"/>
                <a:sym typeface="Inter"/>
              </a:rPr>
              <a:t>End-to-End Host:</a:t>
            </a:r>
            <a:r>
              <a:rPr lang="zh-TW" sz="1000">
                <a:solidFill>
                  <a:srgbClr val="475569"/>
                </a:solidFill>
                <a:latin typeface="Inter"/>
                <a:ea typeface="Inter"/>
                <a:cs typeface="Inter"/>
                <a:sym typeface="Inter"/>
              </a:rPr>
              <a:t> 8.47 ms</a:t>
            </a:r>
            <a:endParaRPr sz="1000">
              <a:solidFill>
                <a:srgbClr val="475569"/>
              </a:solidFill>
              <a:latin typeface="Inter"/>
              <a:ea typeface="Inter"/>
              <a:cs typeface="Inter"/>
              <a:sym typeface="Inte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grpSp>
        <p:nvGrpSpPr>
          <p:cNvPr id="1932" name="Google Shape;1932;p131"/>
          <p:cNvGrpSpPr/>
          <p:nvPr/>
        </p:nvGrpSpPr>
        <p:grpSpPr>
          <a:xfrm>
            <a:off x="-476250" y="-857250"/>
            <a:ext cx="10477500" cy="6381750"/>
            <a:chOff x="-476250" y="-857250"/>
            <a:chExt cx="10477500" cy="6381750"/>
          </a:xfrm>
        </p:grpSpPr>
        <p:sp>
          <p:nvSpPr>
            <p:cNvPr id="1933" name="Google Shape;1933;p131"/>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4" name="Google Shape;1934;p131"/>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5" name="Google Shape;1935;p131"/>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6" name="Google Shape;1936;p131"/>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937" name="Google Shape;1937;p131"/>
          <p:cNvGrpSpPr/>
          <p:nvPr/>
        </p:nvGrpSpPr>
        <p:grpSpPr>
          <a:xfrm>
            <a:off x="381000" y="1333500"/>
            <a:ext cx="3619500" cy="3429000"/>
            <a:chOff x="381000" y="1333500"/>
            <a:chExt cx="3619500" cy="3429000"/>
          </a:xfrm>
        </p:grpSpPr>
        <p:sp>
          <p:nvSpPr>
            <p:cNvPr id="1938" name="Google Shape;1938;p131"/>
            <p:cNvSpPr/>
            <p:nvPr/>
          </p:nvSpPr>
          <p:spPr>
            <a:xfrm>
              <a:off x="381000" y="1333500"/>
              <a:ext cx="3619500" cy="3429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9" name="Google Shape;1939;p131"/>
            <p:cNvSpPr txBox="1"/>
            <p:nvPr/>
          </p:nvSpPr>
          <p:spPr>
            <a:xfrm>
              <a:off x="381000" y="1333500"/>
              <a:ext cx="3619500" cy="3429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效能數據分析</a:t>
              </a:r>
              <a:endParaRPr b="1" sz="1400">
                <a:solidFill>
                  <a:srgbClr val="1E293B"/>
                </a:solidFill>
                <a:latin typeface="Inter"/>
                <a:ea typeface="Inter"/>
                <a:cs typeface="Inter"/>
                <a:sym typeface="Inter"/>
              </a:endParaRPr>
            </a:p>
            <a:p>
              <a:pPr indent="0" lvl="0" marL="0" rtl="0" algn="l">
                <a:spcBef>
                  <a:spcPts val="0"/>
                </a:spcBef>
                <a:spcAft>
                  <a:spcPts val="0"/>
                </a:spcAft>
                <a:buNone/>
              </a:pPr>
              <a:r>
                <a:rPr b="0" lang="zh-TW" sz="1000">
                  <a:solidFill>
                    <a:srgbClr val="3B82F6"/>
                  </a:solidFill>
                  <a:latin typeface="Inter SemiBold"/>
                  <a:ea typeface="Inter SemiBold"/>
                  <a:cs typeface="Inter SemiBold"/>
                  <a:sym typeface="Inter SemiBold"/>
                </a:rPr>
                <a:t>Jetson Nano Performance</a:t>
              </a:r>
              <a:endParaRPr b="0" sz="1000">
                <a:solidFill>
                  <a:srgbClr val="3B82F6"/>
                </a:solidFill>
                <a:latin typeface="Inter SemiBold"/>
                <a:ea typeface="Inter SemiBold"/>
                <a:cs typeface="Inter SemiBold"/>
                <a:sym typeface="Inter SemiBold"/>
              </a:endParaRPr>
            </a:p>
            <a:p>
              <a:pPr indent="0" lvl="0" marL="0" rtl="0" algn="l">
                <a:spcBef>
                  <a:spcPts val="1125"/>
                </a:spcBef>
                <a:spcAft>
                  <a:spcPts val="0"/>
                </a:spcAft>
                <a:buNone/>
              </a:pPr>
              <a:r>
                <a:rPr b="1" lang="zh-TW" sz="1100">
                  <a:solidFill>
                    <a:srgbClr val="475569"/>
                  </a:solidFill>
                  <a:latin typeface="Inter"/>
                  <a:ea typeface="Inter"/>
                  <a:cs typeface="Inter"/>
                  <a:sym typeface="Inter"/>
                </a:rPr>
                <a:t>全域搜索 (Global Search)</a:t>
              </a:r>
              <a:endParaRPr b="1" sz="1100">
                <a:solidFill>
                  <a:srgbClr val="475569"/>
                </a:solidFill>
                <a:latin typeface="Inter"/>
                <a:ea typeface="Inter"/>
                <a:cs typeface="Inter"/>
                <a:sym typeface="Inter"/>
              </a:endParaRPr>
            </a:p>
            <a:p>
              <a:pPr indent="0" lvl="0" marL="0" rtl="0" algn="l">
                <a:spcBef>
                  <a:spcPts val="300"/>
                </a:spcBef>
                <a:spcAft>
                  <a:spcPts val="0"/>
                </a:spcAft>
                <a:buNone/>
              </a:pPr>
              <a:r>
                <a:rPr b="1" lang="zh-TW" sz="1100">
                  <a:solidFill>
                    <a:srgbClr val="0F172A"/>
                  </a:solidFill>
                  <a:latin typeface="Inter"/>
                  <a:ea typeface="Inter"/>
                  <a:cs typeface="Inter"/>
                  <a:sym typeface="Inter"/>
                </a:rPr>
                <a:t>延遲: </a:t>
              </a:r>
              <a:r>
                <a:rPr b="0" lang="zh-TW" sz="1100">
                  <a:solidFill>
                    <a:srgbClr val="475569"/>
                  </a:solidFill>
                  <a:latin typeface="Inter"/>
                  <a:ea typeface="Inter"/>
                  <a:cs typeface="Inter"/>
                  <a:sym typeface="Inter"/>
                </a:rPr>
                <a:t>~210 ms</a:t>
              </a:r>
              <a:r>
                <a:rPr b="1" lang="zh-TW" sz="1100">
                  <a:solidFill>
                    <a:srgbClr val="0F172A"/>
                  </a:solidFill>
                  <a:latin typeface="Inter"/>
                  <a:ea typeface="Inter"/>
                  <a:cs typeface="Inter"/>
                  <a:sym typeface="Inter"/>
                </a:rPr>
                <a:t> </a:t>
              </a:r>
              <a:r>
                <a:rPr b="0" lang="zh-TW" sz="1100">
                  <a:solidFill>
                    <a:srgbClr val="CBD5E1"/>
                  </a:solidFill>
                  <a:latin typeface="Inter"/>
                  <a:ea typeface="Inter"/>
                  <a:cs typeface="Inter"/>
                  <a:sym typeface="Inter"/>
                </a:rPr>
                <a:t>|</a:t>
              </a:r>
              <a:r>
                <a:rPr b="1" lang="zh-TW" sz="1100">
                  <a:solidFill>
                    <a:srgbClr val="0F172A"/>
                  </a:solidFill>
                  <a:latin typeface="Inter"/>
                  <a:ea typeface="Inter"/>
                  <a:cs typeface="Inter"/>
                  <a:sym typeface="Inter"/>
                </a:rPr>
                <a:t> </a:t>
              </a:r>
              <a:r>
                <a:rPr b="1" lang="zh-TW" sz="1100">
                  <a:solidFill>
                    <a:srgbClr val="EF4444"/>
                  </a:solidFill>
                  <a:latin typeface="Inter"/>
                  <a:ea typeface="Inter"/>
                  <a:cs typeface="Inter"/>
                  <a:sym typeface="Inter"/>
                </a:rPr>
                <a:t>~4.76 FPS</a:t>
              </a:r>
              <a:endParaRPr b="1" sz="1100">
                <a:solidFill>
                  <a:srgbClr val="0F172A"/>
                </a:solidFill>
                <a:latin typeface="Inter"/>
                <a:ea typeface="Inter"/>
                <a:cs typeface="Inter"/>
                <a:sym typeface="Inter"/>
              </a:endParaRPr>
            </a:p>
            <a:p>
              <a:pPr indent="0" lvl="0" marL="0" rtl="0" algn="l">
                <a:spcBef>
                  <a:spcPts val="1125"/>
                </a:spcBef>
                <a:spcAft>
                  <a:spcPts val="0"/>
                </a:spcAft>
                <a:buNone/>
              </a:pPr>
              <a:r>
                <a:rPr b="1" lang="zh-TW" sz="1100">
                  <a:solidFill>
                    <a:srgbClr val="475569"/>
                  </a:solidFill>
                  <a:latin typeface="Inter"/>
                  <a:ea typeface="Inter"/>
                  <a:cs typeface="Inter"/>
                  <a:sym typeface="Inter"/>
                </a:rPr>
                <a:t>動態追蹤 (Local Track 128)</a:t>
              </a:r>
              <a:endParaRPr b="1" sz="1100">
                <a:solidFill>
                  <a:srgbClr val="475569"/>
                </a:solidFill>
                <a:latin typeface="Inter"/>
                <a:ea typeface="Inter"/>
                <a:cs typeface="Inter"/>
                <a:sym typeface="Inter"/>
              </a:endParaRPr>
            </a:p>
            <a:p>
              <a:pPr indent="0" lvl="0" marL="0" rtl="0" algn="l">
                <a:spcBef>
                  <a:spcPts val="300"/>
                </a:spcBef>
                <a:spcAft>
                  <a:spcPts val="0"/>
                </a:spcAft>
                <a:buNone/>
              </a:pPr>
              <a:r>
                <a:rPr b="1" lang="zh-TW" sz="1100">
                  <a:solidFill>
                    <a:srgbClr val="0F172A"/>
                  </a:solidFill>
                  <a:latin typeface="Inter"/>
                  <a:ea typeface="Inter"/>
                  <a:cs typeface="Inter"/>
                  <a:sym typeface="Inter"/>
                </a:rPr>
                <a:t>延遲: </a:t>
              </a:r>
              <a:r>
                <a:rPr b="0" lang="zh-TW" sz="1100">
                  <a:solidFill>
                    <a:srgbClr val="475569"/>
                  </a:solidFill>
                  <a:latin typeface="Inter"/>
                  <a:ea typeface="Inter"/>
                  <a:cs typeface="Inter"/>
                  <a:sym typeface="Inter"/>
                </a:rPr>
                <a:t>~33 ms</a:t>
              </a:r>
              <a:r>
                <a:rPr b="1" lang="zh-TW" sz="1100">
                  <a:solidFill>
                    <a:srgbClr val="0F172A"/>
                  </a:solidFill>
                  <a:latin typeface="Inter"/>
                  <a:ea typeface="Inter"/>
                  <a:cs typeface="Inter"/>
                  <a:sym typeface="Inter"/>
                </a:rPr>
                <a:t> </a:t>
              </a:r>
              <a:r>
                <a:rPr b="0" lang="zh-TW" sz="1100">
                  <a:solidFill>
                    <a:srgbClr val="CBD5E1"/>
                  </a:solidFill>
                  <a:latin typeface="Inter"/>
                  <a:ea typeface="Inter"/>
                  <a:cs typeface="Inter"/>
                  <a:sym typeface="Inter"/>
                </a:rPr>
                <a:t>|</a:t>
              </a:r>
              <a:r>
                <a:rPr b="1" lang="zh-TW" sz="1100">
                  <a:solidFill>
                    <a:srgbClr val="0F172A"/>
                  </a:solidFill>
                  <a:latin typeface="Inter"/>
                  <a:ea typeface="Inter"/>
                  <a:cs typeface="Inter"/>
                  <a:sym typeface="Inter"/>
                </a:rPr>
                <a:t> </a:t>
              </a:r>
              <a:r>
                <a:rPr b="1" lang="zh-TW" sz="1100">
                  <a:solidFill>
                    <a:srgbClr val="10B981"/>
                  </a:solidFill>
                  <a:latin typeface="Inter"/>
                  <a:ea typeface="Inter"/>
                  <a:cs typeface="Inter"/>
                  <a:sym typeface="Inter"/>
                </a:rPr>
                <a:t>~30.3 FPS</a:t>
              </a:r>
              <a:endParaRPr b="1" sz="1100">
                <a:solidFill>
                  <a:srgbClr val="0F172A"/>
                </a:solidFill>
                <a:latin typeface="Inter"/>
                <a:ea typeface="Inter"/>
                <a:cs typeface="Inter"/>
                <a:sym typeface="Inter"/>
              </a:endParaRPr>
            </a:p>
            <a:p>
              <a:pPr indent="0" lvl="0" marL="0" rtl="0" algn="l">
                <a:spcBef>
                  <a:spcPts val="1125"/>
                </a:spcBef>
                <a:spcAft>
                  <a:spcPts val="0"/>
                </a:spcAft>
                <a:buNone/>
              </a:pPr>
              <a:r>
                <a:t/>
              </a:r>
              <a:endParaRPr b="0" sz="950">
                <a:solidFill>
                  <a:srgbClr val="94A3B8"/>
                </a:solidFill>
                <a:latin typeface="Inter"/>
                <a:ea typeface="Inter"/>
                <a:cs typeface="Inter"/>
                <a:sym typeface="Inter"/>
              </a:endParaRPr>
            </a:p>
          </p:txBody>
        </p:sp>
      </p:grpSp>
      <p:grpSp>
        <p:nvGrpSpPr>
          <p:cNvPr id="1940" name="Google Shape;1940;p131"/>
          <p:cNvGrpSpPr/>
          <p:nvPr/>
        </p:nvGrpSpPr>
        <p:grpSpPr>
          <a:xfrm>
            <a:off x="4191000" y="1333500"/>
            <a:ext cx="4572000" cy="3429075"/>
            <a:chOff x="4191000" y="1333500"/>
            <a:chExt cx="4572000" cy="3429075"/>
          </a:xfrm>
        </p:grpSpPr>
        <p:sp>
          <p:nvSpPr>
            <p:cNvPr id="1941" name="Google Shape;1941;p131"/>
            <p:cNvSpPr/>
            <p:nvPr/>
          </p:nvSpPr>
          <p:spPr>
            <a:xfrm>
              <a:off x="4191000" y="1333500"/>
              <a:ext cx="4572000" cy="3429000"/>
            </a:xfrm>
            <a:prstGeom prst="roundRect">
              <a:avLst>
                <a:gd fmla="val 3333"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2" name="Google Shape;1942;p131"/>
            <p:cNvSpPr/>
            <p:nvPr/>
          </p:nvSpPr>
          <p:spPr>
            <a:xfrm>
              <a:off x="4191000" y="1333500"/>
              <a:ext cx="4572000" cy="333300"/>
            </a:xfrm>
            <a:prstGeom prst="roundRect">
              <a:avLst>
                <a:gd fmla="val 34285"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3" name="Google Shape;1943;p131"/>
            <p:cNvSpPr/>
            <p:nvPr/>
          </p:nvSpPr>
          <p:spPr>
            <a:xfrm>
              <a:off x="4381500" y="144780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4" name="Google Shape;1944;p131"/>
            <p:cNvSpPr/>
            <p:nvPr/>
          </p:nvSpPr>
          <p:spPr>
            <a:xfrm>
              <a:off x="4524375" y="144780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5" name="Google Shape;1945;p131"/>
            <p:cNvSpPr/>
            <p:nvPr/>
          </p:nvSpPr>
          <p:spPr>
            <a:xfrm>
              <a:off x="4667250" y="144780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6" name="Google Shape;1946;p131"/>
            <p:cNvSpPr txBox="1"/>
            <p:nvPr/>
          </p:nvSpPr>
          <p:spPr>
            <a:xfrm>
              <a:off x="4191000" y="1666875"/>
              <a:ext cx="4572000" cy="3095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0" lang="zh-TW" sz="850">
                  <a:solidFill>
                    <a:srgbClr val="38BDF8"/>
                  </a:solidFill>
                  <a:latin typeface="Courier New"/>
                  <a:ea typeface="Courier New"/>
                  <a:cs typeface="Courier New"/>
                  <a:sym typeface="Courier New"/>
                </a:rPr>
                <a:t>nano@nano-desktop:~$ python3 realtime_student_nano.py</a:t>
              </a:r>
              <a:endParaRPr b="0" sz="850">
                <a:solidFill>
                  <a:srgbClr val="38BDF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94A3B8"/>
                  </a:solidFill>
                  <a:latin typeface="Courier New"/>
                  <a:ea typeface="Courier New"/>
                  <a:cs typeface="Courier New"/>
                  <a:sym typeface="Courier New"/>
                </a:rPr>
                <a:t>[INFO] System Init (Student 2-Thread Architecture)...</a:t>
              </a:r>
              <a:endParaRPr b="0" sz="850">
                <a:solidFill>
                  <a:srgbClr val="94A3B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94A3B8"/>
                  </a:solidFill>
                  <a:latin typeface="Courier New"/>
                  <a:ea typeface="Courier New"/>
                  <a:cs typeface="Courier New"/>
                  <a:sym typeface="Courier New"/>
                </a:rPr>
                <a:t>[INFO] [AI Worker] TensorRT Initialization...</a:t>
              </a:r>
              <a:endParaRPr b="0" sz="850">
                <a:solidFill>
                  <a:srgbClr val="94A3B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8BDF8"/>
                  </a:solidFill>
                  <a:latin typeface="Courier New"/>
                  <a:ea typeface="Courier New"/>
                  <a:cs typeface="Courier New"/>
                  <a:sym typeface="Courier New"/>
                </a:rPr>
                <a:t>[INFO] [AI Worker] Ready! Listening for frames.</a:t>
              </a:r>
              <a:endParaRPr b="0" sz="850">
                <a:solidFill>
                  <a:srgbClr val="38BDF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15 | Mode: Global Rec | Latency: 194.00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30 | Mode: Track 128 | Latency: 30.50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45 | Mode: Track 128 | Latency: 32.37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90 | Mode: Searching... | Latency: 148.05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120 | Mode: Track 128 | Latency: 32.27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165 | Mode: Track 128 | Latency: 27.98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F87171"/>
                  </a:solidFill>
                  <a:latin typeface="Courier New"/>
                  <a:ea typeface="Courier New"/>
                  <a:cs typeface="Courier New"/>
                  <a:sym typeface="Courier New"/>
                </a:rPr>
                <a:t>[INFO] [AI Worker] Terminated. System Shutdown Complete.</a:t>
              </a:r>
              <a:endParaRPr b="0" sz="850">
                <a:solidFill>
                  <a:srgbClr val="F87171"/>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FBBF24"/>
                  </a:solidFill>
                  <a:latin typeface="Courier New"/>
                  <a:ea typeface="Courier New"/>
                  <a:cs typeface="Courier New"/>
                  <a:sym typeface="Courier New"/>
                </a:rPr>
                <a:t>[INFO] Saved to: weights/student_realtime_nano.mp4</a:t>
              </a:r>
              <a:endParaRPr b="0" sz="850">
                <a:solidFill>
                  <a:srgbClr val="FBBF24"/>
                </a:solidFill>
                <a:latin typeface="Courier New"/>
                <a:ea typeface="Courier New"/>
                <a:cs typeface="Courier New"/>
                <a:sym typeface="Courier New"/>
              </a:endParaRPr>
            </a:p>
          </p:txBody>
        </p:sp>
      </p:grpSp>
      <p:sp>
        <p:nvSpPr>
          <p:cNvPr id="1947" name="Google Shape;1947;p131"/>
          <p:cNvSpPr txBox="1"/>
          <p:nvPr>
            <p:ph type="title"/>
          </p:nvPr>
        </p:nvSpPr>
        <p:spPr>
          <a:xfrm>
            <a:off x="571500" y="381000"/>
            <a:ext cx="800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zh-TW" sz="3330">
                <a:solidFill>
                  <a:srgbClr val="1E293B"/>
                </a:solidFill>
                <a:latin typeface="Inter"/>
                <a:ea typeface="Inter"/>
                <a:cs typeface="Inter"/>
                <a:sym typeface="Inter"/>
              </a:rPr>
              <a:t>評估基準與效能指標 </a:t>
            </a:r>
            <a:r>
              <a:rPr b="0" lang="zh-TW" sz="2220">
                <a:solidFill>
                  <a:srgbClr val="3B82F6"/>
                </a:solidFill>
                <a:latin typeface="Inter"/>
                <a:ea typeface="Inter"/>
                <a:cs typeface="Inter"/>
                <a:sym typeface="Inter"/>
              </a:rPr>
              <a:t>(</a:t>
            </a:r>
            <a:r>
              <a:rPr lang="zh-TW" sz="2220">
                <a:solidFill>
                  <a:srgbClr val="3B82F6"/>
                </a:solidFill>
                <a:latin typeface="Inter"/>
                <a:ea typeface="Inter"/>
                <a:cs typeface="Inter"/>
                <a:sym typeface="Inter"/>
              </a:rPr>
              <a:t>全域搜尋v.sROI</a:t>
            </a:r>
            <a:r>
              <a:rPr b="0" lang="zh-TW" sz="2220">
                <a:solidFill>
                  <a:srgbClr val="3B82F6"/>
                </a:solidFill>
                <a:latin typeface="Inter"/>
                <a:ea typeface="Inter"/>
                <a:cs typeface="Inter"/>
                <a:sym typeface="Inter"/>
              </a:rPr>
              <a:t>)</a:t>
            </a:r>
            <a:endParaRPr b="1" sz="3330">
              <a:solidFill>
                <a:srgbClr val="1E293B"/>
              </a:solidFill>
              <a:latin typeface="Inter"/>
              <a:ea typeface="Inter"/>
              <a:cs typeface="Inter"/>
              <a:sym typeface="Inte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grpSp>
        <p:nvGrpSpPr>
          <p:cNvPr id="1952" name="Google Shape;1952;p132"/>
          <p:cNvGrpSpPr/>
          <p:nvPr/>
        </p:nvGrpSpPr>
        <p:grpSpPr>
          <a:xfrm>
            <a:off x="-476250" y="-857250"/>
            <a:ext cx="10477500" cy="6381750"/>
            <a:chOff x="-476250" y="-857250"/>
            <a:chExt cx="10477500" cy="6381750"/>
          </a:xfrm>
        </p:grpSpPr>
        <p:sp>
          <p:nvSpPr>
            <p:cNvPr id="1953" name="Google Shape;1953;p132"/>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4" name="Google Shape;1954;p132"/>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5" name="Google Shape;1955;p132"/>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6" name="Google Shape;1956;p132"/>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57" name="Google Shape;1957;p132"/>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Nano端測試 realtime mode (TracknetV4)</a:t>
            </a:r>
            <a:endParaRPr b="1" sz="2400">
              <a:solidFill>
                <a:srgbClr val="1E293B"/>
              </a:solidFill>
              <a:latin typeface="Inter"/>
              <a:ea typeface="Inter"/>
              <a:cs typeface="Inter"/>
              <a:sym typeface="Inter"/>
            </a:endParaRPr>
          </a:p>
          <a:p>
            <a:pPr indent="0" lvl="0" marL="0" rtl="0" algn="l">
              <a:spcBef>
                <a:spcPts val="300"/>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grpSp>
        <p:nvGrpSpPr>
          <p:cNvPr id="1958" name="Google Shape;1958;p132"/>
          <p:cNvGrpSpPr/>
          <p:nvPr/>
        </p:nvGrpSpPr>
        <p:grpSpPr>
          <a:xfrm>
            <a:off x="381000" y="1333500"/>
            <a:ext cx="3619500" cy="3429000"/>
            <a:chOff x="381000" y="1333500"/>
            <a:chExt cx="3619500" cy="3429000"/>
          </a:xfrm>
        </p:grpSpPr>
        <p:sp>
          <p:nvSpPr>
            <p:cNvPr id="1959" name="Google Shape;1959;p132"/>
            <p:cNvSpPr/>
            <p:nvPr/>
          </p:nvSpPr>
          <p:spPr>
            <a:xfrm>
              <a:off x="381000" y="1333500"/>
              <a:ext cx="3619500" cy="3429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0" name="Google Shape;1960;p132"/>
            <p:cNvSpPr txBox="1"/>
            <p:nvPr/>
          </p:nvSpPr>
          <p:spPr>
            <a:xfrm>
              <a:off x="381000" y="1333500"/>
              <a:ext cx="3619500" cy="3429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效能數據分析</a:t>
              </a:r>
              <a:endParaRPr b="1" sz="1400">
                <a:solidFill>
                  <a:srgbClr val="1E293B"/>
                </a:solidFill>
                <a:latin typeface="Inter"/>
                <a:ea typeface="Inter"/>
                <a:cs typeface="Inter"/>
                <a:sym typeface="Inter"/>
              </a:endParaRPr>
            </a:p>
            <a:p>
              <a:pPr indent="0" lvl="0" marL="0" rtl="0" algn="l">
                <a:spcBef>
                  <a:spcPts val="0"/>
                </a:spcBef>
                <a:spcAft>
                  <a:spcPts val="0"/>
                </a:spcAft>
                <a:buNone/>
              </a:pPr>
              <a:r>
                <a:rPr b="0" lang="zh-TW" sz="1000">
                  <a:solidFill>
                    <a:srgbClr val="3B82F6"/>
                  </a:solidFill>
                  <a:latin typeface="Inter SemiBold"/>
                  <a:ea typeface="Inter SemiBold"/>
                  <a:cs typeface="Inter SemiBold"/>
                  <a:sym typeface="Inter SemiBold"/>
                </a:rPr>
                <a:t>Jetson Nano Performance</a:t>
              </a:r>
              <a:endParaRPr b="0" sz="1000">
                <a:solidFill>
                  <a:srgbClr val="3B82F6"/>
                </a:solidFill>
                <a:latin typeface="Inter SemiBold"/>
                <a:ea typeface="Inter SemiBold"/>
                <a:cs typeface="Inter SemiBold"/>
                <a:sym typeface="Inter SemiBold"/>
              </a:endParaRPr>
            </a:p>
            <a:p>
              <a:pPr indent="0" lvl="0" marL="0" rtl="0" algn="l">
                <a:spcBef>
                  <a:spcPts val="1875"/>
                </a:spcBef>
                <a:spcAft>
                  <a:spcPts val="0"/>
                </a:spcAft>
                <a:buNone/>
              </a:pPr>
              <a:r>
                <a:rPr b="1" lang="zh-TW" sz="1100">
                  <a:solidFill>
                    <a:srgbClr val="475569"/>
                  </a:solidFill>
                  <a:latin typeface="Inter"/>
                  <a:ea typeface="Inter"/>
                  <a:cs typeface="Inter"/>
                  <a:sym typeface="Inter"/>
                </a:rPr>
                <a:t>平均延遲 (Latency)</a:t>
              </a:r>
              <a:endParaRPr b="1" sz="1100">
                <a:solidFill>
                  <a:srgbClr val="475569"/>
                </a:solidFill>
                <a:latin typeface="Inter"/>
                <a:ea typeface="Inter"/>
                <a:cs typeface="Inter"/>
                <a:sym typeface="Inter"/>
              </a:endParaRPr>
            </a:p>
            <a:p>
              <a:pPr indent="0" lvl="0" marL="0" rtl="0" algn="l">
                <a:spcBef>
                  <a:spcPts val="0"/>
                </a:spcBef>
                <a:spcAft>
                  <a:spcPts val="0"/>
                </a:spcAft>
                <a:buNone/>
              </a:pPr>
              <a:r>
                <a:rPr b="1" lang="zh-TW" sz="3200">
                  <a:solidFill>
                    <a:srgbClr val="EF4444"/>
                  </a:solidFill>
                  <a:latin typeface="Inter"/>
                  <a:ea typeface="Inter"/>
                  <a:cs typeface="Inter"/>
                  <a:sym typeface="Inter"/>
                </a:rPr>
                <a:t>~1095</a:t>
              </a:r>
              <a:r>
                <a:rPr b="0" lang="zh-TW" sz="1600">
                  <a:solidFill>
                    <a:srgbClr val="64748B"/>
                  </a:solidFill>
                  <a:latin typeface="Inter Medium"/>
                  <a:ea typeface="Inter Medium"/>
                  <a:cs typeface="Inter Medium"/>
                  <a:sym typeface="Inter Medium"/>
                </a:rPr>
                <a:t>ms</a:t>
              </a:r>
              <a:endParaRPr b="1" sz="1400">
                <a:solidFill>
                  <a:srgbClr val="1E293B"/>
                </a:solidFill>
                <a:latin typeface="Inter"/>
                <a:ea typeface="Inter"/>
                <a:cs typeface="Inter"/>
                <a:sym typeface="Inter"/>
              </a:endParaRPr>
            </a:p>
            <a:p>
              <a:pPr indent="0" lvl="0" marL="0" rtl="0" algn="l">
                <a:spcBef>
                  <a:spcPts val="1500"/>
                </a:spcBef>
                <a:spcAft>
                  <a:spcPts val="0"/>
                </a:spcAft>
                <a:buNone/>
              </a:pPr>
              <a:r>
                <a:rPr b="1" lang="zh-TW" sz="1100">
                  <a:solidFill>
                    <a:srgbClr val="475569"/>
                  </a:solidFill>
                  <a:latin typeface="Inter"/>
                  <a:ea typeface="Inter"/>
                  <a:cs typeface="Inter"/>
                  <a:sym typeface="Inter"/>
                </a:rPr>
                <a:t>每秒幀數 (Frames Per Second)</a:t>
              </a:r>
              <a:endParaRPr b="1" sz="1100">
                <a:solidFill>
                  <a:srgbClr val="475569"/>
                </a:solidFill>
                <a:latin typeface="Inter"/>
                <a:ea typeface="Inter"/>
                <a:cs typeface="Inter"/>
                <a:sym typeface="Inter"/>
              </a:endParaRPr>
            </a:p>
            <a:p>
              <a:pPr indent="0" lvl="0" marL="0" rtl="0" algn="l">
                <a:spcBef>
                  <a:spcPts val="0"/>
                </a:spcBef>
                <a:spcAft>
                  <a:spcPts val="0"/>
                </a:spcAft>
                <a:buNone/>
              </a:pPr>
              <a:r>
                <a:rPr b="1" lang="zh-TW" sz="3200">
                  <a:solidFill>
                    <a:srgbClr val="1E293B"/>
                  </a:solidFill>
                  <a:latin typeface="Inter"/>
                  <a:ea typeface="Inter"/>
                  <a:cs typeface="Inter"/>
                  <a:sym typeface="Inter"/>
                </a:rPr>
                <a:t>~0.91</a:t>
              </a:r>
              <a:r>
                <a:rPr b="0" lang="zh-TW" sz="1600">
                  <a:solidFill>
                    <a:srgbClr val="64748B"/>
                  </a:solidFill>
                  <a:latin typeface="Inter Medium"/>
                  <a:ea typeface="Inter Medium"/>
                  <a:cs typeface="Inter Medium"/>
                  <a:sym typeface="Inter Medium"/>
                </a:rPr>
                <a:t>FPS</a:t>
              </a:r>
              <a:endParaRPr b="1" sz="1400">
                <a:solidFill>
                  <a:srgbClr val="1E293B"/>
                </a:solidFill>
                <a:latin typeface="Inter"/>
                <a:ea typeface="Inter"/>
                <a:cs typeface="Inter"/>
                <a:sym typeface="Inter"/>
              </a:endParaRPr>
            </a:p>
            <a:p>
              <a:pPr indent="0" lvl="0" marL="0" rtl="0" algn="l">
                <a:spcBef>
                  <a:spcPts val="1500"/>
                </a:spcBef>
                <a:spcAft>
                  <a:spcPts val="0"/>
                </a:spcAft>
                <a:buNone/>
              </a:pPr>
              <a:r>
                <a:rPr b="0" lang="zh-TW" sz="950">
                  <a:solidFill>
                    <a:srgbClr val="94A3B8"/>
                  </a:solidFill>
                  <a:latin typeface="Inter"/>
                  <a:ea typeface="Inter"/>
                  <a:cs typeface="Inter"/>
                  <a:sym typeface="Inter"/>
                </a:rPr>
                <a:t>延遲偏高，在邊緣裝置上未達即時 (30 FPS) 門檻。</a:t>
              </a:r>
              <a:endParaRPr b="0" sz="950">
                <a:solidFill>
                  <a:srgbClr val="94A3B8"/>
                </a:solidFill>
                <a:latin typeface="Inter"/>
                <a:ea typeface="Inter"/>
                <a:cs typeface="Inter"/>
                <a:sym typeface="Inter"/>
              </a:endParaRPr>
            </a:p>
          </p:txBody>
        </p:sp>
      </p:grpSp>
      <p:grpSp>
        <p:nvGrpSpPr>
          <p:cNvPr id="1961" name="Google Shape;1961;p132"/>
          <p:cNvGrpSpPr/>
          <p:nvPr/>
        </p:nvGrpSpPr>
        <p:grpSpPr>
          <a:xfrm>
            <a:off x="4191000" y="1333500"/>
            <a:ext cx="4572000" cy="3429075"/>
            <a:chOff x="4191000" y="1333500"/>
            <a:chExt cx="4572000" cy="3429075"/>
          </a:xfrm>
        </p:grpSpPr>
        <p:sp>
          <p:nvSpPr>
            <p:cNvPr id="1962" name="Google Shape;1962;p132"/>
            <p:cNvSpPr/>
            <p:nvPr/>
          </p:nvSpPr>
          <p:spPr>
            <a:xfrm>
              <a:off x="4191000" y="1333500"/>
              <a:ext cx="4572000" cy="3429000"/>
            </a:xfrm>
            <a:prstGeom prst="roundRect">
              <a:avLst>
                <a:gd fmla="val 3333"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3" name="Google Shape;1963;p132"/>
            <p:cNvSpPr/>
            <p:nvPr/>
          </p:nvSpPr>
          <p:spPr>
            <a:xfrm>
              <a:off x="4191000" y="1333500"/>
              <a:ext cx="4572000" cy="333300"/>
            </a:xfrm>
            <a:prstGeom prst="roundRect">
              <a:avLst>
                <a:gd fmla="val 34285"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4" name="Google Shape;1964;p132"/>
            <p:cNvSpPr/>
            <p:nvPr/>
          </p:nvSpPr>
          <p:spPr>
            <a:xfrm>
              <a:off x="4381500" y="144780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5" name="Google Shape;1965;p132"/>
            <p:cNvSpPr/>
            <p:nvPr/>
          </p:nvSpPr>
          <p:spPr>
            <a:xfrm>
              <a:off x="4524375" y="144780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6" name="Google Shape;1966;p132"/>
            <p:cNvSpPr/>
            <p:nvPr/>
          </p:nvSpPr>
          <p:spPr>
            <a:xfrm>
              <a:off x="4667250" y="144780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7" name="Google Shape;1967;p132"/>
            <p:cNvSpPr txBox="1"/>
            <p:nvPr/>
          </p:nvSpPr>
          <p:spPr>
            <a:xfrm>
              <a:off x="4191000" y="1666875"/>
              <a:ext cx="4572000" cy="3095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lang="zh-TW" sz="900">
                  <a:solidFill>
                    <a:srgbClr val="94A3B8"/>
                  </a:solidFill>
                  <a:latin typeface="Courier New"/>
                  <a:ea typeface="Courier New"/>
                  <a:cs typeface="Courier New"/>
                  <a:sym typeface="Courier New"/>
                </a:rPr>
                <a:t>[INFO] System Init (Teacher 2-Thread Architecture)...</a:t>
              </a:r>
              <a:endParaRPr sz="900">
                <a:solidFill>
                  <a:srgbClr val="94A3B8"/>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94A3B8"/>
                  </a:solidFill>
                  <a:latin typeface="Courier New"/>
                  <a:ea typeface="Courier New"/>
                  <a:cs typeface="Courier New"/>
                  <a:sym typeface="Courier New"/>
                </a:rPr>
                <a:t>[INFO] [AI Worker] TensorRT Initialization...</a:t>
              </a:r>
              <a:endParaRPr sz="900">
                <a:solidFill>
                  <a:srgbClr val="94A3B8"/>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94A3B8"/>
                  </a:solidFill>
                  <a:latin typeface="Courier New"/>
                  <a:ea typeface="Courier New"/>
                  <a:cs typeface="Courier New"/>
                  <a:sym typeface="Courier New"/>
                </a:rPr>
                <a:t>[INFO] [Main] Waiting for AI Engine to warm up...</a:t>
              </a:r>
              <a:endParaRPr sz="900">
                <a:solidFill>
                  <a:srgbClr val="94A3B8"/>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38BDF8"/>
                  </a:solidFill>
                  <a:latin typeface="Courier New"/>
                  <a:ea typeface="Courier New"/>
                  <a:cs typeface="Courier New"/>
                  <a:sym typeface="Courier New"/>
                </a:rPr>
                <a:t>[INFO] [AI Worker] Ready! Listening for frames.</a:t>
              </a:r>
              <a:endParaRPr sz="900">
                <a:solidFill>
                  <a:srgbClr val="38BDF8"/>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34D399"/>
                  </a:solidFill>
                  <a:latin typeface="Courier New"/>
                  <a:ea typeface="Courier New"/>
                  <a:cs typeface="Courier New"/>
                  <a:sym typeface="Courier New"/>
                </a:rPr>
                <a:t>[INFO] [AI Worker] V4 Inference #1 | Latency: 1206.45 ms</a:t>
              </a:r>
              <a:endParaRPr sz="900">
                <a:solidFill>
                  <a:srgbClr val="34D399"/>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34D399"/>
                  </a:solidFill>
                  <a:latin typeface="Courier New"/>
                  <a:ea typeface="Courier New"/>
                  <a:cs typeface="Courier New"/>
                  <a:sym typeface="Courier New"/>
                </a:rPr>
                <a:t>[INFO] [AI Worker] V4 Inference #2 | Latency: 1144.21 ms</a:t>
              </a:r>
              <a:endParaRPr sz="900">
                <a:solidFill>
                  <a:srgbClr val="34D399"/>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34D399"/>
                  </a:solidFill>
                  <a:latin typeface="Courier New"/>
                  <a:ea typeface="Courier New"/>
                  <a:cs typeface="Courier New"/>
                  <a:sym typeface="Courier New"/>
                </a:rPr>
                <a:t>[INFO] [AI Worker] V4 Inference #10 | Latency: 1117.27 ms</a:t>
              </a:r>
              <a:endParaRPr sz="900">
                <a:solidFill>
                  <a:srgbClr val="34D399"/>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34D399"/>
                  </a:solidFill>
                  <a:latin typeface="Courier New"/>
                  <a:ea typeface="Courier New"/>
                  <a:cs typeface="Courier New"/>
                  <a:sym typeface="Courier New"/>
                </a:rPr>
                <a:t>[INFO] [AI Worker] V4 Inference #20 | Latency: 1110.27 ms</a:t>
              </a:r>
              <a:endParaRPr sz="900">
                <a:solidFill>
                  <a:srgbClr val="34D399"/>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34D399"/>
                  </a:solidFill>
                  <a:latin typeface="Courier New"/>
                  <a:ea typeface="Courier New"/>
                  <a:cs typeface="Courier New"/>
                  <a:sym typeface="Courier New"/>
                </a:rPr>
                <a:t>[INFO] [AI Worker] V4 Inference #33 | Latency: 1056.51 ms</a:t>
              </a:r>
              <a:endParaRPr sz="900">
                <a:solidFill>
                  <a:srgbClr val="34D399"/>
                </a:solidFill>
                <a:latin typeface="Courier New"/>
                <a:ea typeface="Courier New"/>
                <a:cs typeface="Courier New"/>
                <a:sym typeface="Courier New"/>
              </a:endParaRPr>
            </a:p>
            <a:p>
              <a:pPr indent="0" lvl="0" marL="0" rtl="0" algn="l">
                <a:spcBef>
                  <a:spcPts val="300"/>
                </a:spcBef>
                <a:spcAft>
                  <a:spcPts val="0"/>
                </a:spcAft>
                <a:buNone/>
              </a:pPr>
              <a:r>
                <a:rPr lang="zh-TW" sz="900">
                  <a:solidFill>
                    <a:srgbClr val="F87171"/>
                  </a:solidFill>
                  <a:latin typeface="Courier New"/>
                  <a:ea typeface="Courier New"/>
                  <a:cs typeface="Courier New"/>
                  <a:sym typeface="Courier New"/>
                </a:rPr>
                <a:t>[INFO] [AI Worker] Terminated. System Shutdown Complete.</a:t>
              </a:r>
              <a:endParaRPr sz="900">
                <a:solidFill>
                  <a:srgbClr val="F87171"/>
                </a:solidFill>
                <a:latin typeface="Courier New"/>
                <a:ea typeface="Courier New"/>
                <a:cs typeface="Courier New"/>
                <a:sym typeface="Courier New"/>
              </a:endParaRPr>
            </a:p>
            <a:p>
              <a:pPr indent="0" lvl="0" marL="0" rtl="0" algn="l">
                <a:spcBef>
                  <a:spcPts val="300"/>
                </a:spcBef>
                <a:spcAft>
                  <a:spcPts val="300"/>
                </a:spcAft>
                <a:buNone/>
              </a:pPr>
              <a:r>
                <a:rPr lang="zh-TW" sz="900">
                  <a:solidFill>
                    <a:srgbClr val="FBBF24"/>
                  </a:solidFill>
                  <a:latin typeface="Courier New"/>
                  <a:ea typeface="Courier New"/>
                  <a:cs typeface="Courier New"/>
                  <a:sym typeface="Courier New"/>
                </a:rPr>
                <a:t>[INFO] Saved to: weights/teacher_realtime_nano.mp4</a:t>
              </a:r>
              <a:endParaRPr sz="900">
                <a:solidFill>
                  <a:srgbClr val="FBBF24"/>
                </a:solidFill>
                <a:latin typeface="Courier New"/>
                <a:ea typeface="Courier New"/>
                <a:cs typeface="Courier New"/>
                <a:sym typeface="Courier New"/>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1" name="Shape 1971"/>
        <p:cNvGrpSpPr/>
        <p:nvPr/>
      </p:nvGrpSpPr>
      <p:grpSpPr>
        <a:xfrm>
          <a:off x="0" y="0"/>
          <a:ext cx="0" cy="0"/>
          <a:chOff x="0" y="0"/>
          <a:chExt cx="0" cy="0"/>
        </a:xfrm>
      </p:grpSpPr>
      <p:grpSp>
        <p:nvGrpSpPr>
          <p:cNvPr id="1972" name="Google Shape;1972;p133"/>
          <p:cNvGrpSpPr/>
          <p:nvPr/>
        </p:nvGrpSpPr>
        <p:grpSpPr>
          <a:xfrm>
            <a:off x="-476250" y="-857250"/>
            <a:ext cx="10477500" cy="6381750"/>
            <a:chOff x="-476250" y="-857250"/>
            <a:chExt cx="10477500" cy="6381750"/>
          </a:xfrm>
        </p:grpSpPr>
        <p:sp>
          <p:nvSpPr>
            <p:cNvPr id="1973" name="Google Shape;1973;p133"/>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4" name="Google Shape;1974;p133"/>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5" name="Google Shape;1975;p133"/>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6" name="Google Shape;1976;p133"/>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77" name="Google Shape;1977;p133"/>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Nano端測試 realtime mode (雙引擎混合 MiniROI )</a:t>
            </a:r>
            <a:endParaRPr b="1" sz="2400">
              <a:solidFill>
                <a:srgbClr val="1E293B"/>
              </a:solidFill>
              <a:latin typeface="Inter"/>
              <a:ea typeface="Inter"/>
              <a:cs typeface="Inter"/>
              <a:sym typeface="Inter"/>
            </a:endParaRPr>
          </a:p>
          <a:p>
            <a:pPr indent="0" lvl="0" marL="0" rtl="0" algn="l">
              <a:spcBef>
                <a:spcPts val="225"/>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grpSp>
        <p:nvGrpSpPr>
          <p:cNvPr id="1978" name="Google Shape;1978;p133"/>
          <p:cNvGrpSpPr/>
          <p:nvPr/>
        </p:nvGrpSpPr>
        <p:grpSpPr>
          <a:xfrm>
            <a:off x="381000" y="1333500"/>
            <a:ext cx="3619500" cy="3429000"/>
            <a:chOff x="381000" y="1333500"/>
            <a:chExt cx="3619500" cy="3429000"/>
          </a:xfrm>
        </p:grpSpPr>
        <p:sp>
          <p:nvSpPr>
            <p:cNvPr id="1979" name="Google Shape;1979;p133"/>
            <p:cNvSpPr/>
            <p:nvPr/>
          </p:nvSpPr>
          <p:spPr>
            <a:xfrm>
              <a:off x="381000" y="1333500"/>
              <a:ext cx="3619500" cy="3429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0" name="Google Shape;1980;p133"/>
            <p:cNvSpPr txBox="1"/>
            <p:nvPr/>
          </p:nvSpPr>
          <p:spPr>
            <a:xfrm>
              <a:off x="381000" y="1333500"/>
              <a:ext cx="3619500" cy="3429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zh-TW" sz="1400">
                  <a:solidFill>
                    <a:srgbClr val="1E293B"/>
                  </a:solidFill>
                  <a:latin typeface="Inter"/>
                  <a:ea typeface="Inter"/>
                  <a:cs typeface="Inter"/>
                  <a:sym typeface="Inter"/>
                </a:rPr>
                <a:t>效能數據分析</a:t>
              </a:r>
              <a:endParaRPr b="1" sz="1400">
                <a:solidFill>
                  <a:srgbClr val="1E293B"/>
                </a:solidFill>
                <a:latin typeface="Inter"/>
                <a:ea typeface="Inter"/>
                <a:cs typeface="Inter"/>
                <a:sym typeface="Inter"/>
              </a:endParaRPr>
            </a:p>
            <a:p>
              <a:pPr indent="0" lvl="0" marL="0" rtl="0" algn="l">
                <a:spcBef>
                  <a:spcPts val="0"/>
                </a:spcBef>
                <a:spcAft>
                  <a:spcPts val="0"/>
                </a:spcAft>
                <a:buNone/>
              </a:pPr>
              <a:r>
                <a:rPr b="0" lang="zh-TW" sz="1000">
                  <a:solidFill>
                    <a:srgbClr val="3B82F6"/>
                  </a:solidFill>
                  <a:latin typeface="Inter SemiBold"/>
                  <a:ea typeface="Inter SemiBold"/>
                  <a:cs typeface="Inter SemiBold"/>
                  <a:sym typeface="Inter SemiBold"/>
                </a:rPr>
                <a:t>Jetson Nano Performance</a:t>
              </a:r>
              <a:endParaRPr b="0" sz="1000">
                <a:solidFill>
                  <a:srgbClr val="3B82F6"/>
                </a:solidFill>
                <a:latin typeface="Inter SemiBold"/>
                <a:ea typeface="Inter SemiBold"/>
                <a:cs typeface="Inter SemiBold"/>
                <a:sym typeface="Inter SemiBold"/>
              </a:endParaRPr>
            </a:p>
            <a:p>
              <a:pPr indent="0" lvl="0" marL="0" rtl="0" algn="l">
                <a:spcBef>
                  <a:spcPts val="1125"/>
                </a:spcBef>
                <a:spcAft>
                  <a:spcPts val="0"/>
                </a:spcAft>
                <a:buNone/>
              </a:pPr>
              <a:r>
                <a:rPr b="1" lang="zh-TW" sz="1100">
                  <a:solidFill>
                    <a:srgbClr val="475569"/>
                  </a:solidFill>
                  <a:latin typeface="Inter"/>
                  <a:ea typeface="Inter"/>
                  <a:cs typeface="Inter"/>
                  <a:sym typeface="Inter"/>
                </a:rPr>
                <a:t>🔍 全域搜索 (Global Search)</a:t>
              </a:r>
              <a:endParaRPr b="1" sz="1100">
                <a:solidFill>
                  <a:srgbClr val="475569"/>
                </a:solidFill>
                <a:latin typeface="Inter"/>
                <a:ea typeface="Inter"/>
                <a:cs typeface="Inter"/>
                <a:sym typeface="Inter"/>
              </a:endParaRPr>
            </a:p>
            <a:p>
              <a:pPr indent="0" lvl="0" marL="0" rtl="0" algn="l">
                <a:spcBef>
                  <a:spcPts val="300"/>
                </a:spcBef>
                <a:spcAft>
                  <a:spcPts val="0"/>
                </a:spcAft>
                <a:buNone/>
              </a:pPr>
              <a:r>
                <a:rPr b="1" lang="zh-TW" sz="1100">
                  <a:solidFill>
                    <a:srgbClr val="0F172A"/>
                  </a:solidFill>
                  <a:latin typeface="Inter"/>
                  <a:ea typeface="Inter"/>
                  <a:cs typeface="Inter"/>
                  <a:sym typeface="Inter"/>
                </a:rPr>
                <a:t>延遲: </a:t>
              </a:r>
              <a:r>
                <a:rPr b="0" lang="zh-TW" sz="1100">
                  <a:solidFill>
                    <a:srgbClr val="475569"/>
                  </a:solidFill>
                  <a:latin typeface="Inter"/>
                  <a:ea typeface="Inter"/>
                  <a:cs typeface="Inter"/>
                  <a:sym typeface="Inter"/>
                </a:rPr>
                <a:t>~210 ms</a:t>
              </a:r>
              <a:r>
                <a:rPr b="1" lang="zh-TW" sz="1100">
                  <a:solidFill>
                    <a:srgbClr val="0F172A"/>
                  </a:solidFill>
                  <a:latin typeface="Inter"/>
                  <a:ea typeface="Inter"/>
                  <a:cs typeface="Inter"/>
                  <a:sym typeface="Inter"/>
                </a:rPr>
                <a:t> </a:t>
              </a:r>
              <a:r>
                <a:rPr b="0" lang="zh-TW" sz="1100">
                  <a:solidFill>
                    <a:srgbClr val="CBD5E1"/>
                  </a:solidFill>
                  <a:latin typeface="Inter"/>
                  <a:ea typeface="Inter"/>
                  <a:cs typeface="Inter"/>
                  <a:sym typeface="Inter"/>
                </a:rPr>
                <a:t>|</a:t>
              </a:r>
              <a:r>
                <a:rPr b="1" lang="zh-TW" sz="1100">
                  <a:solidFill>
                    <a:srgbClr val="0F172A"/>
                  </a:solidFill>
                  <a:latin typeface="Inter"/>
                  <a:ea typeface="Inter"/>
                  <a:cs typeface="Inter"/>
                  <a:sym typeface="Inter"/>
                </a:rPr>
                <a:t> </a:t>
              </a:r>
              <a:r>
                <a:rPr b="1" lang="zh-TW" sz="1100">
                  <a:solidFill>
                    <a:srgbClr val="EF4444"/>
                  </a:solidFill>
                  <a:latin typeface="Inter"/>
                  <a:ea typeface="Inter"/>
                  <a:cs typeface="Inter"/>
                  <a:sym typeface="Inter"/>
                </a:rPr>
                <a:t>~4.76 FPS</a:t>
              </a:r>
              <a:endParaRPr b="1" sz="1100">
                <a:solidFill>
                  <a:srgbClr val="0F172A"/>
                </a:solidFill>
                <a:latin typeface="Inter"/>
                <a:ea typeface="Inter"/>
                <a:cs typeface="Inter"/>
                <a:sym typeface="Inter"/>
              </a:endParaRPr>
            </a:p>
            <a:p>
              <a:pPr indent="0" lvl="0" marL="0" rtl="0" algn="l">
                <a:spcBef>
                  <a:spcPts val="1125"/>
                </a:spcBef>
                <a:spcAft>
                  <a:spcPts val="0"/>
                </a:spcAft>
                <a:buNone/>
              </a:pPr>
              <a:r>
                <a:rPr b="1" lang="zh-TW" sz="1100">
                  <a:solidFill>
                    <a:srgbClr val="475569"/>
                  </a:solidFill>
                  <a:latin typeface="Inter"/>
                  <a:ea typeface="Inter"/>
                  <a:cs typeface="Inter"/>
                  <a:sym typeface="Inter"/>
                </a:rPr>
                <a:t>⚡ 動態追蹤 (Local Track 128)</a:t>
              </a:r>
              <a:endParaRPr b="1" sz="1100">
                <a:solidFill>
                  <a:srgbClr val="475569"/>
                </a:solidFill>
                <a:latin typeface="Inter"/>
                <a:ea typeface="Inter"/>
                <a:cs typeface="Inter"/>
                <a:sym typeface="Inter"/>
              </a:endParaRPr>
            </a:p>
            <a:p>
              <a:pPr indent="0" lvl="0" marL="0" rtl="0" algn="l">
                <a:spcBef>
                  <a:spcPts val="300"/>
                </a:spcBef>
                <a:spcAft>
                  <a:spcPts val="0"/>
                </a:spcAft>
                <a:buNone/>
              </a:pPr>
              <a:r>
                <a:rPr b="1" lang="zh-TW" sz="1100">
                  <a:solidFill>
                    <a:srgbClr val="0F172A"/>
                  </a:solidFill>
                  <a:latin typeface="Inter"/>
                  <a:ea typeface="Inter"/>
                  <a:cs typeface="Inter"/>
                  <a:sym typeface="Inter"/>
                </a:rPr>
                <a:t>延遲: </a:t>
              </a:r>
              <a:r>
                <a:rPr b="0" lang="zh-TW" sz="1100">
                  <a:solidFill>
                    <a:srgbClr val="475569"/>
                  </a:solidFill>
                  <a:latin typeface="Inter"/>
                  <a:ea typeface="Inter"/>
                  <a:cs typeface="Inter"/>
                  <a:sym typeface="Inter"/>
                </a:rPr>
                <a:t>~33 ms</a:t>
              </a:r>
              <a:r>
                <a:rPr b="1" lang="zh-TW" sz="1100">
                  <a:solidFill>
                    <a:srgbClr val="0F172A"/>
                  </a:solidFill>
                  <a:latin typeface="Inter"/>
                  <a:ea typeface="Inter"/>
                  <a:cs typeface="Inter"/>
                  <a:sym typeface="Inter"/>
                </a:rPr>
                <a:t> </a:t>
              </a:r>
              <a:r>
                <a:rPr b="0" lang="zh-TW" sz="1100">
                  <a:solidFill>
                    <a:srgbClr val="CBD5E1"/>
                  </a:solidFill>
                  <a:latin typeface="Inter"/>
                  <a:ea typeface="Inter"/>
                  <a:cs typeface="Inter"/>
                  <a:sym typeface="Inter"/>
                </a:rPr>
                <a:t>|</a:t>
              </a:r>
              <a:r>
                <a:rPr b="1" lang="zh-TW" sz="1100">
                  <a:solidFill>
                    <a:srgbClr val="0F172A"/>
                  </a:solidFill>
                  <a:latin typeface="Inter"/>
                  <a:ea typeface="Inter"/>
                  <a:cs typeface="Inter"/>
                  <a:sym typeface="Inter"/>
                </a:rPr>
                <a:t> </a:t>
              </a:r>
              <a:r>
                <a:rPr b="1" lang="zh-TW" sz="1100">
                  <a:solidFill>
                    <a:srgbClr val="10B981"/>
                  </a:solidFill>
                  <a:latin typeface="Inter"/>
                  <a:ea typeface="Inter"/>
                  <a:cs typeface="Inter"/>
                  <a:sym typeface="Inter"/>
                </a:rPr>
                <a:t>~30.3 FPS</a:t>
              </a:r>
              <a:endParaRPr b="1" sz="1100">
                <a:solidFill>
                  <a:srgbClr val="0F172A"/>
                </a:solidFill>
                <a:latin typeface="Inter"/>
                <a:ea typeface="Inter"/>
                <a:cs typeface="Inter"/>
                <a:sym typeface="Inter"/>
              </a:endParaRPr>
            </a:p>
            <a:p>
              <a:pPr indent="0" lvl="0" marL="0" rtl="0" algn="l">
                <a:spcBef>
                  <a:spcPts val="1125"/>
                </a:spcBef>
                <a:spcAft>
                  <a:spcPts val="0"/>
                </a:spcAft>
                <a:buNone/>
              </a:pPr>
              <a:r>
                <a:rPr b="0" lang="zh-TW" sz="950">
                  <a:solidFill>
                    <a:srgbClr val="94A3B8"/>
                  </a:solidFill>
                  <a:latin typeface="Inter"/>
                  <a:ea typeface="Inter"/>
                  <a:cs typeface="Inter"/>
                  <a:sym typeface="Inter"/>
                </a:rPr>
                <a:t>雙引擎混合模式下，在邊緣裝置上成功實現動態追蹤即時 (30 FPS) 門檻。</a:t>
              </a:r>
              <a:endParaRPr b="0" sz="950">
                <a:solidFill>
                  <a:srgbClr val="94A3B8"/>
                </a:solidFill>
                <a:latin typeface="Inter"/>
                <a:ea typeface="Inter"/>
                <a:cs typeface="Inter"/>
                <a:sym typeface="Inter"/>
              </a:endParaRPr>
            </a:p>
          </p:txBody>
        </p:sp>
      </p:grpSp>
      <p:grpSp>
        <p:nvGrpSpPr>
          <p:cNvPr id="1981" name="Google Shape;1981;p133"/>
          <p:cNvGrpSpPr/>
          <p:nvPr/>
        </p:nvGrpSpPr>
        <p:grpSpPr>
          <a:xfrm>
            <a:off x="4191000" y="1333500"/>
            <a:ext cx="4572000" cy="3429075"/>
            <a:chOff x="4191000" y="1333500"/>
            <a:chExt cx="4572000" cy="3429075"/>
          </a:xfrm>
        </p:grpSpPr>
        <p:sp>
          <p:nvSpPr>
            <p:cNvPr id="1982" name="Google Shape;1982;p133"/>
            <p:cNvSpPr/>
            <p:nvPr/>
          </p:nvSpPr>
          <p:spPr>
            <a:xfrm>
              <a:off x="4191000" y="1333500"/>
              <a:ext cx="4572000" cy="3429000"/>
            </a:xfrm>
            <a:prstGeom prst="roundRect">
              <a:avLst>
                <a:gd fmla="val 3333"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3" name="Google Shape;1983;p133"/>
            <p:cNvSpPr/>
            <p:nvPr/>
          </p:nvSpPr>
          <p:spPr>
            <a:xfrm>
              <a:off x="4191000" y="1333500"/>
              <a:ext cx="4572000" cy="333300"/>
            </a:xfrm>
            <a:prstGeom prst="roundRect">
              <a:avLst>
                <a:gd fmla="val 34285"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4" name="Google Shape;1984;p133"/>
            <p:cNvSpPr/>
            <p:nvPr/>
          </p:nvSpPr>
          <p:spPr>
            <a:xfrm>
              <a:off x="4381500" y="144780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5" name="Google Shape;1985;p133"/>
            <p:cNvSpPr/>
            <p:nvPr/>
          </p:nvSpPr>
          <p:spPr>
            <a:xfrm>
              <a:off x="4524375" y="144780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6" name="Google Shape;1986;p133"/>
            <p:cNvSpPr/>
            <p:nvPr/>
          </p:nvSpPr>
          <p:spPr>
            <a:xfrm>
              <a:off x="4667250" y="144780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7" name="Google Shape;1987;p133"/>
            <p:cNvSpPr txBox="1"/>
            <p:nvPr/>
          </p:nvSpPr>
          <p:spPr>
            <a:xfrm>
              <a:off x="4191000" y="1666875"/>
              <a:ext cx="4572000" cy="3095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0" lang="zh-TW" sz="850">
                  <a:solidFill>
                    <a:srgbClr val="38BDF8"/>
                  </a:solidFill>
                  <a:latin typeface="Courier New"/>
                  <a:ea typeface="Courier New"/>
                  <a:cs typeface="Courier New"/>
                  <a:sym typeface="Courier New"/>
                </a:rPr>
                <a:t>nano@nano-desktop:~$ python3 realtime_student_nano.py</a:t>
              </a:r>
              <a:endParaRPr b="0" sz="850">
                <a:solidFill>
                  <a:srgbClr val="38BDF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94A3B8"/>
                  </a:solidFill>
                  <a:latin typeface="Courier New"/>
                  <a:ea typeface="Courier New"/>
                  <a:cs typeface="Courier New"/>
                  <a:sym typeface="Courier New"/>
                </a:rPr>
                <a:t>[INFO] System Init (Student 2-Thread Architecture)...</a:t>
              </a:r>
              <a:endParaRPr b="0" sz="850">
                <a:solidFill>
                  <a:srgbClr val="94A3B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94A3B8"/>
                  </a:solidFill>
                  <a:latin typeface="Courier New"/>
                  <a:ea typeface="Courier New"/>
                  <a:cs typeface="Courier New"/>
                  <a:sym typeface="Courier New"/>
                </a:rPr>
                <a:t>[INFO] [AI Worker] TensorRT Initialization...</a:t>
              </a:r>
              <a:endParaRPr b="0" sz="850">
                <a:solidFill>
                  <a:srgbClr val="94A3B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8BDF8"/>
                  </a:solidFill>
                  <a:latin typeface="Courier New"/>
                  <a:ea typeface="Courier New"/>
                  <a:cs typeface="Courier New"/>
                  <a:sym typeface="Courier New"/>
                </a:rPr>
                <a:t>[INFO] [AI Worker] Ready! Listening for frames.</a:t>
              </a:r>
              <a:endParaRPr b="0" sz="850">
                <a:solidFill>
                  <a:srgbClr val="38BDF8"/>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15 | Mode: Global Rec | Latency: 194.00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30 | Mode: Track 128 | Latency: 30.50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45 | Mode: Track 128 | Latency: 32.37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90 | Mode: Searching... | Latency: 148.05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120 | Mode: Track 128 | Latency: 32.27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34D399"/>
                  </a:solidFill>
                  <a:latin typeface="Courier New"/>
                  <a:ea typeface="Courier New"/>
                  <a:cs typeface="Courier New"/>
                  <a:sym typeface="Courier New"/>
                </a:rPr>
                <a:t>[INFO] [AI Worker] Frame 165 | Mode: Track 128 | Latency: 27.98 ms</a:t>
              </a:r>
              <a:endParaRPr b="0" sz="850">
                <a:solidFill>
                  <a:srgbClr val="34D399"/>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F87171"/>
                  </a:solidFill>
                  <a:latin typeface="Courier New"/>
                  <a:ea typeface="Courier New"/>
                  <a:cs typeface="Courier New"/>
                  <a:sym typeface="Courier New"/>
                </a:rPr>
                <a:t>[INFO] [AI Worker] Terminated. System Shutdown Complete.</a:t>
              </a:r>
              <a:endParaRPr b="0" sz="850">
                <a:solidFill>
                  <a:srgbClr val="F87171"/>
                </a:solidFill>
                <a:latin typeface="Courier New"/>
                <a:ea typeface="Courier New"/>
                <a:cs typeface="Courier New"/>
                <a:sym typeface="Courier New"/>
              </a:endParaRPr>
            </a:p>
            <a:p>
              <a:pPr indent="0" lvl="0" marL="0" rtl="0" algn="l">
                <a:spcBef>
                  <a:spcPts val="225"/>
                </a:spcBef>
                <a:spcAft>
                  <a:spcPts val="0"/>
                </a:spcAft>
                <a:buNone/>
              </a:pPr>
              <a:r>
                <a:rPr b="0" lang="zh-TW" sz="850">
                  <a:solidFill>
                    <a:srgbClr val="FBBF24"/>
                  </a:solidFill>
                  <a:latin typeface="Courier New"/>
                  <a:ea typeface="Courier New"/>
                  <a:cs typeface="Courier New"/>
                  <a:sym typeface="Courier New"/>
                </a:rPr>
                <a:t>[INFO] Saved to: weights/student_realtime_nano.mp4</a:t>
              </a:r>
              <a:endParaRPr b="0" sz="850">
                <a:solidFill>
                  <a:srgbClr val="FBBF24"/>
                </a:solidFill>
                <a:latin typeface="Courier New"/>
                <a:ea typeface="Courier New"/>
                <a:cs typeface="Courier New"/>
                <a:sym typeface="Courier New"/>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grpSp>
        <p:nvGrpSpPr>
          <p:cNvPr id="1992" name="Google Shape;1992;p134"/>
          <p:cNvGrpSpPr/>
          <p:nvPr/>
        </p:nvGrpSpPr>
        <p:grpSpPr>
          <a:xfrm>
            <a:off x="-476250" y="-857250"/>
            <a:ext cx="10477500" cy="6381750"/>
            <a:chOff x="-476250" y="-857250"/>
            <a:chExt cx="10477500" cy="6381750"/>
          </a:xfrm>
        </p:grpSpPr>
        <p:sp>
          <p:nvSpPr>
            <p:cNvPr id="1993" name="Google Shape;1993;p134"/>
            <p:cNvSpPr/>
            <p:nvPr/>
          </p:nvSpPr>
          <p:spPr>
            <a:xfrm>
              <a:off x="7143750" y="-857250"/>
              <a:ext cx="2857500" cy="28575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4" name="Google Shape;1994;p134"/>
            <p:cNvSpPr/>
            <p:nvPr/>
          </p:nvSpPr>
          <p:spPr>
            <a:xfrm>
              <a:off x="-476250" y="3619500"/>
              <a:ext cx="1905000" cy="1905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5" name="Google Shape;1995;p134"/>
            <p:cNvSpPr/>
            <p:nvPr/>
          </p:nvSpPr>
          <p:spPr>
            <a:xfrm>
              <a:off x="0" y="0"/>
              <a:ext cx="9144000" cy="38100"/>
            </a:xfrm>
            <a:prstGeom prst="rect">
              <a:avLst/>
            </a:pr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6" name="Google Shape;1996;p134"/>
            <p:cNvSpPr/>
            <p:nvPr/>
          </p:nvSpPr>
          <p:spPr>
            <a:xfrm>
              <a:off x="381000" y="1000125"/>
              <a:ext cx="5715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97" name="Google Shape;1997;p134"/>
          <p:cNvSpPr txBox="1"/>
          <p:nvPr/>
        </p:nvSpPr>
        <p:spPr>
          <a:xfrm>
            <a:off x="381000" y="333375"/>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zh-TW" sz="2400">
                <a:solidFill>
                  <a:srgbClr val="1E293B"/>
                </a:solidFill>
                <a:latin typeface="Inter"/>
                <a:ea typeface="Inter"/>
                <a:cs typeface="Inter"/>
                <a:sym typeface="Inter"/>
              </a:rPr>
              <a:t>Jetson Nano端測試 realtime mode (雙引擎混合 MiniROI )</a:t>
            </a:r>
            <a:endParaRPr b="1" sz="2400">
              <a:solidFill>
                <a:srgbClr val="1E293B"/>
              </a:solidFill>
              <a:latin typeface="Inter"/>
              <a:ea typeface="Inter"/>
              <a:cs typeface="Inter"/>
              <a:sym typeface="Inter"/>
            </a:endParaRPr>
          </a:p>
          <a:p>
            <a:pPr indent="0" lvl="0" marL="0" rtl="0" algn="l">
              <a:spcBef>
                <a:spcPts val="225"/>
              </a:spcBef>
              <a:spcAft>
                <a:spcPts val="0"/>
              </a:spcAft>
              <a:buNone/>
            </a:pPr>
            <a:r>
              <a:rPr b="0" lang="zh-TW" sz="1100">
                <a:solidFill>
                  <a:srgbClr val="64748B"/>
                </a:solidFill>
                <a:latin typeface="Inter"/>
                <a:ea typeface="Inter"/>
                <a:cs typeface="Inter"/>
                <a:sym typeface="Inter"/>
              </a:rPr>
              <a:t>邊緣裝置推論效能與即時系統紀錄分析</a:t>
            </a:r>
            <a:endParaRPr b="0" sz="1100">
              <a:solidFill>
                <a:srgbClr val="64748B"/>
              </a:solidFill>
              <a:latin typeface="Inter"/>
              <a:ea typeface="Inter"/>
              <a:cs typeface="Inter"/>
              <a:sym typeface="Inter"/>
            </a:endParaRPr>
          </a:p>
        </p:txBody>
      </p:sp>
      <p:pic>
        <p:nvPicPr>
          <p:cNvPr id="1998" name="Google Shape;1998;p134" title="student_realtime_nano (1).mp4">
            <a:hlinkClick r:id="rId3"/>
          </p:cNvPr>
          <p:cNvPicPr preferRelativeResize="0"/>
          <p:nvPr/>
        </p:nvPicPr>
        <p:blipFill>
          <a:blip r:embed="rId4">
            <a:alphaModFix/>
          </a:blip>
          <a:stretch>
            <a:fillRect/>
          </a:stretch>
        </p:blipFill>
        <p:spPr>
          <a:xfrm>
            <a:off x="1747500" y="1333175"/>
            <a:ext cx="6030000" cy="33905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1000"/>
                                        <p:tgtEl>
                                          <p:spTgt spid="1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